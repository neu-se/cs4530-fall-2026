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3"/>
  </p:notesMasterIdLst>
  <p:sldIdLst>
    <p:sldId id="485" r:id="rId2"/>
    <p:sldId id="548" r:id="rId3"/>
    <p:sldId id="564" r:id="rId4"/>
    <p:sldId id="351" r:id="rId5"/>
    <p:sldId id="531" r:id="rId6"/>
    <p:sldId id="532" r:id="rId7"/>
    <p:sldId id="567" r:id="rId8"/>
    <p:sldId id="588" r:id="rId9"/>
    <p:sldId id="587" r:id="rId10"/>
    <p:sldId id="575" r:id="rId11"/>
    <p:sldId id="550" r:id="rId12"/>
    <p:sldId id="578" r:id="rId13"/>
    <p:sldId id="579" r:id="rId14"/>
    <p:sldId id="570" r:id="rId15"/>
    <p:sldId id="552" r:id="rId16"/>
    <p:sldId id="537" r:id="rId17"/>
    <p:sldId id="536" r:id="rId18"/>
    <p:sldId id="535" r:id="rId19"/>
    <p:sldId id="580" r:id="rId20"/>
    <p:sldId id="569" r:id="rId21"/>
    <p:sldId id="559" r:id="rId22"/>
    <p:sldId id="560" r:id="rId23"/>
    <p:sldId id="561" r:id="rId24"/>
    <p:sldId id="562" r:id="rId25"/>
    <p:sldId id="563" r:id="rId26"/>
    <p:sldId id="581" r:id="rId27"/>
    <p:sldId id="495" r:id="rId28"/>
    <p:sldId id="585" r:id="rId29"/>
    <p:sldId id="494" r:id="rId30"/>
    <p:sldId id="539" r:id="rId31"/>
    <p:sldId id="586" r:id="rId32"/>
  </p:sldIdLst>
  <p:sldSz cx="12192000" cy="6858000"/>
  <p:notesSz cx="9240838" cy="6854825"/>
  <p:embeddedFontLst>
    <p:embeddedFont>
      <p:font typeface="Ink Free" panose="03080402000500000000" pitchFamily="66" charset="0"/>
      <p:regular r:id="rId34"/>
    </p:embeddedFont>
    <p:embeddedFont>
      <p:font typeface="Verdana" panose="020B0604030504040204" pitchFamily="34" charset="0"/>
      <p:regular r:id="rId35"/>
      <p:bold r:id="rId36"/>
      <p:italic r:id="rId37"/>
      <p:boldItalic r:id="rId3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48"/>
            <p14:sldId id="564"/>
            <p14:sldId id="351"/>
            <p14:sldId id="531"/>
            <p14:sldId id="532"/>
            <p14:sldId id="567"/>
            <p14:sldId id="588"/>
            <p14:sldId id="587"/>
            <p14:sldId id="575"/>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242" autoAdjust="0"/>
    <p:restoredTop sz="91119" autoAdjust="0"/>
  </p:normalViewPr>
  <p:slideViewPr>
    <p:cSldViewPr snapToGrid="0">
      <p:cViewPr varScale="1">
        <p:scale>
          <a:sx n="67" d="100"/>
          <a:sy n="67" d="100"/>
        </p:scale>
        <p:origin x="404" y="60"/>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font" Target="fonts/font5.fntdata"/></Relationships>
</file>

<file path=ppt/diagrams/_rels/data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image" Target="../media/image2.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image" Target="../media/image2.svg"/></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51135E-E593-49EB-9C66-FB8F80DCC8EB}" type="doc">
      <dgm:prSet loTypeId="urn:microsoft.com/office/officeart/2018/2/layout/IconVerticalSolidList" loCatId="icon" qsTypeId="urn:microsoft.com/office/officeart/2005/8/quickstyle/simple1#1" qsCatId="simple" csTypeId="urn:microsoft.com/office/officeart/2005/8/colors/accent1_2#1" csCatId="accent1" phldr="1"/>
      <dgm:spPr/>
      <dgm:t>
        <a:bodyPr/>
        <a:lstStyle/>
        <a:p>
          <a:endParaRPr lang="en-US"/>
        </a:p>
      </dgm:t>
    </dgm:pt>
    <dgm:pt modelId="{ABB0E679-4682-422A-B4B3-34D44CC4C90C}">
      <dgm:prSet/>
      <dgm:spPr/>
      <dgm:t>
        <a:bodyPr/>
        <a:lstStyle/>
        <a:p>
          <a:pPr>
            <a:lnSpc>
              <a:spcPct val="100000"/>
            </a:lnSpc>
          </a:pPr>
          <a:r>
            <a:rPr lang="en-US" dirty="0"/>
            <a:t>Problems of understanding</a:t>
          </a:r>
        </a:p>
      </dgm:t>
    </dgm:pt>
    <dgm:pt modelId="{C9D64042-2460-46F4-8F63-C93F33A90216}" type="parTrans" cxnId="{83E0F1C1-6D64-42DC-A4C0-CB5C67C8476D}">
      <dgm:prSet/>
      <dgm:spPr/>
      <dgm:t>
        <a:bodyPr/>
        <a:lstStyle/>
        <a:p>
          <a:endParaRPr lang="en-US"/>
        </a:p>
      </dgm:t>
    </dgm:pt>
    <dgm:pt modelId="{0E101382-25A9-48EE-8392-88ABE71DA086}" type="sibTrans" cxnId="{83E0F1C1-6D64-42DC-A4C0-CB5C67C8476D}">
      <dgm:prSet/>
      <dgm:spPr/>
      <dgm:t>
        <a:bodyPr/>
        <a:lstStyle/>
        <a:p>
          <a:endParaRPr lang="en-US"/>
        </a:p>
      </dgm:t>
    </dgm:pt>
    <dgm:pt modelId="{79B77230-D940-49CC-AF47-BF1D40797D89}">
      <dgm:prSet/>
      <dgm:spPr/>
      <dgm:t>
        <a:bodyPr/>
        <a:lstStyle/>
        <a:p>
          <a:pPr>
            <a:lnSpc>
              <a:spcPct val="100000"/>
            </a:lnSpc>
          </a:pPr>
          <a:r>
            <a:rPr lang="en-US" dirty="0"/>
            <a:t>Do users know what they want?</a:t>
          </a:r>
        </a:p>
      </dgm:t>
    </dgm:pt>
    <dgm:pt modelId="{C50558CC-69DA-4C28-8CB9-2982E9088524}" type="parTrans" cxnId="{BBA2886E-1FC2-4FFE-BF42-BABB70DB9D54}">
      <dgm:prSet/>
      <dgm:spPr/>
      <dgm:t>
        <a:bodyPr/>
        <a:lstStyle/>
        <a:p>
          <a:endParaRPr lang="en-US"/>
        </a:p>
      </dgm:t>
    </dgm:pt>
    <dgm:pt modelId="{01A261DD-4242-4987-8459-53BA826F65E4}" type="sibTrans" cxnId="{BBA2886E-1FC2-4FFE-BF42-BABB70DB9D54}">
      <dgm:prSet/>
      <dgm:spPr/>
      <dgm:t>
        <a:bodyPr/>
        <a:lstStyle/>
        <a:p>
          <a:endParaRPr lang="en-US"/>
        </a:p>
      </dgm:t>
    </dgm:pt>
    <dgm:pt modelId="{2CC7D121-8A41-44D9-89BD-244AA28A42A0}">
      <dgm:prSet/>
      <dgm:spPr/>
      <dgm:t>
        <a:bodyPr/>
        <a:lstStyle/>
        <a:p>
          <a:pPr>
            <a:lnSpc>
              <a:spcPct val="100000"/>
            </a:lnSpc>
          </a:pPr>
          <a:r>
            <a:rPr lang="en-US" dirty="0"/>
            <a:t>Do users know what we don’t know?</a:t>
          </a:r>
        </a:p>
      </dgm:t>
    </dgm:pt>
    <dgm:pt modelId="{9DE9134D-6150-4859-A323-7D13FB96F531}" type="parTrans" cxnId="{98EB21E0-6CF3-4F15-AC40-72E97BB1B30C}">
      <dgm:prSet/>
      <dgm:spPr/>
      <dgm:t>
        <a:bodyPr/>
        <a:lstStyle/>
        <a:p>
          <a:endParaRPr lang="en-US"/>
        </a:p>
      </dgm:t>
    </dgm:pt>
    <dgm:pt modelId="{0E0A4C2E-CF9A-4E5B-A9DA-A4F62E584BE3}" type="sibTrans" cxnId="{98EB21E0-6CF3-4F15-AC40-72E97BB1B30C}">
      <dgm:prSet/>
      <dgm:spPr/>
      <dgm:t>
        <a:bodyPr/>
        <a:lstStyle/>
        <a:p>
          <a:endParaRPr lang="en-US"/>
        </a:p>
      </dgm:t>
    </dgm:pt>
    <dgm:pt modelId="{8859CDF6-BBF5-4A76-8A76-407071531CB6}">
      <dgm:prSet/>
      <dgm:spPr/>
      <dgm:t>
        <a:bodyPr/>
        <a:lstStyle/>
        <a:p>
          <a:pPr>
            <a:lnSpc>
              <a:spcPct val="100000"/>
            </a:lnSpc>
          </a:pPr>
          <a:r>
            <a:rPr lang="en-US" dirty="0"/>
            <a:t>Do we know who are users even are?</a:t>
          </a:r>
        </a:p>
      </dgm:t>
    </dgm:pt>
    <dgm:pt modelId="{4553293F-765F-468C-A52D-17712ED16F1F}" type="parTrans" cxnId="{07AC9C4A-377E-4379-B550-8DB49E3862F9}">
      <dgm:prSet/>
      <dgm:spPr/>
      <dgm:t>
        <a:bodyPr/>
        <a:lstStyle/>
        <a:p>
          <a:endParaRPr lang="en-US"/>
        </a:p>
      </dgm:t>
    </dgm:pt>
    <dgm:pt modelId="{CD3D3010-EDC9-481C-A822-9AFA251D0BAD}" type="sibTrans" cxnId="{07AC9C4A-377E-4379-B550-8DB49E3862F9}">
      <dgm:prSet/>
      <dgm:spPr/>
      <dgm:t>
        <a:bodyPr/>
        <a:lstStyle/>
        <a:p>
          <a:endParaRPr lang="en-US"/>
        </a:p>
      </dgm:t>
    </dgm:pt>
    <dgm:pt modelId="{289B9B18-ED8C-4F8C-B57D-E359AFC29DCD}">
      <dgm:prSet/>
      <dgm:spPr/>
      <dgm:t>
        <a:bodyPr/>
        <a:lstStyle/>
        <a:p>
          <a:pPr>
            <a:lnSpc>
              <a:spcPct val="100000"/>
            </a:lnSpc>
          </a:pPr>
          <a:r>
            <a:rPr lang="en-US" dirty="0"/>
            <a:t>Problems of scope</a:t>
          </a:r>
        </a:p>
      </dgm:t>
    </dgm:pt>
    <dgm:pt modelId="{DFB0D9D2-5A30-4081-9EC5-9B49CEBEA520}" type="parTrans" cxnId="{B135C7DE-63EC-4038-AD9B-BF4AE8EC9E48}">
      <dgm:prSet/>
      <dgm:spPr/>
      <dgm:t>
        <a:bodyPr/>
        <a:lstStyle/>
        <a:p>
          <a:endParaRPr lang="en-US"/>
        </a:p>
      </dgm:t>
    </dgm:pt>
    <dgm:pt modelId="{01035273-0EF6-4E5E-8BB1-B75422350993}" type="sibTrans" cxnId="{B135C7DE-63EC-4038-AD9B-BF4AE8EC9E48}">
      <dgm:prSet/>
      <dgm:spPr/>
      <dgm:t>
        <a:bodyPr/>
        <a:lstStyle/>
        <a:p>
          <a:endParaRPr lang="en-US"/>
        </a:p>
      </dgm:t>
    </dgm:pt>
    <dgm:pt modelId="{A898EC3E-4F02-462D-8397-BC48F29AE81B}">
      <dgm:prSet/>
      <dgm:spPr/>
      <dgm:t>
        <a:bodyPr/>
        <a:lstStyle/>
        <a:p>
          <a:pPr>
            <a:lnSpc>
              <a:spcPct val="100000"/>
            </a:lnSpc>
          </a:pPr>
          <a:r>
            <a:rPr lang="en-US" dirty="0"/>
            <a:t>What are we building?</a:t>
          </a:r>
        </a:p>
      </dgm:t>
    </dgm:pt>
    <dgm:pt modelId="{AD9DCD49-7708-4181-B664-3E4D3C91E37D}" type="parTrans" cxnId="{D9C411B4-474A-4FB0-9E9B-1E92A378E566}">
      <dgm:prSet/>
      <dgm:spPr/>
      <dgm:t>
        <a:bodyPr/>
        <a:lstStyle/>
        <a:p>
          <a:endParaRPr lang="en-US"/>
        </a:p>
      </dgm:t>
    </dgm:pt>
    <dgm:pt modelId="{5F251CD8-B93E-4310-9598-EB0F0D698564}" type="sibTrans" cxnId="{D9C411B4-474A-4FB0-9E9B-1E92A378E566}">
      <dgm:prSet/>
      <dgm:spPr/>
      <dgm:t>
        <a:bodyPr/>
        <a:lstStyle/>
        <a:p>
          <a:endParaRPr lang="en-US"/>
        </a:p>
      </dgm:t>
    </dgm:pt>
    <dgm:pt modelId="{2E2B9329-B007-4CD0-85A7-2630A8E162B0}">
      <dgm:prSet/>
      <dgm:spPr/>
      <dgm:t>
        <a:bodyPr/>
        <a:lstStyle/>
        <a:p>
          <a:pPr>
            <a:lnSpc>
              <a:spcPct val="100000"/>
            </a:lnSpc>
          </a:pPr>
          <a:r>
            <a:rPr lang="en-US" dirty="0"/>
            <a:t>What non-functional quality attributes are included?</a:t>
          </a:r>
        </a:p>
      </dgm:t>
    </dgm:pt>
    <dgm:pt modelId="{30C76577-F362-41FE-BC13-849D7770E466}" type="parTrans" cxnId="{A5A3EABD-125B-49CA-881A-D915A3146F96}">
      <dgm:prSet/>
      <dgm:spPr/>
      <dgm:t>
        <a:bodyPr/>
        <a:lstStyle/>
        <a:p>
          <a:endParaRPr lang="en-US"/>
        </a:p>
      </dgm:t>
    </dgm:pt>
    <dgm:pt modelId="{1F9E35F3-00D0-4526-8C6D-B1D5C8B52722}" type="sibTrans" cxnId="{A5A3EABD-125B-49CA-881A-D915A3146F96}">
      <dgm:prSet/>
      <dgm:spPr/>
      <dgm:t>
        <a:bodyPr/>
        <a:lstStyle/>
        <a:p>
          <a:endParaRPr lang="en-US"/>
        </a:p>
      </dgm:t>
    </dgm:pt>
    <dgm:pt modelId="{0F25331F-8FB8-4E3A-87F2-3F285D74EB32}">
      <dgm:prSet/>
      <dgm:spPr/>
      <dgm:t>
        <a:bodyPr/>
        <a:lstStyle/>
        <a:p>
          <a:pPr>
            <a:lnSpc>
              <a:spcPct val="100000"/>
            </a:lnSpc>
          </a:pPr>
          <a:r>
            <a:rPr lang="en-US" dirty="0"/>
            <a:t>Problems of volatility</a:t>
          </a:r>
        </a:p>
      </dgm:t>
    </dgm:pt>
    <dgm:pt modelId="{324E124D-8500-4C04-A0BA-6F6C2D553D81}" type="parTrans" cxnId="{16B49D51-0857-4A44-AD1A-0C1006418460}">
      <dgm:prSet/>
      <dgm:spPr/>
      <dgm:t>
        <a:bodyPr/>
        <a:lstStyle/>
        <a:p>
          <a:endParaRPr lang="en-US"/>
        </a:p>
      </dgm:t>
    </dgm:pt>
    <dgm:pt modelId="{4716CEE8-C882-4DFA-8AAE-CB3797F9F69F}" type="sibTrans" cxnId="{16B49D51-0857-4A44-AD1A-0C1006418460}">
      <dgm:prSet/>
      <dgm:spPr/>
      <dgm:t>
        <a:bodyPr/>
        <a:lstStyle/>
        <a:p>
          <a:endParaRPr lang="en-US"/>
        </a:p>
      </dgm:t>
    </dgm:pt>
    <dgm:pt modelId="{CB3B2CC4-92AF-4FC8-A179-56AA7CBFFB9A}">
      <dgm:prSet/>
      <dgm:spPr/>
      <dgm:t>
        <a:bodyPr/>
        <a:lstStyle/>
        <a:p>
          <a:pPr>
            <a:lnSpc>
              <a:spcPct val="100000"/>
            </a:lnSpc>
          </a:pPr>
          <a:r>
            <a:rPr lang="en-US" dirty="0"/>
            <a:t>Changing requirements over time</a:t>
          </a:r>
        </a:p>
      </dgm:t>
    </dgm:pt>
    <dgm:pt modelId="{6D8C96C8-507C-40B5-9F1C-C398FAA98553}" type="parTrans" cxnId="{B9675BFE-7824-40EC-8F31-10A7D7973451}">
      <dgm:prSet/>
      <dgm:spPr/>
      <dgm:t>
        <a:bodyPr/>
        <a:lstStyle/>
        <a:p>
          <a:endParaRPr lang="en-US"/>
        </a:p>
      </dgm:t>
    </dgm:pt>
    <dgm:pt modelId="{ABF5C046-9B4C-488C-88A7-786B810BC851}" type="sibTrans" cxnId="{B9675BFE-7824-40EC-8F31-10A7D7973451}">
      <dgm:prSet/>
      <dgm:spPr/>
      <dgm:t>
        <a:bodyPr/>
        <a:lstStyle/>
        <a:p>
          <a:endParaRPr lang="en-US"/>
        </a:p>
      </dgm:t>
    </dgm:pt>
    <dgm:pt modelId="{F91F48F0-416F-409A-A4DF-2AB884A889BA}" type="pres">
      <dgm:prSet presAssocID="{7851135E-E593-49EB-9C66-FB8F80DCC8EB}" presName="root" presStyleCnt="0">
        <dgm:presLayoutVars>
          <dgm:dir/>
          <dgm:resizeHandles val="exact"/>
        </dgm:presLayoutVars>
      </dgm:prSet>
      <dgm:spPr/>
    </dgm:pt>
    <dgm:pt modelId="{FC98E3C8-E7C4-4905-8B69-39244AD5644B}" type="pres">
      <dgm:prSet presAssocID="{ABB0E679-4682-422A-B4B3-34D44CC4C90C}" presName="compNode" presStyleCnt="0"/>
      <dgm:spPr/>
    </dgm:pt>
    <dgm:pt modelId="{744C9803-894E-44D2-889B-76A5CCA8AA03}" type="pres">
      <dgm:prSet presAssocID="{ABB0E679-4682-422A-B4B3-34D44CC4C90C}" presName="bgRect" presStyleLbl="bgShp" presStyleIdx="0" presStyleCnt="3"/>
      <dgm:spPr/>
    </dgm:pt>
    <dgm:pt modelId="{A72C947F-10ED-4AC9-86DE-CDAD3C879254}" type="pres">
      <dgm:prSet presAssocID="{ABB0E679-4682-422A-B4B3-34D44CC4C90C}"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Customer Review"/>
        </a:ext>
      </dgm:extLst>
    </dgm:pt>
    <dgm:pt modelId="{C109F829-E202-4C7F-A334-6F9428EDC96C}" type="pres">
      <dgm:prSet presAssocID="{ABB0E679-4682-422A-B4B3-34D44CC4C90C}" presName="spaceRect" presStyleCnt="0"/>
      <dgm:spPr/>
    </dgm:pt>
    <dgm:pt modelId="{BBEC7333-A5CB-4B43-A34A-870E516E4DD6}" type="pres">
      <dgm:prSet presAssocID="{ABB0E679-4682-422A-B4B3-34D44CC4C90C}" presName="parTx" presStyleLbl="revTx" presStyleIdx="0" presStyleCnt="6">
        <dgm:presLayoutVars>
          <dgm:chMax val="0"/>
          <dgm:chPref val="0"/>
        </dgm:presLayoutVars>
      </dgm:prSet>
      <dgm:spPr/>
    </dgm:pt>
    <dgm:pt modelId="{D527155E-0657-496B-926B-6BBC0B628D07}" type="pres">
      <dgm:prSet presAssocID="{ABB0E679-4682-422A-B4B3-34D44CC4C90C}" presName="desTx" presStyleLbl="revTx" presStyleIdx="1" presStyleCnt="6">
        <dgm:presLayoutVars/>
      </dgm:prSet>
      <dgm:spPr/>
    </dgm:pt>
    <dgm:pt modelId="{1F8516E6-8828-4592-BFF8-887E9086A7BC}" type="pres">
      <dgm:prSet presAssocID="{0E101382-25A9-48EE-8392-88ABE71DA086}" presName="sibTrans" presStyleCnt="0"/>
      <dgm:spPr/>
    </dgm:pt>
    <dgm:pt modelId="{5C7297C6-91FF-41AF-818A-17F31F68621E}" type="pres">
      <dgm:prSet presAssocID="{289B9B18-ED8C-4F8C-B57D-E359AFC29DCD}" presName="compNode" presStyleCnt="0"/>
      <dgm:spPr/>
    </dgm:pt>
    <dgm:pt modelId="{2E54C961-84EA-43A2-844C-C3CE78516CB0}" type="pres">
      <dgm:prSet presAssocID="{289B9B18-ED8C-4F8C-B57D-E359AFC29DCD}" presName="bgRect" presStyleLbl="bgShp" presStyleIdx="1" presStyleCnt="3"/>
      <dgm:spPr/>
    </dgm:pt>
    <dgm:pt modelId="{A3DBAEA5-2FDA-46C9-9482-7655B37F1E0E}" type="pres">
      <dgm:prSet presAssocID="{289B9B18-ED8C-4F8C-B57D-E359AFC29DCD}"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Building"/>
        </a:ext>
      </dgm:extLst>
    </dgm:pt>
    <dgm:pt modelId="{56237200-6F76-4251-BCFC-EAF1C363E346}" type="pres">
      <dgm:prSet presAssocID="{289B9B18-ED8C-4F8C-B57D-E359AFC29DCD}" presName="spaceRect" presStyleCnt="0"/>
      <dgm:spPr/>
    </dgm:pt>
    <dgm:pt modelId="{28C88A3C-4FEA-440F-9B29-481800E6F0BE}" type="pres">
      <dgm:prSet presAssocID="{289B9B18-ED8C-4F8C-B57D-E359AFC29DCD}" presName="parTx" presStyleLbl="revTx" presStyleIdx="2" presStyleCnt="6">
        <dgm:presLayoutVars>
          <dgm:chMax val="0"/>
          <dgm:chPref val="0"/>
        </dgm:presLayoutVars>
      </dgm:prSet>
      <dgm:spPr/>
    </dgm:pt>
    <dgm:pt modelId="{4FB2F518-2BF4-4FD7-A56E-47F3A3918E17}" type="pres">
      <dgm:prSet presAssocID="{289B9B18-ED8C-4F8C-B57D-E359AFC29DCD}" presName="desTx" presStyleLbl="revTx" presStyleIdx="3" presStyleCnt="6">
        <dgm:presLayoutVars/>
      </dgm:prSet>
      <dgm:spPr/>
    </dgm:pt>
    <dgm:pt modelId="{89FD899A-D4F4-4C55-8909-E662326770E6}" type="pres">
      <dgm:prSet presAssocID="{01035273-0EF6-4E5E-8BB1-B75422350993}" presName="sibTrans" presStyleCnt="0"/>
      <dgm:spPr/>
    </dgm:pt>
    <dgm:pt modelId="{D72C3A6E-5881-40B9-9893-82CCB0549164}" type="pres">
      <dgm:prSet presAssocID="{0F25331F-8FB8-4E3A-87F2-3F285D74EB32}" presName="compNode" presStyleCnt="0"/>
      <dgm:spPr/>
    </dgm:pt>
    <dgm:pt modelId="{E18A13F9-D7A2-436B-8993-77DFC272C62C}" type="pres">
      <dgm:prSet presAssocID="{0F25331F-8FB8-4E3A-87F2-3F285D74EB32}" presName="bgRect" presStyleLbl="bgShp" presStyleIdx="2" presStyleCnt="3"/>
      <dgm:spPr/>
    </dgm:pt>
    <dgm:pt modelId="{933C83E9-3F13-4531-A494-B128397A40AE}" type="pres">
      <dgm:prSet presAssocID="{0F25331F-8FB8-4E3A-87F2-3F285D74EB3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Stopwatch"/>
        </a:ext>
      </dgm:extLst>
    </dgm:pt>
    <dgm:pt modelId="{0B330141-BDA3-4D12-AFE4-A5C53FC9730A}" type="pres">
      <dgm:prSet presAssocID="{0F25331F-8FB8-4E3A-87F2-3F285D74EB32}" presName="spaceRect" presStyleCnt="0"/>
      <dgm:spPr/>
    </dgm:pt>
    <dgm:pt modelId="{1649E94B-5A94-485B-93A6-2EB4D5F91B9A}" type="pres">
      <dgm:prSet presAssocID="{0F25331F-8FB8-4E3A-87F2-3F285D74EB32}" presName="parTx" presStyleLbl="revTx" presStyleIdx="4" presStyleCnt="6">
        <dgm:presLayoutVars>
          <dgm:chMax val="0"/>
          <dgm:chPref val="0"/>
        </dgm:presLayoutVars>
      </dgm:prSet>
      <dgm:spPr/>
    </dgm:pt>
    <dgm:pt modelId="{EA9947D3-2998-4B00-9B2A-15D759EFA191}" type="pres">
      <dgm:prSet presAssocID="{0F25331F-8FB8-4E3A-87F2-3F285D74EB32}" presName="desTx" presStyleLbl="revTx" presStyleIdx="5" presStyleCnt="6">
        <dgm:presLayoutVars/>
      </dgm:prSet>
      <dgm:spPr/>
    </dgm:pt>
  </dgm:ptLst>
  <dgm:cxnLst>
    <dgm:cxn modelId="{AAD6A029-21A4-41FA-9349-A97938C2044E}" type="presOf" srcId="{289B9B18-ED8C-4F8C-B57D-E359AFC29DCD}" destId="{28C88A3C-4FEA-440F-9B29-481800E6F0BE}" srcOrd="0" destOrd="0" presId="urn:microsoft.com/office/officeart/2018/2/layout/IconVerticalSolidList"/>
    <dgm:cxn modelId="{D33A192E-099E-4C7E-8AC9-B6B62017C60A}" type="presOf" srcId="{2E2B9329-B007-4CD0-85A7-2630A8E162B0}" destId="{4FB2F518-2BF4-4FD7-A56E-47F3A3918E17}" srcOrd="0" destOrd="1" presId="urn:microsoft.com/office/officeart/2018/2/layout/IconVerticalSolidList"/>
    <dgm:cxn modelId="{0D619939-DF3D-4D20-BB53-412AF78EA558}" type="presOf" srcId="{ABB0E679-4682-422A-B4B3-34D44CC4C90C}" destId="{BBEC7333-A5CB-4B43-A34A-870E516E4DD6}" srcOrd="0" destOrd="0" presId="urn:microsoft.com/office/officeart/2018/2/layout/IconVerticalSolidList"/>
    <dgm:cxn modelId="{07AC9C4A-377E-4379-B550-8DB49E3862F9}" srcId="{ABB0E679-4682-422A-B4B3-34D44CC4C90C}" destId="{8859CDF6-BBF5-4A76-8A76-407071531CB6}" srcOrd="2" destOrd="0" parTransId="{4553293F-765F-468C-A52D-17712ED16F1F}" sibTransId="{CD3D3010-EDC9-481C-A822-9AFA251D0BAD}"/>
    <dgm:cxn modelId="{F7C5F74B-BB11-4F28-9F7E-23FE778011DC}" type="presOf" srcId="{79B77230-D940-49CC-AF47-BF1D40797D89}" destId="{D527155E-0657-496B-926B-6BBC0B628D07}" srcOrd="0" destOrd="0" presId="urn:microsoft.com/office/officeart/2018/2/layout/IconVerticalSolidList"/>
    <dgm:cxn modelId="{BBA2886E-1FC2-4FFE-BF42-BABB70DB9D54}" srcId="{ABB0E679-4682-422A-B4B3-34D44CC4C90C}" destId="{79B77230-D940-49CC-AF47-BF1D40797D89}" srcOrd="0" destOrd="0" parTransId="{C50558CC-69DA-4C28-8CB9-2982E9088524}" sibTransId="{01A261DD-4242-4987-8459-53BA826F65E4}"/>
    <dgm:cxn modelId="{16B49D51-0857-4A44-AD1A-0C1006418460}" srcId="{7851135E-E593-49EB-9C66-FB8F80DCC8EB}" destId="{0F25331F-8FB8-4E3A-87F2-3F285D74EB32}" srcOrd="2" destOrd="0" parTransId="{324E124D-8500-4C04-A0BA-6F6C2D553D81}" sibTransId="{4716CEE8-C882-4DFA-8AAE-CB3797F9F69F}"/>
    <dgm:cxn modelId="{6F534F79-49C3-49F2-B767-CA8451407698}" type="presOf" srcId="{2CC7D121-8A41-44D9-89BD-244AA28A42A0}" destId="{D527155E-0657-496B-926B-6BBC0B628D07}" srcOrd="0" destOrd="1" presId="urn:microsoft.com/office/officeart/2018/2/layout/IconVerticalSolidList"/>
    <dgm:cxn modelId="{83B9F09E-EAE2-4CC8-ADD5-C1D9758C0071}" type="presOf" srcId="{A898EC3E-4F02-462D-8397-BC48F29AE81B}" destId="{4FB2F518-2BF4-4FD7-A56E-47F3A3918E17}" srcOrd="0" destOrd="0" presId="urn:microsoft.com/office/officeart/2018/2/layout/IconVerticalSolidList"/>
    <dgm:cxn modelId="{D9C411B4-474A-4FB0-9E9B-1E92A378E566}" srcId="{289B9B18-ED8C-4F8C-B57D-E359AFC29DCD}" destId="{A898EC3E-4F02-462D-8397-BC48F29AE81B}" srcOrd="0" destOrd="0" parTransId="{AD9DCD49-7708-4181-B664-3E4D3C91E37D}" sibTransId="{5F251CD8-B93E-4310-9598-EB0F0D698564}"/>
    <dgm:cxn modelId="{05D2A0B4-F01C-4184-9E55-260CFB8DB7F3}" type="presOf" srcId="{7851135E-E593-49EB-9C66-FB8F80DCC8EB}" destId="{F91F48F0-416F-409A-A4DF-2AB884A889BA}" srcOrd="0" destOrd="0" presId="urn:microsoft.com/office/officeart/2018/2/layout/IconVerticalSolidList"/>
    <dgm:cxn modelId="{A5A3EABD-125B-49CA-881A-D915A3146F96}" srcId="{289B9B18-ED8C-4F8C-B57D-E359AFC29DCD}" destId="{2E2B9329-B007-4CD0-85A7-2630A8E162B0}" srcOrd="1" destOrd="0" parTransId="{30C76577-F362-41FE-BC13-849D7770E466}" sibTransId="{1F9E35F3-00D0-4526-8C6D-B1D5C8B52722}"/>
    <dgm:cxn modelId="{83E0F1C1-6D64-42DC-A4C0-CB5C67C8476D}" srcId="{7851135E-E593-49EB-9C66-FB8F80DCC8EB}" destId="{ABB0E679-4682-422A-B4B3-34D44CC4C90C}" srcOrd="0" destOrd="0" parTransId="{C9D64042-2460-46F4-8F63-C93F33A90216}" sibTransId="{0E101382-25A9-48EE-8392-88ABE71DA086}"/>
    <dgm:cxn modelId="{DDC6D8C5-BBB2-461C-83FA-36349F6F2DA4}" type="presOf" srcId="{CB3B2CC4-92AF-4FC8-A179-56AA7CBFFB9A}" destId="{EA9947D3-2998-4B00-9B2A-15D759EFA191}" srcOrd="0" destOrd="0" presId="urn:microsoft.com/office/officeart/2018/2/layout/IconVerticalSolidList"/>
    <dgm:cxn modelId="{6DA49FCE-B0B4-44FD-96DE-E91348D0DC06}" type="presOf" srcId="{0F25331F-8FB8-4E3A-87F2-3F285D74EB32}" destId="{1649E94B-5A94-485B-93A6-2EB4D5F91B9A}" srcOrd="0" destOrd="0" presId="urn:microsoft.com/office/officeart/2018/2/layout/IconVerticalSolidList"/>
    <dgm:cxn modelId="{F47C6FD6-29E6-4AA6-A457-9DD86BFC36E5}" type="presOf" srcId="{8859CDF6-BBF5-4A76-8A76-407071531CB6}" destId="{D527155E-0657-496B-926B-6BBC0B628D07}" srcOrd="0" destOrd="2" presId="urn:microsoft.com/office/officeart/2018/2/layout/IconVerticalSolidList"/>
    <dgm:cxn modelId="{B135C7DE-63EC-4038-AD9B-BF4AE8EC9E48}" srcId="{7851135E-E593-49EB-9C66-FB8F80DCC8EB}" destId="{289B9B18-ED8C-4F8C-B57D-E359AFC29DCD}" srcOrd="1" destOrd="0" parTransId="{DFB0D9D2-5A30-4081-9EC5-9B49CEBEA520}" sibTransId="{01035273-0EF6-4E5E-8BB1-B75422350993}"/>
    <dgm:cxn modelId="{98EB21E0-6CF3-4F15-AC40-72E97BB1B30C}" srcId="{ABB0E679-4682-422A-B4B3-34D44CC4C90C}" destId="{2CC7D121-8A41-44D9-89BD-244AA28A42A0}" srcOrd="1" destOrd="0" parTransId="{9DE9134D-6150-4859-A323-7D13FB96F531}" sibTransId="{0E0A4C2E-CF9A-4E5B-A9DA-A4F62E584BE3}"/>
    <dgm:cxn modelId="{B9675BFE-7824-40EC-8F31-10A7D7973451}" srcId="{0F25331F-8FB8-4E3A-87F2-3F285D74EB32}" destId="{CB3B2CC4-92AF-4FC8-A179-56AA7CBFFB9A}" srcOrd="0" destOrd="0" parTransId="{6D8C96C8-507C-40B5-9F1C-C398FAA98553}" sibTransId="{ABF5C046-9B4C-488C-88A7-786B810BC851}"/>
    <dgm:cxn modelId="{6301B435-160A-435E-972D-336C66302088}" type="presParOf" srcId="{F91F48F0-416F-409A-A4DF-2AB884A889BA}" destId="{FC98E3C8-E7C4-4905-8B69-39244AD5644B}" srcOrd="0" destOrd="0" presId="urn:microsoft.com/office/officeart/2018/2/layout/IconVerticalSolidList"/>
    <dgm:cxn modelId="{D4300C5E-D0B6-43FA-AE33-964064733925}" type="presParOf" srcId="{FC98E3C8-E7C4-4905-8B69-39244AD5644B}" destId="{744C9803-894E-44D2-889B-76A5CCA8AA03}" srcOrd="0" destOrd="0" presId="urn:microsoft.com/office/officeart/2018/2/layout/IconVerticalSolidList"/>
    <dgm:cxn modelId="{92EBE634-6053-4558-99E7-6C9318EC79C7}" type="presParOf" srcId="{FC98E3C8-E7C4-4905-8B69-39244AD5644B}" destId="{A72C947F-10ED-4AC9-86DE-CDAD3C879254}" srcOrd="1" destOrd="0" presId="urn:microsoft.com/office/officeart/2018/2/layout/IconVerticalSolidList"/>
    <dgm:cxn modelId="{A291A2F6-08F1-4DC4-9043-87D4DF29CA86}" type="presParOf" srcId="{FC98E3C8-E7C4-4905-8B69-39244AD5644B}" destId="{C109F829-E202-4C7F-A334-6F9428EDC96C}" srcOrd="2" destOrd="0" presId="urn:microsoft.com/office/officeart/2018/2/layout/IconVerticalSolidList"/>
    <dgm:cxn modelId="{999E7C01-2071-4F06-AA68-0CF124414884}" type="presParOf" srcId="{FC98E3C8-E7C4-4905-8B69-39244AD5644B}" destId="{BBEC7333-A5CB-4B43-A34A-870E516E4DD6}" srcOrd="3" destOrd="0" presId="urn:microsoft.com/office/officeart/2018/2/layout/IconVerticalSolidList"/>
    <dgm:cxn modelId="{C47CC53C-9A70-4B92-B63C-88BCFF133900}" type="presParOf" srcId="{FC98E3C8-E7C4-4905-8B69-39244AD5644B}" destId="{D527155E-0657-496B-926B-6BBC0B628D07}" srcOrd="4" destOrd="0" presId="urn:microsoft.com/office/officeart/2018/2/layout/IconVerticalSolidList"/>
    <dgm:cxn modelId="{BE259B5F-67E3-4C1F-BCE1-7F3BDD0C971B}" type="presParOf" srcId="{F91F48F0-416F-409A-A4DF-2AB884A889BA}" destId="{1F8516E6-8828-4592-BFF8-887E9086A7BC}" srcOrd="1" destOrd="0" presId="urn:microsoft.com/office/officeart/2018/2/layout/IconVerticalSolidList"/>
    <dgm:cxn modelId="{E83C380D-B12F-4B89-964E-488132B9669B}" type="presParOf" srcId="{F91F48F0-416F-409A-A4DF-2AB884A889BA}" destId="{5C7297C6-91FF-41AF-818A-17F31F68621E}" srcOrd="2" destOrd="0" presId="urn:microsoft.com/office/officeart/2018/2/layout/IconVerticalSolidList"/>
    <dgm:cxn modelId="{B28A0D11-13FA-4C31-931A-F07B14A621E1}" type="presParOf" srcId="{5C7297C6-91FF-41AF-818A-17F31F68621E}" destId="{2E54C961-84EA-43A2-844C-C3CE78516CB0}" srcOrd="0" destOrd="0" presId="urn:microsoft.com/office/officeart/2018/2/layout/IconVerticalSolidList"/>
    <dgm:cxn modelId="{C8B62CA3-713E-4E33-9937-BB3AC4CEE8E1}" type="presParOf" srcId="{5C7297C6-91FF-41AF-818A-17F31F68621E}" destId="{A3DBAEA5-2FDA-46C9-9482-7655B37F1E0E}" srcOrd="1" destOrd="0" presId="urn:microsoft.com/office/officeart/2018/2/layout/IconVerticalSolidList"/>
    <dgm:cxn modelId="{D3F949F5-58E5-4DE4-964C-B09CFDC582DB}" type="presParOf" srcId="{5C7297C6-91FF-41AF-818A-17F31F68621E}" destId="{56237200-6F76-4251-BCFC-EAF1C363E346}" srcOrd="2" destOrd="0" presId="urn:microsoft.com/office/officeart/2018/2/layout/IconVerticalSolidList"/>
    <dgm:cxn modelId="{84ADD7C0-7528-46C1-8490-4E90524033B5}" type="presParOf" srcId="{5C7297C6-91FF-41AF-818A-17F31F68621E}" destId="{28C88A3C-4FEA-440F-9B29-481800E6F0BE}" srcOrd="3" destOrd="0" presId="urn:microsoft.com/office/officeart/2018/2/layout/IconVerticalSolidList"/>
    <dgm:cxn modelId="{FABE2793-4FC5-477D-AA30-7475D163304D}" type="presParOf" srcId="{5C7297C6-91FF-41AF-818A-17F31F68621E}" destId="{4FB2F518-2BF4-4FD7-A56E-47F3A3918E17}" srcOrd="4" destOrd="0" presId="urn:microsoft.com/office/officeart/2018/2/layout/IconVerticalSolidList"/>
    <dgm:cxn modelId="{D567229F-E8CD-4A49-BB67-2CDA0C9A835B}" type="presParOf" srcId="{F91F48F0-416F-409A-A4DF-2AB884A889BA}" destId="{89FD899A-D4F4-4C55-8909-E662326770E6}" srcOrd="3" destOrd="0" presId="urn:microsoft.com/office/officeart/2018/2/layout/IconVerticalSolidList"/>
    <dgm:cxn modelId="{B9713A3B-CC3E-437E-932A-CDD67BF2A72A}" type="presParOf" srcId="{F91F48F0-416F-409A-A4DF-2AB884A889BA}" destId="{D72C3A6E-5881-40B9-9893-82CCB0549164}" srcOrd="4" destOrd="0" presId="urn:microsoft.com/office/officeart/2018/2/layout/IconVerticalSolidList"/>
    <dgm:cxn modelId="{6B837D76-6E10-4105-A653-1122AC2A2C1E}" type="presParOf" srcId="{D72C3A6E-5881-40B9-9893-82CCB0549164}" destId="{E18A13F9-D7A2-436B-8993-77DFC272C62C}" srcOrd="0" destOrd="0" presId="urn:microsoft.com/office/officeart/2018/2/layout/IconVerticalSolidList"/>
    <dgm:cxn modelId="{6EED0E54-6B9F-4CAF-BF27-C791A7A189A5}" type="presParOf" srcId="{D72C3A6E-5881-40B9-9893-82CCB0549164}" destId="{933C83E9-3F13-4531-A494-B128397A40AE}" srcOrd="1" destOrd="0" presId="urn:microsoft.com/office/officeart/2018/2/layout/IconVerticalSolidList"/>
    <dgm:cxn modelId="{5DF4BFEC-80F6-488D-B7E5-05C95FB7EA7D}" type="presParOf" srcId="{D72C3A6E-5881-40B9-9893-82CCB0549164}" destId="{0B330141-BDA3-4D12-AFE4-A5C53FC9730A}" srcOrd="2" destOrd="0" presId="urn:microsoft.com/office/officeart/2018/2/layout/IconVerticalSolidList"/>
    <dgm:cxn modelId="{AAB7E9FB-1418-4BF0-94D2-6A5346D61A47}" type="presParOf" srcId="{D72C3A6E-5881-40B9-9893-82CCB0549164}" destId="{1649E94B-5A94-485B-93A6-2EB4D5F91B9A}" srcOrd="3" destOrd="0" presId="urn:microsoft.com/office/officeart/2018/2/layout/IconVerticalSolidList"/>
    <dgm:cxn modelId="{EFB83674-A40A-4E29-B154-E710E1CED88D}" type="presParOf" srcId="{D72C3A6E-5881-40B9-9893-82CCB0549164}" destId="{EA9947D3-2998-4B00-9B2A-15D759EFA19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4C9803-894E-44D2-889B-76A5CCA8AA03}">
      <dsp:nvSpPr>
        <dsp:cNvPr id="0" name=""/>
        <dsp:cNvSpPr/>
      </dsp:nvSpPr>
      <dsp:spPr>
        <a:xfrm>
          <a:off x="0" y="531"/>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2C947F-10ED-4AC9-86DE-CDAD3C879254}">
      <dsp:nvSpPr>
        <dsp:cNvPr id="0" name=""/>
        <dsp:cNvSpPr/>
      </dsp:nvSpPr>
      <dsp:spPr>
        <a:xfrm>
          <a:off x="375988" y="28019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EC7333-A5CB-4B43-A34A-870E516E4DD6}">
      <dsp:nvSpPr>
        <dsp:cNvPr id="0" name=""/>
        <dsp:cNvSpPr/>
      </dsp:nvSpPr>
      <dsp:spPr>
        <a:xfrm>
          <a:off x="1435590" y="531"/>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understanding</a:t>
          </a:r>
        </a:p>
      </dsp:txBody>
      <dsp:txXfrm>
        <a:off x="1435590" y="531"/>
        <a:ext cx="3549015" cy="1242935"/>
      </dsp:txXfrm>
    </dsp:sp>
    <dsp:sp modelId="{D527155E-0657-496B-926B-6BBC0B628D07}">
      <dsp:nvSpPr>
        <dsp:cNvPr id="0" name=""/>
        <dsp:cNvSpPr/>
      </dsp:nvSpPr>
      <dsp:spPr>
        <a:xfrm>
          <a:off x="4984605" y="531"/>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Do users know what they want?</a:t>
          </a:r>
        </a:p>
        <a:p>
          <a:pPr marL="0" lvl="0" indent="0" algn="l" defTabSz="577850">
            <a:lnSpc>
              <a:spcPct val="100000"/>
            </a:lnSpc>
            <a:spcBef>
              <a:spcPct val="0"/>
            </a:spcBef>
            <a:spcAft>
              <a:spcPct val="35000"/>
            </a:spcAft>
            <a:buNone/>
          </a:pPr>
          <a:r>
            <a:rPr lang="en-US" sz="1300" kern="1200" dirty="0"/>
            <a:t>Do users know what we don’t know?</a:t>
          </a:r>
        </a:p>
        <a:p>
          <a:pPr marL="0" lvl="0" indent="0" algn="l" defTabSz="577850">
            <a:lnSpc>
              <a:spcPct val="100000"/>
            </a:lnSpc>
            <a:spcBef>
              <a:spcPct val="0"/>
            </a:spcBef>
            <a:spcAft>
              <a:spcPct val="35000"/>
            </a:spcAft>
            <a:buNone/>
          </a:pPr>
          <a:r>
            <a:rPr lang="en-US" sz="1300" kern="1200" dirty="0"/>
            <a:t>Do we know who are users even are?</a:t>
          </a:r>
        </a:p>
      </dsp:txBody>
      <dsp:txXfrm>
        <a:off x="4984605" y="531"/>
        <a:ext cx="2902094" cy="1242935"/>
      </dsp:txXfrm>
    </dsp:sp>
    <dsp:sp modelId="{2E54C961-84EA-43A2-844C-C3CE78516CB0}">
      <dsp:nvSpPr>
        <dsp:cNvPr id="0" name=""/>
        <dsp:cNvSpPr/>
      </dsp:nvSpPr>
      <dsp:spPr>
        <a:xfrm>
          <a:off x="0" y="155420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BAEA5-2FDA-46C9-9482-7655B37F1E0E}">
      <dsp:nvSpPr>
        <dsp:cNvPr id="0" name=""/>
        <dsp:cNvSpPr/>
      </dsp:nvSpPr>
      <dsp:spPr>
        <a:xfrm>
          <a:off x="375988" y="183386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C88A3C-4FEA-440F-9B29-481800E6F0BE}">
      <dsp:nvSpPr>
        <dsp:cNvPr id="0" name=""/>
        <dsp:cNvSpPr/>
      </dsp:nvSpPr>
      <dsp:spPr>
        <a:xfrm>
          <a:off x="1435590" y="155420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scope</a:t>
          </a:r>
        </a:p>
      </dsp:txBody>
      <dsp:txXfrm>
        <a:off x="1435590" y="1554200"/>
        <a:ext cx="3549015" cy="1242935"/>
      </dsp:txXfrm>
    </dsp:sp>
    <dsp:sp modelId="{4FB2F518-2BF4-4FD7-A56E-47F3A3918E17}">
      <dsp:nvSpPr>
        <dsp:cNvPr id="0" name=""/>
        <dsp:cNvSpPr/>
      </dsp:nvSpPr>
      <dsp:spPr>
        <a:xfrm>
          <a:off x="4984605" y="155420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What are we building?</a:t>
          </a:r>
        </a:p>
        <a:p>
          <a:pPr marL="0" lvl="0" indent="0" algn="l" defTabSz="577850">
            <a:lnSpc>
              <a:spcPct val="100000"/>
            </a:lnSpc>
            <a:spcBef>
              <a:spcPct val="0"/>
            </a:spcBef>
            <a:spcAft>
              <a:spcPct val="35000"/>
            </a:spcAft>
            <a:buNone/>
          </a:pPr>
          <a:r>
            <a:rPr lang="en-US" sz="1300" kern="1200" dirty="0"/>
            <a:t>What non-functional quality attributes are included?</a:t>
          </a:r>
        </a:p>
      </dsp:txBody>
      <dsp:txXfrm>
        <a:off x="4984605" y="1554200"/>
        <a:ext cx="2902094" cy="1242935"/>
      </dsp:txXfrm>
    </dsp:sp>
    <dsp:sp modelId="{E18A13F9-D7A2-436B-8993-77DFC272C62C}">
      <dsp:nvSpPr>
        <dsp:cNvPr id="0" name=""/>
        <dsp:cNvSpPr/>
      </dsp:nvSpPr>
      <dsp:spPr>
        <a:xfrm>
          <a:off x="0" y="310787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3C83E9-3F13-4531-A494-B128397A40AE}">
      <dsp:nvSpPr>
        <dsp:cNvPr id="0" name=""/>
        <dsp:cNvSpPr/>
      </dsp:nvSpPr>
      <dsp:spPr>
        <a:xfrm>
          <a:off x="375988" y="3387530"/>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49E94B-5A94-485B-93A6-2EB4D5F91B9A}">
      <dsp:nvSpPr>
        <dsp:cNvPr id="0" name=""/>
        <dsp:cNvSpPr/>
      </dsp:nvSpPr>
      <dsp:spPr>
        <a:xfrm>
          <a:off x="1435590" y="310787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volatility</a:t>
          </a:r>
        </a:p>
      </dsp:txBody>
      <dsp:txXfrm>
        <a:off x="1435590" y="3107870"/>
        <a:ext cx="3549015" cy="1242935"/>
      </dsp:txXfrm>
    </dsp:sp>
    <dsp:sp modelId="{EA9947D3-2998-4B00-9B2A-15D759EFA191}">
      <dsp:nvSpPr>
        <dsp:cNvPr id="0" name=""/>
        <dsp:cNvSpPr/>
      </dsp:nvSpPr>
      <dsp:spPr>
        <a:xfrm>
          <a:off x="4984605" y="310787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Changing requirements over time</a:t>
          </a:r>
        </a:p>
      </dsp:txBody>
      <dsp:txXfrm>
        <a:off x="4984605" y="3107870"/>
        <a:ext cx="2902094"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8/20/2026</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overall question for Requirements Analysis is making sure that we are building the right thing.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meme does a great job capturing the many ways in which we can get off course and end up building the wrong thing.  It may not be surprising that this meme dates back to at least the 1970’s, and long before the internet, was photocopied and hung up on the wall in many offices, particularly at software companies. These are not new problems: understanding what the customer wants the software to be, and then ensuring that we implement something that solves that problem is not easy.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dirty="0"/>
          </a:p>
        </p:txBody>
      </p:sp>
    </p:spTree>
    <p:extLst>
      <p:ext uri="{BB962C8B-B14F-4D97-AF65-F5344CB8AC3E}">
        <p14:creationId xmlns:p14="http://schemas.microsoft.com/office/powerpoint/2010/main" val="22262962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getting the right requirements can certainly help make sure we build the right thing, it definitely doesn’t guarantee it.</a:t>
            </a:r>
          </a:p>
          <a:p>
            <a:endParaRPr lang="en-US" dirty="0"/>
          </a:p>
          <a:p>
            <a:r>
              <a:rPr lang="en-US" dirty="0"/>
              <a:t>Consider right now an example developing of a virtual meeting platform. With the start of the COVID-19 pandemic, and shift to virtual meetings, there has been an enormous demand for software to help substitute for physical events. But, even today, many platforms still don’t provide the experience that users want: how do you replace some physical interactions with a software product? These kind of challenges come up all of the time in software projects.</a:t>
            </a:r>
          </a:p>
          <a:p>
            <a:endParaRPr lang="en-US" dirty="0"/>
          </a:p>
          <a:p>
            <a:r>
              <a:rPr lang="en-US" dirty="0"/>
              <a:t>Sometimes, clients want to bring software in to solve some problem that is currently not being addressed, but don’t know exactly how to solve it. In other times, new software is brought in as a technology to improve an existing process. There is a way that things are done, and your software is going to help that get done better. In those situations, the client may simply not know what will work best for them. </a:t>
            </a:r>
          </a:p>
          <a:p>
            <a:endParaRPr lang="en-US" dirty="0"/>
          </a:p>
          <a:p>
            <a:r>
              <a:rPr lang="en-US" dirty="0"/>
              <a:t>Software engineering aims to provide answers, or at least a framework for answers to these questions</a:t>
            </a:r>
          </a:p>
          <a:p>
            <a:endParaRPr lang="en-US" dirty="0"/>
          </a:p>
          <a:p>
            <a:r>
              <a:rPr lang="en-US" dirty="0"/>
              <a:t>&lt;Read slide.  Possible elaboration:&gt;</a:t>
            </a:r>
          </a:p>
          <a:p>
            <a:endParaRPr lang="en-US" dirty="0"/>
          </a:p>
          <a:p>
            <a:r>
              <a:rPr lang="en-US" dirty="0"/>
              <a:t>Examples of problems of understanding corresponding to the bullets:</a:t>
            </a:r>
          </a:p>
          <a:p>
            <a:pPr marL="171450" indent="-171450">
              <a:buFont typeface="Arial" panose="020B0604020202020204" pitchFamily="34" charset="0"/>
              <a:buChar char="•"/>
            </a:pPr>
            <a:r>
              <a:rPr lang="en-US" dirty="0"/>
              <a:t>What they want? -&gt; Simply don’t know what is possible, won’t know it until they see it, often know what the problem is that they want the software to solve, but not the solution. Coming up with the solution is a design problem. Good to have a buddy who is a user experience designer.</a:t>
            </a:r>
          </a:p>
          <a:p>
            <a:pPr marL="171450" indent="-171450">
              <a:buFont typeface="Arial" panose="020B0604020202020204" pitchFamily="34" charset="0"/>
              <a:buChar char="•"/>
            </a:pPr>
            <a:r>
              <a:rPr lang="en-US" dirty="0"/>
              <a:t>What we don’t know? -&gt; Most software is not “general purpose”, but exists within some domain.</a:t>
            </a:r>
          </a:p>
          <a:p>
            <a:pPr marL="171450" indent="-171450">
              <a:buFont typeface="Arial" panose="020B0604020202020204" pitchFamily="34" charset="0"/>
              <a:buChar char="•"/>
            </a:pPr>
            <a:r>
              <a:rPr lang="en-US" dirty="0"/>
              <a:t>Who are our users? -&gt; Maybe most common in startups, where you have a client (moneybags investors) who are guessing who your users will be and what they want</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Scope - What are we building? -&gt; How to agree with client on a statement of work that is feasible given constraints, how to make sure that we stay on track?</a:t>
            </a:r>
          </a:p>
          <a:p>
            <a:pPr marL="171450" indent="-171450">
              <a:buFont typeface="Arial" panose="020B0604020202020204" pitchFamily="34" charset="0"/>
              <a:buChar char="•"/>
            </a:pPr>
            <a:r>
              <a:rPr lang="en-US" dirty="0"/>
              <a:t>Scope – quality attributes -&gt; How to specify things like performance, usability, maintainability, security, </a:t>
            </a:r>
            <a:r>
              <a:rPr lang="en-US" dirty="0" err="1"/>
              <a:t>etc</a:t>
            </a:r>
            <a:endParaRPr lang="en-US"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Volatility -&gt; Long projects are subject to changes in world around them</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4979009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lesson, we'll primarily be concerned with problems of understanding.  How do we get from a customer's vague notions of what they might want to something concrete enough to guide us to build it.</a:t>
            </a:r>
          </a:p>
          <a:p>
            <a:r>
              <a:rPr lang="en-US" dirty="0"/>
              <a:t>&lt;read slide&gt; </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4385869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things that these different methods have in common.  </a:t>
            </a:r>
            <a:br>
              <a:rPr lang="en-US" dirty="0"/>
            </a:br>
            <a:r>
              <a:rPr lang="en-US" dirty="0"/>
              <a:t>Notice two important things: stakeholders and value </a:t>
            </a:r>
            <a:br>
              <a:rPr lang="en-US" dirty="0"/>
            </a:br>
            <a:r>
              <a:rPr lang="en-US" dirty="0"/>
              <a:t>&lt;read slide&gt;</a:t>
            </a:r>
          </a:p>
          <a:p>
            <a:r>
              <a:rPr lang="en-US" dirty="0"/>
              <a:t>The artifact produced by these common elements is user stories! </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41091893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E2D2-B91E-ED24-3431-74ABB99CA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716A8-CAA9-9575-5A22-650474490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44D3-BD81-BDCA-0720-0D4D20CEBB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361E51-9069-F754-8121-B1692D3FC712}"/>
              </a:ext>
            </a:extLst>
          </p:cNvPr>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8543607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lecture is providing part of the bigger picture for the context of user stories in software engineering. Connecting user stories with conditions of satisfaction is how we organize our software engineering process — that’s central to what we’re doing in this class.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lesson talks about how we decide </a:t>
            </a:r>
            <a:r>
              <a:rPr lang="en-US" i="1" dirty="0"/>
              <a:t>what </a:t>
            </a:r>
            <a:r>
              <a:rPr lang="en-US" i="0" dirty="0"/>
              <a:t>user stories to select as part of our planning. </a:t>
            </a:r>
            <a:r>
              <a:rPr lang="en-US" dirty="0"/>
              <a:t>Our course staff will judge whether your essential conditions of satisfaction represent an MVP for your user story. But they mostly won’t be judging whether </a:t>
            </a:r>
            <a:r>
              <a:rPr lang="en-US" i="1" dirty="0"/>
              <a:t>your user stories are user stories worth doing.</a:t>
            </a:r>
            <a:endParaRPr lang="en-US" dirty="0"/>
          </a:p>
          <a:p>
            <a:endParaRPr lang="en-US" dirty="0"/>
          </a:p>
          <a:p>
            <a:r>
              <a:rPr lang="en-US" dirty="0"/>
              <a:t>In other words, in the context of this class we mostly see it it as a technical decision about how to satisfy a user story — a complex technical decision that involves design, but a technical decision.</a:t>
            </a:r>
          </a:p>
          <a:p>
            <a:endParaRPr lang="en-US" dirty="0"/>
          </a:p>
          <a:p>
            <a:r>
              <a:rPr lang="en-US" dirty="0"/>
              <a:t>But in reality, who decides what actual software should get built, what user stories should get prioritized? How do they decide? </a:t>
            </a:r>
          </a:p>
          <a:p>
            <a:endParaRPr lang="en-US" dirty="0"/>
          </a:p>
          <a:p>
            <a:r>
              <a:rPr lang="en-US" dirty="0"/>
              <a:t>DISCUSS: Who do you think gets to decide what user stories actually get prioritized in practice?</a:t>
            </a:r>
          </a:p>
          <a:p>
            <a:endParaRPr lang="en-US" dirty="0"/>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F731D-D500-EB15-8AF8-A6BD9AE2D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966D5-9B67-6797-5243-312A147444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4F925-0091-CFA2-80B9-21BAFDFE6A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are a way of capturing the user’s stated goals in a way that hopefully helps us build the right thing (the tire swing) — that’s the main topic for this lecture.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139CD553-911C-0236-834D-37F554474F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8627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thing that the user would like to do, written in the user's language. "Short and simple" means that it can fit on a 3x5” We'll say more about this later.</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a:p>
            <a:r>
              <a:rPr lang="en-US" dirty="0"/>
              <a:t>QUESTION: what are some ways that this user story can be fixed? (‘change the role to make sense’ is probably the easiest one, but maybe a teacher could get a benefit in their role as a teacher from access to a laser cutter?)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Another way of putting it is that good capabilities are more like </a:t>
            </a:r>
            <a:r>
              <a:rPr lang="en-US" i="1" dirty="0"/>
              <a:t>verbs</a:t>
            </a:r>
            <a:r>
              <a:rPr lang="en-US" i="0" dirty="0"/>
              <a:t>. The more your capability looks like a noun, the more likely you are to be assuming too many details of the what you want to build up-front. There’s a time for deciding specifically want to build, and we’ll get to it soon!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a:p>
            <a:endParaRPr lang="en-US" dirty="0"/>
          </a:p>
          <a:p>
            <a:r>
              <a:rPr lang="en-US" dirty="0"/>
              <a:t>Example of multiple options: “As a social media user, I want to not have to see posts that are offensive so that I can be confident reading my account in public” — do we do this via algorithmic filtering/banning/deletion, or tagging posts with offensive material?</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COSs must be prioritized as Essential, Desirable or Extension.</a:t>
            </a:r>
          </a:p>
          <a:p>
            <a:endParaRPr lang="en-US" dirty="0"/>
          </a:p>
          <a:p>
            <a:r>
              <a:rPr lang="en-US" dirty="0"/>
              <a:t>(Sometimes user stories are also prioritized, but in the class project this semester, we’re not going to prioritize user stories in the same way.)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What's the benefit here?</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4320761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Maybe this is desirable, maybe it's essential.</a:t>
            </a:r>
          </a:p>
          <a:p>
            <a:r>
              <a:rPr lang="en-US" dirty="0"/>
              <a:t>Q: What's the benefit to the maintenance supervisor?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do these </a:t>
            </a:r>
            <a:r>
              <a:rPr lang="en-US" dirty="0" err="1"/>
              <a:t>CoS</a:t>
            </a:r>
            <a:r>
              <a:rPr lang="en-US" dirty="0"/>
              <a:t> pertain to the supervisor's desire to /control/ the order in which the potholes are repaired?   </a:t>
            </a:r>
          </a:p>
          <a:p>
            <a:endParaRPr lang="en-US" dirty="0"/>
          </a:p>
          <a:p>
            <a:r>
              <a:rPr lang="en-US" dirty="0"/>
              <a:t>Prof. Wand says: these COS are about "planning" the order in which the potholes should be repaired, but it doesn't give him any _control_. If he wants to **control** the order, shouldn't there be a </a:t>
            </a:r>
            <a:r>
              <a:rPr lang="en-US" dirty="0" err="1"/>
              <a:t>CoS</a:t>
            </a:r>
            <a:r>
              <a:rPr lang="en-US" dirty="0"/>
              <a:t> something like "I should be able to assign each repair crew an individual set of potholes, and communicate this assignment to the crew"?? </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5254426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On the project you get 100 points for delivering your MVP (the selected user stories and their essential COSs). The remaining 50 points come from implementing the desirable conditions of satisfaction for your selected user stories.</a:t>
            </a:r>
          </a:p>
          <a:p>
            <a:endParaRPr lang="en-US" dirty="0"/>
          </a:p>
          <a:p>
            <a:r>
              <a:rPr lang="en-US" dirty="0"/>
              <a:t>OTOH, 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31</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8/20/2026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8/20/2026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8/20/2026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8/20/2026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8/20/2026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8/20/2026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8/20/2026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8/20/2026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8/20/2026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8/20/2026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8/20/2026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8/20/2026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8/20/2026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en.wikipedia.org/wiki/Tree_swing_cartoon"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 Id="rId9" Type="http://schemas.openxmlformats.org/officeDocument/2006/relationships/image" Target="../media/image15.sv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and Mitch Wand</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2026-27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overall purposes of requirements analysis</a:t>
            </a:r>
          </a:p>
          <a:p>
            <a:pPr lvl="1"/>
            <a:r>
              <a:rPr lang="en-US" dirty="0"/>
              <a:t>Explain the connection between requirements analysis and user stories</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a:t>
            </a:r>
          </a:p>
          <a:p>
            <a:pPr lvl="1"/>
            <a:r>
              <a:rPr lang="en-US" dirty="0"/>
              <a:t>Explain the difference between essential, desired, and extension levels of priority.</a:t>
            </a:r>
          </a:p>
          <a:p>
            <a:pPr lvl="1"/>
            <a:r>
              <a:rPr lang="en-US" dirty="0"/>
              <a:t>Explain the difference between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a:bodyPr>
          <a:lstStyle/>
          <a:p>
            <a:r>
              <a:rPr lang="en-US" dirty="0"/>
              <a:t>Requirement analysis helps in making sure that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3</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9023" y="1743213"/>
            <a:ext cx="9983159" cy="370343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9311334-0AE7-0B97-21A1-7F1A4118397E}"/>
              </a:ext>
            </a:extLst>
          </p:cNvPr>
          <p:cNvSpPr txBox="1"/>
          <p:nvPr/>
        </p:nvSpPr>
        <p:spPr>
          <a:xfrm>
            <a:off x="97663" y="6356350"/>
            <a:ext cx="6100762"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hlinkClick r:id="rId4"/>
              </a:rPr>
              <a:t>https://en.wikipedia.org/wiki/Tree_swing_cartoon</a:t>
            </a:r>
            <a:r>
              <a:rPr lang="en-US" dirty="0">
                <a:solidFill>
                  <a:schemeClr val="tx1"/>
                </a:solidFill>
              </a:rPr>
              <a:t> </a:t>
            </a:r>
          </a:p>
        </p:txBody>
      </p:sp>
    </p:spTree>
    <p:extLst>
      <p:ext uri="{BB962C8B-B14F-4D97-AF65-F5344CB8AC3E}">
        <p14:creationId xmlns:p14="http://schemas.microsoft.com/office/powerpoint/2010/main" val="1343145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Why is requirements analysis hard?</a:t>
            </a:r>
          </a:p>
        </p:txBody>
      </p:sp>
      <p:graphicFrame>
        <p:nvGraphicFramePr>
          <p:cNvPr id="5125" name="Rectangle 2">
            <a:extLst>
              <a:ext uri="{FF2B5EF4-FFF2-40B4-BE49-F238E27FC236}">
                <a16:creationId xmlns:a16="http://schemas.microsoft.com/office/drawing/2014/main" id="{042DA56E-1CBE-437C-8295-D010F5813C74}"/>
              </a:ext>
            </a:extLst>
          </p:cNvPr>
          <p:cNvGraphicFramePr>
            <a:graphicFrameLocks noGrp="1"/>
          </p:cNvGraphicFramePr>
          <p:nvPr>
            <p:ph idx="1"/>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32600" y="6454704"/>
            <a:ext cx="136256"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Calibri Light" panose="020F0302020204030204" pitchFamily="34" charset="0"/>
                <a:ea typeface="Helvetica Neue" charset="0"/>
                <a:cs typeface="Calibri Light" panose="020F0302020204030204" pitchFamily="34" charset="0"/>
                <a:sym typeface="Helvetica Neue" charset="0"/>
              </a:rPr>
              <a:pPr algn="r"/>
              <a:t>4</a:t>
            </a:fld>
            <a:endParaRPr lang="en-US" altLang="en-US" sz="984" dirty="0">
              <a:latin typeface="Calibri Light" panose="020F0302020204030204" pitchFamily="34" charset="0"/>
              <a:ea typeface="Helvetica Neue" charset="0"/>
              <a:cs typeface="Calibri Light" panose="020F0302020204030204" pitchFamily="34" charset="0"/>
              <a:sym typeface="Helvetica Neue" charset="0"/>
            </a:endParaRPr>
          </a:p>
        </p:txBody>
      </p:sp>
      <p:pic>
        <p:nvPicPr>
          <p:cNvPr id="2" name="Picture 1">
            <a:extLst>
              <a:ext uri="{FF2B5EF4-FFF2-40B4-BE49-F238E27FC236}">
                <a16:creationId xmlns:a16="http://schemas.microsoft.com/office/drawing/2014/main" id="{20C0AE1E-00E3-4942-9AAD-E05E6117B462}"/>
              </a:ext>
            </a:extLst>
          </p:cNvPr>
          <p:cNvPicPr>
            <a:picLocks noChangeAspect="1"/>
          </p:cNvPicPr>
          <p:nvPr/>
        </p:nvPicPr>
        <p:blipFill rotWithShape="1">
          <a:blip r:embed="rId8"/>
          <a:srcRect r="48948"/>
          <a:stretch/>
        </p:blipFill>
        <p:spPr>
          <a:xfrm>
            <a:off x="8825548" y="1524000"/>
            <a:ext cx="1037381" cy="1905000"/>
          </a:xfrm>
          <a:prstGeom prst="rect">
            <a:avLst/>
          </a:prstGeom>
        </p:spPr>
      </p:pic>
      <p:pic>
        <p:nvPicPr>
          <p:cNvPr id="3" name="Picture 2">
            <a:extLst>
              <a:ext uri="{FF2B5EF4-FFF2-40B4-BE49-F238E27FC236}">
                <a16:creationId xmlns:a16="http://schemas.microsoft.com/office/drawing/2014/main" id="{9D0ABD5D-EBC5-AD4A-89E8-3DBE63E03806}"/>
              </a:ext>
            </a:extLst>
          </p:cNvPr>
          <p:cNvPicPr>
            <a:picLocks noChangeAspect="1"/>
          </p:cNvPicPr>
          <p:nvPr/>
        </p:nvPicPr>
        <p:blipFill>
          <a:blip r:embed="rId9"/>
          <a:stretch>
            <a:fillRect/>
          </a:stretch>
        </p:blipFill>
        <p:spPr>
          <a:xfrm>
            <a:off x="8829889" y="4010047"/>
            <a:ext cx="1028700" cy="1943100"/>
          </a:xfrm>
          <a:prstGeom prst="rect">
            <a:avLst/>
          </a:prstGeom>
        </p:spPr>
      </p:pic>
      <p:pic>
        <p:nvPicPr>
          <p:cNvPr id="8" name="Picture 7">
            <a:extLst>
              <a:ext uri="{FF2B5EF4-FFF2-40B4-BE49-F238E27FC236}">
                <a16:creationId xmlns:a16="http://schemas.microsoft.com/office/drawing/2014/main" id="{A3A69FEC-CE32-4A48-BD47-A3E23897431C}"/>
              </a:ext>
            </a:extLst>
          </p:cNvPr>
          <p:cNvPicPr>
            <a:picLocks noChangeAspect="1"/>
          </p:cNvPicPr>
          <p:nvPr/>
        </p:nvPicPr>
        <p:blipFill rotWithShape="1">
          <a:blip r:embed="rId8"/>
          <a:srcRect l="48948" b="1704"/>
          <a:stretch/>
        </p:blipFill>
        <p:spPr>
          <a:xfrm>
            <a:off x="9971456" y="2739560"/>
            <a:ext cx="1037381" cy="1872538"/>
          </a:xfrm>
          <a:prstGeom prst="rect">
            <a:avLst/>
          </a:prstGeom>
        </p:spPr>
      </p:pic>
    </p:spTree>
    <p:extLst>
      <p:ext uri="{BB962C8B-B14F-4D97-AF65-F5344CB8AC3E}">
        <p14:creationId xmlns:p14="http://schemas.microsoft.com/office/powerpoint/2010/main" val="235257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1AB2A-F440-AC87-D1D6-59228B87B7AA}"/>
              </a:ext>
            </a:extLst>
          </p:cNvPr>
          <p:cNvSpPr>
            <a:spLocks noGrp="1"/>
          </p:cNvSpPr>
          <p:nvPr>
            <p:ph type="title"/>
          </p:nvPr>
        </p:nvSpPr>
        <p:spPr/>
        <p:txBody>
          <a:bodyPr/>
          <a:lstStyle/>
          <a:p>
            <a:r>
              <a:rPr lang="en-US" dirty="0"/>
              <a:t>How do we capture the requirements?</a:t>
            </a:r>
          </a:p>
        </p:txBody>
      </p:sp>
      <p:sp>
        <p:nvSpPr>
          <p:cNvPr id="3" name="Content Placeholder 2">
            <a:extLst>
              <a:ext uri="{FF2B5EF4-FFF2-40B4-BE49-F238E27FC236}">
                <a16:creationId xmlns:a16="http://schemas.microsoft.com/office/drawing/2014/main" id="{9ED6CEEF-1D52-6DAD-3291-6C2B7263C09C}"/>
              </a:ext>
            </a:extLst>
          </p:cNvPr>
          <p:cNvSpPr>
            <a:spLocks noGrp="1"/>
          </p:cNvSpPr>
          <p:nvPr>
            <p:ph idx="1"/>
          </p:nvPr>
        </p:nvSpPr>
        <p:spPr>
          <a:xfrm>
            <a:off x="838200" y="1500160"/>
            <a:ext cx="5715000" cy="4351338"/>
          </a:xfrm>
        </p:spPr>
        <p:txBody>
          <a:bodyPr/>
          <a:lstStyle/>
          <a:p>
            <a:r>
              <a:rPr lang="en-US" dirty="0"/>
              <a:t>There are many frameworks for capturing requirements.</a:t>
            </a:r>
          </a:p>
          <a:p>
            <a:r>
              <a:rPr lang="en-US" dirty="0"/>
              <a:t>Often described as </a:t>
            </a:r>
            <a:r>
              <a:rPr lang="en-US" i="1" dirty="0">
                <a:latin typeface="Times New Roman" panose="02020603050405020304" pitchFamily="18" charset="0"/>
                <a:cs typeface="Times New Roman" panose="02020603050405020304" pitchFamily="18" charset="0"/>
              </a:rPr>
              <a:t>x</a:t>
            </a:r>
            <a:r>
              <a:rPr lang="en-US" dirty="0"/>
              <a:t>-Driven Design (for some </a:t>
            </a:r>
            <a:r>
              <a:rPr lang="en-US" i="1" dirty="0">
                <a:latin typeface="Times New Roman" panose="02020603050405020304" pitchFamily="18" charset="0"/>
                <a:cs typeface="Times New Roman" panose="02020603050405020304" pitchFamily="18" charset="0"/>
              </a:rPr>
              <a:t>x</a:t>
            </a:r>
            <a:r>
              <a:rPr lang="en-US" dirty="0"/>
              <a:t>)</a:t>
            </a:r>
          </a:p>
          <a:p>
            <a:r>
              <a:rPr lang="en-US" dirty="0"/>
              <a:t>They differ in scope &amp; details, but they have many features in common.</a:t>
            </a:r>
          </a:p>
        </p:txBody>
      </p:sp>
      <p:sp>
        <p:nvSpPr>
          <p:cNvPr id="4" name="Slide Number Placeholder 3">
            <a:extLst>
              <a:ext uri="{FF2B5EF4-FFF2-40B4-BE49-F238E27FC236}">
                <a16:creationId xmlns:a16="http://schemas.microsoft.com/office/drawing/2014/main" id="{25CD15F5-5F7F-3562-FAA9-035E16D18271}"/>
              </a:ext>
            </a:extLst>
          </p:cNvPr>
          <p:cNvSpPr>
            <a:spLocks noGrp="1"/>
          </p:cNvSpPr>
          <p:nvPr>
            <p:ph type="sldNum" sz="quarter" idx="12"/>
          </p:nvPr>
        </p:nvSpPr>
        <p:spPr/>
        <p:txBody>
          <a:bodyPr/>
          <a:lstStyle/>
          <a:p>
            <a:fld id="{20F37917-FD3A-4669-9018-DA04BCDD3D75}" type="slidenum">
              <a:rPr lang="en-US" smtClean="0"/>
              <a:t>5</a:t>
            </a:fld>
            <a:endParaRPr lang="en-US"/>
          </a:p>
        </p:txBody>
      </p:sp>
      <p:pic>
        <p:nvPicPr>
          <p:cNvPr id="6" name="Picture 5" descr="A screenshot of a computer&#10;&#10;Description automatically generated">
            <a:extLst>
              <a:ext uri="{FF2B5EF4-FFF2-40B4-BE49-F238E27FC236}">
                <a16:creationId xmlns:a16="http://schemas.microsoft.com/office/drawing/2014/main" id="{58E6899D-E64A-6E6E-E61C-1B0B676F59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731941">
            <a:off x="6839866" y="2085915"/>
            <a:ext cx="4366227" cy="3179827"/>
          </a:xfrm>
          <a:prstGeom prst="rect">
            <a:avLst/>
          </a:prstGeom>
        </p:spPr>
      </p:pic>
    </p:spTree>
    <p:extLst>
      <p:ext uri="{BB962C8B-B14F-4D97-AF65-F5344CB8AC3E}">
        <p14:creationId xmlns:p14="http://schemas.microsoft.com/office/powerpoint/2010/main" val="2188219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FAD7B-5666-420A-EE4C-D8615527EF0A}"/>
              </a:ext>
            </a:extLst>
          </p:cNvPr>
          <p:cNvSpPr>
            <a:spLocks noGrp="1"/>
          </p:cNvSpPr>
          <p:nvPr>
            <p:ph type="title"/>
          </p:nvPr>
        </p:nvSpPr>
        <p:spPr/>
        <p:txBody>
          <a:bodyPr/>
          <a:lstStyle/>
          <a:p>
            <a:r>
              <a:rPr lang="en-US" dirty="0"/>
              <a:t>Common Elements</a:t>
            </a:r>
          </a:p>
        </p:txBody>
      </p:sp>
      <p:sp>
        <p:nvSpPr>
          <p:cNvPr id="3" name="Content Placeholder 2">
            <a:extLst>
              <a:ext uri="{FF2B5EF4-FFF2-40B4-BE49-F238E27FC236}">
                <a16:creationId xmlns:a16="http://schemas.microsoft.com/office/drawing/2014/main" id="{D4C83EDF-C9D6-ED5A-3DD7-24DB0B2CCF20}"/>
              </a:ext>
            </a:extLst>
          </p:cNvPr>
          <p:cNvSpPr>
            <a:spLocks noGrp="1"/>
          </p:cNvSpPr>
          <p:nvPr>
            <p:ph idx="1"/>
          </p:nvPr>
        </p:nvSpPr>
        <p:spPr>
          <a:xfrm>
            <a:off x="838200" y="1500160"/>
            <a:ext cx="5659582" cy="4351338"/>
          </a:xfrm>
        </p:spPr>
        <p:txBody>
          <a:bodyPr>
            <a:normAutofit/>
          </a:bodyPr>
          <a:lstStyle/>
          <a:p>
            <a:r>
              <a:rPr lang="en-US" dirty="0"/>
              <a:t>Meet with stakeholders</a:t>
            </a:r>
          </a:p>
          <a:p>
            <a:r>
              <a:rPr lang="en-US" dirty="0"/>
              <a:t>Develop a common language</a:t>
            </a:r>
          </a:p>
          <a:p>
            <a:r>
              <a:rPr lang="en-US" dirty="0"/>
              <a:t>Collect desired system behaviors that offer value</a:t>
            </a:r>
          </a:p>
          <a:p>
            <a:r>
              <a:rPr lang="en-US" dirty="0"/>
              <a:t>Document the desired behaviors</a:t>
            </a:r>
          </a:p>
          <a:p>
            <a:r>
              <a:rPr lang="en-US" dirty="0"/>
              <a:t>Iterate and refine!!</a:t>
            </a:r>
          </a:p>
          <a:p>
            <a:pPr marL="514350" indent="-514350">
              <a:buFont typeface="+mj-lt"/>
              <a:buAutoNum type="arabicPeriod"/>
            </a:pPr>
            <a:endParaRPr lang="en-US" dirty="0"/>
          </a:p>
          <a:p>
            <a:pPr marL="0" indent="0">
              <a:buNone/>
            </a:pPr>
            <a:r>
              <a:rPr lang="en-US" b="1" dirty="0"/>
              <a:t>User stories </a:t>
            </a:r>
            <a:r>
              <a:rPr lang="en-US" dirty="0"/>
              <a:t>are the least common denominator of most approaches</a:t>
            </a:r>
          </a:p>
        </p:txBody>
      </p:sp>
      <p:sp>
        <p:nvSpPr>
          <p:cNvPr id="4" name="Slide Number Placeholder 3">
            <a:extLst>
              <a:ext uri="{FF2B5EF4-FFF2-40B4-BE49-F238E27FC236}">
                <a16:creationId xmlns:a16="http://schemas.microsoft.com/office/drawing/2014/main" id="{CB0C3A9D-C365-F3CA-D3F9-80309DA4F4A9}"/>
              </a:ext>
            </a:extLst>
          </p:cNvPr>
          <p:cNvSpPr>
            <a:spLocks noGrp="1"/>
          </p:cNvSpPr>
          <p:nvPr>
            <p:ph type="sldNum" sz="quarter" idx="12"/>
          </p:nvPr>
        </p:nvSpPr>
        <p:spPr/>
        <p:txBody>
          <a:bodyPr/>
          <a:lstStyle/>
          <a:p>
            <a:fld id="{20F37917-FD3A-4669-9018-DA04BCDD3D75}" type="slidenum">
              <a:rPr lang="en-US" smtClean="0"/>
              <a:t>6</a:t>
            </a:fld>
            <a:endParaRPr lang="en-US"/>
          </a:p>
        </p:txBody>
      </p:sp>
      <p:pic>
        <p:nvPicPr>
          <p:cNvPr id="5" name="Picture 2">
            <a:extLst>
              <a:ext uri="{FF2B5EF4-FFF2-40B4-BE49-F238E27FC236}">
                <a16:creationId xmlns:a16="http://schemas.microsoft.com/office/drawing/2014/main" id="{21F1C902-2973-863F-54A8-8823C7E1D07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341" r="16432"/>
          <a:stretch/>
        </p:blipFill>
        <p:spPr bwMode="auto">
          <a:xfrm>
            <a:off x="6805222" y="7858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35400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53868-E65A-896C-92FE-904117C959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9BF54-4996-E976-7162-5E8AE026EE81}"/>
              </a:ext>
            </a:extLst>
          </p:cNvPr>
          <p:cNvSpPr>
            <a:spLocks noGrp="1"/>
          </p:cNvSpPr>
          <p:nvPr>
            <p:ph type="title"/>
          </p:nvPr>
        </p:nvSpPr>
        <p:spPr/>
        <p:txBody>
          <a:bodyPr>
            <a:normAutofit/>
          </a:bodyPr>
          <a:lstStyle/>
          <a:p>
            <a:r>
              <a:rPr lang="en-US" dirty="0"/>
              <a:t>“Building the Right Thing” Necessarily involves Value Judgments</a:t>
            </a:r>
          </a:p>
        </p:txBody>
      </p:sp>
      <p:sp>
        <p:nvSpPr>
          <p:cNvPr id="3" name="Content Placeholder 2">
            <a:extLst>
              <a:ext uri="{FF2B5EF4-FFF2-40B4-BE49-F238E27FC236}">
                <a16:creationId xmlns:a16="http://schemas.microsoft.com/office/drawing/2014/main" id="{883C0B57-32A1-020D-7BDF-BC12E409F16D}"/>
              </a:ext>
            </a:extLst>
          </p:cNvPr>
          <p:cNvSpPr>
            <a:spLocks noGrp="1"/>
          </p:cNvSpPr>
          <p:nvPr>
            <p:ph idx="1"/>
          </p:nvPr>
        </p:nvSpPr>
        <p:spPr>
          <a:xfrm>
            <a:off x="838200" y="1500160"/>
            <a:ext cx="10400414" cy="4856190"/>
          </a:xfrm>
        </p:spPr>
        <p:txBody>
          <a:bodyPr>
            <a:normAutofit/>
          </a:bodyPr>
          <a:lstStyle/>
          <a:p>
            <a:r>
              <a:rPr lang="en-US" dirty="0"/>
              <a:t>Right for whom?</a:t>
            </a:r>
          </a:p>
          <a:p>
            <a:r>
              <a:rPr lang="en-US" dirty="0"/>
              <a:t>Who benefits?</a:t>
            </a:r>
          </a:p>
          <a:p>
            <a:r>
              <a:rPr lang="en-US" dirty="0"/>
              <a:t>Limitations of budget/time/personnel</a:t>
            </a:r>
          </a:p>
          <a:p>
            <a:r>
              <a:rPr lang="en-US" dirty="0"/>
              <a:t>Competing/incompatible ideas about what's important</a:t>
            </a:r>
          </a:p>
          <a:p>
            <a:r>
              <a:rPr lang="en-US" dirty="0"/>
              <a:t>Competing/incompatible sets of Conditions of satisfactions (COSs)</a:t>
            </a:r>
          </a:p>
        </p:txBody>
      </p:sp>
      <p:sp>
        <p:nvSpPr>
          <p:cNvPr id="4" name="Slide Number Placeholder 3">
            <a:extLst>
              <a:ext uri="{FF2B5EF4-FFF2-40B4-BE49-F238E27FC236}">
                <a16:creationId xmlns:a16="http://schemas.microsoft.com/office/drawing/2014/main" id="{2AB92C93-4088-A5CF-84EB-E05A618D8893}"/>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1013576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p:txBody>
          <a:bodyPr>
            <a:noAutofit/>
          </a:bodyPr>
          <a:lstStyle/>
          <a:p>
            <a:r>
              <a:rPr lang="en-US" dirty="0"/>
              <a:t>Requirements Analysis connects High-Level Planning To User Stories</a:t>
            </a:r>
          </a:p>
        </p:txBody>
      </p:sp>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32352" y="4170052"/>
            <a:ext cx="326898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rPr>
              <a:t>user stories &amp;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829501" y="3755977"/>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6200000">
            <a:off x="4379789" y="513528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598893">
            <a:off x="8596296" y="5233324"/>
            <a:ext cx="935568" cy="935568"/>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5400000">
            <a:off x="8491571" y="3774408"/>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837D5B0-5AF0-887F-D097-19C17B1EC8E3}"/>
              </a:ext>
            </a:extLst>
          </p:cNvPr>
          <p:cNvSpPr txBox="1"/>
          <p:nvPr/>
        </p:nvSpPr>
        <p:spPr>
          <a:xfrm>
            <a:off x="5070173" y="4772717"/>
            <a:ext cx="637540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prstClr val="black"/>
                </a:solidFill>
                <a:latin typeface="Calibri" panose="020F0502020204030204"/>
              </a:rPr>
              <a:t>conditions</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 of satisfaction</a:t>
            </a:r>
          </a:p>
        </p:txBody>
      </p:sp>
      <p:sp>
        <p:nvSpPr>
          <p:cNvPr id="11" name="TextBox 10">
            <a:extLst>
              <a:ext uri="{FF2B5EF4-FFF2-40B4-BE49-F238E27FC236}">
                <a16:creationId xmlns:a16="http://schemas.microsoft.com/office/drawing/2014/main" id="{DE4BE722-CE7F-ED8E-8D5B-C26A94217B29}"/>
              </a:ext>
            </a:extLst>
          </p:cNvPr>
          <p:cNvSpPr txBox="1"/>
          <p:nvPr/>
        </p:nvSpPr>
        <p:spPr>
          <a:xfrm>
            <a:off x="10591800" y="754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4" name="TextBox 33">
            <a:extLst>
              <a:ext uri="{FF2B5EF4-FFF2-40B4-BE49-F238E27FC236}">
                <a16:creationId xmlns:a16="http://schemas.microsoft.com/office/drawing/2014/main" id="{57A78C14-221A-C4BA-A7AA-BCB0973C6183}"/>
              </a:ext>
            </a:extLst>
          </p:cNvPr>
          <p:cNvSpPr txBox="1"/>
          <p:nvPr/>
        </p:nvSpPr>
        <p:spPr>
          <a:xfrm>
            <a:off x="4607321" y="3151880"/>
            <a:ext cx="7768500" cy="769441"/>
          </a:xfrm>
          <a:prstGeom prst="rect">
            <a:avLst/>
          </a:prstGeom>
          <a:noFill/>
        </p:spPr>
        <p:txBody>
          <a:bodyPr wrap="square" rtlCol="0">
            <a:spAutoFit/>
          </a:bodyPr>
          <a:lstStyle/>
          <a:p>
            <a:r>
              <a:rPr lang="en-US" sz="4400" dirty="0">
                <a:solidFill>
                  <a:srgbClr val="FF0000"/>
                </a:solidFill>
              </a:rPr>
              <a:t>Requirements Analysis</a:t>
            </a:r>
          </a:p>
        </p:txBody>
      </p:sp>
    </p:spTree>
    <p:extLst>
      <p:ext uri="{BB962C8B-B14F-4D97-AF65-F5344CB8AC3E}">
        <p14:creationId xmlns:p14="http://schemas.microsoft.com/office/powerpoint/2010/main" val="945532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13E5E-E598-ED0F-E948-9C8846A13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32C22B-6A07-0774-9C09-7241222A1B1E}"/>
              </a:ext>
            </a:extLst>
          </p:cNvPr>
          <p:cNvSpPr>
            <a:spLocks noGrp="1"/>
          </p:cNvSpPr>
          <p:nvPr>
            <p:ph type="title"/>
          </p:nvPr>
        </p:nvSpPr>
        <p:spPr>
          <a:xfrm>
            <a:off x="838200" y="18255"/>
            <a:ext cx="10515600" cy="1325563"/>
          </a:xfrm>
        </p:spPr>
        <p:txBody>
          <a:bodyPr/>
          <a:lstStyle/>
          <a:p>
            <a:r>
              <a:rPr lang="en-US" dirty="0"/>
              <a:t>User stories come from</a:t>
            </a:r>
            <a:br>
              <a:rPr lang="en-US" dirty="0"/>
            </a:br>
            <a:r>
              <a:rPr lang="en-US" dirty="0"/>
              <a:t>analyzing the user’s requirements</a:t>
            </a:r>
          </a:p>
        </p:txBody>
      </p:sp>
      <p:sp>
        <p:nvSpPr>
          <p:cNvPr id="5" name="Slide Number Placeholder 4">
            <a:extLst>
              <a:ext uri="{FF2B5EF4-FFF2-40B4-BE49-F238E27FC236}">
                <a16:creationId xmlns:a16="http://schemas.microsoft.com/office/drawing/2014/main" id="{B333801D-8ED6-4CA7-FB2E-B5F453D6A8E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7C792337-A98C-AFAD-6A62-EFE0080A98CA}"/>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3" name="Picture 4">
            <a:extLst>
              <a:ext uri="{FF2B5EF4-FFF2-40B4-BE49-F238E27FC236}">
                <a16:creationId xmlns:a16="http://schemas.microsoft.com/office/drawing/2014/main" id="{DBD13043-1E5B-9507-66C7-F104BDEC93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7275" b="17131"/>
          <a:stretch>
            <a:fillRect/>
          </a:stretch>
        </p:blipFill>
        <p:spPr bwMode="auto">
          <a:xfrm>
            <a:off x="8243668" y="1968500"/>
            <a:ext cx="1789332" cy="242062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DD9DC61-0E66-37B4-6DFC-58DD8B5D9D9D}"/>
              </a:ext>
            </a:extLst>
          </p:cNvPr>
          <p:cNvSpPr txBox="1"/>
          <p:nvPr/>
        </p:nvSpPr>
        <p:spPr>
          <a:xfrm>
            <a:off x="1753008" y="3749434"/>
            <a:ext cx="9824703"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lvl="0">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a(n) </a:t>
            </a:r>
            <a:r>
              <a:rPr lang="en-US" sz="3200" b="1" i="1" u="sng" dirty="0">
                <a:solidFill>
                  <a:srgbClr val="FF0000"/>
                </a:solidFill>
                <a:latin typeface="Ink Free" panose="03080402000500000000" pitchFamily="66" charset="0"/>
              </a:rPr>
              <a:t>active outdoor park-goer</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a:t>
            </a:r>
            <a:r>
              <a:rPr lang="en-US" sz="3200" b="1" i="1" u="sng" dirty="0">
                <a:solidFill>
                  <a:srgbClr val="FF0000"/>
                </a:solidFill>
                <a:latin typeface="Ink Free" panose="03080402000500000000" pitchFamily="66" charset="0"/>
              </a:rPr>
              <a:t>a safe way to fly through the air under a tree </a:t>
            </a: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a:t>
            </a:r>
            <a:r>
              <a:rPr lang="en-US" sz="3200" b="1" i="1" u="sng" dirty="0">
                <a:solidFill>
                  <a:srgbClr val="FF0000"/>
                </a:solidFill>
                <a:latin typeface="Ink Free" panose="03080402000500000000" pitchFamily="66" charset="0"/>
              </a:rPr>
              <a:t>feel the wind in my hair</a:t>
            </a:r>
            <a:endPar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endParaRPr>
          </a:p>
        </p:txBody>
      </p:sp>
    </p:spTree>
    <p:extLst>
      <p:ext uri="{BB962C8B-B14F-4D97-AF65-F5344CB8AC3E}">
        <p14:creationId xmlns:p14="http://schemas.microsoft.com/office/powerpoint/2010/main" val="22814229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dirty="0"/>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9304606" cy="4351338"/>
          </a:xfrm>
        </p:spPr>
        <p:txBody>
          <a:bodyPr vert="horz" lIns="91440" tIns="45720" rIns="91440" bIns="45720" rtlCol="0" anchor="t">
            <a:normAutofit/>
          </a:bodyPr>
          <a:lstStyle/>
          <a:p>
            <a:r>
              <a:rPr lang="en-US" dirty="0"/>
              <a:t>…a least-common-denominator approach documenting the requirements of users when </a:t>
            </a:r>
            <a:r>
              <a:rPr lang="en-US" b="1" dirty="0"/>
              <a:t>planning</a:t>
            </a:r>
            <a:r>
              <a:rPr lang="en-US" dirty="0"/>
              <a:t> projects</a:t>
            </a:r>
          </a:p>
          <a:p>
            <a:r>
              <a:rPr lang="en-US" dirty="0"/>
              <a:t>…a tool for keeping large collaborative teams on the same page when </a:t>
            </a:r>
            <a:r>
              <a:rPr lang="en-US" b="1" dirty="0"/>
              <a:t>organizing</a:t>
            </a:r>
            <a:r>
              <a:rPr lang="en-US" dirty="0"/>
              <a:t> projects</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dirty="0"/>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199" y="1500160"/>
            <a:ext cx="10193978" cy="4351338"/>
          </a:xfrm>
        </p:spPr>
        <p:txBody>
          <a:bodyPr vert="horz" lIns="91440" tIns="45720" rIns="91440" bIns="45720" rtlCol="0" anchor="t">
            <a:normAutofit/>
          </a:bodyPr>
          <a:lstStyle/>
          <a:p>
            <a:r>
              <a:rPr lang="en-US" dirty="0"/>
              <a:t>Roles are positions or functions that people inhabit! The person is not you! It is the user, not customer </a:t>
            </a:r>
          </a:p>
          <a:p>
            <a:pPr lvl="1"/>
            <a:r>
              <a:rPr lang="en-US" dirty="0"/>
              <a:t>You may want to build software to develop skills, or to make a codebase more maintainable. That’s good, but it doesn’t fit as a user story.</a:t>
            </a:r>
          </a:p>
          <a:p>
            <a:r>
              <a:rPr lang="en-US" dirty="0"/>
              <a:t>User stories are for users in a specific role:</a:t>
            </a:r>
          </a:p>
          <a:p>
            <a:pPr lvl="1"/>
            <a:r>
              <a:rPr lang="en-US" dirty="0"/>
              <a:t>“As a web server…” is not a user story!</a:t>
            </a:r>
          </a:p>
          <a:p>
            <a:pPr lvl="1"/>
            <a:r>
              <a:rPr lang="en-US" dirty="0"/>
              <a:t>“As a human being…” is better, but that’s still not a role</a:t>
            </a:r>
          </a:p>
          <a:p>
            <a:pPr lvl="1"/>
            <a:r>
              <a:rPr lang="en-US" dirty="0"/>
              <a:t>“As a user…” is almost always a cop-out</a:t>
            </a:r>
          </a:p>
          <a:p>
            <a:pPr marL="0" indent="0">
              <a:buNone/>
            </a:pPr>
            <a:endParaRPr lang="en-US" dirty="0"/>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Content Placeholder 2">
            <a:extLst>
              <a:ext uri="{FF2B5EF4-FFF2-40B4-BE49-F238E27FC236}">
                <a16:creationId xmlns:a16="http://schemas.microsoft.com/office/drawing/2014/main" id="{EF0DB432-7C4E-48EF-E6F2-8B128C86E4E5}"/>
              </a:ext>
            </a:extLst>
          </p:cNvPr>
          <p:cNvSpPr txBox="1">
            <a:spLocks/>
          </p:cNvSpPr>
          <p:nvPr/>
        </p:nvSpPr>
        <p:spPr>
          <a:xfrm>
            <a:off x="8100170" y="700604"/>
            <a:ext cx="3253630" cy="721385"/>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i="1" dirty="0"/>
              <a:t>Think “Canvas roles”</a:t>
            </a:r>
          </a:p>
        </p:txBody>
      </p:sp>
    </p:spTree>
    <p:extLst>
      <p:ext uri="{BB962C8B-B14F-4D97-AF65-F5344CB8AC3E}">
        <p14:creationId xmlns:p14="http://schemas.microsoft.com/office/powerpoint/2010/main" val="1965379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199" y="1500160"/>
            <a:ext cx="8595958" cy="4351338"/>
          </a:xfrm>
        </p:spPr>
        <p:txBody>
          <a:bodyPr vert="horz" lIns="91440" tIns="45720" rIns="91440" bIns="45720" rtlCol="0" anchor="t">
            <a:normAutofit/>
          </a:bodyPr>
          <a:lstStyle/>
          <a:p>
            <a:r>
              <a:rPr lang="en-US" dirty="0"/>
              <a:t>A capability is a specific thing I want to be able to </a:t>
            </a:r>
            <a:r>
              <a:rPr lang="en-US" i="1" u="sng" dirty="0"/>
              <a:t>do</a:t>
            </a:r>
          </a:p>
          <a:p>
            <a:pPr lvl="1"/>
            <a:r>
              <a:rPr lang="en-US" dirty="0"/>
              <a:t>Because we’re building software, this is usually an action we can provide by using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 (</a:t>
            </a:r>
            <a:r>
              <a:rPr lang="en-US" i="1" dirty="0"/>
              <a:t>It is too general</a:t>
            </a:r>
            <a:r>
              <a:rPr lang="en-US" dirty="0"/>
              <a:t>)</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dirty="0"/>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8412678" cy="4351338"/>
          </a:xfrm>
        </p:spPr>
        <p:txBody>
          <a:bodyPr vert="horz" lIns="91440" tIns="45720" rIns="91440" bIns="45720" rtlCol="0" anchor="t">
            <a:normAutofit/>
          </a:bodyPr>
          <a:lstStyle/>
          <a:p>
            <a:r>
              <a:rPr lang="en-US" dirty="0"/>
              <a:t>A capability is not a product </a:t>
            </a:r>
          </a:p>
          <a:p>
            <a:pPr lvl="1"/>
            <a:r>
              <a:rPr lang="en-US" dirty="0"/>
              <a:t>“As a College Administrator, I want a web application that does &lt;this&gt; and &lt;that&gt; so that I can…” is not a user story!</a:t>
            </a:r>
          </a:p>
          <a:p>
            <a:pPr lvl="1"/>
            <a:r>
              <a:rPr lang="en-US" dirty="0"/>
              <a:t>Better: “I want to be able to see student’s grades” or </a:t>
            </a:r>
            <a:br>
              <a:rPr lang="en-US" dirty="0"/>
            </a:br>
            <a:r>
              <a:rPr lang="en-US" dirty="0"/>
              <a:t>“I want a way to track course enrollment over time”</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a:p>
            <a:endParaRPr lang="en-US" dirty="0"/>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14</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
        <p:nvSpPr>
          <p:cNvPr id="4" name="Content Placeholder 2">
            <a:extLst>
              <a:ext uri="{FF2B5EF4-FFF2-40B4-BE49-F238E27FC236}">
                <a16:creationId xmlns:a16="http://schemas.microsoft.com/office/drawing/2014/main" id="{BC753727-7328-11BB-21E7-911889024DC6}"/>
              </a:ext>
            </a:extLst>
          </p:cNvPr>
          <p:cNvSpPr txBox="1">
            <a:spLocks/>
          </p:cNvSpPr>
          <p:nvPr/>
        </p:nvSpPr>
        <p:spPr>
          <a:xfrm>
            <a:off x="8100170" y="700604"/>
            <a:ext cx="3253630" cy="721385"/>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i="1" dirty="0"/>
              <a:t>Think verb, not noun</a:t>
            </a:r>
          </a:p>
        </p:txBody>
      </p:sp>
    </p:spTree>
    <p:extLst>
      <p:ext uri="{BB962C8B-B14F-4D97-AF65-F5344CB8AC3E}">
        <p14:creationId xmlns:p14="http://schemas.microsoft.com/office/powerpoint/2010/main" val="2730188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2302331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Examples of Good User Stories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17</a:t>
            </a:fld>
            <a:endParaRPr lang="en-US"/>
          </a:p>
        </p:txBody>
      </p:sp>
    </p:spTree>
    <p:extLst>
      <p:ext uri="{BB962C8B-B14F-4D97-AF65-F5344CB8AC3E}">
        <p14:creationId xmlns:p14="http://schemas.microsoft.com/office/powerpoint/2010/main" val="15402357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59"/>
            <a:ext cx="5668926" cy="5055385"/>
          </a:xfrm>
        </p:spPr>
        <p:txBody>
          <a:bodyPr anchor="t"/>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r>
              <a:rPr lang="en-US" dirty="0"/>
              <a:t>There may be </a:t>
            </a:r>
            <a:r>
              <a:rPr lang="en-US" i="1" dirty="0"/>
              <a:t>multiple</a:t>
            </a:r>
            <a:r>
              <a:rPr lang="en-US" dirty="0"/>
              <a:t> options for filling in the details with conditions of satisfaction: this is a design problem!</a:t>
            </a:r>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18</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dirty="0"/>
              <a:t>Conditions of Satisfaction have Priorities. User stories too!</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9849592" cy="4351338"/>
          </a:xfrm>
        </p:spPr>
        <p:txBody>
          <a:bodyPr>
            <a:normAutofit fontScale="92500"/>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a:p>
            <a:r>
              <a:rPr lang="en-US" b="1" dirty="0"/>
              <a:t>Prioritizing user stories </a:t>
            </a:r>
            <a:r>
              <a:rPr lang="en-US" dirty="0"/>
              <a:t>is also a </a:t>
            </a:r>
            <a:r>
              <a:rPr lang="en-US" i="1" dirty="0"/>
              <a:t>planning activity </a:t>
            </a:r>
            <a:r>
              <a:rPr lang="en-US" dirty="0"/>
              <a:t>for </a:t>
            </a:r>
            <a:r>
              <a:rPr lang="en-US" i="1" dirty="0"/>
              <a:t>complex </a:t>
            </a:r>
            <a:r>
              <a:rPr lang="en-US" dirty="0"/>
              <a:t>projects that are constrained by resources (budget, time, personnel) and multiple (competing or incompatible) ideas about what’s important.</a:t>
            </a:r>
          </a:p>
          <a:p>
            <a:endParaRPr lang="en-US" dirty="0"/>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20</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1" y="365125"/>
            <a:ext cx="4364261" cy="1855562"/>
          </a:xfrm>
        </p:spPr>
        <p:txBody>
          <a:bodyPr>
            <a:noAutofit/>
          </a:bodyPr>
          <a:lstStyle/>
          <a:p>
            <a:r>
              <a:rPr lang="en-US" sz="3600" dirty="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0" y="2529444"/>
            <a:ext cx="4103005" cy="3089379"/>
          </a:xfrm>
        </p:spPr>
        <p:txBody>
          <a:bodyPr>
            <a:normAutofit/>
          </a:bodyPr>
          <a:lstStyle/>
          <a:p>
            <a:pPr marL="0" indent="0">
              <a:buNone/>
            </a:pPr>
            <a:r>
              <a:rPr lang="en-US" dirty="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199" y="1500160"/>
            <a:ext cx="9557825" cy="4351338"/>
          </a:xfrm>
        </p:spPr>
        <p:txBody>
          <a:bodyPr/>
          <a:lstStyle/>
          <a:p>
            <a:r>
              <a:rPr lang="en-US" dirty="0"/>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59"/>
            <a:ext cx="9740705" cy="5027249"/>
          </a:xfrm>
        </p:spPr>
        <p:txBody>
          <a:bodyPr>
            <a:normAutofit/>
          </a:bodyPr>
          <a:lstStyle/>
          <a:p>
            <a:r>
              <a:rPr lang="en-US" dirty="0"/>
              <a:t>As a car commuter, I want to be able to report potholes to the city so that the town can more quickly act to keep me safe.</a:t>
            </a:r>
          </a:p>
          <a:p>
            <a:pPr lvl="1"/>
            <a:r>
              <a:rPr lang="en-US" dirty="0"/>
              <a:t>1.1 I should be able to report the location of a pothole to the system (E)</a:t>
            </a:r>
          </a:p>
          <a:p>
            <a:pPr lvl="1"/>
            <a:r>
              <a:rPr lang="en-US" dirty="0"/>
              <a:t>1.2 I should be able to see whether the pothole I report has been repaired (E)</a:t>
            </a:r>
          </a:p>
          <a:p>
            <a:pPr lvl="1"/>
            <a:r>
              <a:rPr lang="en-US" dirty="0"/>
              <a:t>1.3 I should be able to see whether others have reported potholes near me (D)</a:t>
            </a:r>
          </a:p>
          <a:p>
            <a:pPr lvl="1"/>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9403080" cy="4351338"/>
          </a:xfrm>
        </p:spPr>
        <p:txBody>
          <a:bodyPr/>
          <a:lstStyle/>
          <a:p>
            <a:r>
              <a:rPr lang="en-US" dirty="0"/>
              <a:t>As a pothole-repair-truck driver, I want the system to display the potholes I should be working on today, so that … (?)</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199" y="1500160"/>
            <a:ext cx="9177997" cy="4351338"/>
          </a:xfrm>
        </p:spPr>
        <p:txBody>
          <a:bodyPr>
            <a:normAutofit/>
          </a:bodyPr>
          <a:lstStyle/>
          <a:p>
            <a:r>
              <a:rPr lang="en-US" dirty="0"/>
              <a:t>As a pothole-repair-truck driver, I want the system to display the potholes I should be working on today, so that I can view and report my progress for the day.</a:t>
            </a:r>
          </a:p>
          <a:p>
            <a:pPr lvl="1"/>
            <a:r>
              <a:rPr lang="en-US" dirty="0"/>
              <a:t>2.1 I should be able to see my list of potholes for today (E)</a:t>
            </a:r>
          </a:p>
          <a:p>
            <a:pPr lvl="1"/>
            <a:r>
              <a:rPr lang="en-US" dirty="0"/>
              <a:t>2.2 I should be able to report that I repaired a given pothole (E)</a:t>
            </a:r>
          </a:p>
          <a:p>
            <a:pPr lvl="1"/>
            <a:r>
              <a:rPr lang="en-US" dirty="0"/>
              <a:t>2.3 I should be able to report that I was unable to repair a given pothole, and to supply a reason (E)</a:t>
            </a:r>
          </a:p>
          <a:p>
            <a:pPr lvl="1"/>
            <a:r>
              <a:rPr lang="en-US" dirty="0"/>
              <a:t>2.4 My daily list of potholes should be listed in an order that cuts down the time I spend driving from job to job (D)</a:t>
            </a:r>
          </a:p>
          <a:p>
            <a:endParaRPr lang="en-US" dirty="0"/>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9389012" cy="4351338"/>
          </a:xfrm>
        </p:spPr>
        <p:txBody>
          <a:bodyPr/>
          <a:lstStyle/>
          <a:p>
            <a:r>
              <a:rPr lang="en-US" dirty="0"/>
              <a:t>As a maintenance supervisor, I want to be able to control the order in which potholes are repaired, so that… (?)</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199" y="1500160"/>
            <a:ext cx="9993923" cy="4351338"/>
          </a:xfrm>
        </p:spPr>
        <p:txBody>
          <a:bodyPr>
            <a:normAutofit lnSpcReduction="10000"/>
          </a:bodyPr>
          <a:lstStyle/>
          <a:p>
            <a:r>
              <a:rPr lang="en-US" dirty="0"/>
              <a:t>As a maintenance supervisor, I want to be able to control the order in which potholes are repaired, so that complaints to city hall are minimized.</a:t>
            </a:r>
          </a:p>
          <a:p>
            <a:pPr lvl="1"/>
            <a:r>
              <a:rPr lang="en-US" dirty="0"/>
              <a:t>3.1 I should be able to give a higher priority to potholes on a particular street (E)</a:t>
            </a:r>
          </a:p>
          <a:p>
            <a:pPr lvl="1"/>
            <a:r>
              <a:rPr lang="en-US" dirty="0"/>
              <a:t>3.2 I should be able to give a higher priority potholes in a particular neighborhood (E)</a:t>
            </a:r>
          </a:p>
          <a:p>
            <a:pPr lvl="1"/>
            <a:r>
              <a:rPr lang="en-US" dirty="0"/>
              <a:t>3.3 Anyone not a maintenance supervisor </a:t>
            </a:r>
            <a:r>
              <a:rPr lang="en-US" b="1" dirty="0"/>
              <a:t>should not</a:t>
            </a:r>
            <a:r>
              <a:rPr lang="en-US" dirty="0"/>
              <a:t> be able to change pothole priority (E)</a:t>
            </a:r>
          </a:p>
          <a:p>
            <a:pPr lvl="1"/>
            <a:r>
              <a:rPr lang="en-US" dirty="0"/>
              <a:t>3.4 I should be able to see on a map where there are a lot of potholes (D)</a:t>
            </a:r>
          </a:p>
          <a:p>
            <a:pPr lvl="1"/>
            <a:r>
              <a:rPr lang="en-US" dirty="0"/>
              <a:t>3.5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 + E</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6561406" cy="4856190"/>
          </a:xfrm>
        </p:spPr>
        <p:txBody>
          <a:bodyPr>
            <a:normAutofit/>
          </a:bodyPr>
          <a:lstStyle/>
          <a:p>
            <a:r>
              <a:rPr lang="en-US" dirty="0"/>
              <a:t>Independent</a:t>
            </a:r>
          </a:p>
          <a:p>
            <a:r>
              <a:rPr lang="en-US" dirty="0"/>
              <a:t>Negotiable</a:t>
            </a:r>
          </a:p>
          <a:p>
            <a:r>
              <a:rPr lang="en-US" dirty="0"/>
              <a:t>Valuable (has value to client)</a:t>
            </a:r>
          </a:p>
          <a:p>
            <a:r>
              <a:rPr lang="en-US" dirty="0"/>
              <a:t>Estimable (able to estimate </a:t>
            </a:r>
            <a:br>
              <a:rPr lang="en-US" dirty="0"/>
            </a:br>
            <a:r>
              <a:rPr lang="en-US" dirty="0"/>
              <a:t>development effort)</a:t>
            </a:r>
          </a:p>
          <a:p>
            <a:r>
              <a:rPr lang="en-US" dirty="0"/>
              <a:t>Small</a:t>
            </a:r>
          </a:p>
          <a:p>
            <a:r>
              <a:rPr lang="en-US" dirty="0"/>
              <a:t>Testable</a:t>
            </a:r>
          </a:p>
          <a:p>
            <a:endParaRPr lang="en-US" dirty="0"/>
          </a:p>
          <a:p>
            <a:r>
              <a:rPr lang="en-US" dirty="0"/>
              <a:t>Ethical (connects with our &amp; users’ values)</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27</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
        <p:nvSpPr>
          <p:cNvPr id="6" name="TextBox 5">
            <a:extLst>
              <a:ext uri="{FF2B5EF4-FFF2-40B4-BE49-F238E27FC236}">
                <a16:creationId xmlns:a16="http://schemas.microsoft.com/office/drawing/2014/main" id="{089EA601-81E4-159B-B6C9-96E6C1EE74A8}"/>
              </a:ext>
            </a:extLst>
          </p:cNvPr>
          <p:cNvSpPr txBox="1"/>
          <p:nvPr/>
        </p:nvSpPr>
        <p:spPr>
          <a:xfrm>
            <a:off x="11310425" y="537385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075975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28</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a:t>
            </a:r>
            <a:r>
              <a:rPr lang="en-US"/>
              <a:t>other stakeholders</a:t>
            </a:r>
            <a:endParaRPr lang="en-US" dirty="0"/>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b="1"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29</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solidFill>
                  <a:srgbClr val="FF0000"/>
                </a:solidFill>
              </a:rPr>
              <a:t>Security</a:t>
            </a:r>
          </a:p>
          <a:p>
            <a:r>
              <a:rPr lang="en-US" dirty="0"/>
              <a:t>Supportability</a:t>
            </a:r>
          </a:p>
          <a:p>
            <a:r>
              <a:rPr lang="en-US" dirty="0"/>
              <a:t>Testability</a:t>
            </a:r>
          </a:p>
          <a:p>
            <a:r>
              <a:rPr lang="en-US" b="1" dirty="0"/>
              <a:t>Usability</a:t>
            </a:r>
          </a:p>
        </p:txBody>
      </p:sp>
    </p:spTree>
    <p:extLst>
      <p:ext uri="{BB962C8B-B14F-4D97-AF65-F5344CB8AC3E}">
        <p14:creationId xmlns:p14="http://schemas.microsoft.com/office/powerpoint/2010/main" val="27092849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a:xfrm>
            <a:off x="838199" y="1500160"/>
            <a:ext cx="9837717" cy="4351338"/>
          </a:xfrm>
        </p:spPr>
        <p:txBody>
          <a:bodyPr>
            <a:normAutofit/>
          </a:bodyPr>
          <a:lstStyle/>
          <a:p>
            <a:r>
              <a:rPr lang="en-US" dirty="0"/>
              <a:t>Once you decide on a set of user stories, the Essential (E) conditions of satisfaction for those user stories constitute the minimum viable product (MVP)</a:t>
            </a:r>
          </a:p>
          <a:p>
            <a:r>
              <a:rPr lang="en-US" dirty="0"/>
              <a:t>A user story is "implemented " </a:t>
            </a:r>
            <a:r>
              <a:rPr lang="en-US" dirty="0">
                <a:solidFill>
                  <a:srgbClr val="FF0000"/>
                </a:solidFill>
              </a:rPr>
              <a:t>when all its essential COSs are implemented.</a:t>
            </a:r>
          </a:p>
          <a:p>
            <a:r>
              <a:rPr lang="en-US" dirty="0"/>
              <a:t>For the course project, the MVP is worth 8% of the course grade. Any desirable (or extension) features that your team delivers are worth up to an additional 4%.</a:t>
            </a:r>
            <a:endParaRPr lang="en-US" dirty="0">
              <a:solidFill>
                <a:srgbClr val="FF0000"/>
              </a:solidFill>
            </a:endParaRPr>
          </a:p>
          <a:p>
            <a:r>
              <a:rPr lang="en-US" dirty="0"/>
              <a:t>So: when proposing a project, don't make your MVP too hard to complete (but don't make it too easy, either)</a:t>
            </a:r>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30</a:t>
            </a:fld>
            <a:endParaRPr lang="en-US"/>
          </a:p>
        </p:txBody>
      </p:sp>
    </p:spTree>
    <p:extLst>
      <p:ext uri="{BB962C8B-B14F-4D97-AF65-F5344CB8AC3E}">
        <p14:creationId xmlns:p14="http://schemas.microsoft.com/office/powerpoint/2010/main" val="14671865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overall purposes of requirements analysis</a:t>
            </a:r>
          </a:p>
          <a:p>
            <a:pPr lvl="1"/>
            <a:r>
              <a:rPr lang="en-US" dirty="0"/>
              <a:t>Explain the connection between requirements analysis and user stories</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a:t>
            </a:r>
          </a:p>
          <a:p>
            <a:pPr lvl="1"/>
            <a:r>
              <a:rPr lang="en-US" dirty="0"/>
              <a:t>Explain the difference between essential, desired, and extension levels of priority.</a:t>
            </a:r>
          </a:p>
          <a:p>
            <a:pPr lvl="1"/>
            <a:r>
              <a:rPr lang="en-US" dirty="0"/>
              <a:t>Explain the difference between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31</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14749</TotalTime>
  <Words>4774</Words>
  <Application>Microsoft Office PowerPoint</Application>
  <PresentationFormat>Widescreen</PresentationFormat>
  <Paragraphs>369</Paragraphs>
  <Slides>31</Slides>
  <Notes>28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Times New Roman</vt:lpstr>
      <vt:lpstr>Arial</vt:lpstr>
      <vt:lpstr>Verdana</vt:lpstr>
      <vt:lpstr>Helvetica Neue</vt:lpstr>
      <vt:lpstr>Calibri</vt:lpstr>
      <vt:lpstr>Calibri Light</vt:lpstr>
      <vt:lpstr>Ink Free</vt:lpstr>
      <vt:lpstr>Office Theme</vt:lpstr>
      <vt:lpstr>CS 4530: Fundamentals of Software Engineering Module 1.2: User Stories</vt:lpstr>
      <vt:lpstr>Learning Goals for this Lesson</vt:lpstr>
      <vt:lpstr>Requirement analysis helps in making sure that we are building the right thing</vt:lpstr>
      <vt:lpstr>Why is requirements analysis hard?</vt:lpstr>
      <vt:lpstr>How do we capture the requirements?</vt:lpstr>
      <vt:lpstr>Common Elements</vt:lpstr>
      <vt:lpstr>“Building the Right Thing” Necessarily involves Value Judgments</vt:lpstr>
      <vt:lpstr>Requirements Analysis connects High-Level Planning To User Stories</vt:lpstr>
      <vt:lpstr>User stories come from analyzing the user’s requirements</vt:lpstr>
      <vt:lpstr>What are user stories?</vt:lpstr>
      <vt:lpstr>Components of a user story</vt:lpstr>
      <vt:lpstr>Roles: “who”</vt:lpstr>
      <vt:lpstr>Capabilities: “what”</vt:lpstr>
      <vt:lpstr>Capabilities: “what”</vt:lpstr>
      <vt:lpstr>Benefit: “why?”</vt:lpstr>
      <vt:lpstr>Properties of a good user story</vt:lpstr>
      <vt:lpstr>Examples of Good User Stories</vt:lpstr>
      <vt:lpstr>Conditions of Satisfaction fill in details of the desired behavior</vt:lpstr>
      <vt:lpstr>Conditions of Satisfaction have Priorities. User stories too!</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 + E</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Bhutta, Adeel</cp:lastModifiedBy>
  <cp:revision>500</cp:revision>
  <cp:lastPrinted>2025-08-26T18:49:02Z</cp:lastPrinted>
  <dcterms:created xsi:type="dcterms:W3CDTF">2021-01-07T15:19:22Z</dcterms:created>
  <dcterms:modified xsi:type="dcterms:W3CDTF">2026-08-20T12:11:07Z</dcterms:modified>
</cp:coreProperties>
</file>