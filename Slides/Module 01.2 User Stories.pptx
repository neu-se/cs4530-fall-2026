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3"/>
  </p:notesMasterIdLst>
  <p:sldIdLst>
    <p:sldId id="485" r:id="rId2"/>
    <p:sldId id="548" r:id="rId3"/>
    <p:sldId id="564" r:id="rId4"/>
    <p:sldId id="351" r:id="rId5"/>
    <p:sldId id="531" r:id="rId6"/>
    <p:sldId id="532" r:id="rId7"/>
    <p:sldId id="567" r:id="rId8"/>
    <p:sldId id="588" r:id="rId9"/>
    <p:sldId id="587" r:id="rId10"/>
    <p:sldId id="575" r:id="rId11"/>
    <p:sldId id="550" r:id="rId12"/>
    <p:sldId id="578" r:id="rId13"/>
    <p:sldId id="579" r:id="rId14"/>
    <p:sldId id="570" r:id="rId15"/>
    <p:sldId id="552" r:id="rId16"/>
    <p:sldId id="537" r:id="rId17"/>
    <p:sldId id="536" r:id="rId18"/>
    <p:sldId id="535" r:id="rId19"/>
    <p:sldId id="580" r:id="rId20"/>
    <p:sldId id="569" r:id="rId21"/>
    <p:sldId id="559" r:id="rId22"/>
    <p:sldId id="560" r:id="rId23"/>
    <p:sldId id="561" r:id="rId24"/>
    <p:sldId id="562" r:id="rId25"/>
    <p:sldId id="563" r:id="rId26"/>
    <p:sldId id="581" r:id="rId27"/>
    <p:sldId id="495" r:id="rId28"/>
    <p:sldId id="585" r:id="rId29"/>
    <p:sldId id="494" r:id="rId30"/>
    <p:sldId id="539" r:id="rId31"/>
    <p:sldId id="586" r:id="rId32"/>
  </p:sldIdLst>
  <p:sldSz cx="12192000" cy="6858000"/>
  <p:notesSz cx="9240838" cy="6854825"/>
  <p:embeddedFontLst>
    <p:embeddedFont>
      <p:font typeface="Ink Free" panose="03080402000500000000" pitchFamily="66" charset="0"/>
      <p:regular r:id="rId34"/>
    </p:embeddedFont>
    <p:embeddedFont>
      <p:font typeface="Verdana" panose="020B0604030504040204" pitchFamily="34"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564"/>
            <p14:sldId id="351"/>
            <p14:sldId id="531"/>
            <p14:sldId id="532"/>
            <p14:sldId id="567"/>
            <p14:sldId id="588"/>
            <p14:sldId id="587"/>
            <p14:sldId id="575"/>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242" autoAdjust="0"/>
    <p:restoredTop sz="72622" autoAdjust="0"/>
  </p:normalViewPr>
  <p:slideViewPr>
    <p:cSldViewPr snapToGrid="0">
      <p:cViewPr varScale="1">
        <p:scale>
          <a:sx n="54" d="100"/>
          <a:sy n="54" d="100"/>
        </p:scale>
        <p:origin x="908" y="4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s>
</file>

<file path=ppt/diagrams/_rels/data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BBA2886E-1FC2-4FFE-BF42-BABB70DB9D54}" srcId="{ABB0E679-4682-422A-B4B3-34D44CC4C90C}" destId="{79B77230-D940-49CC-AF47-BF1D40797D89}" srcOrd="0" destOrd="0" parTransId="{C50558CC-69DA-4C28-8CB9-2982E9088524}" sibTransId="{01A261DD-4242-4987-8459-53BA826F65E4}"/>
    <dgm:cxn modelId="{16B49D51-0857-4A44-AD1A-0C1006418460}" srcId="{7851135E-E593-49EB-9C66-FB8F80DCC8EB}" destId="{0F25331F-8FB8-4E3A-87F2-3F285D74EB32}" srcOrd="2" destOrd="0" parTransId="{324E124D-8500-4C04-A0BA-6F6C2D553D81}" sibTransId="{4716CEE8-C882-4DFA-8AAE-CB3797F9F69F}"/>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8/17/2026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class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31</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en.wikipedia.org/wiki/Tree_swing_cartoon"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9"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Requirement analysis helps in making sure that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9023" y="1743213"/>
            <a:ext cx="9983159" cy="370343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4"/>
              </a:rPr>
              <a:t>https://en.wikipedia.org/wiki/Tree_swing_cartoon</a:t>
            </a:r>
            <a:r>
              <a:rPr lang="en-US" dirty="0">
                <a:solidFill>
                  <a:schemeClr val="tx1"/>
                </a:solidFill>
              </a:rPr>
              <a:t> </a:t>
            </a:r>
          </a:p>
        </p:txBody>
      </p:sp>
    </p:spTree>
    <p:extLst>
      <p:ext uri="{BB962C8B-B14F-4D97-AF65-F5344CB8AC3E}">
        <p14:creationId xmlns:p14="http://schemas.microsoft.com/office/powerpoint/2010/main" val="134314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4</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b="1" dirty="0"/>
              <a:t>User stories </a:t>
            </a:r>
            <a:r>
              <a:rPr lang="en-US" dirty="0"/>
              <a:t>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“Building the Right Thing” Necessarily involves Value Judgments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Right for whom?</a:t>
            </a:r>
          </a:p>
          <a:p>
            <a:r>
              <a:rPr lang="en-US" dirty="0"/>
              <a:t>Who benefits?</a:t>
            </a:r>
          </a:p>
          <a:p>
            <a:r>
              <a:rPr lang="en-US" dirty="0"/>
              <a:t>Limitations of budget/time/personnel</a:t>
            </a:r>
          </a:p>
          <a:p>
            <a:r>
              <a:rPr lang="en-US" dirty="0"/>
              <a:t>Competing/incompatible ideas about what's important</a:t>
            </a:r>
          </a:p>
          <a:p>
            <a:r>
              <a:rPr lang="en-US" dirty="0"/>
              <a:t>Competing/incompatible sets of Conditions of satisfactions (COSs)</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1357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Requirements Analysis connects High-Level Planning To User Stories</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32352" y="4170052"/>
            <a:ext cx="326898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rPr>
              <a:t>user stories &amp;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829501" y="375597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4379789" y="513528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98893">
            <a:off x="8596296" y="5233324"/>
            <a:ext cx="935568" cy="935568"/>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400000">
            <a:off x="8491571" y="3774408"/>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0173" y="4772717"/>
            <a:ext cx="637540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Calibri" panose="020F0502020204030204"/>
              </a:rPr>
              <a:t>conditions</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4" name="TextBox 33">
            <a:extLst>
              <a:ext uri="{FF2B5EF4-FFF2-40B4-BE49-F238E27FC236}">
                <a16:creationId xmlns:a16="http://schemas.microsoft.com/office/drawing/2014/main" id="{57A78C14-221A-C4BA-A7AA-BCB0973C6183}"/>
              </a:ext>
            </a:extLst>
          </p:cNvPr>
          <p:cNvSpPr txBox="1"/>
          <p:nvPr/>
        </p:nvSpPr>
        <p:spPr>
          <a:xfrm>
            <a:off x="4607321" y="3151880"/>
            <a:ext cx="7768500" cy="769441"/>
          </a:xfrm>
          <a:prstGeom prst="rect">
            <a:avLst/>
          </a:prstGeom>
          <a:noFill/>
        </p:spPr>
        <p:txBody>
          <a:bodyPr wrap="square" rtlCol="0">
            <a:spAutoFit/>
          </a:bodyPr>
          <a:lstStyle/>
          <a:p>
            <a:r>
              <a:rPr lang="en-US" sz="4400" dirty="0">
                <a:solidFill>
                  <a:srgbClr val="FF0000"/>
                </a:solidFill>
              </a:rPr>
              <a:t>Requirements Analysis</a:t>
            </a:r>
          </a:p>
        </p:txBody>
      </p:sp>
    </p:spTree>
    <p:extLst>
      <p:ext uri="{BB962C8B-B14F-4D97-AF65-F5344CB8AC3E}">
        <p14:creationId xmlns:p14="http://schemas.microsoft.com/office/powerpoint/2010/main" val="945532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dirty="0"/>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10193978" cy="4351338"/>
          </a:xfrm>
        </p:spPr>
        <p:txBody>
          <a:bodyPr vert="horz" lIns="91440" tIns="45720" rIns="91440" bIns="45720" rtlCol="0" anchor="t">
            <a:normAutofit/>
          </a:bodyPr>
          <a:lstStyle/>
          <a:p>
            <a:r>
              <a:rPr lang="en-US" dirty="0"/>
              <a:t>Roles are positions or functions that people inhabit! The person is not you! It is the user, not customer </a:t>
            </a:r>
          </a:p>
          <a:p>
            <a:pPr lvl="1"/>
            <a:r>
              <a:rPr lang="en-US" dirty="0"/>
              <a:t>You may want to build software to develop skills, or to make a codebase more maintainable. That’s good, but it doesn’t fit as a user story.</a:t>
            </a:r>
          </a:p>
          <a:p>
            <a:r>
              <a:rPr lang="en-US" dirty="0"/>
              <a:t>User stories are for users in a specific role:</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marL="0" indent="0">
              <a:buNone/>
            </a:pPr>
            <a:endParaRPr lang="en-US" dirty="0"/>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Content Placeholder 2">
            <a:extLst>
              <a:ext uri="{FF2B5EF4-FFF2-40B4-BE49-F238E27FC236}">
                <a16:creationId xmlns:a16="http://schemas.microsoft.com/office/drawing/2014/main" id="{EF0DB432-7C4E-48EF-E6F2-8B128C86E4E5}"/>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“Canvas roles”</a:t>
            </a:r>
          </a:p>
        </p:txBody>
      </p:sp>
    </p:spTree>
    <p:extLst>
      <p:ext uri="{BB962C8B-B14F-4D97-AF65-F5344CB8AC3E}">
        <p14:creationId xmlns:p14="http://schemas.microsoft.com/office/powerpoint/2010/main" val="1965379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595958"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 (</a:t>
            </a:r>
            <a:r>
              <a:rPr lang="en-US" i="1" dirty="0"/>
              <a:t>It is too general</a:t>
            </a:r>
            <a:r>
              <a:rPr lang="en-US" dirty="0"/>
              <a:t>)</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dirty="0"/>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14</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
        <p:nvSpPr>
          <p:cNvPr id="4" name="Content Placeholder 2">
            <a:extLst>
              <a:ext uri="{FF2B5EF4-FFF2-40B4-BE49-F238E27FC236}">
                <a16:creationId xmlns:a16="http://schemas.microsoft.com/office/drawing/2014/main" id="{BC753727-7328-11BB-21E7-911889024DC6}"/>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verb, not noun</a:t>
            </a:r>
          </a:p>
        </p:txBody>
      </p:sp>
    </p:spTree>
    <p:extLst>
      <p:ext uri="{BB962C8B-B14F-4D97-AF65-F5344CB8AC3E}">
        <p14:creationId xmlns:p14="http://schemas.microsoft.com/office/powerpoint/2010/main" val="2730188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2302331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5402357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 User stories too!</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9849592" cy="4351338"/>
          </a:xfrm>
        </p:spPr>
        <p:txBody>
          <a:bodyPr>
            <a:normAutofit fontScale="92500"/>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a:p>
            <a:r>
              <a:rPr lang="en-US" b="1" dirty="0"/>
              <a:t>Prioritizing user stories </a:t>
            </a:r>
            <a:r>
              <a:rPr lang="en-US" dirty="0"/>
              <a:t>is also a </a:t>
            </a:r>
            <a:r>
              <a:rPr lang="en-US" i="1" dirty="0"/>
              <a:t>planning activity </a:t>
            </a:r>
            <a:r>
              <a:rPr lang="en-US" dirty="0"/>
              <a:t>for </a:t>
            </a:r>
            <a:r>
              <a:rPr lang="en-US" i="1" dirty="0"/>
              <a:t>complex </a:t>
            </a:r>
            <a:r>
              <a:rPr lang="en-US" dirty="0"/>
              <a:t>projects that are constrained by resources (budget, time, personnel) and multiple (competing or incompatible) ideas about what’s important.</a:t>
            </a:r>
          </a:p>
          <a:p>
            <a:endParaRPr lang="en-US" dirty="0"/>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1" y="365125"/>
            <a:ext cx="4364261" cy="1855562"/>
          </a:xfrm>
        </p:spPr>
        <p:txBody>
          <a:bodyPr>
            <a:noAutofit/>
          </a:bodyPr>
          <a:lstStyle/>
          <a:p>
            <a:r>
              <a:rPr lang="en-US" sz="3600" dirty="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0" y="2529444"/>
            <a:ext cx="4103005" cy="3089379"/>
          </a:xfrm>
        </p:spPr>
        <p:txBody>
          <a:bodyPr>
            <a:normAutofit/>
          </a:bodyPr>
          <a:lstStyle/>
          <a:p>
            <a:pPr marL="0" indent="0">
              <a:buNone/>
            </a:pPr>
            <a:r>
              <a:rPr lang="en-US" dirty="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 so that … (?)</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 so that I can view and report my progress for the 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 so that…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lnSpcReduction="10000"/>
          </a:bodyPr>
          <a:lstStyle/>
          <a:p>
            <a:r>
              <a:rPr lang="en-US" dirty="0"/>
              <a:t>As a maintenance supervisor, I want to be able to control the order in which potholes are repaired, so that complaints to city hall are minimized.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27</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28</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b="1"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29</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solidFill>
                  <a:srgbClr val="FF0000"/>
                </a:solidFill>
              </a:rPr>
              <a:t>Security</a:t>
            </a:r>
          </a:p>
          <a:p>
            <a:r>
              <a:rPr lang="en-US" dirty="0"/>
              <a:t>Supportability</a:t>
            </a:r>
          </a:p>
          <a:p>
            <a:r>
              <a:rPr lang="en-US" dirty="0"/>
              <a:t>Testability</a:t>
            </a:r>
          </a:p>
          <a:p>
            <a:r>
              <a:rPr lang="en-US" b="1" dirty="0"/>
              <a:t>Usability</a:t>
            </a:r>
          </a:p>
        </p:txBody>
      </p:sp>
    </p:spTree>
    <p:extLst>
      <p:ext uri="{BB962C8B-B14F-4D97-AF65-F5344CB8AC3E}">
        <p14:creationId xmlns:p14="http://schemas.microsoft.com/office/powerpoint/2010/main" val="270928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a:xfrm>
            <a:off x="838199" y="1500160"/>
            <a:ext cx="9837717" cy="4351338"/>
          </a:xfrm>
        </p:spPr>
        <p:txBody>
          <a:bodyPr>
            <a:normAutofit lnSpcReduction="10000"/>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a:p>
            <a:r>
              <a:rPr lang="en-US" dirty="0"/>
              <a:t>For course project, MVP is worth 8% of the course grade and desirable features are </a:t>
            </a:r>
            <a:r>
              <a:rPr lang="en-US"/>
              <a:t>worth additional 4</a:t>
            </a:r>
            <a:r>
              <a:rPr lang="en-US" dirty="0"/>
              <a:t>%.</a:t>
            </a:r>
          </a:p>
          <a:p>
            <a:endParaRPr lang="en-US" dirty="0"/>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4671865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31</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14727</TotalTime>
  <Words>4757</Words>
  <Application>Microsoft Office PowerPoint</Application>
  <PresentationFormat>Widescreen</PresentationFormat>
  <Paragraphs>368</Paragraphs>
  <Slides>31</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Times New Roman</vt:lpstr>
      <vt:lpstr>Calibri</vt:lpstr>
      <vt:lpstr>Verdana</vt:lpstr>
      <vt:lpstr>Calibri Light</vt:lpstr>
      <vt:lpstr>Arial</vt:lpstr>
      <vt:lpstr>Helvetica Neue</vt:lpstr>
      <vt:lpstr>Ink Free</vt:lpstr>
      <vt:lpstr>Office Theme</vt:lpstr>
      <vt:lpstr>CS 4530: Fundamentals of Software Engineering Module 1.2: User Stories</vt:lpstr>
      <vt:lpstr>Learning Goals for this Lesson</vt:lpstr>
      <vt:lpstr>Requirement analysis helps in making sure that we are building the right thing</vt:lpstr>
      <vt:lpstr>Why is requirements analysis hard?</vt:lpstr>
      <vt:lpstr>How do we capture the requirements?</vt:lpstr>
      <vt:lpstr>Common Elements</vt:lpstr>
      <vt:lpstr>“Building the Right Thing” Necessarily involves Value Judgments</vt:lpstr>
      <vt:lpstr>Requirements Analysis connects High-Level Planning To User Stories</vt:lpstr>
      <vt:lpstr>User stories come from analyzing the user’s requirements</vt:lpstr>
      <vt:lpstr>What are user stories?</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 User stories too!</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Bhutta, Adeel</cp:lastModifiedBy>
  <cp:revision>498</cp:revision>
  <cp:lastPrinted>2025-08-26T18:49:02Z</cp:lastPrinted>
  <dcterms:created xsi:type="dcterms:W3CDTF">2021-01-07T15:19:22Z</dcterms:created>
  <dcterms:modified xsi:type="dcterms:W3CDTF">2026-08-17T14:48:04Z</dcterms:modified>
</cp:coreProperties>
</file>