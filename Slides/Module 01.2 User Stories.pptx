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3"/>
  </p:notesMasterIdLst>
  <p:sldIdLst>
    <p:sldId id="485" r:id="rId2"/>
    <p:sldId id="548" r:id="rId3"/>
    <p:sldId id="564" r:id="rId4"/>
    <p:sldId id="351" r:id="rId5"/>
    <p:sldId id="531" r:id="rId6"/>
    <p:sldId id="532" r:id="rId7"/>
    <p:sldId id="567" r:id="rId8"/>
    <p:sldId id="588" r:id="rId9"/>
    <p:sldId id="587" r:id="rId10"/>
    <p:sldId id="575" r:id="rId11"/>
    <p:sldId id="550" r:id="rId12"/>
    <p:sldId id="578" r:id="rId13"/>
    <p:sldId id="579" r:id="rId14"/>
    <p:sldId id="570" r:id="rId15"/>
    <p:sldId id="552" r:id="rId16"/>
    <p:sldId id="537" r:id="rId17"/>
    <p:sldId id="536" r:id="rId18"/>
    <p:sldId id="535" r:id="rId19"/>
    <p:sldId id="580" r:id="rId20"/>
    <p:sldId id="569" r:id="rId21"/>
    <p:sldId id="559" r:id="rId22"/>
    <p:sldId id="560" r:id="rId23"/>
    <p:sldId id="561" r:id="rId24"/>
    <p:sldId id="562" r:id="rId25"/>
    <p:sldId id="563" r:id="rId26"/>
    <p:sldId id="581" r:id="rId27"/>
    <p:sldId id="495" r:id="rId28"/>
    <p:sldId id="585" r:id="rId29"/>
    <p:sldId id="494" r:id="rId30"/>
    <p:sldId id="539" r:id="rId31"/>
    <p:sldId id="586" r:id="rId32"/>
  </p:sldIdLst>
  <p:sldSz cx="12192000" cy="6858000"/>
  <p:notesSz cx="9240838" cy="6854825"/>
  <p:embeddedFontLst>
    <p:embeddedFont>
      <p:font typeface="Ink Free" panose="03080402000500000000" pitchFamily="66" charset="0"/>
      <p:regular r:id="rId34"/>
    </p:embeddedFont>
    <p:embeddedFont>
      <p:font typeface="Verdana" panose="020B0604030504040204" pitchFamily="34" charset="0"/>
      <p:regular r:id="rId35"/>
      <p:bold r:id="rId36"/>
      <p:italic r:id="rId37"/>
      <p:boldItalic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564"/>
            <p14:sldId id="351"/>
            <p14:sldId id="531"/>
            <p14:sldId id="532"/>
            <p14:sldId id="567"/>
            <p14:sldId id="588"/>
            <p14:sldId id="587"/>
            <p14:sldId id="575"/>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242" autoAdjust="0"/>
    <p:restoredTop sz="91119" autoAdjust="0"/>
  </p:normalViewPr>
  <p:slideViewPr>
    <p:cSldViewPr snapToGrid="0">
      <p:cViewPr varScale="1">
        <p:scale>
          <a:sx n="67" d="100"/>
          <a:sy n="67" d="100"/>
        </p:scale>
        <p:origin x="404" y="60"/>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5.fntdata"/></Relationships>
</file>

<file path=ppt/diagrams/_rels/data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BBA2886E-1FC2-4FFE-BF42-BABB70DB9D54}" srcId="{ABB0E679-4682-422A-B4B3-34D44CC4C90C}" destId="{79B77230-D940-49CC-AF47-BF1D40797D89}" srcOrd="0" destOrd="0" parTransId="{C50558CC-69DA-4C28-8CB9-2982E9088524}" sibTransId="{01A261DD-4242-4987-8459-53BA826F65E4}"/>
    <dgm:cxn modelId="{16B49D51-0857-4A44-AD1A-0C1006418460}" srcId="{7851135E-E593-49EB-9C66-FB8F80DCC8EB}" destId="{0F25331F-8FB8-4E3A-87F2-3F285D74EB32}" srcOrd="2" destOrd="0" parTransId="{324E124D-8500-4C04-A0BA-6F6C2D553D81}" sibTransId="{4716CEE8-C882-4DFA-8AAE-CB3797F9F69F}"/>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8/18/2026</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lecture is providing part of the bigger picture for the context of user stories in software engineering. Connecting user stories with conditions of satisfaction is how we organize our software engineering process — that’s central to what we’re doing in this class.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lesson talks about how we decide </a:t>
            </a:r>
            <a:r>
              <a:rPr lang="en-US" i="1" dirty="0"/>
              <a:t>what </a:t>
            </a:r>
            <a:r>
              <a:rPr lang="en-US" i="0" dirty="0"/>
              <a:t>user stories to select as part of our planning. </a:t>
            </a:r>
            <a:r>
              <a:rPr lang="en-US" dirty="0"/>
              <a:t>Our course staff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in the context of this class we mostly see it it as a technical decision about how to satisfy a user story — a complex technical decision that involves design, but a technical decision.</a:t>
            </a:r>
          </a:p>
          <a:p>
            <a:endParaRPr lang="en-US" dirty="0"/>
          </a:p>
          <a:p>
            <a:r>
              <a:rPr lang="en-US" dirty="0"/>
              <a:t>But in reality, who decides what actual software should get built, what user stories should get prioritized? How do they decide? </a:t>
            </a:r>
          </a:p>
          <a:p>
            <a:endParaRPr lang="en-US" dirty="0"/>
          </a:p>
          <a:p>
            <a:r>
              <a:rPr lang="en-US" dirty="0"/>
              <a:t>DISCUSS: 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 way of capturing the user’s stated goals in a way that hopefully helps us build the right thing (the tire swing) — that’s the main topic for this lecture.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thing that the user would like to do, written in the user's language. "Short and simple" means that it can fit on a 3x5” We'll say more about this later.</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laser cutter?)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COSs must be prioritized as Essential, Desirable or Extension.</a:t>
            </a:r>
          </a:p>
          <a:p>
            <a:endParaRPr lang="en-US" dirty="0"/>
          </a:p>
          <a:p>
            <a:r>
              <a:rPr lang="en-US" dirty="0"/>
              <a:t>(Sometimes user stories are also prioritized, but in the class project this semester, we’re not going to prioritize user stories in the same way.)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What's the benefit here?</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4320761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Maybe this is desirable, maybe it's essential.</a:t>
            </a:r>
          </a:p>
          <a:p>
            <a:r>
              <a:rPr lang="en-US" dirty="0"/>
              <a:t>Q: What's the benefit to the maintenance supervisor?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do these </a:t>
            </a:r>
            <a:r>
              <a:rPr lang="en-US" dirty="0" err="1"/>
              <a:t>CoS</a:t>
            </a:r>
            <a:r>
              <a:rPr lang="en-US" dirty="0"/>
              <a:t> pertain to the supervisor's desire to /control/ the order in which the potholes are repaired?   </a:t>
            </a:r>
          </a:p>
          <a:p>
            <a:endParaRPr lang="en-US" dirty="0"/>
          </a:p>
          <a:p>
            <a:r>
              <a:rPr lang="en-US" dirty="0"/>
              <a:t>Prof. Wand says: these COS are about "planning" the order in which the potholes should be repaired, but it doesn't give him any _control_. If he wants to **control** the order, shouldn't there be a </a:t>
            </a:r>
            <a:r>
              <a:rPr lang="en-US" dirty="0" err="1"/>
              <a:t>CoS</a:t>
            </a:r>
            <a:r>
              <a:rPr lang="en-US" dirty="0"/>
              <a:t> something like "I should be able to assign each repair crew an individual set of potholes, and communicate this assignment to the crew"?? </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5254426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31</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8/18/2026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8/18/2026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8/18/2026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8/18/2026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8/18/2026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8/18/2026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8/18/2026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8/18/2026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8/18/2026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8/18/2026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8/18/2026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en.wikipedia.org/wiki/Tree_swing_cartoon"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 Id="rId9" Type="http://schemas.openxmlformats.org/officeDocument/2006/relationships/image" Target="../media/image15.sv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overall purposes of requirements analysis</a:t>
            </a:r>
          </a:p>
          <a:p>
            <a:pPr lvl="1"/>
            <a:r>
              <a:rPr lang="en-US" dirty="0"/>
              <a:t>Explain the connection between requirements analysis and user stories</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a:t>
            </a:r>
          </a:p>
          <a:p>
            <a:pPr lvl="1"/>
            <a:r>
              <a:rPr lang="en-US" dirty="0"/>
              <a:t>Explain the difference between essential, desired, and extension levels of priority.</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Requirement analysis helps in making sure that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9023" y="1743213"/>
            <a:ext cx="9983159" cy="370343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hlinkClick r:id="rId4"/>
              </a:rPr>
              <a:t>https://en.wikipedia.org/wiki/Tree_swing_cartoon</a:t>
            </a:r>
            <a:r>
              <a:rPr lang="en-US" dirty="0">
                <a:solidFill>
                  <a:schemeClr val="tx1"/>
                </a:solidFill>
              </a:rPr>
              <a:t> </a:t>
            </a:r>
          </a:p>
        </p:txBody>
      </p:sp>
    </p:spTree>
    <p:extLst>
      <p:ext uri="{BB962C8B-B14F-4D97-AF65-F5344CB8AC3E}">
        <p14:creationId xmlns:p14="http://schemas.microsoft.com/office/powerpoint/2010/main" val="134314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4</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frameworks for capturing requirements.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5</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b="1" dirty="0"/>
              <a:t>User stories </a:t>
            </a:r>
            <a:r>
              <a:rPr lang="en-US" dirty="0"/>
              <a:t>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“Building the Right Thing” Necessarily involves Value Judgments</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Right for whom?</a:t>
            </a:r>
          </a:p>
          <a:p>
            <a:r>
              <a:rPr lang="en-US" dirty="0"/>
              <a:t>Who benefits?</a:t>
            </a:r>
          </a:p>
          <a:p>
            <a:r>
              <a:rPr lang="en-US" dirty="0"/>
              <a:t>Limitations of budget/time/personnel</a:t>
            </a:r>
          </a:p>
          <a:p>
            <a:r>
              <a:rPr lang="en-US" dirty="0"/>
              <a:t>Competing/incompatible ideas about what's important</a:t>
            </a:r>
          </a:p>
          <a:p>
            <a:r>
              <a:rPr lang="en-US" dirty="0"/>
              <a:t>Competing/incompatible sets of Conditions of satisfactions (COSs)</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13576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Requirements Analysis connects High-Level Planning To User Stories</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32352" y="4170052"/>
            <a:ext cx="326898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rPr>
              <a:t>user stories &amp;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829501" y="375597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4379789" y="513528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98893">
            <a:off x="8596296" y="5233324"/>
            <a:ext cx="935568" cy="935568"/>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5400000">
            <a:off x="8491571" y="3774408"/>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0173" y="4772717"/>
            <a:ext cx="637540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prstClr val="black"/>
                </a:solidFill>
                <a:latin typeface="Calibri" panose="020F0502020204030204"/>
              </a:rPr>
              <a:t>conditions</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4" name="TextBox 33">
            <a:extLst>
              <a:ext uri="{FF2B5EF4-FFF2-40B4-BE49-F238E27FC236}">
                <a16:creationId xmlns:a16="http://schemas.microsoft.com/office/drawing/2014/main" id="{57A78C14-221A-C4BA-A7AA-BCB0973C6183}"/>
              </a:ext>
            </a:extLst>
          </p:cNvPr>
          <p:cNvSpPr txBox="1"/>
          <p:nvPr/>
        </p:nvSpPr>
        <p:spPr>
          <a:xfrm>
            <a:off x="4607321" y="3151880"/>
            <a:ext cx="7768500" cy="769441"/>
          </a:xfrm>
          <a:prstGeom prst="rect">
            <a:avLst/>
          </a:prstGeom>
          <a:noFill/>
        </p:spPr>
        <p:txBody>
          <a:bodyPr wrap="square" rtlCol="0">
            <a:spAutoFit/>
          </a:bodyPr>
          <a:lstStyle/>
          <a:p>
            <a:r>
              <a:rPr lang="en-US" sz="4400" dirty="0">
                <a:solidFill>
                  <a:srgbClr val="FF0000"/>
                </a:solidFill>
              </a:rPr>
              <a:t>Requirements Analysis</a:t>
            </a:r>
          </a:p>
        </p:txBody>
      </p:sp>
    </p:spTree>
    <p:extLst>
      <p:ext uri="{BB962C8B-B14F-4D97-AF65-F5344CB8AC3E}">
        <p14:creationId xmlns:p14="http://schemas.microsoft.com/office/powerpoint/2010/main" val="945532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DD9DC61-0E66-37B4-6DFC-58DD8B5D9D9D}"/>
              </a:ext>
            </a:extLst>
          </p:cNvPr>
          <p:cNvSpPr txBox="1"/>
          <p:nvPr/>
        </p:nvSpPr>
        <p:spPr>
          <a:xfrm>
            <a:off x="1753008" y="3749434"/>
            <a:ext cx="9824703"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lvl="0">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a(n) </a:t>
            </a:r>
            <a:r>
              <a:rPr lang="en-US" sz="3200" b="1" i="1" u="sng" dirty="0">
                <a:solidFill>
                  <a:srgbClr val="FF0000"/>
                </a:solidFill>
                <a:latin typeface="Ink Free" panose="03080402000500000000" pitchFamily="66" charset="0"/>
              </a:rPr>
              <a:t>active outdoor park-goer</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a:t>
            </a:r>
            <a:r>
              <a:rPr lang="en-US" sz="3200" b="1" i="1" u="sng" dirty="0">
                <a:solidFill>
                  <a:srgbClr val="FF0000"/>
                </a:solidFill>
                <a:latin typeface="Ink Free" panose="03080402000500000000" pitchFamily="66" charset="0"/>
              </a:rPr>
              <a:t>a safe way to fly through the air under a tree </a:t>
            </a: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a:t>
            </a:r>
            <a:r>
              <a:rPr lang="en-US" sz="3200" b="1" i="1" u="sng" dirty="0">
                <a:solidFill>
                  <a:srgbClr val="FF0000"/>
                </a:solidFill>
                <a:latin typeface="Ink Free" panose="03080402000500000000" pitchFamily="66" charset="0"/>
              </a:rPr>
              <a:t>feel the wind in my hair</a:t>
            </a:r>
            <a:endPar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endParaRPr>
          </a:p>
        </p:txBody>
      </p:sp>
    </p:spTree>
    <p:extLst>
      <p:ext uri="{BB962C8B-B14F-4D97-AF65-F5344CB8AC3E}">
        <p14:creationId xmlns:p14="http://schemas.microsoft.com/office/powerpoint/2010/main" val="2281422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…a least-common-denominator approach documenting the requirements of users when </a:t>
            </a:r>
            <a:r>
              <a:rPr lang="en-US" b="1" dirty="0"/>
              <a:t>planning</a:t>
            </a:r>
            <a:r>
              <a:rPr lang="en-US" dirty="0"/>
              <a:t> projects</a:t>
            </a:r>
          </a:p>
          <a:p>
            <a:r>
              <a:rPr lang="en-US" dirty="0"/>
              <a:t>…a tool for keeping large collaborative teams on the same page when </a:t>
            </a:r>
            <a:r>
              <a:rPr lang="en-US" b="1" dirty="0"/>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dirty="0"/>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10193978" cy="4351338"/>
          </a:xfrm>
        </p:spPr>
        <p:txBody>
          <a:bodyPr vert="horz" lIns="91440" tIns="45720" rIns="91440" bIns="45720" rtlCol="0" anchor="t">
            <a:normAutofit/>
          </a:bodyPr>
          <a:lstStyle/>
          <a:p>
            <a:r>
              <a:rPr lang="en-US" dirty="0"/>
              <a:t>Roles are positions or functions that people inhabit! The person is not you! It is the user, not customer </a:t>
            </a:r>
          </a:p>
          <a:p>
            <a:pPr lvl="1"/>
            <a:r>
              <a:rPr lang="en-US" dirty="0"/>
              <a:t>You may want to build software to develop skills, or to make a codebase more maintainable. That’s good, but it doesn’t fit as a user story.</a:t>
            </a:r>
          </a:p>
          <a:p>
            <a:r>
              <a:rPr lang="en-US" dirty="0"/>
              <a:t>User stories are for users in a specific role:</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marL="0" indent="0">
              <a:buNone/>
            </a:pPr>
            <a:endParaRPr lang="en-US" dirty="0"/>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Content Placeholder 2">
            <a:extLst>
              <a:ext uri="{FF2B5EF4-FFF2-40B4-BE49-F238E27FC236}">
                <a16:creationId xmlns:a16="http://schemas.microsoft.com/office/drawing/2014/main" id="{EF0DB432-7C4E-48EF-E6F2-8B128C86E4E5}"/>
              </a:ext>
            </a:extLst>
          </p:cNvPr>
          <p:cNvSpPr txBox="1">
            <a:spLocks/>
          </p:cNvSpPr>
          <p:nvPr/>
        </p:nvSpPr>
        <p:spPr>
          <a:xfrm>
            <a:off x="8100170" y="700604"/>
            <a:ext cx="3253630" cy="721385"/>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i="1" dirty="0"/>
              <a:t>Think “Canvas roles”</a:t>
            </a:r>
          </a:p>
        </p:txBody>
      </p:sp>
    </p:spTree>
    <p:extLst>
      <p:ext uri="{BB962C8B-B14F-4D97-AF65-F5344CB8AC3E}">
        <p14:creationId xmlns:p14="http://schemas.microsoft.com/office/powerpoint/2010/main" val="1965379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595958"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 (</a:t>
            </a:r>
            <a:r>
              <a:rPr lang="en-US" i="1" dirty="0"/>
              <a:t>It is too general</a:t>
            </a:r>
            <a:r>
              <a:rPr lang="en-US" dirty="0"/>
              <a:t>)</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dirty="0"/>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8412678"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14</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
        <p:nvSpPr>
          <p:cNvPr id="4" name="Content Placeholder 2">
            <a:extLst>
              <a:ext uri="{FF2B5EF4-FFF2-40B4-BE49-F238E27FC236}">
                <a16:creationId xmlns:a16="http://schemas.microsoft.com/office/drawing/2014/main" id="{BC753727-7328-11BB-21E7-911889024DC6}"/>
              </a:ext>
            </a:extLst>
          </p:cNvPr>
          <p:cNvSpPr txBox="1">
            <a:spLocks/>
          </p:cNvSpPr>
          <p:nvPr/>
        </p:nvSpPr>
        <p:spPr>
          <a:xfrm>
            <a:off x="8100170" y="700604"/>
            <a:ext cx="3253630" cy="721385"/>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i="1" dirty="0"/>
              <a:t>Think verb, not noun</a:t>
            </a:r>
          </a:p>
        </p:txBody>
      </p:sp>
    </p:spTree>
    <p:extLst>
      <p:ext uri="{BB962C8B-B14F-4D97-AF65-F5344CB8AC3E}">
        <p14:creationId xmlns:p14="http://schemas.microsoft.com/office/powerpoint/2010/main" val="2730188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2302331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Examples of Good User Stories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15402357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t"/>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18</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dirty="0"/>
              <a:t>Conditions of Satisfaction have Priorities. User stories too!</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9849592" cy="4351338"/>
          </a:xfrm>
        </p:spPr>
        <p:txBody>
          <a:bodyPr>
            <a:normAutofit fontScale="92500"/>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a:p>
            <a:r>
              <a:rPr lang="en-US" b="1" dirty="0"/>
              <a:t>Prioritizing user stories </a:t>
            </a:r>
            <a:r>
              <a:rPr lang="en-US" dirty="0"/>
              <a:t>is also a </a:t>
            </a:r>
            <a:r>
              <a:rPr lang="en-US" i="1" dirty="0"/>
              <a:t>planning activity </a:t>
            </a:r>
            <a:r>
              <a:rPr lang="en-US" dirty="0"/>
              <a:t>for </a:t>
            </a:r>
            <a:r>
              <a:rPr lang="en-US" i="1" dirty="0"/>
              <a:t>complex </a:t>
            </a:r>
            <a:r>
              <a:rPr lang="en-US" dirty="0"/>
              <a:t>projects that are constrained by resources (budget, time, personnel) and multiple (competing or incompatible) ideas about what’s important.</a:t>
            </a:r>
          </a:p>
          <a:p>
            <a:endParaRPr lang="en-US" dirty="0"/>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20</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1" y="365125"/>
            <a:ext cx="4364261" cy="1855562"/>
          </a:xfrm>
        </p:spPr>
        <p:txBody>
          <a:bodyPr>
            <a:noAutofit/>
          </a:bodyPr>
          <a:lstStyle/>
          <a:p>
            <a:r>
              <a:rPr lang="en-US" sz="3600" dirty="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0" y="2529444"/>
            <a:ext cx="4103005" cy="3089379"/>
          </a:xfrm>
        </p:spPr>
        <p:txBody>
          <a:bodyPr>
            <a:normAutofit/>
          </a:bodyPr>
          <a:lstStyle/>
          <a:p>
            <a:pPr marL="0" indent="0">
              <a:buNone/>
            </a:pPr>
            <a:r>
              <a:rPr lang="en-US" dirty="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 so that … (?)</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 so that I can view and report my progress for the 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 so that… (?)</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lnSpcReduction="10000"/>
          </a:bodyPr>
          <a:lstStyle/>
          <a:p>
            <a:r>
              <a:rPr lang="en-US" dirty="0"/>
              <a:t>As a maintenance supervisor, I want to be able to control the order in which potholes are repaired, so that complaints to city hall are minimized.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27</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28</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a:t>
            </a:r>
            <a:r>
              <a:rPr lang="en-US"/>
              <a:t>other stakeholders</a:t>
            </a:r>
            <a:endParaRPr lang="en-US" dirty="0"/>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b="1"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29</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solidFill>
                  <a:srgbClr val="FF0000"/>
                </a:solidFill>
              </a:rPr>
              <a:t>Security</a:t>
            </a:r>
          </a:p>
          <a:p>
            <a:r>
              <a:rPr lang="en-US" dirty="0"/>
              <a:t>Supportability</a:t>
            </a:r>
          </a:p>
          <a:p>
            <a:r>
              <a:rPr lang="en-US" dirty="0"/>
              <a:t>Testability</a:t>
            </a:r>
          </a:p>
          <a:p>
            <a:r>
              <a:rPr lang="en-US" b="1" dirty="0"/>
              <a:t>Usability</a:t>
            </a:r>
          </a:p>
        </p:txBody>
      </p:sp>
    </p:spTree>
    <p:extLst>
      <p:ext uri="{BB962C8B-B14F-4D97-AF65-F5344CB8AC3E}">
        <p14:creationId xmlns:p14="http://schemas.microsoft.com/office/powerpoint/2010/main" val="27092849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a:xfrm>
            <a:off x="838199" y="1500160"/>
            <a:ext cx="9837717" cy="4351338"/>
          </a:xfrm>
        </p:spPr>
        <p:txBody>
          <a:bodyPr>
            <a:normAutofit/>
          </a:bodyPr>
          <a:lstStyle/>
          <a:p>
            <a:r>
              <a:rPr lang="en-US" dirty="0"/>
              <a:t>Once you decide on a set of user stories, the Essential (E) conditions of satisfaction for those user stories constitute the minimum viable product (MVP)</a:t>
            </a:r>
          </a:p>
          <a:p>
            <a:r>
              <a:rPr lang="en-US" dirty="0"/>
              <a:t>A user story is "implemented " </a:t>
            </a:r>
            <a:r>
              <a:rPr lang="en-US" dirty="0">
                <a:solidFill>
                  <a:srgbClr val="FF0000"/>
                </a:solidFill>
              </a:rPr>
              <a:t>when all its essential COSs are implemented.</a:t>
            </a:r>
          </a:p>
          <a:p>
            <a:r>
              <a:rPr lang="en-US" dirty="0"/>
              <a:t>For the </a:t>
            </a:r>
            <a:r>
              <a:rPr lang="en-US" dirty="0" err="1"/>
              <a:t>ourse</a:t>
            </a:r>
            <a:r>
              <a:rPr lang="en-US" dirty="0"/>
              <a:t> project, the MVP is worth 8% of the course grade. Any  </a:t>
            </a:r>
            <a:r>
              <a:rPr lang="en-US" dirty="0" err="1"/>
              <a:t>decsirable</a:t>
            </a:r>
            <a:r>
              <a:rPr lang="en-US" dirty="0"/>
              <a:t> or extension features that your team delivers are worth up to an additional 4%.</a:t>
            </a:r>
            <a:endParaRPr lang="en-US" dirty="0">
              <a:solidFill>
                <a:srgbClr val="FF0000"/>
              </a:solidFill>
            </a:endParaRPr>
          </a:p>
          <a:p>
            <a:r>
              <a:rPr lang="en-US" dirty="0"/>
              <a:t>So: when proposing a project, don't make your MVP too hard to complete (but don't make it too easy, either)</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14671865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overall purposes of requirements analysis</a:t>
            </a:r>
          </a:p>
          <a:p>
            <a:pPr lvl="1"/>
            <a:r>
              <a:rPr lang="en-US" dirty="0"/>
              <a:t>Explain the connection between requirements analysis and user stories</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a:t>
            </a:r>
          </a:p>
          <a:p>
            <a:pPr lvl="1"/>
            <a:r>
              <a:rPr lang="en-US" dirty="0"/>
              <a:t>Explain the difference between essential, desired, and extension levels of priority.</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31</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14748</TotalTime>
  <Words>4772</Words>
  <Application>Microsoft Office PowerPoint</Application>
  <PresentationFormat>Widescreen</PresentationFormat>
  <Paragraphs>370</Paragraphs>
  <Slides>31</Slides>
  <Notes>28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Calibri Light</vt:lpstr>
      <vt:lpstr>Times New Roman</vt:lpstr>
      <vt:lpstr>Ink Free</vt:lpstr>
      <vt:lpstr>Verdana</vt:lpstr>
      <vt:lpstr>Arial</vt:lpstr>
      <vt:lpstr>Helvetica Neue</vt:lpstr>
      <vt:lpstr>Calibri</vt:lpstr>
      <vt:lpstr>Office Theme</vt:lpstr>
      <vt:lpstr>CS 4530: Fundamentals of Software Engineering Module 1.2: User Stories</vt:lpstr>
      <vt:lpstr>Learning Goals for this Lesson</vt:lpstr>
      <vt:lpstr>Requirement analysis helps in making sure that we are building the right thing</vt:lpstr>
      <vt:lpstr>Why is requirements analysis hard?</vt:lpstr>
      <vt:lpstr>How do we capture the requirements?</vt:lpstr>
      <vt:lpstr>Common Elements</vt:lpstr>
      <vt:lpstr>“Building the Right Thing” Necessarily involves Value Judgments</vt:lpstr>
      <vt:lpstr>Requirements Analysis connects High-Level Planning To User Stories</vt:lpstr>
      <vt:lpstr>User stories come from analyzing the user’s requirements</vt:lpstr>
      <vt:lpstr>What are user stories?</vt:lpstr>
      <vt:lpstr>Components of a user story</vt:lpstr>
      <vt:lpstr>Roles: “who”</vt:lpstr>
      <vt:lpstr>Capabilities: “what”</vt:lpstr>
      <vt:lpstr>Capabilities: “what”</vt:lpstr>
      <vt:lpstr>Benefit: “why?”</vt:lpstr>
      <vt:lpstr>Properties of a good user story</vt:lpstr>
      <vt:lpstr>Examples of Good User Stories</vt:lpstr>
      <vt:lpstr>Conditions of Satisfaction fill in details of the desired behavior</vt:lpstr>
      <vt:lpstr>Conditions of Satisfaction have Priorities. User stories too!</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Mitchell Wand</cp:lastModifiedBy>
  <cp:revision>499</cp:revision>
  <cp:lastPrinted>2025-08-26T18:49:02Z</cp:lastPrinted>
  <dcterms:created xsi:type="dcterms:W3CDTF">2021-01-07T15:19:22Z</dcterms:created>
  <dcterms:modified xsi:type="dcterms:W3CDTF">2026-08-18T18:40:37Z</dcterms:modified>
</cp:coreProperties>
</file>