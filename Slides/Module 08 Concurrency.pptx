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703" r:id="rId1"/>
  </p:sldMasterIdLst>
  <p:notesMasterIdLst>
    <p:notesMasterId r:id="rId39"/>
  </p:notesMasterIdLst>
  <p:sldIdLst>
    <p:sldId id="485" r:id="rId2"/>
    <p:sldId id="580" r:id="rId3"/>
    <p:sldId id="688" r:id="rId4"/>
    <p:sldId id="582" r:id="rId5"/>
    <p:sldId id="780" r:id="rId6"/>
    <p:sldId id="514" r:id="rId7"/>
    <p:sldId id="667" r:id="rId8"/>
    <p:sldId id="779" r:id="rId9"/>
    <p:sldId id="699" r:id="rId10"/>
    <p:sldId id="668" r:id="rId11"/>
    <p:sldId id="782" r:id="rId12"/>
    <p:sldId id="698" r:id="rId13"/>
    <p:sldId id="670" r:id="rId14"/>
    <p:sldId id="669" r:id="rId15"/>
    <p:sldId id="672" r:id="rId16"/>
    <p:sldId id="690" r:id="rId17"/>
    <p:sldId id="784" r:id="rId18"/>
    <p:sldId id="697" r:id="rId19"/>
    <p:sldId id="262" r:id="rId20"/>
    <p:sldId id="579" r:id="rId21"/>
    <p:sldId id="691" r:id="rId22"/>
    <p:sldId id="687" r:id="rId23"/>
    <p:sldId id="679" r:id="rId24"/>
    <p:sldId id="781" r:id="rId25"/>
    <p:sldId id="680" r:id="rId26"/>
    <p:sldId id="662" r:id="rId27"/>
    <p:sldId id="658" r:id="rId28"/>
    <p:sldId id="701" r:id="rId29"/>
    <p:sldId id="695" r:id="rId30"/>
    <p:sldId id="681" r:id="rId31"/>
    <p:sldId id="682" r:id="rId32"/>
    <p:sldId id="689" r:id="rId33"/>
    <p:sldId id="544" r:id="rId34"/>
    <p:sldId id="499" r:id="rId35"/>
    <p:sldId id="550" r:id="rId36"/>
    <p:sldId id="546" r:id="rId37"/>
    <p:sldId id="604" r:id="rId38"/>
  </p:sldIdLst>
  <p:sldSz cx="12192000" cy="6858000"/>
  <p:notesSz cx="6858000" cy="9144000"/>
  <p:defaultTextStyle>
    <a:defPPr marL="0" marR="0" indent="0" algn="l" defTabSz="457200" rtl="0" fontAlgn="auto" latinLnBrk="1" hangingPunct="0">
      <a:lnSpc>
        <a:spcPct val="100000"/>
      </a:lnSpc>
      <a:spcBef>
        <a:spcPts val="0"/>
      </a:spcBef>
      <a:spcAft>
        <a:spcPts val="0"/>
      </a:spcAft>
      <a:buClrTx/>
      <a:buSzTx/>
      <a:buFontTx/>
      <a:buNone/>
      <a:tabLst/>
      <a:defRPr kumimoji="0" sz="900" b="0" i="0" u="none" strike="noStrike" cap="none" spc="0" normalizeH="0" baseline="0">
        <a:ln>
          <a:noFill/>
        </a:ln>
        <a:solidFill>
          <a:srgbClr val="000000"/>
        </a:solidFill>
        <a:effectLst/>
        <a:uFillTx/>
      </a:defRPr>
    </a:defPPr>
    <a:lvl1pPr marL="0" marR="0" indent="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1pPr>
    <a:lvl2pPr marL="0" marR="0" indent="228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2pPr>
    <a:lvl3pPr marL="0" marR="0" indent="457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3pPr>
    <a:lvl4pPr marL="0" marR="0" indent="685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4pPr>
    <a:lvl5pPr marL="0" marR="0" indent="9144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5pPr>
    <a:lvl6pPr marL="0" marR="0" indent="11430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6pPr>
    <a:lvl7pPr marL="0" marR="0" indent="13716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7pPr>
    <a:lvl8pPr marL="0" marR="0" indent="16002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8pPr>
    <a:lvl9pPr marL="0" marR="0" indent="1828800" algn="ctr" defTabSz="1219169" rtl="0" fontAlgn="auto" latinLnBrk="0" hangingPunct="0">
      <a:lnSpc>
        <a:spcPct val="100000"/>
      </a:lnSpc>
      <a:spcBef>
        <a:spcPts val="0"/>
      </a:spcBef>
      <a:spcAft>
        <a:spcPts val="0"/>
      </a:spcAft>
      <a:buClrTx/>
      <a:buSzTx/>
      <a:buFontTx/>
      <a:buNone/>
      <a:tabLst/>
      <a:defRPr kumimoji="0" sz="1200" b="0" i="0" u="none" strike="noStrike" cap="none" spc="0" normalizeH="0" baseline="0">
        <a:ln>
          <a:noFill/>
        </a:ln>
        <a:solidFill>
          <a:srgbClr val="5E5E5E"/>
        </a:solidFill>
        <a:effectLst/>
        <a:uFillTx/>
        <a:latin typeface="+mn-lt"/>
        <a:ea typeface="+mn-ea"/>
        <a:cs typeface="+mn-cs"/>
        <a:sym typeface="Helvetica Neue"/>
      </a:defRPr>
    </a:lvl9pPr>
  </p:defaultTextStyle>
  <p:extLst>
    <p:ext uri="{521415D9-36F7-43E2-AB2F-B90AF26B5E84}">
      <p14:sectionLst xmlns:p14="http://schemas.microsoft.com/office/powerpoint/2010/main">
        <p14:section name="Default Section" id="{20B3D125-82CF-4EEE-A3C0-2C8D67B6D0C2}">
          <p14:sldIdLst>
            <p14:sldId id="485"/>
            <p14:sldId id="580"/>
            <p14:sldId id="688"/>
            <p14:sldId id="582"/>
            <p14:sldId id="780"/>
            <p14:sldId id="514"/>
            <p14:sldId id="667"/>
            <p14:sldId id="779"/>
            <p14:sldId id="699"/>
            <p14:sldId id="668"/>
            <p14:sldId id="782"/>
            <p14:sldId id="698"/>
            <p14:sldId id="670"/>
            <p14:sldId id="669"/>
            <p14:sldId id="672"/>
            <p14:sldId id="690"/>
            <p14:sldId id="784"/>
            <p14:sldId id="697"/>
            <p14:sldId id="262"/>
            <p14:sldId id="579"/>
            <p14:sldId id="691"/>
            <p14:sldId id="687"/>
            <p14:sldId id="679"/>
            <p14:sldId id="781"/>
            <p14:sldId id="680"/>
            <p14:sldId id="662"/>
            <p14:sldId id="658"/>
            <p14:sldId id="701"/>
            <p14:sldId id="695"/>
            <p14:sldId id="681"/>
            <p14:sldId id="682"/>
            <p14:sldId id="689"/>
            <p14:sldId id="544"/>
            <p14:sldId id="499"/>
            <p14:sldId id="550"/>
            <p14:sldId id="546"/>
            <p14:sldId id="60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A52B1"/>
    <a:srgbClr val="DEA983"/>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D1188332-BD64-46A5-B32A-6D80E54C4ECE}" v="27" dt="2024-11-01T00:40:56.925"/>
  </p1510:revLst>
</p1510:revInfo>
</file>

<file path=ppt/tableStyles.xml><?xml version="1.0" encoding="utf-8"?>
<a:tblStyleLst xmlns:a="http://schemas.openxmlformats.org/drawingml/2006/main" def="{5940675A-B579-460E-94D1-54222C63F5DA}">
  <a:tblStyle styleId="{4C3C2611-4C71-4FC5-86AE-919BDF0F9419}"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38100" cap="flat">
              <a:solidFill>
                <a:srgbClr val="000000"/>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prstDash val="solid"/>
              <a:miter lim="400000"/>
            </a:ln>
          </a:top>
          <a:bottom>
            <a:ln w="381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firstRow>
  </a:tblStyle>
  <a:tblStyle styleId="{C7B018BB-80A7-4F77-B60F-C8B233D01FF8}" styleName="">
    <a:tblBg/>
    <a:wholeTbl>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wholeTbl>
    <a:band2H>
      <a:tcTxStyle/>
      <a:tcStyle>
        <a:tcBdr/>
        <a:fill>
          <a:solidFill>
            <a:srgbClr val="E3E5E8"/>
          </a:solidFill>
        </a:fill>
      </a:tcStyle>
    </a:band2H>
    <a:firstCol>
      <a:tcTxStyle b="on" i="off">
        <a:fontRef idx="minor">
          <a:srgbClr val="000000"/>
        </a:fontRef>
        <a:srgbClr val="000000"/>
      </a:tcTxStyle>
      <a:tcStyle>
        <a:tcBdr>
          <a:left>
            <a:ln w="12700" cap="flat">
              <a:solidFill>
                <a:srgbClr val="000000"/>
              </a:solidFill>
              <a:prstDash val="solid"/>
              <a:miter lim="400000"/>
            </a:ln>
          </a:left>
          <a:right>
            <a:ln w="25400" cap="flat">
              <a:solidFill>
                <a:srgbClr val="000000"/>
              </a:solidFill>
              <a:prstDash val="solid"/>
              <a:miter lim="400000"/>
            </a:ln>
          </a:right>
          <a:top>
            <a:ln w="12700" cap="flat">
              <a:solidFill>
                <a:srgbClr val="536773"/>
              </a:solidFill>
              <a:prstDash val="solid"/>
              <a:miter lim="400000"/>
            </a:ln>
          </a:top>
          <a:bottom>
            <a:ln w="12700" cap="flat">
              <a:solidFill>
                <a:srgbClr val="536773"/>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firstCol>
    <a:lastRow>
      <a:tcTxStyle b="off"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381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noFill/>
        </a:fill>
      </a:tcStyle>
    </a:lastRow>
    <a:firstRow>
      <a:tcTxStyle b="on" i="off">
        <a:fontRef idx="minor">
          <a:srgbClr val="000000"/>
        </a:fontRef>
        <a:srgbClr val="000000"/>
      </a:tcTxStyle>
      <a:tcStyle>
        <a:tcBdr>
          <a:left>
            <a:ln w="12700" cap="flat">
              <a:solidFill>
                <a:srgbClr val="536773"/>
              </a:solidFill>
              <a:prstDash val="solid"/>
              <a:miter lim="400000"/>
            </a:ln>
          </a:left>
          <a:right>
            <a:ln w="12700" cap="flat">
              <a:solidFill>
                <a:srgbClr val="536773"/>
              </a:solidFill>
              <a:prstDash val="solid"/>
              <a:miter lim="400000"/>
            </a:ln>
          </a:right>
          <a:top>
            <a:ln w="12700" cap="flat">
              <a:solidFill>
                <a:srgbClr val="000000"/>
              </a:solidFill>
              <a:prstDash val="solid"/>
              <a:miter lim="400000"/>
            </a:ln>
          </a:top>
          <a:bottom>
            <a:ln w="12700" cap="flat">
              <a:solidFill>
                <a:srgbClr val="000000"/>
              </a:solidFill>
              <a:prstDash val="solid"/>
              <a:miter lim="400000"/>
            </a:ln>
          </a:bottom>
          <a:insideH>
            <a:ln w="12700" cap="flat">
              <a:solidFill>
                <a:srgbClr val="536773"/>
              </a:solidFill>
              <a:prstDash val="solid"/>
              <a:miter lim="400000"/>
            </a:ln>
          </a:insideH>
          <a:insideV>
            <a:ln w="12700" cap="flat">
              <a:solidFill>
                <a:srgbClr val="536773"/>
              </a:solidFill>
              <a:prstDash val="solid"/>
              <a:miter lim="400000"/>
            </a:ln>
          </a:insideV>
        </a:tcBdr>
        <a:fill>
          <a:solidFill>
            <a:schemeClr val="accent1">
              <a:lumOff val="16847"/>
            </a:schemeClr>
          </a:solidFill>
        </a:fill>
      </a:tcStyle>
    </a:firstRow>
  </a:tblStyle>
  <a:tblStyle styleId="{EEE7283C-3CF3-47DC-8721-378D4A62B228}" styleName="">
    <a:tblBg/>
    <a:wholeTbl>
      <a:tcTxStyle b="off" i="off">
        <a:fontRef idx="minor">
          <a:srgbClr val="000000"/>
        </a:fontRef>
        <a:srgbClr val="000000"/>
      </a:tcTxStyle>
      <a:tcStyle>
        <a:tcBdr>
          <a:left>
            <a:ln w="12700" cap="flat">
              <a:solidFill>
                <a:srgbClr val="838383"/>
              </a:solidFill>
              <a:prstDash val="solid"/>
              <a:miter lim="400000"/>
            </a:ln>
          </a:left>
          <a:right>
            <a:ln w="12700" cap="flat">
              <a:solidFill>
                <a:srgbClr val="838383"/>
              </a:solidFill>
              <a:prstDash val="solid"/>
              <a:miter lim="400000"/>
            </a:ln>
          </a:right>
          <a:top>
            <a:ln w="12700" cap="flat">
              <a:solidFill>
                <a:srgbClr val="838383"/>
              </a:solidFill>
              <a:prstDash val="solid"/>
              <a:miter lim="400000"/>
            </a:ln>
          </a:top>
          <a:bottom>
            <a:ln w="12700" cap="flat">
              <a:solidFill>
                <a:srgbClr val="838383"/>
              </a:solidFill>
              <a:prstDash val="solid"/>
              <a:miter lim="400000"/>
            </a:ln>
          </a:bottom>
          <a:insideH>
            <a:ln w="12700" cap="flat">
              <a:solidFill>
                <a:srgbClr val="838383"/>
              </a:solidFill>
              <a:prstDash val="solid"/>
              <a:miter lim="400000"/>
            </a:ln>
          </a:insideH>
          <a:insideV>
            <a:ln w="12700" cap="flat">
              <a:solidFill>
                <a:srgbClr val="838383"/>
              </a:solidFill>
              <a:prstDash val="solid"/>
              <a:miter lim="400000"/>
            </a:ln>
          </a:insideV>
        </a:tcBdr>
        <a:fill>
          <a:noFill/>
        </a:fill>
      </a:tcStyle>
    </a:wholeTbl>
    <a:band2H>
      <a:tcTxStyle/>
      <a:tcStyle>
        <a:tcBdr/>
        <a:fill>
          <a:solidFill>
            <a:srgbClr val="EDEEEE"/>
          </a:solidFill>
        </a:fill>
      </a:tcStyle>
    </a:band2H>
    <a:firstCol>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808080"/>
              </a:solidFill>
              <a:prstDash val="solid"/>
              <a:miter lim="400000"/>
            </a:ln>
          </a:right>
          <a:top>
            <a:ln w="12700" cap="flat">
              <a:solidFill>
                <a:srgbClr val="808080"/>
              </a:solidFill>
              <a:prstDash val="solid"/>
              <a:miter lim="400000"/>
            </a:ln>
          </a:top>
          <a:bottom>
            <a:ln w="12700" cap="flat">
              <a:solidFill>
                <a:srgbClr val="808080"/>
              </a:solidFill>
              <a:prstDash val="solid"/>
              <a:miter lim="400000"/>
            </a:ln>
          </a:bottom>
          <a:insideH>
            <a:ln w="12700" cap="flat">
              <a:solidFill>
                <a:srgbClr val="808080"/>
              </a:solidFill>
              <a:prstDash val="solid"/>
              <a:miter lim="400000"/>
            </a:ln>
          </a:insideH>
          <a:insideV>
            <a:ln w="12700" cap="flat">
              <a:solidFill>
                <a:srgbClr val="808080"/>
              </a:solidFill>
              <a:prstDash val="solid"/>
              <a:miter lim="400000"/>
            </a:ln>
          </a:insideV>
        </a:tcBdr>
        <a:fill>
          <a:solidFill>
            <a:srgbClr val="88FA4F"/>
          </a:solidFill>
        </a:fill>
      </a:tcStyle>
    </a:firstCol>
    <a:lastRow>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38100" cap="flat">
              <a:solidFill>
                <a:schemeClr val="accent3"/>
              </a:solidFill>
              <a:prstDash val="solid"/>
              <a:miter lim="400000"/>
            </a:ln>
          </a:top>
          <a:bottom>
            <a:ln w="12700" cap="flat">
              <a:solidFill>
                <a:srgbClr val="4D4D4D"/>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noFill/>
        </a:fill>
      </a:tcStyle>
    </a:lastRow>
    <a:firstRow>
      <a:tcTxStyle b="off" i="off">
        <a:font>
          <a:latin typeface="Helvetica Neue Medium"/>
          <a:ea typeface="Helvetica Neue Medium"/>
          <a:cs typeface="Helvetica Neue Medium"/>
        </a:font>
        <a:srgbClr val="000000"/>
      </a:tcTxStyle>
      <a:tcStyle>
        <a:tcBdr>
          <a:left>
            <a:ln w="12700" cap="flat">
              <a:solidFill>
                <a:srgbClr val="4D4D4D"/>
              </a:solidFill>
              <a:prstDash val="solid"/>
              <a:miter lim="400000"/>
            </a:ln>
          </a:left>
          <a:right>
            <a:ln w="12700" cap="flat">
              <a:solidFill>
                <a:srgbClr val="4D4D4D"/>
              </a:solidFill>
              <a:prstDash val="solid"/>
              <a:miter lim="400000"/>
            </a:ln>
          </a:right>
          <a:top>
            <a:ln w="12700" cap="flat">
              <a:solidFill>
                <a:srgbClr val="4D4D4D"/>
              </a:solidFill>
              <a:prstDash val="solid"/>
              <a:miter lim="400000"/>
            </a:ln>
          </a:top>
          <a:bottom>
            <a:ln w="12700" cap="flat">
              <a:solidFill>
                <a:srgbClr val="4D4D4D"/>
              </a:solidFill>
              <a:prstDash val="solid"/>
              <a:miter lim="400000"/>
            </a:ln>
          </a:bottom>
          <a:insideH>
            <a:ln w="12700" cap="flat">
              <a:solidFill>
                <a:srgbClr val="4D4D4D"/>
              </a:solidFill>
              <a:prstDash val="solid"/>
              <a:miter lim="400000"/>
            </a:ln>
          </a:insideH>
          <a:insideV>
            <a:ln w="12700" cap="flat">
              <a:solidFill>
                <a:srgbClr val="4D4D4D"/>
              </a:solidFill>
              <a:prstDash val="solid"/>
              <a:miter lim="400000"/>
            </a:ln>
          </a:insideV>
        </a:tcBdr>
        <a:fill>
          <a:solidFill>
            <a:srgbClr val="60D937"/>
          </a:solidFill>
        </a:fill>
      </a:tcStyle>
    </a:firstRow>
  </a:tblStyle>
  <a:tblStyle styleId="{CF821DB8-F4EB-4A41-A1BA-3FCAFE7338EE}" styleName="">
    <a:tblBg/>
    <a:wholeTbl>
      <a:tcTxStyle b="off" i="off">
        <a:fontRef idx="minor">
          <a:srgbClr val="000000"/>
        </a:fontRef>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wholeTbl>
    <a:band2H>
      <a:tcTxStyle/>
      <a:tcStyle>
        <a:tcBdr/>
        <a:fill>
          <a:solidFill>
            <a:schemeClr val="accent4">
              <a:hueOff val="348544"/>
              <a:lumOff val="7139"/>
            </a:schemeClr>
          </a:solidFill>
        </a:fill>
      </a:tcStyle>
    </a:band2H>
    <a:firstCol>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8BB00"/>
          </a:solidFill>
        </a:fill>
      </a:tcStyle>
    </a:firstCol>
    <a:la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38100" cap="flat">
              <a:solidFill>
                <a:srgbClr val="F8BA00"/>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AF7E9"/>
          </a:solidFill>
        </a:fill>
      </a:tcStyle>
    </a:lastRow>
    <a:firstRow>
      <a:tcTxStyle b="off" i="off">
        <a:font>
          <a:latin typeface="Helvetica Neue Medium"/>
          <a:ea typeface="Helvetica Neue Medium"/>
          <a:cs typeface="Helvetica Neue Medium"/>
        </a:font>
        <a:srgbClr val="000000"/>
      </a:tcTxStyle>
      <a:tcStyle>
        <a:tcBdr>
          <a:left>
            <a:ln w="12700" cap="flat">
              <a:solidFill>
                <a:srgbClr val="5B5A5A"/>
              </a:solidFill>
              <a:prstDash val="solid"/>
              <a:miter lim="400000"/>
            </a:ln>
          </a:left>
          <a:right>
            <a:ln w="12700" cap="flat">
              <a:solidFill>
                <a:srgbClr val="5B5A5A"/>
              </a:solidFill>
              <a:prstDash val="solid"/>
              <a:miter lim="400000"/>
            </a:ln>
          </a:right>
          <a:top>
            <a:ln w="12700" cap="flat">
              <a:solidFill>
                <a:srgbClr val="5B5A5A"/>
              </a:solidFill>
              <a:prstDash val="solid"/>
              <a:miter lim="400000"/>
            </a:ln>
          </a:top>
          <a:bottom>
            <a:ln w="12700" cap="flat">
              <a:solidFill>
                <a:srgbClr val="5B5A5A"/>
              </a:solidFill>
              <a:prstDash val="solid"/>
              <a:miter lim="400000"/>
            </a:ln>
          </a:bottom>
          <a:insideH>
            <a:ln w="12700" cap="flat">
              <a:solidFill>
                <a:srgbClr val="5B5A5A"/>
              </a:solidFill>
              <a:prstDash val="solid"/>
              <a:miter lim="400000"/>
            </a:ln>
          </a:insideH>
          <a:insideV>
            <a:ln w="12700" cap="flat">
              <a:solidFill>
                <a:srgbClr val="5B5A5A"/>
              </a:solidFill>
              <a:prstDash val="solid"/>
              <a:miter lim="400000"/>
            </a:ln>
          </a:insideV>
        </a:tcBdr>
        <a:fill>
          <a:solidFill>
            <a:srgbClr val="FF9400"/>
          </a:solidFill>
        </a:fill>
      </a:tcStyle>
    </a:firstRow>
  </a:tblStyle>
  <a:tblStyle styleId="{33BA23B1-9221-436E-865A-0063620EA4FD}" styleName="">
    <a:tblBg/>
    <a:wholeTbl>
      <a:tcTxStyle b="off" i="off">
        <a:fontRef idx="minor">
          <a:srgbClr val="000000"/>
        </a:fontRef>
        <a:srgbClr val="000000"/>
      </a:tcTxStyle>
      <a:tcStyle>
        <a:tcBdr>
          <a:left>
            <a:ln w="12700" cap="flat">
              <a:solidFill>
                <a:srgbClr val="464646"/>
              </a:solidFill>
              <a:prstDash val="solid"/>
              <a:miter lim="400000"/>
            </a:ln>
          </a:left>
          <a:right>
            <a:ln w="12700" cap="flat">
              <a:solidFill>
                <a:srgbClr val="464646"/>
              </a:solidFill>
              <a:prstDash val="solid"/>
              <a:miter lim="400000"/>
            </a:ln>
          </a:right>
          <a:top>
            <a:ln w="12700" cap="flat">
              <a:solidFill>
                <a:srgbClr val="464646"/>
              </a:solidFill>
              <a:prstDash val="solid"/>
              <a:miter lim="400000"/>
            </a:ln>
          </a:top>
          <a:bottom>
            <a:ln w="12700" cap="flat">
              <a:solidFill>
                <a:srgbClr val="464646"/>
              </a:solidFill>
              <a:prstDash val="solid"/>
              <a:miter lim="400000"/>
            </a:ln>
          </a:bottom>
          <a:insideH>
            <a:ln w="12700" cap="flat">
              <a:solidFill>
                <a:srgbClr val="464646"/>
              </a:solidFill>
              <a:prstDash val="solid"/>
              <a:miter lim="400000"/>
            </a:ln>
          </a:insideH>
          <a:insideV>
            <a:ln w="12700" cap="flat">
              <a:solidFill>
                <a:srgbClr val="464646"/>
              </a:solidFill>
              <a:prstDash val="solid"/>
              <a:miter lim="400000"/>
            </a:ln>
          </a:insideV>
        </a:tcBdr>
        <a:fill>
          <a:noFill/>
        </a:fill>
      </a:tcStyle>
    </a:wholeTbl>
    <a:band2H>
      <a:tcTxStyle/>
      <a:tcStyle>
        <a:tcBdr/>
        <a:fill>
          <a:solidFill>
            <a:srgbClr val="D4D5D5"/>
          </a:solidFill>
        </a:fill>
      </a:tcStyle>
    </a:band2H>
    <a:firstCol>
      <a:tcTxStyle b="on" i="off">
        <a:fontRef idx="minor">
          <a:srgbClr val="FFFFFF"/>
        </a:fontRef>
        <a:srgbClr val="FFFFFF"/>
      </a:tcTxStyle>
      <a:tcStyle>
        <a:tcBdr>
          <a:left>
            <a:ln w="12700" cap="flat">
              <a:solidFill>
                <a:srgbClr val="5E5E5E"/>
              </a:solidFill>
              <a:prstDash val="solid"/>
              <a:miter lim="400000"/>
            </a:ln>
          </a:left>
          <a:right>
            <a:ln w="12700" cap="flat">
              <a:solidFill>
                <a:srgbClr val="A6AAA9"/>
              </a:solidFill>
              <a:prstDash val="solid"/>
              <a:miter lim="400000"/>
            </a:ln>
          </a:right>
          <a:top>
            <a:ln w="12700" cap="flat">
              <a:solidFill>
                <a:srgbClr val="C3C3C3"/>
              </a:solidFill>
              <a:prstDash val="solid"/>
              <a:miter lim="400000"/>
            </a:ln>
          </a:top>
          <a:bottom>
            <a:ln w="12700" cap="flat">
              <a:solidFill>
                <a:srgbClr val="C3C3C3"/>
              </a:solidFill>
              <a:prstDash val="solid"/>
              <a:miter lim="400000"/>
            </a:ln>
          </a:bottom>
          <a:insideH>
            <a:ln w="12700" cap="flat">
              <a:solidFill>
                <a:srgbClr val="C3C3C3"/>
              </a:solidFill>
              <a:prstDash val="solid"/>
              <a:miter lim="400000"/>
            </a:ln>
          </a:insideH>
          <a:insideV>
            <a:ln w="12700" cap="flat">
              <a:solidFill>
                <a:srgbClr val="C3C3C3"/>
              </a:solidFill>
              <a:prstDash val="solid"/>
              <a:miter lim="400000"/>
            </a:ln>
          </a:insideV>
        </a:tcBdr>
        <a:fill>
          <a:solidFill>
            <a:srgbClr val="CB2A7B"/>
          </a:solidFill>
        </a:fill>
      </a:tcStyle>
    </a:firstCol>
    <a:lastRow>
      <a:tcTxStyle b="on" i="off">
        <a:fontRef idx="minor">
          <a:srgbClr val="000000"/>
        </a:fontRef>
        <a:srgbClr val="000000"/>
      </a:tcTxStyle>
      <a:tcStyle>
        <a:tcBdr>
          <a:left>
            <a:ln w="12700" cap="flat">
              <a:solidFill>
                <a:srgbClr val="5E5E5E"/>
              </a:solidFill>
              <a:prstDash val="solid"/>
              <a:miter lim="400000"/>
            </a:ln>
          </a:left>
          <a:right>
            <a:ln w="12700" cap="flat">
              <a:solidFill>
                <a:srgbClr val="5E5E5E"/>
              </a:solidFill>
              <a:prstDash val="solid"/>
              <a:miter lim="400000"/>
            </a:ln>
          </a:right>
          <a:top>
            <a:ln w="38100" cap="flat">
              <a:solidFill>
                <a:srgbClr val="CB297B"/>
              </a:solidFill>
              <a:prstDash val="solid"/>
              <a:miter lim="400000"/>
            </a:ln>
          </a:top>
          <a:bottom>
            <a:ln w="12700" cap="flat">
              <a:solidFill>
                <a:srgbClr val="5E5E5E"/>
              </a:solidFill>
              <a:prstDash val="solid"/>
              <a:miter lim="400000"/>
            </a:ln>
          </a:bottom>
          <a:insideH>
            <a:ln w="12700" cap="flat">
              <a:solidFill>
                <a:srgbClr val="5E5E5E"/>
              </a:solidFill>
              <a:prstDash val="solid"/>
              <a:miter lim="400000"/>
            </a:ln>
          </a:insideH>
          <a:insideV>
            <a:ln w="12700" cap="flat">
              <a:solidFill>
                <a:srgbClr val="5E5E5E"/>
              </a:solidFill>
              <a:prstDash val="solid"/>
              <a:miter lim="400000"/>
            </a:ln>
          </a:insideV>
        </a:tcBdr>
        <a:fill>
          <a:solidFill>
            <a:srgbClr val="FFFFFF"/>
          </a:solidFill>
        </a:fill>
      </a:tcStyle>
    </a:lastRow>
    <a:firstRow>
      <a:tcTxStyle b="on" i="off">
        <a:fontRef idx="minor">
          <a:srgbClr val="FFFFFF"/>
        </a:fontRef>
        <a:srgbClr val="FFFFFF"/>
      </a:tcTxStyle>
      <a:tcStyle>
        <a:tcBdr>
          <a:left>
            <a:ln w="12700" cap="flat">
              <a:solidFill>
                <a:srgbClr val="A6AAA9"/>
              </a:solidFill>
              <a:prstDash val="solid"/>
              <a:miter lim="400000"/>
            </a:ln>
          </a:left>
          <a:right>
            <a:ln w="12700" cap="flat">
              <a:solidFill>
                <a:srgbClr val="A6AAA9"/>
              </a:solidFill>
              <a:prstDash val="solid"/>
              <a:miter lim="400000"/>
            </a:ln>
          </a:right>
          <a:top>
            <a:ln w="12700" cap="flat">
              <a:solidFill>
                <a:srgbClr val="5E5E5E"/>
              </a:solidFill>
              <a:prstDash val="solid"/>
              <a:miter lim="400000"/>
            </a:ln>
          </a:top>
          <a:bottom>
            <a:ln w="12700" cap="flat">
              <a:solidFill>
                <a:srgbClr val="A6AAA9"/>
              </a:solidFill>
              <a:prstDash val="solid"/>
              <a:miter lim="400000"/>
            </a:ln>
          </a:bottom>
          <a:insideH>
            <a:ln w="12700" cap="flat">
              <a:solidFill>
                <a:srgbClr val="A6AAA9"/>
              </a:solidFill>
              <a:prstDash val="solid"/>
              <a:miter lim="400000"/>
            </a:ln>
          </a:insideH>
          <a:insideV>
            <a:ln w="12700" cap="flat">
              <a:solidFill>
                <a:srgbClr val="A6AAA9"/>
              </a:solidFill>
              <a:prstDash val="solid"/>
              <a:miter lim="400000"/>
            </a:ln>
          </a:insideV>
        </a:tcBdr>
        <a:fill>
          <a:solidFill>
            <a:srgbClr val="991A5F"/>
          </a:solidFill>
        </a:fill>
      </a:tcStyle>
    </a:firstRow>
  </a:tblStyle>
  <a:tblStyle styleId="{2708684C-4D16-4618-839F-0558EEFCDFE6}" styleName="">
    <a:tblBg/>
    <a:wholeTbl>
      <a:tcTxStyle b="off"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wholeTbl>
    <a:band2H>
      <a:tcTxStyle/>
      <a:tcStyle>
        <a:tcBdr/>
        <a:fill>
          <a:solidFill>
            <a:srgbClr val="EDEEEE"/>
          </a:solidFill>
        </a:fill>
      </a:tcStyle>
    </a:band2H>
    <a:firstCol>
      <a:tcTxStyle b="on" i="off">
        <a:fontRef idx="minor">
          <a:srgbClr val="000000"/>
        </a:fontRef>
        <a:srgbClr val="000000"/>
      </a:tcTxStyle>
      <a:tcStyle>
        <a:tcBdr>
          <a:left>
            <a:ln w="12700" cap="flat">
              <a:solidFill>
                <a:srgbClr val="6C6C6C"/>
              </a:solidFill>
              <a:prstDash val="solid"/>
              <a:miter lim="400000"/>
            </a:ln>
          </a:left>
          <a:right>
            <a:ln w="25400" cap="flat">
              <a:solidFill>
                <a:srgbClr val="000000"/>
              </a:solidFill>
              <a:prstDash val="solid"/>
              <a:miter lim="400000"/>
            </a:ln>
          </a:right>
          <a:top>
            <a:ln w="12700" cap="flat">
              <a:solidFill>
                <a:srgbClr val="000000"/>
              </a:solidFill>
              <a:custDash>
                <a:ds d="200000" sp="200000"/>
              </a:custDash>
              <a:miter lim="400000"/>
            </a:ln>
          </a:top>
          <a:bottom>
            <a:ln w="12700" cap="flat">
              <a:solidFill>
                <a:srgbClr val="000000"/>
              </a:solidFill>
              <a:custDash>
                <a:ds d="200000" sp="200000"/>
              </a:custDash>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firstCol>
    <a:la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25400" cap="flat">
              <a:solidFill>
                <a:srgbClr val="000000"/>
              </a:solidFill>
              <a:prstDash val="solid"/>
              <a:miter lim="400000"/>
            </a:ln>
          </a:top>
          <a:bottom>
            <a:ln w="12700" cap="flat">
              <a:solidFill>
                <a:srgbClr val="6C6C6C"/>
              </a:solidFill>
              <a:prstDash val="solid"/>
              <a:miter lim="400000"/>
            </a:ln>
          </a:bottom>
          <a:insideH>
            <a:ln w="12700" cap="flat">
              <a:solidFill>
                <a:srgbClr val="000000"/>
              </a:solidFill>
              <a:custDash>
                <a:ds d="200000" sp="200000"/>
              </a:custDash>
              <a:miter lim="400000"/>
            </a:ln>
          </a:insideH>
          <a:insideV>
            <a:ln w="12700" cap="flat">
              <a:solidFill>
                <a:srgbClr val="000000"/>
              </a:solidFill>
              <a:prstDash val="solid"/>
              <a:miter lim="400000"/>
            </a:ln>
          </a:insideV>
        </a:tcBdr>
        <a:fill>
          <a:noFill/>
        </a:fill>
      </a:tcStyle>
    </a:lastRow>
    <a:firstRow>
      <a:tcTxStyle b="on" i="off">
        <a:fontRef idx="minor">
          <a:srgbClr val="000000"/>
        </a:fontRef>
        <a:srgbClr val="000000"/>
      </a:tcTxStyle>
      <a:tcStyle>
        <a:tcBdr>
          <a:left>
            <a:ln w="12700" cap="flat">
              <a:solidFill>
                <a:srgbClr val="000000"/>
              </a:solidFill>
              <a:prstDash val="solid"/>
              <a:miter lim="400000"/>
            </a:ln>
          </a:left>
          <a:right>
            <a:ln w="12700" cap="flat">
              <a:solidFill>
                <a:srgbClr val="000000"/>
              </a:solidFill>
              <a:prstDash val="solid"/>
              <a:miter lim="400000"/>
            </a:ln>
          </a:right>
          <a:top>
            <a:ln w="12700" cap="flat">
              <a:solidFill>
                <a:srgbClr val="6C6C6C"/>
              </a:solidFill>
              <a:prstDash val="solid"/>
              <a:miter lim="400000"/>
            </a:ln>
          </a:top>
          <a:bottom>
            <a:ln w="12700" cap="flat">
              <a:solidFill>
                <a:srgbClr val="000000"/>
              </a:solidFill>
              <a:prstDash val="solid"/>
              <a:miter lim="400000"/>
            </a:ln>
          </a:bottom>
          <a:insideH>
            <a:ln w="12700" cap="flat">
              <a:solidFill>
                <a:srgbClr val="000000"/>
              </a:solidFill>
              <a:prstDash val="solid"/>
              <a:miter lim="400000"/>
            </a:ln>
          </a:insideH>
          <a:insideV>
            <a:ln w="12700" cap="flat">
              <a:solidFill>
                <a:srgbClr val="000000"/>
              </a:solidFill>
              <a:prstDash val="solid"/>
              <a:miter lim="400000"/>
            </a:ln>
          </a:insideV>
        </a:tcBdr>
        <a:fill>
          <a:solidFill>
            <a:srgbClr val="D6DCE0"/>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53" autoAdjust="0"/>
    <p:restoredTop sz="86253" autoAdjust="0"/>
  </p:normalViewPr>
  <p:slideViewPr>
    <p:cSldViewPr snapToGrid="0" snapToObjects="1">
      <p:cViewPr varScale="1">
        <p:scale>
          <a:sx n="64" d="100"/>
          <a:sy n="64" d="100"/>
        </p:scale>
        <p:origin x="712" y="40"/>
      </p:cViewPr>
      <p:guideLst/>
    </p:cSldViewPr>
  </p:slideViewPr>
  <p:outlineViewPr>
    <p:cViewPr>
      <p:scale>
        <a:sx n="33" d="100"/>
        <a:sy n="33" d="100"/>
      </p:scale>
      <p:origin x="0" y="-9996"/>
    </p:cViewPr>
  </p:outlineViewPr>
  <p:notesTextViewPr>
    <p:cViewPr>
      <p:scale>
        <a:sx n="3" d="2"/>
        <a:sy n="3" d="2"/>
      </p:scale>
      <p:origin x="0" y="0"/>
    </p:cViewPr>
  </p:notesTextViewPr>
  <p:sorterViewPr>
    <p:cViewPr varScale="1">
      <p:scale>
        <a:sx n="1" d="1"/>
        <a:sy n="1" d="1"/>
      </p:scale>
      <p:origin x="0" y="-12336"/>
    </p:cViewPr>
  </p:sorter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notesMaster" Target="notesMasters/notesMaster1.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heme" Target="theme/theme1.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microsoft.com/office/2015/10/relationships/revisionInfo" Target="revisionInfo.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ableStyles" Target="tableStyle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41" name="Shape 141"/>
          <p:cNvSpPr>
            <a:spLocks noGrp="1" noRot="1" noChangeAspect="1"/>
          </p:cNvSpPr>
          <p:nvPr>
            <p:ph type="sldImg"/>
          </p:nvPr>
        </p:nvSpPr>
        <p:spPr>
          <a:xfrm>
            <a:off x="381000" y="685800"/>
            <a:ext cx="6096000" cy="3429000"/>
          </a:xfrm>
          <a:prstGeom prst="rect">
            <a:avLst/>
          </a:prstGeom>
        </p:spPr>
        <p:txBody>
          <a:bodyPr/>
          <a:lstStyle/>
          <a:p>
            <a:endParaRPr/>
          </a:p>
        </p:txBody>
      </p:sp>
      <p:sp>
        <p:nvSpPr>
          <p:cNvPr id="142" name="Shape 142"/>
          <p:cNvSpPr>
            <a:spLocks noGrp="1"/>
          </p:cNvSpPr>
          <p:nvPr>
            <p:ph type="body" sz="quarter" idx="1"/>
          </p:nvPr>
        </p:nvSpPr>
        <p:spPr>
          <a:xfrm>
            <a:off x="914400" y="4343400"/>
            <a:ext cx="5029200" cy="4114800"/>
          </a:xfrm>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defTabSz="228600" latinLnBrk="0">
      <a:lnSpc>
        <a:spcPct val="117999"/>
      </a:lnSpc>
      <a:defRPr sz="1100">
        <a:latin typeface="+mn-lt"/>
        <a:ea typeface="+mn-ea"/>
        <a:cs typeface="+mn-cs"/>
        <a:sym typeface="Helvetica Neue"/>
      </a:defRPr>
    </a:lvl1pPr>
    <a:lvl2pPr indent="114300" defTabSz="228600" latinLnBrk="0">
      <a:lnSpc>
        <a:spcPct val="117999"/>
      </a:lnSpc>
      <a:defRPr sz="1100">
        <a:latin typeface="+mn-lt"/>
        <a:ea typeface="+mn-ea"/>
        <a:cs typeface="+mn-cs"/>
        <a:sym typeface="Helvetica Neue"/>
      </a:defRPr>
    </a:lvl2pPr>
    <a:lvl3pPr indent="228600" defTabSz="228600" latinLnBrk="0">
      <a:lnSpc>
        <a:spcPct val="117999"/>
      </a:lnSpc>
      <a:defRPr sz="1100">
        <a:latin typeface="+mn-lt"/>
        <a:ea typeface="+mn-ea"/>
        <a:cs typeface="+mn-cs"/>
        <a:sym typeface="Helvetica Neue"/>
      </a:defRPr>
    </a:lvl3pPr>
    <a:lvl4pPr indent="342900" defTabSz="228600" latinLnBrk="0">
      <a:lnSpc>
        <a:spcPct val="117999"/>
      </a:lnSpc>
      <a:defRPr sz="1100">
        <a:latin typeface="+mn-lt"/>
        <a:ea typeface="+mn-ea"/>
        <a:cs typeface="+mn-cs"/>
        <a:sym typeface="Helvetica Neue"/>
      </a:defRPr>
    </a:lvl4pPr>
    <a:lvl5pPr indent="457200" defTabSz="228600" latinLnBrk="0">
      <a:lnSpc>
        <a:spcPct val="117999"/>
      </a:lnSpc>
      <a:defRPr sz="1100">
        <a:latin typeface="+mn-lt"/>
        <a:ea typeface="+mn-ea"/>
        <a:cs typeface="+mn-cs"/>
        <a:sym typeface="Helvetica Neue"/>
      </a:defRPr>
    </a:lvl5pPr>
    <a:lvl6pPr indent="571500" defTabSz="228600" latinLnBrk="0">
      <a:lnSpc>
        <a:spcPct val="117999"/>
      </a:lnSpc>
      <a:defRPr sz="1100">
        <a:latin typeface="+mn-lt"/>
        <a:ea typeface="+mn-ea"/>
        <a:cs typeface="+mn-cs"/>
        <a:sym typeface="Helvetica Neue"/>
      </a:defRPr>
    </a:lvl6pPr>
    <a:lvl7pPr indent="685800" defTabSz="228600" latinLnBrk="0">
      <a:lnSpc>
        <a:spcPct val="117999"/>
      </a:lnSpc>
      <a:defRPr sz="1100">
        <a:latin typeface="+mn-lt"/>
        <a:ea typeface="+mn-ea"/>
        <a:cs typeface="+mn-cs"/>
        <a:sym typeface="Helvetica Neue"/>
      </a:defRPr>
    </a:lvl7pPr>
    <a:lvl8pPr indent="800100" defTabSz="228600" latinLnBrk="0">
      <a:lnSpc>
        <a:spcPct val="117999"/>
      </a:lnSpc>
      <a:defRPr sz="1100">
        <a:latin typeface="+mn-lt"/>
        <a:ea typeface="+mn-ea"/>
        <a:cs typeface="+mn-cs"/>
        <a:sym typeface="Helvetica Neue"/>
      </a:defRPr>
    </a:lvl8pPr>
    <a:lvl9pPr indent="914400" defTabSz="228600" latinLnBrk="0">
      <a:lnSpc>
        <a:spcPct val="117999"/>
      </a:lnSpc>
      <a:defRPr sz="1100">
        <a:latin typeface="+mn-lt"/>
        <a:ea typeface="+mn-ea"/>
        <a:cs typeface="+mn-cs"/>
        <a:sym typeface="Helvetica Neue"/>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1</a:t>
            </a:fld>
            <a:endParaRPr lang="en-US" dirty="0"/>
          </a:p>
        </p:txBody>
      </p:sp>
    </p:spTree>
    <p:extLst>
      <p:ext uri="{BB962C8B-B14F-4D97-AF65-F5344CB8AC3E}">
        <p14:creationId xmlns:p14="http://schemas.microsoft.com/office/powerpoint/2010/main" val="346702897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2</a:t>
            </a:fld>
            <a:endParaRPr lang="en-US"/>
          </a:p>
        </p:txBody>
      </p:sp>
    </p:spTree>
    <p:extLst>
      <p:ext uri="{BB962C8B-B14F-4D97-AF65-F5344CB8AC3E}">
        <p14:creationId xmlns:p14="http://schemas.microsoft.com/office/powerpoint/2010/main" val="374805525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60BD43-9BC0-29FD-493A-6077183009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D0C94BA-3C74-E424-8078-CF849942079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C952A8-11F3-383D-47D8-B88983E5EE2D}"/>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4546126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cooperative multiprocessing, each thread decides when it should yield to let other threads execute.  For the purposes of this lecture, we will use the terms 'promise' and 'computation' interchangeably   (MAYBE??)</a:t>
            </a:r>
          </a:p>
        </p:txBody>
      </p:sp>
    </p:spTree>
    <p:extLst>
      <p:ext uri="{BB962C8B-B14F-4D97-AF65-F5344CB8AC3E}">
        <p14:creationId xmlns:p14="http://schemas.microsoft.com/office/powerpoint/2010/main" val="253447067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07937F07-1250-4CCE-B198-1B2887014F41}" type="slidenum">
              <a:rPr lang="en-US" smtClean="0"/>
              <a:t>8</a:t>
            </a:fld>
            <a:endParaRPr lang="en-US"/>
          </a:p>
        </p:txBody>
      </p:sp>
    </p:spTree>
    <p:extLst>
      <p:ext uri="{BB962C8B-B14F-4D97-AF65-F5344CB8AC3E}">
        <p14:creationId xmlns:p14="http://schemas.microsoft.com/office/powerpoint/2010/main" val="219379140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  Say something about success/failure?</a:t>
            </a:r>
          </a:p>
        </p:txBody>
      </p:sp>
    </p:spTree>
    <p:extLst>
      <p:ext uri="{BB962C8B-B14F-4D97-AF65-F5344CB8AC3E}">
        <p14:creationId xmlns:p14="http://schemas.microsoft.com/office/powerpoint/2010/main" val="136140237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 typical async function.  It calls another async function, waits for that function to return, and then does something with the answer.  The "cooperative multiprocessing" means that while this function is waiting for the other function to return, the runtime can switch to some other task. </a:t>
            </a:r>
          </a:p>
        </p:txBody>
      </p:sp>
    </p:spTree>
    <p:extLst>
      <p:ext uri="{BB962C8B-B14F-4D97-AF65-F5344CB8AC3E}">
        <p14:creationId xmlns:p14="http://schemas.microsoft.com/office/powerpoint/2010/main" val="40084931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4FA44-3763-F9A5-E3C3-B513CBAE631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3BC10B3-8E51-2173-57CB-CDB6B610D8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9491798-6C89-E0AF-366F-EEE4403B6584}"/>
              </a:ext>
            </a:extLst>
          </p:cNvPr>
          <p:cNvSpPr>
            <a:spLocks noGrp="1"/>
          </p:cNvSpPr>
          <p:nvPr>
            <p:ph type="body" idx="1"/>
          </p:nvPr>
        </p:nvSpPr>
        <p:spPr/>
        <p:txBody>
          <a:bodyPr/>
          <a:lstStyle/>
          <a:p>
            <a:r>
              <a:rPr lang="en-US" dirty="0" err="1"/>
              <a:t>someFunction</a:t>
            </a:r>
            <a:r>
              <a:rPr lang="en-US" dirty="0"/>
              <a:t> returns a promise that will wait for </a:t>
            </a:r>
            <a:r>
              <a:rPr lang="en-US" dirty="0" err="1"/>
              <a:t>someOtherAsyncFunction</a:t>
            </a:r>
            <a:r>
              <a:rPr lang="en-US" dirty="0"/>
              <a:t> to resolve, call the result k, and then return m (= k+100).</a:t>
            </a:r>
          </a:p>
        </p:txBody>
      </p:sp>
    </p:spTree>
    <p:extLst>
      <p:ext uri="{BB962C8B-B14F-4D97-AF65-F5344CB8AC3E}">
        <p14:creationId xmlns:p14="http://schemas.microsoft.com/office/powerpoint/2010/main" val="12418354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9215E-43C6-C8DE-5E0E-5426985A0BC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1AD9904-FF40-79B0-EFF9-E88BBE8D1693}"/>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E3A4D406-3D5B-558F-1BF4-4CE1DB59F54D}"/>
              </a:ext>
            </a:extLst>
          </p:cNvPr>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1593081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disallowing interrupts everywhere but at the pause points, we avoid almost all of the data races you may have learned about in your operating systems class.   Each green box is a critical section, and your program consists of a set of critical sections.  Each green box is uninterruptible!!</a:t>
            </a:r>
          </a:p>
          <a:p>
            <a:endParaRPr lang="en-US" dirty="0"/>
          </a:p>
        </p:txBody>
      </p:sp>
    </p:spTree>
    <p:extLst>
      <p:ext uri="{BB962C8B-B14F-4D97-AF65-F5344CB8AC3E}">
        <p14:creationId xmlns:p14="http://schemas.microsoft.com/office/powerpoint/2010/main" val="32144726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async function yields or pauses in exactly two places in its code.  What happens at those places?</a:t>
            </a:r>
          </a:p>
          <a:p>
            <a:endParaRPr lang="en-US" dirty="0"/>
          </a:p>
          <a:p>
            <a:r>
              <a:rPr lang="en-US" dirty="0"/>
              <a:t>When </a:t>
            </a:r>
            <a:r>
              <a:rPr lang="en-US" dirty="0" err="1"/>
              <a:t>someFunction</a:t>
            </a:r>
            <a:r>
              <a:rPr lang="en-US" dirty="0"/>
              <a:t> yields at the first location, it first informs the runtime that </a:t>
            </a:r>
            <a:r>
              <a:rPr lang="en-US" dirty="0" err="1"/>
              <a:t>someOtherAsyncFunction</a:t>
            </a:r>
            <a:r>
              <a:rPr lang="en-US" dirty="0"/>
              <a:t>(j) is ready to run, and that </a:t>
            </a:r>
            <a:r>
              <a:rPr lang="en-US" dirty="0" err="1"/>
              <a:t>someFunction</a:t>
            </a:r>
            <a:r>
              <a:rPr lang="en-US" dirty="0"/>
              <a:t> will be ready to resume its execution only when </a:t>
            </a:r>
            <a:r>
              <a:rPr lang="en-US" dirty="0" err="1"/>
              <a:t>someOtherAsyncFunction</a:t>
            </a:r>
            <a:r>
              <a:rPr lang="en-US" dirty="0"/>
              <a:t>(j) returns a value (i.e., it is returning to caller with a pending promise). The runtime can then switch to any process that is ready.</a:t>
            </a:r>
          </a:p>
          <a:p>
            <a:endParaRPr lang="en-US" dirty="0"/>
          </a:p>
          <a:p>
            <a:r>
              <a:rPr lang="en-US" dirty="0"/>
              <a:t>When </a:t>
            </a:r>
            <a:r>
              <a:rPr lang="en-US" dirty="0" err="1"/>
              <a:t>someFunction</a:t>
            </a:r>
            <a:r>
              <a:rPr lang="en-US" dirty="0"/>
              <a:t> yields at the second location, it informs the runtime that it is ready to return to its caller, and the runtime will switch to any process that is ready. It might be the caller of </a:t>
            </a:r>
            <a:r>
              <a:rPr lang="en-US" dirty="0" err="1"/>
              <a:t>someFunction</a:t>
            </a:r>
            <a:r>
              <a:rPr lang="en-US" dirty="0"/>
              <a:t>, or it might be something else.</a:t>
            </a:r>
          </a:p>
        </p:txBody>
      </p:sp>
    </p:spTree>
    <p:extLst>
      <p:ext uri="{BB962C8B-B14F-4D97-AF65-F5344CB8AC3E}">
        <p14:creationId xmlns:p14="http://schemas.microsoft.com/office/powerpoint/2010/main" val="1748066163"/>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run to completion means that if you start executing a task (or async) function then it must complete unless it awaits on something</a:t>
            </a:r>
          </a:p>
        </p:txBody>
      </p:sp>
    </p:spTree>
    <p:extLst>
      <p:ext uri="{BB962C8B-B14F-4D97-AF65-F5344CB8AC3E}">
        <p14:creationId xmlns:p14="http://schemas.microsoft.com/office/powerpoint/2010/main" val="277606096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126271473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66ECA1-6B4D-0F40-61F2-202A6BC283F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17DFC42-DD20-C6B0-A702-949BBD86F3F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ED66412-DB27-2512-3DE4-CE7A92DA03CD}"/>
              </a:ext>
            </a:extLst>
          </p:cNvPr>
          <p:cNvSpPr>
            <a:spLocks noGrp="1"/>
          </p:cNvSpPr>
          <p:nvPr>
            <p:ph type="body" idx="1"/>
          </p:nvPr>
        </p:nvSpPr>
        <p:spPr/>
        <p:txBody>
          <a:bodyPr/>
          <a:lstStyle/>
          <a:p>
            <a:r>
              <a:rPr lang="en-US" sz="800" dirty="0"/>
              <a:t>JavaScript microtasks (Promises, </a:t>
            </a:r>
            <a:r>
              <a:rPr lang="en-US" sz="800" dirty="0" err="1"/>
              <a:t>MutationObserver</a:t>
            </a:r>
            <a:r>
              <a:rPr lang="en-US" sz="800" dirty="0"/>
              <a:t>) have higher priority than </a:t>
            </a:r>
            <a:r>
              <a:rPr lang="en-US" sz="800" dirty="0" err="1"/>
              <a:t>macrotasks</a:t>
            </a:r>
            <a:r>
              <a:rPr lang="en-US" sz="800" dirty="0"/>
              <a:t> (</a:t>
            </a:r>
            <a:r>
              <a:rPr lang="en-US" sz="800" dirty="0" err="1"/>
              <a:t>setTimeout</a:t>
            </a:r>
            <a:r>
              <a:rPr lang="en-US" sz="800" dirty="0"/>
              <a:t>, I/O), executing immediately after the call stack empties and before the next event loop iteration. The event loop processes all available microtasks before running a single </a:t>
            </a:r>
            <a:r>
              <a:rPr lang="en-US" sz="800" dirty="0" err="1"/>
              <a:t>macrotask</a:t>
            </a:r>
            <a:r>
              <a:rPr lang="en-US" sz="800" dirty="0"/>
              <a:t>. </a:t>
            </a:r>
          </a:p>
          <a:p>
            <a:endParaRPr lang="en-US" sz="800" dirty="0"/>
          </a:p>
          <a:p>
            <a:r>
              <a:rPr lang="en-US" sz="800" dirty="0"/>
              <a:t>Key Differences at a Glance:</a:t>
            </a:r>
          </a:p>
          <a:p>
            <a:r>
              <a:rPr lang="en-US" sz="800" dirty="0"/>
              <a:t>Priority: Microtasks are executed immediately after the current task and before the browser renders, while </a:t>
            </a:r>
            <a:r>
              <a:rPr lang="en-US" sz="800" dirty="0" err="1"/>
              <a:t>macrotasks</a:t>
            </a:r>
            <a:r>
              <a:rPr lang="en-US" sz="800" dirty="0"/>
              <a:t> are processed one by one, allowing rendering to happen between them.</a:t>
            </a:r>
          </a:p>
          <a:p>
            <a:r>
              <a:rPr lang="en-US" sz="800" dirty="0"/>
              <a:t>Order: If a microtask adds another microtask, it is executed in the same cycle. If a </a:t>
            </a:r>
            <a:r>
              <a:rPr lang="en-US" sz="800" dirty="0" err="1"/>
              <a:t>macrotask</a:t>
            </a:r>
            <a:r>
              <a:rPr lang="en-US" sz="800" dirty="0"/>
              <a:t> adds a microtask, it is also executed before the next </a:t>
            </a:r>
            <a:r>
              <a:rPr lang="en-US" sz="800" dirty="0" err="1"/>
              <a:t>macrotask</a:t>
            </a:r>
            <a:r>
              <a:rPr lang="en-US" sz="800" dirty="0"/>
              <a:t>.</a:t>
            </a:r>
          </a:p>
          <a:p>
            <a:r>
              <a:rPr lang="en-US" sz="800" dirty="0"/>
              <a:t>Usage: Microtasks are for urgent, immediate post-processing (e.g., Promise resolutions). </a:t>
            </a:r>
            <a:r>
              <a:rPr lang="en-US" sz="800" dirty="0" err="1"/>
              <a:t>Macrotasks</a:t>
            </a:r>
            <a:r>
              <a:rPr lang="en-US" sz="800" dirty="0"/>
              <a:t> are for slower, asynchronous operations (e.g., </a:t>
            </a:r>
            <a:r>
              <a:rPr lang="en-US" sz="800" dirty="0" err="1"/>
              <a:t>setInterval</a:t>
            </a:r>
            <a:r>
              <a:rPr lang="en-US" sz="800" dirty="0"/>
              <a:t>, </a:t>
            </a:r>
            <a:r>
              <a:rPr lang="en-US" sz="800" dirty="0" err="1"/>
              <a:t>fs.readFile</a:t>
            </a:r>
            <a:r>
              <a:rPr lang="en-US" sz="800" dirty="0"/>
              <a:t> in Node.js). </a:t>
            </a:r>
          </a:p>
          <a:p>
            <a:endParaRPr lang="en-US" sz="800" dirty="0"/>
          </a:p>
          <a:p>
            <a:r>
              <a:rPr lang="en-US" sz="800" dirty="0"/>
              <a:t>Examples of Tasks</a:t>
            </a:r>
          </a:p>
          <a:p>
            <a:r>
              <a:rPr lang="en-US" sz="800" dirty="0"/>
              <a:t>    Microtasks: Promise callbacks (.then/.catch/.finally), </a:t>
            </a:r>
            <a:r>
              <a:rPr lang="en-US" sz="800" dirty="0" err="1"/>
              <a:t>queueMicrotask</a:t>
            </a:r>
            <a:r>
              <a:rPr lang="en-US" sz="800" dirty="0"/>
              <a:t>(), </a:t>
            </a:r>
            <a:r>
              <a:rPr lang="en-US" sz="800" dirty="0" err="1"/>
              <a:t>MutationObserver</a:t>
            </a:r>
            <a:r>
              <a:rPr lang="en-US" sz="800" dirty="0"/>
              <a:t>.</a:t>
            </a:r>
          </a:p>
          <a:p>
            <a:r>
              <a:rPr lang="en-US" sz="800" dirty="0"/>
              <a:t>    </a:t>
            </a:r>
            <a:r>
              <a:rPr lang="en-US" sz="800" dirty="0" err="1"/>
              <a:t>Macrotasks</a:t>
            </a:r>
            <a:r>
              <a:rPr lang="en-US" sz="800" dirty="0"/>
              <a:t>: </a:t>
            </a:r>
            <a:r>
              <a:rPr lang="en-US" sz="800" dirty="0" err="1"/>
              <a:t>setTimeout</a:t>
            </a:r>
            <a:r>
              <a:rPr lang="en-US" sz="800" dirty="0"/>
              <a:t>(), </a:t>
            </a:r>
            <a:r>
              <a:rPr lang="en-US" sz="800" dirty="0" err="1"/>
              <a:t>setInterval</a:t>
            </a:r>
            <a:r>
              <a:rPr lang="en-US" sz="800" dirty="0"/>
              <a:t>(), </a:t>
            </a:r>
            <a:r>
              <a:rPr lang="en-US" sz="800" dirty="0" err="1"/>
              <a:t>setImmediate</a:t>
            </a:r>
            <a:r>
              <a:rPr lang="en-US" sz="800" dirty="0"/>
              <a:t>() (Node.js), I/O operations, UI rendering events, </a:t>
            </a:r>
            <a:r>
              <a:rPr lang="en-US" sz="800" dirty="0" err="1"/>
              <a:t>EventHandler</a:t>
            </a:r>
            <a:r>
              <a:rPr lang="en-US" sz="800" dirty="0"/>
              <a:t> Callbacks </a:t>
            </a:r>
          </a:p>
        </p:txBody>
      </p:sp>
    </p:spTree>
    <p:extLst>
      <p:ext uri="{BB962C8B-B14F-4D97-AF65-F5344CB8AC3E}">
        <p14:creationId xmlns:p14="http://schemas.microsoft.com/office/powerpoint/2010/main" val="289291096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840575-AFF9-9F48-85E1-78753919E48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6EE3054-0459-E7D4-82AD-DE91D73158FE}"/>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D3D3E2-859B-5DBE-27A4-36B21C0E50F0}"/>
              </a:ext>
            </a:extLst>
          </p:cNvPr>
          <p:cNvSpPr>
            <a:spLocks noGrp="1"/>
          </p:cNvSpPr>
          <p:nvPr>
            <p:ph type="body" idx="1"/>
          </p:nvPr>
        </p:nvSpPr>
        <p:spPr/>
        <p:txBody>
          <a:bodyPr/>
          <a:lstStyle/>
          <a:p>
            <a:r>
              <a:rPr lang="en-US" dirty="0"/>
              <a:t>&lt;read slide&gt;.  </a:t>
            </a:r>
          </a:p>
          <a:p>
            <a:r>
              <a:rPr lang="en-US" dirty="0"/>
              <a:t>- JS Engine includes a  {single} call stack that keeps track of each function that it is being executed</a:t>
            </a:r>
          </a:p>
          <a:p>
            <a:r>
              <a:rPr lang="en-US" dirty="0"/>
              <a:t>- Asynchronous (heavy) tasks are outsourced to </a:t>
            </a:r>
            <a:r>
              <a:rPr lang="en-US" dirty="0" err="1"/>
              <a:t>WebAPI</a:t>
            </a:r>
            <a:r>
              <a:rPr lang="en-US" dirty="0"/>
              <a:t>. When those are completed, they are placed in a callback queue.</a:t>
            </a:r>
          </a:p>
          <a:p>
            <a:r>
              <a:rPr lang="en-US" dirty="0"/>
              <a:t>- Event loop picks up “awaiting” {completed} tasks from queue when call stack is empty (i.e., when it is done with everything it was working on – think run to completion) and processes them in the order they were added to queue (i.e., they were completed by </a:t>
            </a:r>
            <a:r>
              <a:rPr lang="en-US" dirty="0" err="1"/>
              <a:t>WebAPI</a:t>
            </a:r>
            <a:r>
              <a:rPr lang="en-US" dirty="0"/>
              <a:t>)</a:t>
            </a:r>
          </a:p>
        </p:txBody>
      </p:sp>
    </p:spTree>
    <p:extLst>
      <p:ext uri="{BB962C8B-B14F-4D97-AF65-F5344CB8AC3E}">
        <p14:creationId xmlns:p14="http://schemas.microsoft.com/office/powerpoint/2010/main" val="398328607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 many programming languages, like Java or C, you can have asynchronous computation with threads. </a:t>
            </a:r>
          </a:p>
          <a:p>
            <a:br>
              <a:rPr lang="en-US" dirty="0"/>
            </a:br>
            <a:r>
              <a:rPr lang="en-US" dirty="0"/>
              <a:t>You might be familiar with this programming model. As it turns out, the “inter-process communication by shared memory” part is extremely hard to get right, and almost impossible to prove correct</a:t>
            </a:r>
          </a:p>
          <a:p>
            <a:endParaRPr lang="en-US" dirty="0"/>
          </a:p>
          <a:p>
            <a:r>
              <a:rPr lang="en-US" dirty="0"/>
              <a:t>This is not how JS or TS does asynchronous computation.</a:t>
            </a:r>
          </a:p>
        </p:txBody>
      </p:sp>
    </p:spTree>
    <p:extLst>
      <p:ext uri="{BB962C8B-B14F-4D97-AF65-F5344CB8AC3E}">
        <p14:creationId xmlns:p14="http://schemas.microsoft.com/office/powerpoint/2010/main" val="89200111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dirty="0">
                <a:solidFill>
                  <a:srgbClr val="008000"/>
                </a:solidFill>
                <a:effectLst/>
                <a:latin typeface="Consolas" panose="020B0609020204030204" pitchFamily="49" charset="0"/>
              </a:rPr>
              <a:t>In an interrupt-based model, it is possible that statement the print A runs *between* the print B and the print C.  Not for us!</a:t>
            </a:r>
          </a:p>
          <a:p>
            <a:endParaRPr lang="en-US" b="0" dirty="0">
              <a:solidFill>
                <a:srgbClr val="008000"/>
              </a:solidFill>
              <a:effectLst/>
              <a:latin typeface="Consolas" panose="020B0609020204030204" pitchFamily="49" charset="0"/>
            </a:endParaRPr>
          </a:p>
          <a:p>
            <a:r>
              <a:rPr lang="en-US" b="0" dirty="0">
                <a:solidFill>
                  <a:srgbClr val="008000"/>
                </a:solidFill>
                <a:effectLst/>
                <a:latin typeface="Consolas" panose="020B0609020204030204" pitchFamily="49" charset="0"/>
              </a:rPr>
              <a:t>(Don't worry about the </a:t>
            </a:r>
            <a:r>
              <a:rPr lang="en-US" b="0" dirty="0" err="1">
                <a:solidFill>
                  <a:srgbClr val="008000"/>
                </a:solidFill>
                <a:effectLst/>
                <a:latin typeface="Consolas" panose="020B0609020204030204" pitchFamily="49" charset="0"/>
              </a:rPr>
              <a:t>Promise.all</a:t>
            </a:r>
            <a:r>
              <a:rPr lang="en-US" b="0" dirty="0">
                <a:solidFill>
                  <a:srgbClr val="008000"/>
                </a:solidFill>
                <a:effectLst/>
                <a:latin typeface="Consolas" panose="020B0609020204030204" pitchFamily="49" charset="0"/>
              </a:rPr>
              <a:t>- we'll explain that soon).</a:t>
            </a:r>
          </a:p>
          <a:p>
            <a:endParaRPr lang="en-US" dirty="0"/>
          </a:p>
          <a:p>
            <a:endParaRPr lang="en-US" b="0" dirty="0">
              <a:solidFill>
                <a:srgbClr val="000000"/>
              </a:solidFill>
              <a:effectLst/>
              <a:latin typeface="Consolas" panose="020B0609020204030204" pitchFamily="49" charset="0"/>
            </a:endParaRPr>
          </a:p>
          <a:p>
            <a:br>
              <a:rPr lang="en-US" b="0" dirty="0">
                <a:solidFill>
                  <a:srgbClr val="000000"/>
                </a:solidFill>
                <a:effectLst/>
                <a:latin typeface="Consolas" panose="020B0609020204030204" pitchFamily="49" charset="0"/>
              </a:rPr>
            </a:br>
            <a:endParaRPr lang="en-US" b="0" dirty="0">
              <a:solidFill>
                <a:srgbClr val="000000"/>
              </a:solidFill>
              <a:effectLst/>
              <a:latin typeface="Consolas" panose="020B0609020204030204" pitchFamily="49" charset="0"/>
            </a:endParaRPr>
          </a:p>
          <a:p>
            <a:endParaRPr lang="en-US" dirty="0"/>
          </a:p>
          <a:p>
            <a:endParaRPr lang="en-US" dirty="0"/>
          </a:p>
        </p:txBody>
      </p:sp>
    </p:spTree>
    <p:extLst>
      <p:ext uri="{BB962C8B-B14F-4D97-AF65-F5344CB8AC3E}">
        <p14:creationId xmlns:p14="http://schemas.microsoft.com/office/powerpoint/2010/main" val="328275117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the code.  main() waits for the request to return, and then continues. </a:t>
            </a:r>
            <a:br>
              <a:rPr lang="en-US" dirty="0"/>
            </a:br>
            <a:r>
              <a:rPr lang="en-US" dirty="0"/>
              <a:t>Awaiting allows us to wait for some task to complete first before we do something else.</a:t>
            </a:r>
            <a:br>
              <a:rPr lang="en-US" dirty="0"/>
            </a:br>
            <a:endParaRPr lang="en-US" dirty="0"/>
          </a:p>
        </p:txBody>
      </p:sp>
    </p:spTree>
    <p:extLst>
      <p:ext uri="{BB962C8B-B14F-4D97-AF65-F5344CB8AC3E}">
        <p14:creationId xmlns:p14="http://schemas.microsoft.com/office/powerpoint/2010/main" val="273658800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A52DCA0-7665-BF41-EE6E-6EC73038DE5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61D169D-4441-7E4A-9074-15DCC15CF40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0D1367F-3FE0-1391-F0DB-F1E87C3DADCF}"/>
              </a:ext>
            </a:extLst>
          </p:cNvPr>
          <p:cNvSpPr>
            <a:spLocks noGrp="1"/>
          </p:cNvSpPr>
          <p:nvPr>
            <p:ph type="body" idx="1"/>
          </p:nvPr>
        </p:nvSpPr>
        <p:spPr/>
        <p:txBody>
          <a:bodyPr/>
          <a:lstStyle/>
          <a:p>
            <a:r>
              <a:rPr lang="en-US" dirty="0"/>
              <a:t>It is important to note that you can call </a:t>
            </a:r>
            <a:r>
              <a:rPr lang="en-US" dirty="0" err="1"/>
              <a:t>makeRequest</a:t>
            </a:r>
            <a:r>
              <a:rPr lang="en-US" dirty="0"/>
              <a:t> but it will be awaiting a future response. That promise was returned immediately back to the caller (whichever promise called the </a:t>
            </a:r>
            <a:r>
              <a:rPr lang="en-US" dirty="0" err="1"/>
              <a:t>makeRequest</a:t>
            </a:r>
            <a:r>
              <a:rPr lang="en-US" dirty="0"/>
              <a:t>) and that the caller’s thread continues on while </a:t>
            </a:r>
            <a:r>
              <a:rPr lang="en-US" dirty="0" err="1"/>
              <a:t>makeRequest</a:t>
            </a:r>
            <a:r>
              <a:rPr lang="en-US" dirty="0"/>
              <a:t> is waiting for a response, just as in our previous examples.</a:t>
            </a:r>
          </a:p>
        </p:txBody>
      </p:sp>
    </p:spTree>
    <p:extLst>
      <p:ext uri="{BB962C8B-B14F-4D97-AF65-F5344CB8AC3E}">
        <p14:creationId xmlns:p14="http://schemas.microsoft.com/office/powerpoint/2010/main" val="199171825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8A1E47-853D-7F3A-5697-BEEED0C6F4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B49B3B3-F8B0-18C0-79F6-DB8DBEA527C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3BDD4C1-5A1F-92E3-654F-121BEE2AB237}"/>
              </a:ext>
            </a:extLst>
          </p:cNvPr>
          <p:cNvSpPr>
            <a:spLocks noGrp="1"/>
          </p:cNvSpPr>
          <p:nvPr>
            <p:ph type="body" idx="1"/>
          </p:nvPr>
        </p:nvSpPr>
        <p:spPr/>
        <p:txBody>
          <a:bodyPr/>
          <a:lstStyle/>
          <a:p>
            <a:r>
              <a:rPr lang="en-US" dirty="0"/>
              <a:t>By contrast, here we wait for each request to return before issuing the next one.  Each </a:t>
            </a:r>
            <a:r>
              <a:rPr lang="en-US" dirty="0" err="1"/>
              <a:t>fakeRequest</a:t>
            </a:r>
            <a:r>
              <a:rPr lang="en-US" dirty="0"/>
              <a:t> takes 1000 msec, and we can see that the whole thing took 3000 msecs-- no concurrency here!</a:t>
            </a:r>
          </a:p>
        </p:txBody>
      </p:sp>
    </p:spTree>
    <p:extLst>
      <p:ext uri="{BB962C8B-B14F-4D97-AF65-F5344CB8AC3E}">
        <p14:creationId xmlns:p14="http://schemas.microsoft.com/office/powerpoint/2010/main" val="16405341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DE49A-0FA4-3826-CB42-27EEC743F68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C7F2E43-7D78-7E79-AF02-3A51EB3B14A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87F9F58-74EF-6A03-03B1-5F01E9950ED0}"/>
              </a:ext>
            </a:extLst>
          </p:cNvPr>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205014773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an example of starting several requests concurrently.  Remember that each call to </a:t>
            </a:r>
            <a:r>
              <a:rPr lang="en-US" dirty="0" err="1"/>
              <a:t>fakeRequest</a:t>
            </a:r>
            <a:r>
              <a:rPr lang="en-US" dirty="0"/>
              <a:t>() takes 1 second (1000 msecs), and here we completed 3 of them in just over 1 second.   So something in these three requests must have run concurrently.   </a:t>
            </a:r>
          </a:p>
          <a:p>
            <a:endParaRPr lang="en-US" dirty="0"/>
          </a:p>
          <a:p>
            <a:r>
              <a:rPr lang="en-US" dirty="0"/>
              <a:t>In this case, it was the timers in the three </a:t>
            </a:r>
            <a:r>
              <a:rPr lang="en-US" dirty="0" err="1"/>
              <a:t>fakeRequests</a:t>
            </a:r>
            <a:r>
              <a:rPr lang="en-US" dirty="0"/>
              <a:t> that ran concurrently.   Had this been a real request (say an http request or a database fetch), those requests would be "in-flight" concurrently.   We'll see this in more detail in a few minutes.</a:t>
            </a:r>
          </a:p>
          <a:p>
            <a:endParaRPr lang="en-US" dirty="0"/>
          </a:p>
          <a:p>
            <a:r>
              <a:rPr lang="en-US" dirty="0"/>
              <a:t>Note that if any of the promises fail, then the </a:t>
            </a:r>
            <a:r>
              <a:rPr lang="en-US" dirty="0" err="1"/>
              <a:t>Promise.all</a:t>
            </a:r>
            <a:r>
              <a:rPr lang="en-US" dirty="0"/>
              <a:t> fails (we'll talk about promise failure a little later).</a:t>
            </a:r>
          </a:p>
          <a:p>
            <a:r>
              <a:rPr lang="en-US" dirty="0"/>
              <a:t> </a:t>
            </a:r>
          </a:p>
        </p:txBody>
      </p:sp>
    </p:spTree>
    <p:extLst>
      <p:ext uri="{BB962C8B-B14F-4D97-AF65-F5344CB8AC3E}">
        <p14:creationId xmlns:p14="http://schemas.microsoft.com/office/powerpoint/2010/main" val="412098672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a:p>
            <a:endParaRPr lang="en-US" dirty="0"/>
          </a:p>
          <a:p>
            <a:r>
              <a:rPr lang="en-US" dirty="0"/>
              <a:t>In both cases, there is at most one active promise (in green) at any time!  But the concurrent version "masks latency with concurrency", as we said way back on slide 1.</a:t>
            </a:r>
          </a:p>
        </p:txBody>
      </p:sp>
    </p:spTree>
    <p:extLst>
      <p:ext uri="{BB962C8B-B14F-4D97-AF65-F5344CB8AC3E}">
        <p14:creationId xmlns:p14="http://schemas.microsoft.com/office/powerpoint/2010/main" val="50216597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88982599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just to make the output easier to read, we've simplified </a:t>
            </a:r>
            <a:r>
              <a:rPr lang="en-US" b="1" dirty="0" err="1"/>
              <a:t>makeRequest</a:t>
            </a:r>
            <a:r>
              <a:rPr lang="en-US" b="1" dirty="0"/>
              <a:t> </a:t>
            </a:r>
            <a:r>
              <a:rPr lang="en-US" b="0" dirty="0"/>
              <a:t>so that it prints out only the number of the request that was responded to.</a:t>
            </a:r>
          </a:p>
          <a:p>
            <a:endParaRPr lang="en-US" b="0" dirty="0"/>
          </a:p>
          <a:p>
            <a:r>
              <a:rPr lang="en-US" b="0" dirty="0"/>
              <a:t>Note</a:t>
            </a:r>
            <a:r>
              <a:rPr lang="en-US" dirty="0"/>
              <a:t> that the responses don't arrive in the same order that they were sent!</a:t>
            </a:r>
          </a:p>
        </p:txBody>
      </p:sp>
    </p:spTree>
    <p:extLst>
      <p:ext uri="{BB962C8B-B14F-4D97-AF65-F5344CB8AC3E}">
        <p14:creationId xmlns:p14="http://schemas.microsoft.com/office/powerpoint/2010/main" val="126216539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defTabSz="228600" eaLnBrk="1" fontAlgn="auto" latinLnBrk="0" hangingPunct="1">
              <a:lnSpc>
                <a:spcPct val="117999"/>
              </a:lnSpc>
              <a:spcBef>
                <a:spcPts val="0"/>
              </a:spcBef>
              <a:spcAft>
                <a:spcPts val="0"/>
              </a:spcAft>
              <a:buClrTx/>
              <a:buSzTx/>
              <a:buFontTx/>
              <a:buNone/>
              <a:tabLst/>
              <a:defRPr/>
            </a:pPr>
            <a:r>
              <a:rPr lang="en-US" dirty="0"/>
              <a:t>Since </a:t>
            </a:r>
            <a:r>
              <a:rPr lang="en-US" dirty="0" err="1"/>
              <a:t>MicroTask</a:t>
            </a:r>
            <a:r>
              <a:rPr lang="en-US" dirty="0"/>
              <a:t> queue has priority over microtask queue, callback for promise will get executed first before callback for timer, after </a:t>
            </a:r>
            <a:r>
              <a:rPr lang="en-US" dirty="0" err="1"/>
              <a:t>callstack</a:t>
            </a:r>
            <a:r>
              <a:rPr lang="en-US" dirty="0"/>
              <a:t> is emptied out by finishing main.</a:t>
            </a:r>
          </a:p>
        </p:txBody>
      </p:sp>
    </p:spTree>
    <p:extLst>
      <p:ext uri="{BB962C8B-B14F-4D97-AF65-F5344CB8AC3E}">
        <p14:creationId xmlns:p14="http://schemas.microsoft.com/office/powerpoint/2010/main" val="229100835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err="1"/>
              <a:t>asyncs</a:t>
            </a:r>
            <a:r>
              <a:rPr lang="en-US" dirty="0"/>
              <a:t> play nicely with try/catch.   Here we've tweaked </a:t>
            </a:r>
            <a:r>
              <a:rPr lang="en-US" dirty="0" err="1"/>
              <a:t>fakeRequest</a:t>
            </a:r>
            <a:r>
              <a:rPr lang="en-US" dirty="0"/>
              <a:t> so that it will sometimes throw an error, and here's a wrapper that recovers from those errors (by returning 0).</a:t>
            </a:r>
          </a:p>
        </p:txBody>
      </p:sp>
    </p:spTree>
    <p:extLst>
      <p:ext uri="{BB962C8B-B14F-4D97-AF65-F5344CB8AC3E}">
        <p14:creationId xmlns:p14="http://schemas.microsoft.com/office/powerpoint/2010/main" val="270030213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change the subject.  How do you test an async function? To test an async function, make the second argument to ‘</a:t>
            </a:r>
            <a:r>
              <a:rPr lang="en-US" b="1" dirty="0"/>
              <a:t>test</a:t>
            </a:r>
            <a:r>
              <a:rPr lang="en-US" dirty="0"/>
              <a:t>’ an async function.  This will make ‘</a:t>
            </a:r>
            <a:r>
              <a:rPr lang="en-US" b="1" dirty="0"/>
              <a:t>expect</a:t>
            </a:r>
            <a:r>
              <a:rPr lang="en-US" dirty="0"/>
              <a:t>’ itself an async function, so you will need to ‘await’ its result.  Calling </a:t>
            </a:r>
            <a:r>
              <a:rPr lang="en-US" b="1" dirty="0" err="1"/>
              <a:t>expect.assertions</a:t>
            </a:r>
            <a:r>
              <a:rPr lang="en-US" b="0" dirty="0"/>
              <a:t> checks to make sure that your test properly awaited the </a:t>
            </a:r>
            <a:r>
              <a:rPr lang="en-US" b="0" dirty="0" err="1"/>
              <a:t>the</a:t>
            </a:r>
            <a:r>
              <a:rPr lang="en-US" b="0" dirty="0"/>
              <a:t> result of the request.</a:t>
            </a:r>
            <a:endParaRPr lang="en-US" dirty="0"/>
          </a:p>
          <a:p>
            <a:endParaRPr lang="en-US" dirty="0"/>
          </a:p>
          <a:p>
            <a:r>
              <a:rPr lang="en-US" dirty="0"/>
              <a:t>This example is easy, since we are only sending some data to a public web site.  If we wanted to do something that might have a global effect (e.g. a transcript database), we'd have to do some mocking.   Alas, that is too much for this lecture </a:t>
            </a:r>
            <a:r>
              <a:rPr lang="en-US" dirty="0">
                <a:sym typeface="Wingdings" panose="05000000000000000000" pitchFamily="2" charset="2"/>
              </a:rPr>
              <a:t>.</a:t>
            </a:r>
            <a:r>
              <a:rPr lang="en-US" dirty="0"/>
              <a:t>  </a:t>
            </a:r>
          </a:p>
          <a:p>
            <a:endParaRPr lang="en-US" dirty="0"/>
          </a:p>
          <a:p>
            <a:r>
              <a:rPr lang="en-US" dirty="0"/>
              <a:t>Here, </a:t>
            </a:r>
            <a:r>
              <a:rPr lang="en-US" b="1" dirty="0"/>
              <a:t>echo</a:t>
            </a:r>
            <a:r>
              <a:rPr lang="en-US" dirty="0"/>
              <a:t> is an async function, so it returns a promise, which should eventually return a string (here “33”) to the async function that called it (here, the </a:t>
            </a:r>
            <a:r>
              <a:rPr lang="en-US" b="1" dirty="0"/>
              <a:t>expect</a:t>
            </a:r>
            <a:r>
              <a:rPr lang="en-US" dirty="0"/>
              <a:t>).  So here we are saying that we expect echo(33) to return a promise that will eventually resolve to “33”.</a:t>
            </a:r>
          </a:p>
          <a:p>
            <a:endParaRPr lang="en-US" dirty="0"/>
          </a:p>
          <a:p>
            <a:r>
              <a:rPr lang="en-US" dirty="0"/>
              <a:t>Note the await on the next to last line.  If you leave that out, the async function in the test will succeed immediately, without waiting for the expect to run.   The </a:t>
            </a:r>
            <a:r>
              <a:rPr lang="en-US" b="1" dirty="0" err="1"/>
              <a:t>expect.assertions</a:t>
            </a:r>
            <a:r>
              <a:rPr lang="en-US" b="1" dirty="0"/>
              <a:t> </a:t>
            </a:r>
            <a:r>
              <a:rPr lang="en-US" dirty="0"/>
              <a:t>(in blue) tells Jest that the test should run exactly 1 test, so that will make the test fail if you leave out the </a:t>
            </a:r>
            <a:r>
              <a:rPr lang="en-US" b="1" dirty="0"/>
              <a:t>await</a:t>
            </a:r>
            <a:r>
              <a:rPr lang="en-US" dirty="0"/>
              <a:t>.</a:t>
            </a:r>
          </a:p>
        </p:txBody>
      </p:sp>
    </p:spTree>
    <p:extLst>
      <p:ext uri="{BB962C8B-B14F-4D97-AF65-F5344CB8AC3E}">
        <p14:creationId xmlns:p14="http://schemas.microsoft.com/office/powerpoint/2010/main" val="38704925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will occasionally see code written in this style. The main request is a microtask; the .then() blocks become microtasks.  The "return" in a microtask is also a pause point; if you have more than one microtask on the queue, they can switch </a:t>
            </a:r>
          </a:p>
        </p:txBody>
      </p:sp>
    </p:spTree>
    <p:extLst>
      <p:ext uri="{BB962C8B-B14F-4D97-AF65-F5344CB8AC3E}">
        <p14:creationId xmlns:p14="http://schemas.microsoft.com/office/powerpoint/2010/main" val="109699882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Promises enforce the order of operations only through the .then. The code in the ‘then’ won’t run until the promise is resolved.  Note that every .then() is a choice point, allowing the runtime to switch to some other task.</a:t>
            </a:r>
          </a:p>
          <a:p>
            <a:br>
              <a:rPr lang="en-US" dirty="0"/>
            </a:br>
            <a:r>
              <a:rPr lang="en-US" dirty="0"/>
              <a:t>(build through example, explaining the possible orders of results. Point out that we should never depend on the order of results we hear back form google/</a:t>
            </a:r>
            <a:r>
              <a:rPr lang="en-US" dirty="0" err="1"/>
              <a:t>facebook</a:t>
            </a:r>
            <a:r>
              <a:rPr lang="en-US" dirty="0"/>
              <a:t>/</a:t>
            </a:r>
            <a:r>
              <a:rPr lang="en-US" dirty="0" err="1"/>
              <a:t>coveytown</a:t>
            </a:r>
            <a:r>
              <a:rPr lang="en-US" dirty="0"/>
              <a:t> because it is non-deterministic. You might happen to see 9/10 times one ordering, but there is no guarantee)</a:t>
            </a:r>
          </a:p>
        </p:txBody>
      </p:sp>
    </p:spTree>
    <p:extLst>
      <p:ext uri="{BB962C8B-B14F-4D97-AF65-F5344CB8AC3E}">
        <p14:creationId xmlns:p14="http://schemas.microsoft.com/office/powerpoint/2010/main" val="93929185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We've already seen non-deterministic behavior reflected in our console logs.  But that kind of behavior can easily become visible to our program.  All you need is some shared state across your promises. The activity explores this topic in more depth.</a:t>
            </a:r>
          </a:p>
          <a:p>
            <a:endParaRPr lang="en-US" dirty="0"/>
          </a:p>
          <a:p>
            <a:endParaRPr lang="en-US" dirty="0"/>
          </a:p>
        </p:txBody>
      </p:sp>
    </p:spTree>
    <p:extLst>
      <p:ext uri="{BB962C8B-B14F-4D97-AF65-F5344CB8AC3E}">
        <p14:creationId xmlns:p14="http://schemas.microsoft.com/office/powerpoint/2010/main" val="3094308994"/>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&lt;read slide&gt;</a:t>
            </a:r>
          </a:p>
        </p:txBody>
      </p:sp>
      <p:sp>
        <p:nvSpPr>
          <p:cNvPr id="4" name="Slide Number Placeholder 3"/>
          <p:cNvSpPr>
            <a:spLocks noGrp="1"/>
          </p:cNvSpPr>
          <p:nvPr>
            <p:ph type="sldNum" sz="quarter" idx="5"/>
          </p:nvPr>
        </p:nvSpPr>
        <p:spPr/>
        <p:txBody>
          <a:bodyPr/>
          <a:lstStyle/>
          <a:p>
            <a:fld id="{07937F07-1250-4CCE-B198-1B2887014F41}" type="slidenum">
              <a:rPr lang="en-US" smtClean="0"/>
              <a:t>37</a:t>
            </a:fld>
            <a:endParaRPr lang="en-US"/>
          </a:p>
        </p:txBody>
      </p:sp>
    </p:spTree>
    <p:extLst>
      <p:ext uri="{BB962C8B-B14F-4D97-AF65-F5344CB8AC3E}">
        <p14:creationId xmlns:p14="http://schemas.microsoft.com/office/powerpoint/2010/main" val="337221525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1F7219-6BA5-47F5-B7F1-6B0D754E2DE9}"/>
              </a:ext>
            </a:extLst>
          </p:cNvPr>
          <p:cNvSpPr>
            <a:spLocks noGrp="1"/>
          </p:cNvSpPr>
          <p:nvPr>
            <p:ph type="ctrTitle"/>
          </p:nvPr>
        </p:nvSpPr>
        <p:spPr>
          <a:xfrm>
            <a:off x="539260" y="665163"/>
            <a:ext cx="10814539" cy="2387600"/>
          </a:xfrm>
        </p:spPr>
        <p:txBody>
          <a:bodyPr anchor="b">
            <a:normAutofit/>
          </a:bodyPr>
          <a:lstStyle>
            <a:lvl1pPr algn="l">
              <a:defRPr sz="3200"/>
            </a:lvl1pPr>
          </a:lstStyle>
          <a:p>
            <a:r>
              <a:rPr lang="en-US" dirty="0"/>
              <a:t>Click to edit Master title style</a:t>
            </a:r>
          </a:p>
        </p:txBody>
      </p:sp>
      <p:sp>
        <p:nvSpPr>
          <p:cNvPr id="3" name="Subtitle 2">
            <a:extLst>
              <a:ext uri="{FF2B5EF4-FFF2-40B4-BE49-F238E27FC236}">
                <a16:creationId xmlns:a16="http://schemas.microsoft.com/office/drawing/2014/main" id="{A5556012-95F5-425E-AD5B-78B7ACF1EC88}"/>
              </a:ext>
            </a:extLst>
          </p:cNvPr>
          <p:cNvSpPr>
            <a:spLocks noGrp="1"/>
          </p:cNvSpPr>
          <p:nvPr>
            <p:ph type="subTitle" idx="1"/>
          </p:nvPr>
        </p:nvSpPr>
        <p:spPr>
          <a:xfrm>
            <a:off x="539260" y="3237828"/>
            <a:ext cx="10128740" cy="1655762"/>
          </a:xfrm>
        </p:spPr>
        <p:txBody>
          <a:bodyPr>
            <a:normAutofit/>
          </a:bodyPr>
          <a:lstStyle>
            <a:lvl1pPr marL="0" indent="0" algn="l">
              <a:buNone/>
              <a:defRPr sz="2800">
                <a:latin typeface="Verdana" panose="020B0604030504040204" pitchFamily="34" charset="0"/>
                <a:ea typeface="Verdana" panose="020B0604030504040204" pitchFamily="34" charset="0"/>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Click to edit Master subtitle style</a:t>
            </a:r>
          </a:p>
        </p:txBody>
      </p:sp>
      <p:sp>
        <p:nvSpPr>
          <p:cNvPr id="4" name="Date Placeholder 3">
            <a:extLst>
              <a:ext uri="{FF2B5EF4-FFF2-40B4-BE49-F238E27FC236}">
                <a16:creationId xmlns:a16="http://schemas.microsoft.com/office/drawing/2014/main" id="{C43B56B6-995F-4046-9C61-053D0E276BA3}"/>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5D2A64DE-480B-420F-9649-4F8E696E08E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6E05E065-1B81-411E-9A3E-A77A78A3AF43}"/>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30CF6926-26F3-46DC-9948-0AFC9748AF7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FB7E862F-A43D-4114-BCB5-88FBB072B5E3}"/>
              </a:ext>
            </a:extLst>
          </p:cNvPr>
          <p:cNvCxnSpPr/>
          <p:nvPr userDrawn="1"/>
        </p:nvCxnSpPr>
        <p:spPr>
          <a:xfrm>
            <a:off x="539260" y="3055777"/>
            <a:ext cx="10814539"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8741313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38200" y="1500160"/>
            <a:ext cx="7887346" cy="4351338"/>
          </a:xfrm>
        </p:spPr>
        <p:txBody>
          <a:bodyPr/>
          <a:lstStyle>
            <a:lvl1pPr>
              <a:defRPr sz="2400"/>
            </a:lvl1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8483600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type="obj" preserve="1">
  <p:cSld name="Code and Commentar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AC750D-385B-4340-80D6-9B052AFB3AD3}"/>
              </a:ext>
            </a:extLst>
          </p:cNvPr>
          <p:cNvSpPr>
            <a:spLocks noGrp="1"/>
          </p:cNvSpPr>
          <p:nvPr>
            <p:ph type="title"/>
          </p:nvPr>
        </p:nvSpPr>
        <p:spPr>
          <a:xfrm>
            <a:off x="838200" y="18255"/>
            <a:ext cx="10515600" cy="1325563"/>
          </a:xfrm>
        </p:spPr>
        <p:txBody>
          <a:bodyPr anchor="b">
            <a:normAutofit/>
          </a:bodyPr>
          <a:lstStyle>
            <a:lvl1pPr>
              <a:defRPr sz="3600"/>
            </a:lvl1pPr>
          </a:lstStyle>
          <a:p>
            <a:r>
              <a:rPr lang="en-US" dirty="0"/>
              <a:t>Click to edit Master title style</a:t>
            </a:r>
          </a:p>
        </p:txBody>
      </p:sp>
      <p:sp>
        <p:nvSpPr>
          <p:cNvPr id="3" name="Content Placeholder 2">
            <a:extLst>
              <a:ext uri="{FF2B5EF4-FFF2-40B4-BE49-F238E27FC236}">
                <a16:creationId xmlns:a16="http://schemas.microsoft.com/office/drawing/2014/main" id="{23A752EB-722E-4ED5-8E4A-83E134B1F613}"/>
              </a:ext>
            </a:extLst>
          </p:cNvPr>
          <p:cNvSpPr>
            <a:spLocks noGrp="1"/>
          </p:cNvSpPr>
          <p:nvPr>
            <p:ph idx="1"/>
          </p:nvPr>
        </p:nvSpPr>
        <p:spPr>
          <a:xfrm>
            <a:off x="8246272" y="1631794"/>
            <a:ext cx="3107528"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DB738D97-33FE-455F-99C1-5F94F8FEAE49}"/>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7C7BFD4-467E-4EDE-93EA-052F5B39A4E5}"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0F871F14-9B49-4770-95DB-8F666E2A37DA}"/>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FB9E3BF3-5975-4AB7-B4BC-3D06649949E2}"/>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330E7402-9AD9-47A7-9A7C-9E2D251980C6}"/>
              </a:ext>
            </a:extLst>
          </p:cNvPr>
          <p:cNvCxnSpPr/>
          <p:nvPr userDrawn="1"/>
        </p:nvCxnSpPr>
        <p:spPr>
          <a:xfrm>
            <a:off x="838200" y="142905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0559069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2D29689-97C8-4C74-9DA9-41C0380CB9AE}"/>
              </a:ext>
            </a:extLst>
          </p:cNvPr>
          <p:cNvSpPr>
            <a:spLocks noGrp="1"/>
          </p:cNvSpPr>
          <p:nvPr>
            <p:ph type="title"/>
          </p:nvPr>
        </p:nvSpPr>
        <p:spPr>
          <a:xfrm>
            <a:off x="838200" y="0"/>
            <a:ext cx="10515600" cy="1325563"/>
          </a:xfrm>
        </p:spPr>
        <p:txBody>
          <a:bodyPr anchor="b">
            <a:normAutofit/>
          </a:bodyPr>
          <a:lstStyle>
            <a:lvl1pPr>
              <a:defRPr sz="3600"/>
            </a:lvl1pPr>
          </a:lstStyle>
          <a:p>
            <a:r>
              <a:rPr lang="en-US" dirty="0"/>
              <a:t>Click to edit Master title style</a:t>
            </a:r>
          </a:p>
        </p:txBody>
      </p:sp>
      <p:sp>
        <p:nvSpPr>
          <p:cNvPr id="3" name="Date Placeholder 2">
            <a:extLst>
              <a:ext uri="{FF2B5EF4-FFF2-40B4-BE49-F238E27FC236}">
                <a16:creationId xmlns:a16="http://schemas.microsoft.com/office/drawing/2014/main" id="{3C79868A-EEF3-4A9B-8549-9BADCF283326}"/>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109E55A0-C911-4F03-82FC-7E5926047D46}"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Footer Placeholder 3">
            <a:extLst>
              <a:ext uri="{FF2B5EF4-FFF2-40B4-BE49-F238E27FC236}">
                <a16:creationId xmlns:a16="http://schemas.microsoft.com/office/drawing/2014/main" id="{761E0DFD-410D-4C41-9994-4C58047D5E9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Slide Number Placeholder 4">
            <a:extLst>
              <a:ext uri="{FF2B5EF4-FFF2-40B4-BE49-F238E27FC236}">
                <a16:creationId xmlns:a16="http://schemas.microsoft.com/office/drawing/2014/main" id="{9F70F3D0-5AE9-4747-A0A6-354F0667F65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7" name="Straight Connector 6">
            <a:extLst>
              <a:ext uri="{FF2B5EF4-FFF2-40B4-BE49-F238E27FC236}">
                <a16:creationId xmlns:a16="http://schemas.microsoft.com/office/drawing/2014/main" id="{D110EEB6-6E3B-42EF-B771-796D5DACD6D4}"/>
              </a:ext>
            </a:extLst>
          </p:cNvPr>
          <p:cNvCxnSpPr/>
          <p:nvPr userDrawn="1"/>
        </p:nvCxnSpPr>
        <p:spPr>
          <a:xfrm>
            <a:off x="838200" y="1325563"/>
            <a:ext cx="10515600" cy="0"/>
          </a:xfrm>
          <a:prstGeom prst="line">
            <a:avLst/>
          </a:prstGeom>
        </p:spPr>
        <p:style>
          <a:lnRef idx="1">
            <a:schemeClr val="accent1"/>
          </a:lnRef>
          <a:fillRef idx="0">
            <a:schemeClr val="accent1"/>
          </a:fillRef>
          <a:effectRef idx="0">
            <a:schemeClr val="accent1"/>
          </a:effectRef>
          <a:fontRef idx="minor">
            <a:schemeClr val="tx1"/>
          </a:fontRef>
        </p:style>
      </p:cxnSp>
      <p:sp>
        <p:nvSpPr>
          <p:cNvPr id="6" name="Rectangle 5">
            <a:extLst>
              <a:ext uri="{FF2B5EF4-FFF2-40B4-BE49-F238E27FC236}">
                <a16:creationId xmlns:a16="http://schemas.microsoft.com/office/drawing/2014/main" id="{6468C0E0-9C51-615A-73CA-582AF03B6E24}"/>
              </a:ext>
            </a:extLst>
          </p:cNvPr>
          <p:cNvSpPr/>
          <p:nvPr userDrawn="1"/>
        </p:nvSpPr>
        <p:spPr>
          <a:xfrm>
            <a:off x="960120" y="1581912"/>
            <a:ext cx="10515600" cy="4636002"/>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168475990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40E102D-7499-4BDC-8BA2-825474D95747}"/>
              </a:ext>
            </a:extLst>
          </p:cNvPr>
          <p:cNvSpPr>
            <a:spLocks noGrp="1"/>
          </p:cNvSpPr>
          <p:nvPr>
            <p:ph type="title"/>
          </p:nvPr>
        </p:nvSpPr>
        <p:spPr>
          <a:xfrm>
            <a:off x="831850" y="1709738"/>
            <a:ext cx="10515600" cy="2852737"/>
          </a:xfrm>
        </p:spPr>
        <p:txBody>
          <a:bodyPr anchor="b">
            <a:normAutofit/>
          </a:bodyPr>
          <a:lstStyle>
            <a:lvl1pPr>
              <a:defRPr sz="4400"/>
            </a:lvl1pPr>
          </a:lstStyle>
          <a:p>
            <a:r>
              <a:rPr lang="en-US" dirty="0"/>
              <a:t>Click to edit Master title style</a:t>
            </a:r>
          </a:p>
        </p:txBody>
      </p:sp>
      <p:sp>
        <p:nvSpPr>
          <p:cNvPr id="3" name="Text Placeholder 2">
            <a:extLst>
              <a:ext uri="{FF2B5EF4-FFF2-40B4-BE49-F238E27FC236}">
                <a16:creationId xmlns:a16="http://schemas.microsoft.com/office/drawing/2014/main" id="{84B50BCC-FEA6-4C8B-92DD-12ECC6BE1D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F3476A10-0098-476E-99F2-6C7151D25FAF}"/>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A533CBE2-D5BE-47AC-ADC2-9CDFC1D0CF90}"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7E629B59-28A4-457E-A9FE-D43E630E98B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809126F7-7826-4EEA-BCF7-F8DB1CCCD1E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8" name="Straight Connector 7">
            <a:extLst>
              <a:ext uri="{FF2B5EF4-FFF2-40B4-BE49-F238E27FC236}">
                <a16:creationId xmlns:a16="http://schemas.microsoft.com/office/drawing/2014/main" id="{04FB97FE-BFE6-42A0-A36F-BB63DB3E7E5E}"/>
              </a:ext>
            </a:extLst>
          </p:cNvPr>
          <p:cNvCxnSpPr/>
          <p:nvPr userDrawn="1"/>
        </p:nvCxnSpPr>
        <p:spPr>
          <a:xfrm>
            <a:off x="831850" y="4562475"/>
            <a:ext cx="1052195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6099342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86AF8A4-82FA-4F62-BD67-4673378FCE4B}"/>
              </a:ext>
            </a:extLst>
          </p:cNvPr>
          <p:cNvSpPr>
            <a:spLocks noGrp="1"/>
          </p:cNvSpPr>
          <p:nvPr>
            <p:ph type="title"/>
          </p:nvPr>
        </p:nvSpPr>
        <p:spPr/>
        <p:txBody>
          <a:bodyPr anchor="b"/>
          <a:lstStyle/>
          <a:p>
            <a:r>
              <a:rPr lang="en-US" dirty="0"/>
              <a:t>Click to edit Master title style</a:t>
            </a:r>
          </a:p>
        </p:txBody>
      </p:sp>
      <p:sp>
        <p:nvSpPr>
          <p:cNvPr id="3" name="Content Placeholder 2">
            <a:extLst>
              <a:ext uri="{FF2B5EF4-FFF2-40B4-BE49-F238E27FC236}">
                <a16:creationId xmlns:a16="http://schemas.microsoft.com/office/drawing/2014/main" id="{C4D60252-C68E-46D7-AAA5-ABB7CE5E34AC}"/>
              </a:ext>
            </a:extLst>
          </p:cNvPr>
          <p:cNvSpPr>
            <a:spLocks noGrp="1"/>
          </p:cNvSpPr>
          <p:nvPr>
            <p:ph sz="half" idx="1"/>
          </p:nvPr>
        </p:nvSpPr>
        <p:spPr>
          <a:xfrm>
            <a:off x="838200" y="1825625"/>
            <a:ext cx="5181600" cy="4351338"/>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a:extLst>
              <a:ext uri="{FF2B5EF4-FFF2-40B4-BE49-F238E27FC236}">
                <a16:creationId xmlns:a16="http://schemas.microsoft.com/office/drawing/2014/main" id="{E6A52B70-F8CF-48C4-AE1C-C9CF7101D08C}"/>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F2E002AF-9677-413A-B99A-8C8BE9559F5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9B7EDB1-CE74-4951-85A2-0B01C2128E2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75BD4DCA-3AF1-43DA-9E55-2BF67A618AAF}"/>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B163AD69-C005-4694-9D91-F1A980961CC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cxnSp>
        <p:nvCxnSpPr>
          <p:cNvPr id="9" name="Straight Connector 8">
            <a:extLst>
              <a:ext uri="{FF2B5EF4-FFF2-40B4-BE49-F238E27FC236}">
                <a16:creationId xmlns:a16="http://schemas.microsoft.com/office/drawing/2014/main" id="{4505F67E-03A6-4630-A98D-6CACA3FBDDEF}"/>
              </a:ext>
            </a:extLst>
          </p:cNvPr>
          <p:cNvCxnSpPr/>
          <p:nvPr userDrawn="1"/>
        </p:nvCxnSpPr>
        <p:spPr>
          <a:xfrm>
            <a:off x="838200" y="1690688"/>
            <a:ext cx="10515600" cy="0"/>
          </a:xfrm>
          <a:prstGeom prst="line">
            <a:avLst/>
          </a:prstGeom>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9139140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88A34C9-6E2F-41F7-9D31-6E37FA5B47F9}"/>
              </a:ext>
            </a:extLst>
          </p:cNvPr>
          <p:cNvSpPr>
            <a:spLocks noGrp="1"/>
          </p:cNvSpPr>
          <p:nvPr>
            <p:ph type="title"/>
          </p:nvPr>
        </p:nvSpPr>
        <p:spPr>
          <a:xfrm>
            <a:off x="839788" y="365125"/>
            <a:ext cx="10515600" cy="1325563"/>
          </a:xfrm>
        </p:spPr>
        <p:txBody>
          <a:bodyPr anchor="b"/>
          <a:lstStyle/>
          <a:p>
            <a:r>
              <a:rPr lang="en-US" dirty="0"/>
              <a:t>Click to edit Master title style</a:t>
            </a:r>
          </a:p>
        </p:txBody>
      </p:sp>
      <p:sp>
        <p:nvSpPr>
          <p:cNvPr id="3" name="Text Placeholder 2">
            <a:extLst>
              <a:ext uri="{FF2B5EF4-FFF2-40B4-BE49-F238E27FC236}">
                <a16:creationId xmlns:a16="http://schemas.microsoft.com/office/drawing/2014/main" id="{B9BFBC22-43A4-440D-AAD7-465FAB57BE1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A8BEFE43-C4CC-4FF0-B176-0C879EF27A7C}"/>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8920B2B-FD99-4575-BC29-4A9B8A50BB30}"/>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67A5329-47DA-4A08-8E7B-D898E11B7C3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0A08467-E7C4-4D3F-99C5-6D3AC3B22260}"/>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C7EB92-A5C2-4807-A9DC-9EDE6CBFB24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Footer Placeholder 7">
            <a:extLst>
              <a:ext uri="{FF2B5EF4-FFF2-40B4-BE49-F238E27FC236}">
                <a16:creationId xmlns:a16="http://schemas.microsoft.com/office/drawing/2014/main" id="{5AA2D386-C960-49F4-8E0B-5A602B213377}"/>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9" name="Slide Number Placeholder 8">
            <a:extLst>
              <a:ext uri="{FF2B5EF4-FFF2-40B4-BE49-F238E27FC236}">
                <a16:creationId xmlns:a16="http://schemas.microsoft.com/office/drawing/2014/main" id="{95B938FD-9718-4972-A4A8-237B1A211C4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9738007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1E7A444-7D99-4911-9642-3917FA60A00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2B7B7EE0-7771-4CD5-9B2B-3550753A54A1}"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3" name="Footer Placeholder 2">
            <a:extLst>
              <a:ext uri="{FF2B5EF4-FFF2-40B4-BE49-F238E27FC236}">
                <a16:creationId xmlns:a16="http://schemas.microsoft.com/office/drawing/2014/main" id="{A3F82BF4-8CCE-40F5-87BF-30A8215B5E2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4" name="Slide Number Placeholder 3">
            <a:extLst>
              <a:ext uri="{FF2B5EF4-FFF2-40B4-BE49-F238E27FC236}">
                <a16:creationId xmlns:a16="http://schemas.microsoft.com/office/drawing/2014/main" id="{76281BF9-93A3-4F18-ADE7-E0E4F974DBE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7493258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F55BC0-2C78-4530-B512-097E3FFC8238}"/>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1978D3CA-F128-4EAA-A043-41667828A99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BBAEE186-B06D-4105-84EF-95DBBCFDA4B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1086144-00CA-4143-8DA2-416236D78A82}"/>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F8B318B3-0E87-4416-A9B8-D891968C2727}"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E338B172-43F1-4139-BF32-2DEDF2781DF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173CB3DF-517A-4E87-8D32-82F85C3985F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44139967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6D2A09-5B90-4641-93CD-8F57AD557046}"/>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B31350F3-B3CE-4CFF-8DA5-52A7B3D17D17}"/>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626664C-6D02-4CF4-9578-EE17046F176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9029906-37E8-4C3E-9239-E2780C69472A}"/>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EA476A42-A091-4468-A075-64A31BE5994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Footer Placeholder 5">
            <a:extLst>
              <a:ext uri="{FF2B5EF4-FFF2-40B4-BE49-F238E27FC236}">
                <a16:creationId xmlns:a16="http://schemas.microsoft.com/office/drawing/2014/main" id="{B4F4D540-F8F7-41A2-9AF8-CA9DC3673354}"/>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Slide Number Placeholder 6">
            <a:extLst>
              <a:ext uri="{FF2B5EF4-FFF2-40B4-BE49-F238E27FC236}">
                <a16:creationId xmlns:a16="http://schemas.microsoft.com/office/drawing/2014/main" id="{DC0D207D-A9AE-4993-85BC-0A490AE0C78B}"/>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82607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05C82A-A252-4658-90F3-CD841E69172C}"/>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F756BDDE-3FD4-4076-B384-750403C8720C}"/>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EB16770-ADA8-4EC3-8F93-CD06C87E7EC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0D3616D0-8311-4107-9726-6B805E7D05BA}"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956A9407-A07E-4CD6-8B79-2C5C32D324B0}"/>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46AD9943-4565-4756-87D7-A459B5D658D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12198863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6161F6-0B3C-4567-ADE2-6CD20FC7B0DB}"/>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07F20CE-3E28-49C5-A941-80470819E0E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91665335-11AE-43FA-B4FF-7C5C91A9C094}"/>
              </a:ext>
            </a:extLst>
          </p:cNvPr>
          <p:cNvSpPr>
            <a:spLocks noGrp="1"/>
          </p:cNvSpPr>
          <p:nvPr>
            <p:ph type="dt" sz="half" idx="10"/>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fld id="{3BC2557A-5C88-417A-A763-5AC779462A5F}"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A3CDB1C4-4B7A-48D9-8638-70DF828BEB76}"/>
              </a:ext>
            </a:extLst>
          </p:cNvPr>
          <p:cNvSpPr>
            <a:spLocks noGrp="1"/>
          </p:cNvSpPr>
          <p:nvPr>
            <p:ph type="ftr" sz="quarter" idx="11"/>
          </p:nvPr>
        </p:nvSpPr>
        <p:spPr/>
        <p: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78EDD15E-A1E1-4C0C-A962-2AD1B80CF66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15263900"/>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x" preserve="1">
  <p:cSld name="Title - Top">
    <p:spTree>
      <p:nvGrpSpPr>
        <p:cNvPr id="1" name=""/>
        <p:cNvGrpSpPr/>
        <p:nvPr/>
      </p:nvGrpSpPr>
      <p:grpSpPr>
        <a:xfrm>
          <a:off x="0" y="0"/>
          <a:ext cx="0" cy="0"/>
          <a:chOff x="0" y="0"/>
          <a:chExt cx="0" cy="0"/>
        </a:xfrm>
      </p:grpSpPr>
      <p:sp>
        <p:nvSpPr>
          <p:cNvPr id="52" name="Title Text"/>
          <p:cNvSpPr txBox="1">
            <a:spLocks noGrp="1"/>
          </p:cNvSpPr>
          <p:nvPr>
            <p:ph type="title"/>
          </p:nvPr>
        </p:nvSpPr>
        <p:spPr>
          <a:prstGeom prst="rect">
            <a:avLst/>
          </a:prstGeom>
        </p:spPr>
        <p:txBody>
          <a:bodyPr/>
          <a:lstStyle>
            <a:lvl1pPr>
              <a:defRPr baseline="0">
                <a:solidFill>
                  <a:schemeClr val="accent2"/>
                </a:solidFill>
              </a:defRPr>
            </a:lvl1pPr>
          </a:lstStyle>
          <a:p>
            <a:r>
              <a:rPr dirty="0"/>
              <a:t>Title Text</a:t>
            </a:r>
          </a:p>
        </p:txBody>
      </p:sp>
      <p:sp>
        <p:nvSpPr>
          <p:cNvPr id="53"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080009"/>
      </p:ext>
    </p:extLst>
  </p:cSld>
  <p:clrMapOvr>
    <a:masterClrMapping/>
  </p:clrMapOvr>
  <p:transition spd="med"/>
</p:sldLayout>
</file>

<file path=ppt/slideLayouts/slideLayout14.xml><?xml version="1.0" encoding="utf-8"?>
<p:sldLayout xmlns:a="http://schemas.openxmlformats.org/drawingml/2006/main" xmlns:r="http://schemas.openxmlformats.org/officeDocument/2006/relationships" xmlns:p="http://schemas.openxmlformats.org/presentationml/2006/main" type="tx" preserve="1">
  <p:cSld name="Title &amp; Bullets">
    <p:spTree>
      <p:nvGrpSpPr>
        <p:cNvPr id="1" name=""/>
        <p:cNvGrpSpPr/>
        <p:nvPr/>
      </p:nvGrpSpPr>
      <p:grpSpPr>
        <a:xfrm>
          <a:off x="0" y="0"/>
          <a:ext cx="0" cy="0"/>
          <a:chOff x="0" y="0"/>
          <a:chExt cx="0" cy="0"/>
        </a:xfrm>
      </p:grpSpPr>
      <p:sp>
        <p:nvSpPr>
          <p:cNvPr id="60" name="Title Text"/>
          <p:cNvSpPr txBox="1">
            <a:spLocks noGrp="1"/>
          </p:cNvSpPr>
          <p:nvPr>
            <p:ph type="title"/>
          </p:nvPr>
        </p:nvSpPr>
        <p:spPr>
          <a:prstGeom prst="rect">
            <a:avLst/>
          </a:prstGeom>
        </p:spPr>
        <p:txBody>
          <a:bodyPr/>
          <a:lstStyle>
            <a:lvl1pPr>
              <a:defRPr>
                <a:solidFill>
                  <a:schemeClr val="accent3"/>
                </a:solidFill>
              </a:defRPr>
            </a:lvl1pPr>
          </a:lstStyle>
          <a:p>
            <a:r>
              <a:rPr dirty="0"/>
              <a:t>Title Text</a:t>
            </a:r>
          </a:p>
        </p:txBody>
      </p:sp>
      <p:sp>
        <p:nvSpPr>
          <p:cNvPr id="61" name="Body Level One…"/>
          <p:cNvSpPr txBox="1">
            <a:spLocks noGrp="1"/>
          </p:cNvSpPr>
          <p:nvPr>
            <p:ph type="body" idx="1"/>
          </p:nvPr>
        </p:nvSpPr>
        <p:spPr>
          <a:xfrm>
            <a:off x="535782" y="1562695"/>
            <a:ext cx="8786527" cy="4688086"/>
          </a:xfrm>
          <a:prstGeom prst="rect">
            <a:avLst/>
          </a:prstGeom>
        </p:spPr>
        <p:txBody>
          <a:bodyPr/>
          <a:lstStyle>
            <a:lvl1pPr marL="257166" indent="-257166">
              <a:defRPr>
                <a:solidFill>
                  <a:schemeClr val="tx1"/>
                </a:solidFill>
              </a:defRPr>
            </a:lvl1pPr>
            <a:lvl2pPr marL="514332" indent="-257166">
              <a:spcBef>
                <a:spcPts val="1125"/>
              </a:spcBef>
              <a:defRPr>
                <a:solidFill>
                  <a:schemeClr val="tx1"/>
                </a:solidFill>
              </a:defRPr>
            </a:lvl2pPr>
            <a:lvl3pPr marL="707206" indent="-257166">
              <a:spcBef>
                <a:spcPts val="562"/>
              </a:spcBef>
              <a:defRPr sz="2812">
                <a:solidFill>
                  <a:schemeClr val="tx1"/>
                </a:solidFill>
              </a:defRPr>
            </a:lvl3pPr>
            <a:lvl4pPr marL="900080" indent="-257166">
              <a:spcBef>
                <a:spcPts val="0"/>
              </a:spcBef>
              <a:defRPr sz="2812">
                <a:solidFill>
                  <a:schemeClr val="tx1"/>
                </a:solidFill>
              </a:defRPr>
            </a:lvl4pPr>
            <a:lvl5pPr marL="1092955" indent="-257166">
              <a:spcBef>
                <a:spcPts val="0"/>
              </a:spcBef>
              <a:defRPr sz="2812">
                <a:solidFill>
                  <a:schemeClr val="tx1"/>
                </a:solidFill>
              </a:defRPr>
            </a:lvl5pPr>
          </a:lstStyle>
          <a:p>
            <a:r>
              <a:rPr dirty="0"/>
              <a:t>Body Level One</a:t>
            </a:r>
          </a:p>
          <a:p>
            <a:pPr lvl="1"/>
            <a:r>
              <a:rPr dirty="0"/>
              <a:t>Body Level Two</a:t>
            </a:r>
          </a:p>
          <a:p>
            <a:pPr lvl="2"/>
            <a:r>
              <a:rPr dirty="0"/>
              <a:t>Body Level Three</a:t>
            </a:r>
          </a:p>
          <a:p>
            <a:pPr lvl="3"/>
            <a:r>
              <a:rPr dirty="0"/>
              <a:t>Body Level Four</a:t>
            </a:r>
          </a:p>
          <a:p>
            <a:pPr lvl="4"/>
            <a:r>
              <a:rPr dirty="0"/>
              <a:t>Body Level Five</a:t>
            </a:r>
          </a:p>
        </p:txBody>
      </p:sp>
      <p:sp>
        <p:nvSpPr>
          <p:cNvPr id="62" name="Slide Number"/>
          <p:cNvSpPr txBox="1">
            <a:spLocks noGrp="1"/>
          </p:cNvSpPr>
          <p:nvPr>
            <p:ph type="sldNum" sz="quarter" idx="2"/>
          </p:nvPr>
        </p:nvSpPr>
        <p:spPr>
          <a:xfrm>
            <a:off x="15447360" y="6405248"/>
            <a:ext cx="278388" cy="274159"/>
          </a:xfrm>
          <a:prstGeom prst="rect">
            <a:avLst/>
          </a:prstGeom>
        </p:spPr>
        <p:txBody>
          <a:bodyPr/>
          <a:lstStyle/>
          <a:p>
            <a:pPr marL="0" marR="0" lvl="0" indent="0" algn="r" defTabSz="547695" rtl="0" eaLnBrk="1" fontAlgn="auto" latinLnBrk="0" hangingPunct="1">
              <a:lnSpc>
                <a:spcPct val="100000"/>
              </a:lnSpc>
              <a:spcBef>
                <a:spcPts val="0"/>
              </a:spcBef>
              <a:spcAft>
                <a:spcPts val="0"/>
              </a:spcAft>
              <a:buClrTx/>
              <a:buSzTx/>
              <a:buFontTx/>
              <a:buNone/>
              <a:tabLst/>
              <a:defRPr/>
            </a:pPr>
            <a:fld id="{86CB4B4D-7CA3-9044-876B-883B54F8677D}"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547695"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9086645"/>
      </p:ext>
    </p:extLst>
  </p:cSld>
  <p:clrMapOvr>
    <a:masterClrMapping/>
  </p:clrMapOvr>
  <p:transition spd="med"/>
</p:sldLayout>
</file>

<file path=ppt/slideLayouts/slideLayout15.xml><?xml version="1.0" encoding="utf-8"?>
<p:sldLayout xmlns:a="http://schemas.openxmlformats.org/drawingml/2006/main" xmlns:r="http://schemas.openxmlformats.org/officeDocument/2006/relationships" xmlns:p="http://schemas.openxmlformats.org/presentationml/2006/main" type="tx">
  <p:cSld name="1_Title &amp; Bullets">
    <p:spTree>
      <p:nvGrpSpPr>
        <p:cNvPr id="1" name=""/>
        <p:cNvGrpSpPr/>
        <p:nvPr/>
      </p:nvGrpSpPr>
      <p:grpSpPr>
        <a:xfrm>
          <a:off x="0" y="0"/>
          <a:ext cx="0" cy="0"/>
          <a:chOff x="0" y="0"/>
          <a:chExt cx="0" cy="0"/>
        </a:xfrm>
      </p:grpSpPr>
      <p:sp>
        <p:nvSpPr>
          <p:cNvPr id="42" name="Slide Title"/>
          <p:cNvSpPr txBox="1">
            <a:spLocks noGrp="1"/>
          </p:cNvSpPr>
          <p:nvPr>
            <p:ph type="title" hasCustomPrompt="1"/>
          </p:nvPr>
        </p:nvSpPr>
        <p:spPr>
          <a:prstGeom prst="rect">
            <a:avLst/>
          </a:prstGeom>
        </p:spPr>
        <p:txBody>
          <a:bodyPr/>
          <a:lstStyle/>
          <a:p>
            <a:r>
              <a:rPr dirty="0"/>
              <a:t>Slide Title</a:t>
            </a:r>
          </a:p>
        </p:txBody>
      </p:sp>
      <p:sp>
        <p:nvSpPr>
          <p:cNvPr id="43" name="Slide Subtitle"/>
          <p:cNvSpPr txBox="1">
            <a:spLocks noGrp="1"/>
          </p:cNvSpPr>
          <p:nvPr>
            <p:ph type="body" sz="quarter" idx="21" hasCustomPrompt="1"/>
          </p:nvPr>
        </p:nvSpPr>
        <p:spPr>
          <a:xfrm>
            <a:off x="600126" y="1524886"/>
            <a:ext cx="10985500" cy="467390"/>
          </a:xfrm>
          <a:prstGeom prst="rect">
            <a:avLst/>
          </a:prstGeom>
        </p:spPr>
        <p:txBody>
          <a:bodyPr lIns="45719" tIns="45719" rIns="45719" bIns="45719"/>
          <a:lstStyle>
            <a:lvl1pPr marL="0" indent="0" defTabSz="412750">
              <a:lnSpc>
                <a:spcPct val="100000"/>
              </a:lnSpc>
              <a:spcBef>
                <a:spcPts val="0"/>
              </a:spcBef>
              <a:buSzTx/>
              <a:buNone/>
              <a:defRPr sz="2750" b="0"/>
            </a:lvl1pPr>
          </a:lstStyle>
          <a:p>
            <a:r>
              <a:rPr dirty="0"/>
              <a:t>Slide Subtitle</a:t>
            </a:r>
          </a:p>
        </p:txBody>
      </p:sp>
      <p:sp>
        <p:nvSpPr>
          <p:cNvPr id="44" name="Body Level One…"/>
          <p:cNvSpPr txBox="1">
            <a:spLocks noGrp="1"/>
          </p:cNvSpPr>
          <p:nvPr>
            <p:ph type="body" idx="1" hasCustomPrompt="1"/>
          </p:nvPr>
        </p:nvSpPr>
        <p:spPr>
          <a:prstGeom prst="rect">
            <a:avLst/>
          </a:prstGeom>
        </p:spPr>
        <p:txBody>
          <a:bodyPr/>
          <a:lstStyle/>
          <a:p>
            <a:r>
              <a:t>Slide bullet text</a:t>
            </a:r>
          </a:p>
          <a:p>
            <a:pPr lvl="1"/>
            <a:endParaRPr/>
          </a:p>
          <a:p>
            <a:pPr lvl="2"/>
            <a:endParaRPr/>
          </a:p>
          <a:p>
            <a:pPr lvl="3"/>
            <a:endParaRPr/>
          </a:p>
          <a:p>
            <a:pPr lvl="4"/>
            <a:endParaRPr/>
          </a:p>
        </p:txBody>
      </p:sp>
      <p:sp>
        <p:nvSpPr>
          <p:cNvPr id="45" name="Slide Number"/>
          <p:cNvSpPr txBox="1">
            <a:spLocks noGrp="1"/>
          </p:cNvSpPr>
          <p:nvPr>
            <p:ph type="sldNum" sz="quarter" idx="2"/>
          </p:nvPr>
        </p:nvSpPr>
        <p:spPr>
          <a:prstGeom prst="rect">
            <a:avLst/>
          </a:prstGeom>
        </p:spPr>
        <p:txBody>
          <a:bodyPr/>
          <a:lstStyle/>
          <a:p>
            <a:fld id="{86CB4B4D-7CA3-9044-876B-883B54F8677D}" type="slidenum">
              <a:t>‹#›</a:t>
            </a:fld>
            <a:endParaRPr/>
          </a:p>
        </p:txBody>
      </p:sp>
    </p:spTree>
    <p:extLst>
      <p:ext uri="{BB962C8B-B14F-4D97-AF65-F5344CB8AC3E}">
        <p14:creationId xmlns:p14="http://schemas.microsoft.com/office/powerpoint/2010/main" val="3473636645"/>
      </p:ext>
    </p:extLst>
  </p:cSld>
  <p:clrMapOvr>
    <a:masterClrMapping/>
  </p:clrMapOvr>
  <p:transition spd="med"/>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theme" Target="../theme/theme1.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E406F07A-0B22-4914-812A-DBA02B47952B}"/>
              </a:ext>
            </a:extLst>
          </p:cNvPr>
          <p:cNvSpPr>
            <a:spLocks noGrp="1"/>
          </p:cNvSpPr>
          <p:nvPr>
            <p:ph type="title"/>
          </p:nvPr>
        </p:nvSpPr>
        <p:spPr>
          <a:xfrm>
            <a:off x="838200" y="365125"/>
            <a:ext cx="10515600" cy="1325563"/>
          </a:xfrm>
          <a:prstGeom prst="rect">
            <a:avLst/>
          </a:prstGeom>
        </p:spPr>
        <p:txBody>
          <a:bodyPr vert="horz" lIns="91440" tIns="45720" rIns="91440" bIns="45720" rtlCol="0" anchor="b">
            <a:normAutofit/>
          </a:bodyPr>
          <a:lstStyle/>
          <a:p>
            <a:r>
              <a:rPr lang="en-US" dirty="0"/>
              <a:t>Click to edit Master title style</a:t>
            </a:r>
          </a:p>
        </p:txBody>
      </p:sp>
      <p:sp>
        <p:nvSpPr>
          <p:cNvPr id="3" name="Text Placeholder 2">
            <a:extLst>
              <a:ext uri="{FF2B5EF4-FFF2-40B4-BE49-F238E27FC236}">
                <a16:creationId xmlns:a16="http://schemas.microsoft.com/office/drawing/2014/main" id="{892B9C33-4FFB-4197-A3C1-E6E3EB58E2C6}"/>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a:extLst>
              <a:ext uri="{FF2B5EF4-FFF2-40B4-BE49-F238E27FC236}">
                <a16:creationId xmlns:a16="http://schemas.microsoft.com/office/drawing/2014/main" id="{7335E0F7-CC95-4DF1-9224-82B2702A27B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fld id="{54D997E8-DDEE-43F1-8D9B-F8A1E11DE488}" type="datetime1">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l" defTabSz="914400" rtl="0" eaLnBrk="1" fontAlgn="auto" latinLnBrk="0" hangingPunct="1">
                <a:lnSpc>
                  <a:spcPct val="100000"/>
                </a:lnSpc>
                <a:spcBef>
                  <a:spcPts val="0"/>
                </a:spcBef>
                <a:spcAft>
                  <a:spcPts val="0"/>
                </a:spcAft>
                <a:buClrTx/>
                <a:buSzTx/>
                <a:buFontTx/>
                <a:buNone/>
                <a:tabLst/>
                <a:defRPr/>
              </a:pPr>
              <a:t>8/12/2026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Footer Placeholder 4">
            <a:extLst>
              <a:ext uri="{FF2B5EF4-FFF2-40B4-BE49-F238E27FC236}">
                <a16:creationId xmlns:a16="http://schemas.microsoft.com/office/drawing/2014/main" id="{C63761D0-ED27-4802-A5F0-EFD89884E1F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Slide Number Placeholder 5">
            <a:extLst>
              <a:ext uri="{FF2B5EF4-FFF2-40B4-BE49-F238E27FC236}">
                <a16:creationId xmlns:a16="http://schemas.microsoft.com/office/drawing/2014/main" id="{047E668E-F846-4B39-92B8-B429C92F7F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558382271"/>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Lst>
  <p:hf hdr="0" ftr="0" dt="0"/>
  <p:txStyles>
    <p:titleStyle>
      <a:lvl1pPr algn="l" defTabSz="914400" rtl="0" eaLnBrk="1" latinLnBrk="0" hangingPunct="1">
        <a:lnSpc>
          <a:spcPct val="90000"/>
        </a:lnSpc>
        <a:spcBef>
          <a:spcPct val="0"/>
        </a:spcBef>
        <a:buNone/>
        <a:defRPr sz="4400" kern="1200">
          <a:solidFill>
            <a:srgbClr val="0070C0"/>
          </a:solidFill>
          <a:latin typeface="Verdana" panose="020B0604030504040204" pitchFamily="34" charset="0"/>
          <a:ea typeface="Verdana" panose="020B0604030504040204" pitchFamily="34" charset="0"/>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https://creativecommons.org/licenses/by-sa/4.0/"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3.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3.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765BC5-92E6-4F5A-B981-1C5EE975861B}"/>
              </a:ext>
            </a:extLst>
          </p:cNvPr>
          <p:cNvSpPr>
            <a:spLocks noGrp="1"/>
          </p:cNvSpPr>
          <p:nvPr>
            <p:ph type="ctrTitle"/>
          </p:nvPr>
        </p:nvSpPr>
        <p:spPr/>
        <p:txBody>
          <a:bodyPr anchor="t">
            <a:normAutofit/>
          </a:bodyPr>
          <a:lstStyle/>
          <a:p>
            <a:r>
              <a:rPr lang="en-US" altLang="en-US" dirty="0">
                <a:sym typeface="Helvetica Neue" charset="0"/>
              </a:rPr>
              <a:t>CS 4530: Fundamentals of Software Engineering</a:t>
            </a:r>
            <a:br>
              <a:rPr lang="en-US" altLang="en-US" dirty="0">
                <a:sym typeface="Helvetica Neue" charset="0"/>
              </a:rPr>
            </a:br>
            <a:br>
              <a:rPr lang="en-US" altLang="en-US" dirty="0">
                <a:sym typeface="Helvetica Neue" charset="0"/>
              </a:rPr>
            </a:br>
            <a:r>
              <a:rPr lang="en-US" altLang="en-US" dirty="0">
                <a:sym typeface="Helvetica Neue" charset="0"/>
              </a:rPr>
              <a:t>Module 08: Concurrency Patterns in Typescript</a:t>
            </a:r>
            <a:endParaRPr lang="en-US" dirty="0"/>
          </a:p>
        </p:txBody>
      </p:sp>
      <p:sp>
        <p:nvSpPr>
          <p:cNvPr id="8" name="Subtitle 7">
            <a:extLst>
              <a:ext uri="{FF2B5EF4-FFF2-40B4-BE49-F238E27FC236}">
                <a16:creationId xmlns:a16="http://schemas.microsoft.com/office/drawing/2014/main" id="{5B356C44-32EB-4AC4-94B7-A86895491E70}"/>
              </a:ext>
            </a:extLst>
          </p:cNvPr>
          <p:cNvSpPr>
            <a:spLocks noGrp="1"/>
          </p:cNvSpPr>
          <p:nvPr>
            <p:ph type="subTitle" idx="1"/>
          </p:nvPr>
        </p:nvSpPr>
        <p:spPr/>
        <p:txBody>
          <a:bodyPr/>
          <a:lstStyle/>
          <a:p>
            <a:pPr>
              <a:lnSpc>
                <a:spcPct val="100000"/>
              </a:lnSpc>
            </a:pPr>
            <a:r>
              <a:rPr lang="en-US" sz="2400"/>
              <a:t>Adeel Bhutta  and Mitch Wand</a:t>
            </a:r>
            <a:endParaRPr lang="en-US" sz="2400" dirty="0"/>
          </a:p>
          <a:p>
            <a:pPr>
              <a:lnSpc>
                <a:spcPct val="100000"/>
              </a:lnSpc>
            </a:pPr>
            <a:r>
              <a:rPr lang="en-US" sz="2400" dirty="0"/>
              <a:t>Khoury College of Computer Sciences</a:t>
            </a:r>
          </a:p>
          <a:p>
            <a:endParaRPr lang="en-US" dirty="0"/>
          </a:p>
        </p:txBody>
      </p:sp>
      <p:sp>
        <p:nvSpPr>
          <p:cNvPr id="4" name="Slide Number Placeholder 3">
            <a:extLst>
              <a:ext uri="{FF2B5EF4-FFF2-40B4-BE49-F238E27FC236}">
                <a16:creationId xmlns:a16="http://schemas.microsoft.com/office/drawing/2014/main" id="{CECC5E2E-7170-455B-A37A-DBAC705CE98E}"/>
              </a:ext>
            </a:extLst>
          </p:cNvPr>
          <p:cNvSpPr>
            <a:spLocks noGrp="1"/>
          </p:cNvSpPr>
          <p:nvPr>
            <p:ph type="sldNum" sz="quarter" idx="12"/>
          </p:nvPr>
        </p:nvSpPr>
        <p:spPr/>
        <p:txBody>
          <a:bodyPr/>
          <a:lstStyle/>
          <a:p>
            <a:fld id="{20F37917-FD3A-4669-9018-DA04BCDD3D75}" type="slidenum">
              <a:rPr lang="en-US" smtClean="0"/>
              <a:pPr/>
              <a:t>1</a:t>
            </a:fld>
            <a:endParaRPr lang="en-US" dirty="0"/>
          </a:p>
        </p:txBody>
      </p:sp>
      <p:sp>
        <p:nvSpPr>
          <p:cNvPr id="3" name="Rectangle 2">
            <a:extLst>
              <a:ext uri="{FF2B5EF4-FFF2-40B4-BE49-F238E27FC236}">
                <a16:creationId xmlns:a16="http://schemas.microsoft.com/office/drawing/2014/main" id="{3B7BC06A-54D1-4D10-B536-9DF33B2C3997}"/>
              </a:ext>
            </a:extLst>
          </p:cNvPr>
          <p:cNvSpPr/>
          <p:nvPr/>
        </p:nvSpPr>
        <p:spPr>
          <a:xfrm>
            <a:off x="539260" y="5710019"/>
            <a:ext cx="6096000" cy="276999"/>
          </a:xfrm>
          <a:prstGeom prst="rect">
            <a:avLst/>
          </a:prstGeom>
        </p:spPr>
        <p:txBody>
          <a:bodyPr>
            <a:spAutoFit/>
          </a:bodyPr>
          <a:lstStyle/>
          <a:p>
            <a:pPr algn="l"/>
            <a:r>
              <a:rPr lang="en-US" dirty="0">
                <a:solidFill>
                  <a:srgbClr val="5C5962"/>
                </a:solidFill>
              </a:rPr>
              <a:t>© 2026 Released under the </a:t>
            </a:r>
            <a:r>
              <a:rPr lang="en-US" dirty="0">
                <a:solidFill>
                  <a:srgbClr val="D41B2C"/>
                </a:solidFill>
                <a:hlinkClick r:id="rId3"/>
              </a:rPr>
              <a:t>CC BY-SA</a:t>
            </a:r>
            <a:r>
              <a:rPr lang="en-US" dirty="0">
                <a:solidFill>
                  <a:srgbClr val="5C5962"/>
                </a:solidFill>
              </a:rPr>
              <a:t> license</a:t>
            </a:r>
            <a:endParaRPr lang="en-US" dirty="0"/>
          </a:p>
        </p:txBody>
      </p:sp>
    </p:spTree>
    <p:extLst>
      <p:ext uri="{BB962C8B-B14F-4D97-AF65-F5344CB8AC3E}">
        <p14:creationId xmlns:p14="http://schemas.microsoft.com/office/powerpoint/2010/main" val="3025610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Learning Goals for this Lesson</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p:txBody>
          <a:bodyPr>
            <a:normAutofit lnSpcReduction="10000"/>
          </a:bodyPr>
          <a:lstStyle/>
          <a:p>
            <a:r>
              <a:rPr lang="en-US" dirty="0"/>
              <a:t>At the end of this lesson, you should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2</a:t>
            </a:fld>
            <a:endParaRPr lang="en-US"/>
          </a:p>
        </p:txBody>
      </p:sp>
    </p:spTree>
    <p:extLst>
      <p:ext uri="{BB962C8B-B14F-4D97-AF65-F5344CB8AC3E}">
        <p14:creationId xmlns:p14="http://schemas.microsoft.com/office/powerpoint/2010/main" val="18316646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897389F-B6E3-33CA-1849-9E0676038AB2}"/>
              </a:ext>
            </a:extLst>
          </p:cNvPr>
          <p:cNvSpPr>
            <a:spLocks noGrp="1"/>
          </p:cNvSpPr>
          <p:nvPr>
            <p:ph type="title"/>
          </p:nvPr>
        </p:nvSpPr>
        <p:spPr/>
        <p:txBody>
          <a:bodyPr/>
          <a:lstStyle/>
          <a:p>
            <a:r>
              <a:rPr lang="en-US" dirty="0"/>
              <a:t>Why async matters</a:t>
            </a:r>
          </a:p>
        </p:txBody>
      </p:sp>
      <p:sp>
        <p:nvSpPr>
          <p:cNvPr id="3" name="Content Placeholder 2">
            <a:extLst>
              <a:ext uri="{FF2B5EF4-FFF2-40B4-BE49-F238E27FC236}">
                <a16:creationId xmlns:a16="http://schemas.microsoft.com/office/drawing/2014/main" id="{88070A1A-D5FB-DAA5-6568-5B1EA25A543D}"/>
              </a:ext>
            </a:extLst>
          </p:cNvPr>
          <p:cNvSpPr>
            <a:spLocks noGrp="1"/>
          </p:cNvSpPr>
          <p:nvPr>
            <p:ph idx="1"/>
          </p:nvPr>
        </p:nvSpPr>
        <p:spPr/>
        <p:txBody>
          <a:bodyPr/>
          <a:lstStyle/>
          <a:p>
            <a:r>
              <a:rPr lang="en-US" dirty="0"/>
              <a:t>Your browser probably spends 99% of its time waiting</a:t>
            </a:r>
          </a:p>
          <a:p>
            <a:pPr lvl="1"/>
            <a:r>
              <a:rPr lang="en-US" dirty="0"/>
              <a:t>for http requests to return</a:t>
            </a:r>
          </a:p>
          <a:p>
            <a:pPr lvl="1"/>
            <a:r>
              <a:rPr lang="en-US" dirty="0"/>
              <a:t>for database calls to return</a:t>
            </a:r>
          </a:p>
          <a:p>
            <a:r>
              <a:rPr lang="en-US" dirty="0"/>
              <a:t>Wouldn't it be nice if we could use that waiting time for something else?</a:t>
            </a:r>
          </a:p>
          <a:p>
            <a:pPr lvl="1"/>
            <a:r>
              <a:rPr lang="en-US" dirty="0"/>
              <a:t>maybe we have some other http request we could launch</a:t>
            </a:r>
          </a:p>
          <a:p>
            <a:pPr lvl="1"/>
            <a:r>
              <a:rPr lang="en-US" dirty="0"/>
              <a:t>maybe other things (throbbers??)</a:t>
            </a:r>
          </a:p>
        </p:txBody>
      </p:sp>
      <p:sp>
        <p:nvSpPr>
          <p:cNvPr id="4" name="Slide Number Placeholder 3">
            <a:extLst>
              <a:ext uri="{FF2B5EF4-FFF2-40B4-BE49-F238E27FC236}">
                <a16:creationId xmlns:a16="http://schemas.microsoft.com/office/drawing/2014/main" id="{D86D2662-16EA-5ECF-41AD-4C591CC22FCD}"/>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16006334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B7DD3DB5-27AA-2C60-D5C7-12889F0685C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itle 4">
            <a:extLst>
              <a:ext uri="{FF2B5EF4-FFF2-40B4-BE49-F238E27FC236}">
                <a16:creationId xmlns:a16="http://schemas.microsoft.com/office/drawing/2014/main" id="{C79F519B-B282-FFA4-D3A7-6E0C19BC95AE}"/>
              </a:ext>
            </a:extLst>
          </p:cNvPr>
          <p:cNvSpPr>
            <a:spLocks noGrp="1"/>
          </p:cNvSpPr>
          <p:nvPr>
            <p:ph type="title" idx="4294967295"/>
          </p:nvPr>
        </p:nvSpPr>
        <p:spPr>
          <a:xfrm>
            <a:off x="1616869" y="1465264"/>
            <a:ext cx="8958263" cy="3172998"/>
          </a:xfrm>
        </p:spPr>
        <p:txBody>
          <a:bodyPr>
            <a:normAutofit/>
          </a:bodyPr>
          <a:lstStyle/>
          <a:p>
            <a:r>
              <a:rPr lang="en-US" sz="3600" dirty="0"/>
              <a:t>Typescript/</a:t>
            </a:r>
            <a:r>
              <a:rPr lang="en-US" sz="3600" dirty="0" err="1"/>
              <a:t>Javascript</a:t>
            </a:r>
            <a:r>
              <a:rPr lang="en-US" sz="3600" dirty="0"/>
              <a:t> achieves this goal using two techniques:</a:t>
            </a:r>
            <a:br>
              <a:rPr lang="en-US" sz="3600" dirty="0"/>
            </a:br>
            <a:r>
              <a:rPr lang="en-US" sz="3600" dirty="0"/>
              <a:t> </a:t>
            </a:r>
            <a:br>
              <a:rPr lang="en-US" sz="3600" dirty="0"/>
            </a:br>
            <a:r>
              <a:rPr lang="en-US" sz="3600" dirty="0"/>
              <a:t>1. non-blocking IO</a:t>
            </a:r>
            <a:br>
              <a:rPr lang="en-US" sz="3600" dirty="0"/>
            </a:br>
            <a:r>
              <a:rPr lang="en-US" sz="3600" dirty="0"/>
              <a:t> </a:t>
            </a:r>
            <a:br>
              <a:rPr lang="en-US" sz="3600" dirty="0"/>
            </a:br>
            <a:r>
              <a:rPr lang="en-US" sz="3600" dirty="0"/>
              <a:t>2. cooperative multiprocessing </a:t>
            </a:r>
          </a:p>
        </p:txBody>
      </p:sp>
    </p:spTree>
    <p:extLst>
      <p:ext uri="{BB962C8B-B14F-4D97-AF65-F5344CB8AC3E}">
        <p14:creationId xmlns:p14="http://schemas.microsoft.com/office/powerpoint/2010/main" val="291200123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92E42E-98F1-D6B5-BC7F-F9F426BC7C5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D31D3CA-B00D-7729-640E-7EAB79EC87B5}"/>
              </a:ext>
            </a:extLst>
          </p:cNvPr>
          <p:cNvSpPr>
            <a:spLocks noGrp="1"/>
          </p:cNvSpPr>
          <p:nvPr>
            <p:ph type="title"/>
          </p:nvPr>
        </p:nvSpPr>
        <p:spPr/>
        <p:txBody>
          <a:bodyPr/>
          <a:lstStyle/>
          <a:p>
            <a:r>
              <a:rPr lang="en-US" dirty="0"/>
              <a:t>Part 1: JS/TS in your browser has some primitives for doing non-blocking I/O</a:t>
            </a:r>
          </a:p>
        </p:txBody>
      </p:sp>
      <p:sp>
        <p:nvSpPr>
          <p:cNvPr id="3" name="Content Placeholder 2">
            <a:extLst>
              <a:ext uri="{FF2B5EF4-FFF2-40B4-BE49-F238E27FC236}">
                <a16:creationId xmlns:a16="http://schemas.microsoft.com/office/drawing/2014/main" id="{0CC90B46-1060-0F7A-5662-894A63ED3115}"/>
              </a:ext>
            </a:extLst>
          </p:cNvPr>
          <p:cNvSpPr>
            <a:spLocks noGrp="1"/>
          </p:cNvSpPr>
          <p:nvPr>
            <p:ph idx="1"/>
          </p:nvPr>
        </p:nvSpPr>
        <p:spPr>
          <a:xfrm>
            <a:off x="838200" y="1500160"/>
            <a:ext cx="7977810" cy="4403683"/>
          </a:xfrm>
        </p:spPr>
        <p:txBody>
          <a:bodyPr>
            <a:noAutofit/>
          </a:bodyPr>
          <a:lstStyle/>
          <a:p>
            <a:pPr>
              <a:lnSpc>
                <a:spcPct val="100000"/>
              </a:lnSpc>
            </a:pPr>
            <a:r>
              <a:rPr lang="en-US" sz="1800" dirty="0"/>
              <a:t>This is called the "Web API"</a:t>
            </a:r>
          </a:p>
          <a:p>
            <a:pPr>
              <a:lnSpc>
                <a:spcPct val="100000"/>
              </a:lnSpc>
            </a:pPr>
            <a:r>
              <a:rPr lang="en-US" sz="1800" dirty="0"/>
              <a:t>These are things like http requests, I/O operations, or timers.</a:t>
            </a:r>
          </a:p>
          <a:p>
            <a:pPr>
              <a:lnSpc>
                <a:spcPct val="100000"/>
              </a:lnSpc>
            </a:pPr>
            <a:r>
              <a:rPr lang="en-US" sz="1800" dirty="0"/>
              <a:t>Each of these returns a promise that you can </a:t>
            </a:r>
            <a:r>
              <a:rPr lang="en-US" sz="1800" b="1" dirty="0"/>
              <a:t>await</a:t>
            </a:r>
            <a:r>
              <a:rPr lang="en-US" sz="1800" dirty="0"/>
              <a:t>.  The promise runs while it is pending, and produces the response from the http request, or the contents of the file, etc.</a:t>
            </a:r>
          </a:p>
          <a:p>
            <a:pPr>
              <a:lnSpc>
                <a:spcPct val="100000"/>
              </a:lnSpc>
            </a:pPr>
            <a:r>
              <a:rPr lang="en-US" sz="1800" dirty="0"/>
              <a:t>You may use some of these directly, like </a:t>
            </a:r>
            <a:r>
              <a:rPr lang="en-US" sz="1800" b="1" dirty="0"/>
              <a:t>fetch</a:t>
            </a:r>
            <a:r>
              <a:rPr lang="en-US" sz="1800" dirty="0"/>
              <a:t> or </a:t>
            </a:r>
            <a:r>
              <a:rPr lang="en-US" sz="1800" b="1" dirty="0" err="1"/>
              <a:t>setTimeout</a:t>
            </a:r>
            <a:r>
              <a:rPr lang="en-US" sz="1800" dirty="0"/>
              <a:t>.</a:t>
            </a:r>
            <a:endParaRPr lang="en-US" sz="1800" b="1" dirty="0"/>
          </a:p>
          <a:p>
            <a:pPr>
              <a:lnSpc>
                <a:spcPct val="100000"/>
              </a:lnSpc>
            </a:pPr>
            <a:r>
              <a:rPr lang="en-US" sz="1800" dirty="0"/>
              <a:t>More frequently, you will invoke these using a convenient library, like</a:t>
            </a:r>
          </a:p>
          <a:p>
            <a:pPr marL="0" indent="0">
              <a:lnSpc>
                <a:spcPct val="100000"/>
              </a:lnSpc>
              <a:buNone/>
            </a:pPr>
            <a:r>
              <a:rPr lang="en-US" sz="1800" b="0" dirty="0">
                <a:solidFill>
                  <a:srgbClr val="0070C1"/>
                </a:solidFill>
                <a:effectLst/>
                <a:latin typeface="Consolas" panose="020B0609020204030204" pitchFamily="49" charset="0"/>
              </a:rPr>
              <a:t>	</a:t>
            </a:r>
            <a:r>
              <a:rPr lang="en-US" sz="1800" b="0" dirty="0" err="1">
                <a:solidFill>
                  <a:srgbClr val="0070C1"/>
                </a:solidFill>
                <a:effectLst/>
                <a:latin typeface="Consolas" panose="020B0609020204030204" pitchFamily="49" charset="0"/>
              </a:rPr>
              <a:t>axios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get</a:t>
            </a:r>
            <a:r>
              <a:rPr lang="en-US" sz="1800" b="0" dirty="0">
                <a:solidFill>
                  <a:srgbClr val="000000"/>
                </a:solidFill>
                <a:effectLst/>
                <a:latin typeface="Consolas" panose="020B0609020204030204" pitchFamily="49" charset="0"/>
              </a:rPr>
              <a:t>(</a:t>
            </a:r>
            <a:r>
              <a:rPr lang="en-US" sz="1800" b="0" dirty="0">
                <a:solidFill>
                  <a:srgbClr val="A31515"/>
                </a:solidFill>
                <a:effectLst/>
                <a:latin typeface="Consolas" panose="020B0609020204030204" pitchFamily="49" charset="0"/>
              </a:rPr>
              <a:t>'https://rest-</a:t>
            </a:r>
            <a:r>
              <a:rPr lang="en-US" sz="1800" b="0" dirty="0" err="1">
                <a:solidFill>
                  <a:srgbClr val="A31515"/>
                </a:solidFill>
                <a:effectLst/>
                <a:latin typeface="Consolas" panose="020B0609020204030204" pitchFamily="49" charset="0"/>
              </a:rPr>
              <a:t>example.covey.town</a:t>
            </a:r>
            <a:r>
              <a:rPr lang="en-US" sz="1800" dirty="0">
                <a:solidFill>
                  <a:srgbClr val="A31515"/>
                </a:solidFill>
                <a:latin typeface="Consolas" panose="020B0609020204030204" pitchFamily="49" charset="0"/>
              </a:rPr>
              <a:t>’</a:t>
            </a:r>
            <a:r>
              <a:rPr lang="en-US" sz="1800" b="0" dirty="0">
                <a:solidFill>
                  <a:srgbClr val="000000"/>
                </a:solidFill>
                <a:effectLst/>
                <a:latin typeface="Consolas" panose="020B0609020204030204" pitchFamily="49" charset="0"/>
              </a:rPr>
              <a:t>)</a:t>
            </a:r>
          </a:p>
          <a:p>
            <a:pPr marL="0" indent="0">
              <a:lnSpc>
                <a:spcPct val="100000"/>
              </a:lnSpc>
              <a:buNone/>
            </a:pPr>
            <a:r>
              <a:rPr lang="en-US" sz="1800" dirty="0"/>
              <a:t>  to make an http request, or </a:t>
            </a:r>
          </a:p>
          <a:p>
            <a:pPr marL="0" indent="0">
              <a:lnSpc>
                <a:spcPct val="100000"/>
              </a:lnSpc>
              <a:buNone/>
            </a:pPr>
            <a:r>
              <a:rPr lang="en-US" sz="1800" b="0" dirty="0">
                <a:solidFill>
                  <a:srgbClr val="267F99"/>
                </a:solidFill>
                <a:effectLst/>
                <a:latin typeface="Consolas" panose="020B0609020204030204" pitchFamily="49" charset="0"/>
              </a:rPr>
              <a:t>	</a:t>
            </a:r>
            <a:r>
              <a:rPr lang="en-US" sz="1800" b="0" dirty="0" err="1">
                <a:solidFill>
                  <a:srgbClr val="267F99"/>
                </a:solidFill>
                <a:effectLst/>
                <a:latin typeface="Consolas" panose="020B0609020204030204" pitchFamily="49" charset="0"/>
              </a:rPr>
              <a:t>fs</a:t>
            </a:r>
            <a:r>
              <a:rPr lang="en-US" sz="1800" b="0" dirty="0" err="1">
                <a:solidFill>
                  <a:srgbClr val="000000"/>
                </a:solidFill>
                <a:effectLst/>
                <a:latin typeface="Consolas" panose="020B0609020204030204" pitchFamily="49" charset="0"/>
              </a:rPr>
              <a:t>.</a:t>
            </a:r>
            <a:r>
              <a:rPr lang="en-US" sz="1800" b="0" dirty="0" err="1">
                <a:solidFill>
                  <a:srgbClr val="795E26"/>
                </a:solidFill>
                <a:effectLst/>
                <a:latin typeface="Consolas" panose="020B0609020204030204" pitchFamily="49" charset="0"/>
              </a:rPr>
              <a:t>readFile</a:t>
            </a:r>
            <a:r>
              <a:rPr lang="en-US" sz="1800" b="0" dirty="0">
                <a:solidFill>
                  <a:srgbClr val="000000"/>
                </a:solidFill>
                <a:effectLst/>
                <a:latin typeface="Consolas" panose="020B0609020204030204" pitchFamily="49" charset="0"/>
              </a:rPr>
              <a:t>(</a:t>
            </a:r>
            <a:r>
              <a:rPr lang="en-US" sz="1800" b="0" dirty="0">
                <a:solidFill>
                  <a:srgbClr val="001080"/>
                </a:solidFill>
                <a:effectLst/>
                <a:latin typeface="Consolas" panose="020B0609020204030204" pitchFamily="49" charset="0"/>
              </a:rPr>
              <a:t>filename)</a:t>
            </a:r>
          </a:p>
          <a:p>
            <a:pPr marL="0" indent="0">
              <a:lnSpc>
                <a:spcPct val="100000"/>
              </a:lnSpc>
              <a:buNone/>
            </a:pPr>
            <a:r>
              <a:rPr lang="en-US" sz="1800" dirty="0"/>
              <a:t>  to read the contents of a file.</a:t>
            </a:r>
          </a:p>
        </p:txBody>
      </p:sp>
      <p:sp>
        <p:nvSpPr>
          <p:cNvPr id="4" name="Slide Number Placeholder 3">
            <a:extLst>
              <a:ext uri="{FF2B5EF4-FFF2-40B4-BE49-F238E27FC236}">
                <a16:creationId xmlns:a16="http://schemas.microsoft.com/office/drawing/2014/main" id="{D801E7F0-7C11-0EF3-099E-55E060E75618}"/>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68A5FA98-9E8A-911A-D80F-02212ED403EA}"/>
              </a:ext>
            </a:extLst>
          </p:cNvPr>
          <p:cNvPicPr>
            <a:picLocks noChangeAspect="1"/>
          </p:cNvPicPr>
          <p:nvPr/>
        </p:nvPicPr>
        <p:blipFill>
          <a:blip r:embed="rId3"/>
          <a:stretch>
            <a:fillRect/>
          </a:stretch>
        </p:blipFill>
        <p:spPr>
          <a:xfrm>
            <a:off x="8610600" y="3879850"/>
            <a:ext cx="2876117" cy="2476500"/>
          </a:xfrm>
          <a:prstGeom prst="rect">
            <a:avLst/>
          </a:prstGeom>
        </p:spPr>
      </p:pic>
    </p:spTree>
    <p:extLst>
      <p:ext uri="{BB962C8B-B14F-4D97-AF65-F5344CB8AC3E}">
        <p14:creationId xmlns:p14="http://schemas.microsoft.com/office/powerpoint/2010/main" val="223624572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E9E390-39B1-47F6-9B15-726F8342AB97}"/>
              </a:ext>
            </a:extLst>
          </p:cNvPr>
          <p:cNvSpPr>
            <a:spLocks noGrp="1"/>
          </p:cNvSpPr>
          <p:nvPr>
            <p:ph type="title"/>
          </p:nvPr>
        </p:nvSpPr>
        <p:spPr/>
        <p:txBody>
          <a:bodyPr>
            <a:normAutofit/>
          </a:bodyPr>
          <a:lstStyle/>
          <a:p>
            <a:r>
              <a:rPr lang="en-US" dirty="0"/>
              <a:t>Part 2: </a:t>
            </a:r>
            <a:r>
              <a:rPr lang="en-US" dirty="0" err="1"/>
              <a:t>Javascript</a:t>
            </a:r>
            <a:r>
              <a:rPr lang="en-US" dirty="0"/>
              <a:t>/Typescript uses </a:t>
            </a:r>
            <a:r>
              <a:rPr lang="en-US" b="1" dirty="0"/>
              <a:t>cooperative multiprocessing</a:t>
            </a:r>
            <a:endParaRPr lang="en-US" dirty="0"/>
          </a:p>
        </p:txBody>
      </p:sp>
      <p:sp>
        <p:nvSpPr>
          <p:cNvPr id="4" name="Text Placeholder 3">
            <a:extLst>
              <a:ext uri="{FF2B5EF4-FFF2-40B4-BE49-F238E27FC236}">
                <a16:creationId xmlns:a16="http://schemas.microsoft.com/office/drawing/2014/main" id="{0ABAED22-80F7-4901-BE65-632B7CF552B4}"/>
              </a:ext>
            </a:extLst>
          </p:cNvPr>
          <p:cNvSpPr>
            <a:spLocks noGrp="1"/>
          </p:cNvSpPr>
          <p:nvPr>
            <p:ph idx="1"/>
          </p:nvPr>
        </p:nvSpPr>
        <p:spPr>
          <a:xfrm>
            <a:off x="838200" y="1500160"/>
            <a:ext cx="8623852" cy="4351338"/>
          </a:xfrm>
        </p:spPr>
        <p:txBody>
          <a:bodyPr>
            <a:normAutofit/>
          </a:bodyPr>
          <a:lstStyle/>
          <a:p>
            <a:r>
              <a:rPr lang="en-US" dirty="0"/>
              <a:t>In cooperative multiprocessing, </a:t>
            </a:r>
            <a:r>
              <a:rPr lang="en-US" dirty="0">
                <a:solidFill>
                  <a:srgbClr val="FF0000"/>
                </a:solidFill>
              </a:rPr>
              <a:t>only one process is executed at a time.</a:t>
            </a:r>
          </a:p>
          <a:p>
            <a:r>
              <a:rPr lang="en-US" dirty="0">
                <a:solidFill>
                  <a:srgbClr val="FF0000"/>
                </a:solidFill>
              </a:rPr>
              <a:t>Each process pauses when it is convenient </a:t>
            </a:r>
            <a:r>
              <a:rPr lang="en-US" dirty="0"/>
              <a:t>to allow other processes to make progress.</a:t>
            </a:r>
          </a:p>
          <a:p>
            <a:r>
              <a:rPr lang="en-US" dirty="0"/>
              <a:t>To make this practical (and avoid cheating!), we need a programming model that encourages this behavior</a:t>
            </a:r>
          </a:p>
          <a:p>
            <a:endParaRPr lang="en-US" baseline="0" dirty="0"/>
          </a:p>
        </p:txBody>
      </p:sp>
    </p:spTree>
    <p:extLst>
      <p:ext uri="{BB962C8B-B14F-4D97-AF65-F5344CB8AC3E}">
        <p14:creationId xmlns:p14="http://schemas.microsoft.com/office/powerpoint/2010/main" val="96602779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CC1908-58CA-47C6-5C4A-CE7041555344}"/>
              </a:ext>
            </a:extLst>
          </p:cNvPr>
          <p:cNvSpPr>
            <a:spLocks noGrp="1"/>
          </p:cNvSpPr>
          <p:nvPr>
            <p:ph type="title"/>
          </p:nvPr>
        </p:nvSpPr>
        <p:spPr/>
        <p:txBody>
          <a:bodyPr/>
          <a:lstStyle/>
          <a:p>
            <a:r>
              <a:rPr lang="en-US" b="1" dirty="0"/>
              <a:t>async/await</a:t>
            </a:r>
            <a:r>
              <a:rPr lang="en-US" dirty="0"/>
              <a:t> is a programming model for cooperative multiprocessing</a:t>
            </a:r>
          </a:p>
        </p:txBody>
      </p:sp>
      <p:sp>
        <p:nvSpPr>
          <p:cNvPr id="3" name="Content Placeholder 2">
            <a:extLst>
              <a:ext uri="{FF2B5EF4-FFF2-40B4-BE49-F238E27FC236}">
                <a16:creationId xmlns:a16="http://schemas.microsoft.com/office/drawing/2014/main" id="{C5A2B572-0791-29A3-3ABE-73504FAE7FC9}"/>
              </a:ext>
            </a:extLst>
          </p:cNvPr>
          <p:cNvSpPr>
            <a:spLocks noGrp="1"/>
          </p:cNvSpPr>
          <p:nvPr>
            <p:ph idx="1"/>
          </p:nvPr>
        </p:nvSpPr>
        <p:spPr/>
        <p:txBody>
          <a:bodyPr>
            <a:normAutofit/>
          </a:bodyPr>
          <a:lstStyle/>
          <a:p>
            <a:r>
              <a:rPr lang="en-US" dirty="0"/>
              <a:t>In async/await, the program is organized into a set of "async functions“</a:t>
            </a:r>
          </a:p>
          <a:p>
            <a:r>
              <a:rPr lang="en-US" dirty="0"/>
              <a:t>An async function always returns a promise.</a:t>
            </a:r>
          </a:p>
          <a:p>
            <a:r>
              <a:rPr lang="en-US" dirty="0"/>
              <a:t>If you </a:t>
            </a:r>
            <a:r>
              <a:rPr lang="en-US" b="1" dirty="0"/>
              <a:t>await</a:t>
            </a:r>
            <a:r>
              <a:rPr lang="en-US" dirty="0"/>
              <a:t> on a promise, your program pauses its execution until async function is completed. When one program pauses, the runtime can choose to resume executing any process that is ready to run. </a:t>
            </a:r>
          </a:p>
        </p:txBody>
      </p:sp>
      <p:sp>
        <p:nvSpPr>
          <p:cNvPr id="4" name="Slide Number Placeholder 3">
            <a:extLst>
              <a:ext uri="{FF2B5EF4-FFF2-40B4-BE49-F238E27FC236}">
                <a16:creationId xmlns:a16="http://schemas.microsoft.com/office/drawing/2014/main" id="{39BC67CE-EBDD-3E49-7B69-2C19B45AC44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383621214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B602ED-9C71-A28B-2EB4-8DF6A1D7BECD}"/>
              </a:ext>
            </a:extLst>
          </p:cNvPr>
          <p:cNvSpPr>
            <a:spLocks noGrp="1"/>
          </p:cNvSpPr>
          <p:nvPr>
            <p:ph type="title"/>
          </p:nvPr>
        </p:nvSpPr>
        <p:spPr/>
        <p:txBody>
          <a:bodyPr/>
          <a:lstStyle/>
          <a:p>
            <a:r>
              <a:rPr lang="en-US" dirty="0"/>
              <a:t>Quick Review of Promises (from M04)</a:t>
            </a:r>
          </a:p>
        </p:txBody>
      </p:sp>
      <p:sp>
        <p:nvSpPr>
          <p:cNvPr id="3" name="Content Placeholder 2">
            <a:extLst>
              <a:ext uri="{FF2B5EF4-FFF2-40B4-BE49-F238E27FC236}">
                <a16:creationId xmlns:a16="http://schemas.microsoft.com/office/drawing/2014/main" id="{C43FABA4-17FE-363F-4E1D-B0B627CC9D3D}"/>
              </a:ext>
            </a:extLst>
          </p:cNvPr>
          <p:cNvSpPr>
            <a:spLocks noGrp="1"/>
          </p:cNvSpPr>
          <p:nvPr>
            <p:ph idx="1"/>
          </p:nvPr>
        </p:nvSpPr>
        <p:spPr>
          <a:xfrm>
            <a:off x="838200" y="1500160"/>
            <a:ext cx="9437016" cy="4351338"/>
          </a:xfrm>
        </p:spPr>
        <p:txBody>
          <a:bodyPr>
            <a:normAutofit/>
          </a:bodyPr>
          <a:lstStyle/>
          <a:p>
            <a:r>
              <a:rPr lang="en-US" dirty="0"/>
              <a:t>Typescript uses the type system to distinguish long-running computations</a:t>
            </a:r>
          </a:p>
          <a:p>
            <a:r>
              <a:rPr lang="en-US" dirty="0"/>
              <a:t>A long-running (IO-bound) computation gets type </a:t>
            </a:r>
            <a:r>
              <a:rPr lang="en-US" b="1" dirty="0"/>
              <a:t>Promise&lt;DataRecord&gt;</a:t>
            </a:r>
            <a:r>
              <a:rPr lang="en-US" dirty="0"/>
              <a:t>, rather than </a:t>
            </a:r>
            <a:r>
              <a:rPr lang="en-US" b="1" dirty="0"/>
              <a:t>DataRecord.</a:t>
            </a:r>
          </a:p>
          <a:p>
            <a:r>
              <a:rPr lang="en-US" b="1" dirty="0"/>
              <a:t>async</a:t>
            </a:r>
            <a:r>
              <a:rPr lang="en-US" dirty="0"/>
              <a:t> functions return Promises</a:t>
            </a:r>
          </a:p>
          <a:p>
            <a:r>
              <a:rPr lang="en-US" dirty="0"/>
              <a:t>Use </a:t>
            </a:r>
            <a:r>
              <a:rPr lang="en-US" b="1" dirty="0"/>
              <a:t>await</a:t>
            </a:r>
            <a:r>
              <a:rPr lang="en-US" dirty="0"/>
              <a:t> to get the result of a promise</a:t>
            </a:r>
          </a:p>
          <a:p>
            <a:r>
              <a:rPr lang="en-US" dirty="0"/>
              <a:t>Every occurrence of </a:t>
            </a:r>
            <a:r>
              <a:rPr lang="en-US" b="1" dirty="0"/>
              <a:t>await </a:t>
            </a:r>
            <a:r>
              <a:rPr lang="en-US" dirty="0"/>
              <a:t>must be in an async function</a:t>
            </a:r>
          </a:p>
          <a:p>
            <a:r>
              <a:rPr lang="en-US" dirty="0"/>
              <a:t>A </a:t>
            </a:r>
            <a:r>
              <a:rPr lang="en-US" b="1" dirty="0"/>
              <a:t>Promise&lt;void&gt;</a:t>
            </a:r>
            <a:r>
              <a:rPr lang="en-US" dirty="0"/>
              <a:t> is executed for effect, so it doesn't make sense to </a:t>
            </a:r>
            <a:r>
              <a:rPr lang="en-US" b="1" dirty="0"/>
              <a:t>await</a:t>
            </a:r>
            <a:r>
              <a:rPr lang="en-US" dirty="0"/>
              <a:t> its result.</a:t>
            </a:r>
          </a:p>
          <a:p>
            <a:endParaRPr lang="en-US" dirty="0"/>
          </a:p>
          <a:p>
            <a:endParaRPr lang="en-US" dirty="0"/>
          </a:p>
          <a:p>
            <a:pPr>
              <a:lnSpc>
                <a:spcPts val="1425"/>
              </a:lnSpc>
            </a:pPr>
            <a:endParaRPr lang="en-US" dirty="0"/>
          </a:p>
        </p:txBody>
      </p:sp>
      <p:sp>
        <p:nvSpPr>
          <p:cNvPr id="4" name="Slide Number Placeholder 3">
            <a:extLst>
              <a:ext uri="{FF2B5EF4-FFF2-40B4-BE49-F238E27FC236}">
                <a16:creationId xmlns:a16="http://schemas.microsoft.com/office/drawing/2014/main" id="{64598B87-B13D-A4E1-B0D5-758F26D4CC1D}"/>
              </a:ext>
            </a:extLst>
          </p:cNvPr>
          <p:cNvSpPr>
            <a:spLocks noGrp="1"/>
          </p:cNvSpPr>
          <p:nvPr>
            <p:ph type="sldNum" sz="quarter" idx="12"/>
          </p:nvPr>
        </p:nvSpPr>
        <p:spPr/>
        <p:txBody>
          <a:bodyPr/>
          <a:lstStyle/>
          <a:p>
            <a:fld id="{20F37917-FD3A-4669-9018-DA04BCDD3D75}" type="slidenum">
              <a:rPr lang="en-US" smtClean="0"/>
              <a:t>8</a:t>
            </a:fld>
            <a:endParaRPr lang="en-US"/>
          </a:p>
        </p:txBody>
      </p:sp>
    </p:spTree>
    <p:extLst>
      <p:ext uri="{BB962C8B-B14F-4D97-AF65-F5344CB8AC3E}">
        <p14:creationId xmlns:p14="http://schemas.microsoft.com/office/powerpoint/2010/main" val="157105743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C6A4DA-4E4F-5F9D-7803-A9EC723C48B4}"/>
              </a:ext>
            </a:extLst>
          </p:cNvPr>
          <p:cNvSpPr>
            <a:spLocks noGrp="1"/>
          </p:cNvSpPr>
          <p:nvPr>
            <p:ph type="title"/>
          </p:nvPr>
        </p:nvSpPr>
        <p:spPr/>
        <p:txBody>
          <a:bodyPr/>
          <a:lstStyle/>
          <a:p>
            <a:r>
              <a:rPr lang="en-US" dirty="0"/>
              <a:t>A promise can be in one of exactly 3 states</a:t>
            </a:r>
          </a:p>
        </p:txBody>
      </p:sp>
      <p:sp>
        <p:nvSpPr>
          <p:cNvPr id="4" name="Slide Number Placeholder 3">
            <a:extLst>
              <a:ext uri="{FF2B5EF4-FFF2-40B4-BE49-F238E27FC236}">
                <a16:creationId xmlns:a16="http://schemas.microsoft.com/office/drawing/2014/main" id="{69CEE083-CBA5-93C3-4C05-768A2B33BC19}"/>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8" name="Content Placeholder 7">
            <a:extLst>
              <a:ext uri="{FF2B5EF4-FFF2-40B4-BE49-F238E27FC236}">
                <a16:creationId xmlns:a16="http://schemas.microsoft.com/office/drawing/2014/main" id="{D5C85CCA-136C-08C1-FA65-98C61B06999D}"/>
              </a:ext>
            </a:extLst>
          </p:cNvPr>
          <p:cNvSpPr>
            <a:spLocks noGrp="1"/>
          </p:cNvSpPr>
          <p:nvPr>
            <p:ph idx="1"/>
          </p:nvPr>
        </p:nvSpPr>
        <p:spPr>
          <a:xfrm>
            <a:off x="838199" y="1500160"/>
            <a:ext cx="9386455" cy="4663134"/>
          </a:xfrm>
        </p:spPr>
        <p:txBody>
          <a:bodyPr>
            <a:normAutofit/>
          </a:bodyPr>
          <a:lstStyle/>
          <a:p>
            <a:pPr>
              <a:lnSpc>
                <a:spcPct val="120000"/>
              </a:lnSpc>
            </a:pPr>
            <a:r>
              <a:rPr lang="en-US" sz="2400" b="0" i="0" dirty="0">
                <a:solidFill>
                  <a:srgbClr val="222222"/>
                </a:solidFill>
                <a:effectLst/>
                <a:latin typeface="Verdana" panose="020B0604030504040204" pitchFamily="34" charset="0"/>
                <a:ea typeface="Verdana" panose="020B0604030504040204" pitchFamily="34" charset="0"/>
              </a:rPr>
              <a:t>A JavaScript promise can be in one of three states: </a:t>
            </a: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a:t>
            </a:r>
            <a:r>
              <a:rPr lang="en-US" sz="2400" b="0" i="0" dirty="0">
                <a:solidFill>
                  <a:srgbClr val="FF0000"/>
                </a:solidFill>
                <a:effectLst/>
                <a:latin typeface="Verdana" panose="020B0604030504040204" pitchFamily="34" charset="0"/>
                <a:ea typeface="Verdana" panose="020B0604030504040204" pitchFamily="34" charset="0"/>
              </a:rPr>
              <a:t>fulfilled</a:t>
            </a:r>
            <a:r>
              <a:rPr lang="en-US" sz="2400" b="0" i="0" dirty="0">
                <a:solidFill>
                  <a:srgbClr val="222222"/>
                </a:solidFill>
                <a:effectLst/>
                <a:latin typeface="Verdana" panose="020B0604030504040204" pitchFamily="34" charset="0"/>
                <a:ea typeface="Verdana" panose="020B0604030504040204" pitchFamily="34" charset="0"/>
              </a:rPr>
              <a:t>, or </a:t>
            </a:r>
            <a:r>
              <a:rPr lang="en-US" sz="2400" b="0" i="0" dirty="0">
                <a:solidFill>
                  <a:srgbClr val="FF0000"/>
                </a:solidFill>
                <a:effectLst/>
                <a:latin typeface="Verdana" panose="020B0604030504040204" pitchFamily="34" charset="0"/>
                <a:ea typeface="Verdana" panose="020B0604030504040204" pitchFamily="34" charset="0"/>
              </a:rPr>
              <a:t>rejected</a:t>
            </a:r>
            <a:r>
              <a:rPr lang="en-US" sz="2400" b="0" i="0" dirty="0">
                <a:solidFill>
                  <a:srgbClr val="222222"/>
                </a:solidFill>
                <a:effectLst/>
                <a:latin typeface="Verdana" panose="020B0604030504040204" pitchFamily="34" charset="0"/>
                <a:ea typeface="Verdana" panose="020B0604030504040204" pitchFamily="34" charset="0"/>
              </a:rPr>
              <a:t>. </a:t>
            </a: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Pending</a:t>
            </a:r>
            <a:r>
              <a:rPr lang="en-US" sz="2400" b="0" i="0" dirty="0">
                <a:solidFill>
                  <a:srgbClr val="222222"/>
                </a:solidFill>
                <a:effectLst/>
                <a:latin typeface="Verdana" panose="020B0604030504040204" pitchFamily="34" charset="0"/>
                <a:ea typeface="Verdana" panose="020B0604030504040204" pitchFamily="34" charset="0"/>
              </a:rPr>
              <a:t> is the initial state where the promise is </a:t>
            </a:r>
            <a:r>
              <a:rPr lang="en-US" sz="2400" b="1" i="1" dirty="0">
                <a:solidFill>
                  <a:srgbClr val="222222"/>
                </a:solidFill>
                <a:effectLst/>
                <a:latin typeface="Verdana" panose="020B0604030504040204" pitchFamily="34" charset="0"/>
                <a:ea typeface="Verdana" panose="020B0604030504040204" pitchFamily="34" charset="0"/>
              </a:rPr>
              <a:t>waiting</a:t>
            </a:r>
            <a:r>
              <a:rPr lang="en-US" sz="2400" b="0" i="0" dirty="0">
                <a:solidFill>
                  <a:srgbClr val="222222"/>
                </a:solidFill>
                <a:effectLst/>
                <a:latin typeface="Verdana" panose="020B0604030504040204" pitchFamily="34" charset="0"/>
                <a:ea typeface="Verdana" panose="020B0604030504040204" pitchFamily="34" charset="0"/>
              </a:rPr>
              <a:t> for an operation to complete; Then it becomes </a:t>
            </a:r>
            <a:r>
              <a:rPr lang="en-US" dirty="0">
                <a:solidFill>
                  <a:srgbClr val="FF0000"/>
                </a:solidFill>
              </a:rPr>
              <a:t>Ready</a:t>
            </a:r>
            <a:r>
              <a:rPr lang="en-US" dirty="0"/>
              <a:t> for Execution; and eventually it is </a:t>
            </a:r>
            <a:r>
              <a:rPr lang="en-US" dirty="0">
                <a:solidFill>
                  <a:srgbClr val="FF0000"/>
                </a:solidFill>
              </a:rPr>
              <a:t>Executing </a:t>
            </a:r>
            <a:r>
              <a:rPr lang="en-US" dirty="0"/>
              <a:t>before being resolved</a:t>
            </a:r>
            <a:endParaRPr lang="en-US" sz="2400" b="0" i="0" dirty="0">
              <a:effectLst/>
              <a:latin typeface="Verdana" panose="020B0604030504040204" pitchFamily="34" charset="0"/>
              <a:ea typeface="Verdana" panose="020B0604030504040204" pitchFamily="34" charset="0"/>
            </a:endParaRPr>
          </a:p>
          <a:p>
            <a:pPr>
              <a:lnSpc>
                <a:spcPct val="120000"/>
              </a:lnSpc>
            </a:pPr>
            <a:r>
              <a:rPr lang="en-US" sz="2400" b="0" i="0" dirty="0">
                <a:solidFill>
                  <a:srgbClr val="FF0000"/>
                </a:solidFill>
                <a:effectLst/>
                <a:latin typeface="Verdana" panose="020B0604030504040204" pitchFamily="34" charset="0"/>
                <a:ea typeface="Verdana" panose="020B0604030504040204" pitchFamily="34" charset="0"/>
              </a:rPr>
              <a:t>Resolved</a:t>
            </a:r>
            <a:r>
              <a:rPr lang="en-US" sz="2400" b="0" i="0" dirty="0">
                <a:solidFill>
                  <a:srgbClr val="222222"/>
                </a:solidFill>
                <a:effectLst/>
                <a:latin typeface="Verdana" panose="020B0604030504040204" pitchFamily="34" charset="0"/>
                <a:ea typeface="Verdana" panose="020B0604030504040204" pitchFamily="34" charset="0"/>
              </a:rPr>
              <a:t>: either fulfilled or rejected. </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fulfilled</a:t>
            </a:r>
            <a:r>
              <a:rPr lang="en-US" b="0" i="0" dirty="0">
                <a:solidFill>
                  <a:srgbClr val="222222"/>
                </a:solidFill>
                <a:effectLst/>
                <a:latin typeface="Verdana" panose="020B0604030504040204" pitchFamily="34" charset="0"/>
                <a:ea typeface="Verdana" panose="020B0604030504040204" pitchFamily="34" charset="0"/>
              </a:rPr>
              <a:t> means the operation was successful,</a:t>
            </a:r>
          </a:p>
          <a:p>
            <a:pPr lvl="1">
              <a:lnSpc>
                <a:spcPct val="120000"/>
              </a:lnSpc>
            </a:pPr>
            <a:r>
              <a:rPr lang="en-US" b="0" i="0" dirty="0">
                <a:solidFill>
                  <a:srgbClr val="FF0000"/>
                </a:solidFill>
                <a:effectLst/>
                <a:latin typeface="Verdana" panose="020B0604030504040204" pitchFamily="34" charset="0"/>
                <a:ea typeface="Verdana" panose="020B0604030504040204" pitchFamily="34" charset="0"/>
              </a:rPr>
              <a:t>rejected</a:t>
            </a:r>
            <a:r>
              <a:rPr lang="en-US" b="0" i="0" dirty="0">
                <a:solidFill>
                  <a:srgbClr val="222222"/>
                </a:solidFill>
                <a:effectLst/>
                <a:latin typeface="Verdana" panose="020B0604030504040204" pitchFamily="34" charset="0"/>
                <a:ea typeface="Verdana" panose="020B0604030504040204" pitchFamily="34" charset="0"/>
              </a:rPr>
              <a:t> indicates that the operation failed.</a:t>
            </a:r>
            <a:endParaRPr lang="en-US" sz="2400" dirty="0">
              <a:latin typeface="Verdana" panose="020B0604030504040204" pitchFamily="34" charset="0"/>
              <a:ea typeface="Verdana" panose="020B0604030504040204" pitchFamily="34" charset="0"/>
            </a:endParaRPr>
          </a:p>
          <a:p>
            <a:endParaRPr lang="en-US" dirty="0"/>
          </a:p>
        </p:txBody>
      </p:sp>
    </p:spTree>
    <p:extLst>
      <p:ext uri="{BB962C8B-B14F-4D97-AF65-F5344CB8AC3E}">
        <p14:creationId xmlns:p14="http://schemas.microsoft.com/office/powerpoint/2010/main" val="68866427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B6BC9-D17A-04C0-6494-8EC9E3BDD202}"/>
              </a:ext>
            </a:extLst>
          </p:cNvPr>
          <p:cNvSpPr>
            <a:spLocks noGrp="1"/>
          </p:cNvSpPr>
          <p:nvPr>
            <p:ph type="title"/>
          </p:nvPr>
        </p:nvSpPr>
        <p:spPr/>
        <p:txBody>
          <a:bodyPr/>
          <a:lstStyle/>
          <a:p>
            <a:r>
              <a:rPr lang="en-US" dirty="0"/>
              <a:t>Async functions return Promises</a:t>
            </a:r>
          </a:p>
        </p:txBody>
      </p:sp>
      <p:sp>
        <p:nvSpPr>
          <p:cNvPr id="4" name="Slide Number Placeholder 3">
            <a:extLst>
              <a:ext uri="{FF2B5EF4-FFF2-40B4-BE49-F238E27FC236}">
                <a16:creationId xmlns:a16="http://schemas.microsoft.com/office/drawing/2014/main" id="{B547F1A3-4AF0-248D-8B15-63E6DEE8CE1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6" name="TextBox 5">
            <a:extLst>
              <a:ext uri="{FF2B5EF4-FFF2-40B4-BE49-F238E27FC236}">
                <a16:creationId xmlns:a16="http://schemas.microsoft.com/office/drawing/2014/main" id="{A9CEBD37-F784-A140-E148-C38031ACAC3B}"/>
              </a:ext>
            </a:extLst>
          </p:cNvPr>
          <p:cNvSpPr txBox="1"/>
          <p:nvPr/>
        </p:nvSpPr>
        <p:spPr>
          <a:xfrm>
            <a:off x="838201" y="1828800"/>
            <a:ext cx="9808674"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44561180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D40E55-49F5-0E5A-0607-FDC32372F7A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60A510-527B-E388-A3FD-221E654691CD}"/>
              </a:ext>
            </a:extLst>
          </p:cNvPr>
          <p:cNvSpPr>
            <a:spLocks noGrp="1"/>
          </p:cNvSpPr>
          <p:nvPr>
            <p:ph type="title"/>
          </p:nvPr>
        </p:nvSpPr>
        <p:spPr/>
        <p:txBody>
          <a:bodyPr/>
          <a:lstStyle/>
          <a:p>
            <a:r>
              <a:rPr lang="en-US" dirty="0"/>
              <a:t>This function returns a promise that will resolve with </a:t>
            </a:r>
            <a:r>
              <a:rPr lang="en-US" b="1" dirty="0"/>
              <a:t>m</a:t>
            </a:r>
            <a:r>
              <a:rPr lang="en-US" dirty="0"/>
              <a:t>.</a:t>
            </a:r>
          </a:p>
        </p:txBody>
      </p:sp>
      <p:sp>
        <p:nvSpPr>
          <p:cNvPr id="4" name="Slide Number Placeholder 3">
            <a:extLst>
              <a:ext uri="{FF2B5EF4-FFF2-40B4-BE49-F238E27FC236}">
                <a16:creationId xmlns:a16="http://schemas.microsoft.com/office/drawing/2014/main" id="{9110C2FF-4083-C210-1180-C0E4C67417B7}"/>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28F50AC3-424F-A8DF-43A6-6FE8D115820F}"/>
              </a:ext>
            </a:extLst>
          </p:cNvPr>
          <p:cNvGrpSpPr/>
          <p:nvPr/>
        </p:nvGrpSpPr>
        <p:grpSpPr>
          <a:xfrm>
            <a:off x="1050851" y="1807463"/>
            <a:ext cx="9632237" cy="3416320"/>
            <a:chOff x="838201" y="1828800"/>
            <a:chExt cx="8308888" cy="3416320"/>
          </a:xfrm>
        </p:grpSpPr>
        <p:sp>
          <p:nvSpPr>
            <p:cNvPr id="13" name="TextBox 12">
              <a:extLst>
                <a:ext uri="{FF2B5EF4-FFF2-40B4-BE49-F238E27FC236}">
                  <a16:creationId xmlns:a16="http://schemas.microsoft.com/office/drawing/2014/main" id="{56A4A78B-FD5E-79E1-BFB0-FECECE42CF94}"/>
                </a:ext>
              </a:extLst>
            </p:cNvPr>
            <p:cNvSpPr txBox="1"/>
            <p:nvPr/>
          </p:nvSpPr>
          <p:spPr>
            <a:xfrm>
              <a:off x="838201" y="1828800"/>
              <a:ext cx="8308888" cy="3416320"/>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5" name="Rectangle 14">
              <a:extLst>
                <a:ext uri="{FF2B5EF4-FFF2-40B4-BE49-F238E27FC236}">
                  <a16:creationId xmlns:a16="http://schemas.microsoft.com/office/drawing/2014/main" id="{9D4EB059-0955-B92A-AC3F-3F10FA7D1220}"/>
                </a:ext>
              </a:extLst>
            </p:cNvPr>
            <p:cNvSpPr/>
            <p:nvPr/>
          </p:nvSpPr>
          <p:spPr>
            <a:xfrm>
              <a:off x="1454602" y="3373889"/>
              <a:ext cx="6200848" cy="1054273"/>
            </a:xfrm>
            <a:prstGeom prst="rect">
              <a:avLst/>
            </a:prstGeom>
            <a:solidFill>
              <a:srgbClr val="92D050">
                <a:alpha val="28000"/>
              </a:srgb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Tree>
    <p:extLst>
      <p:ext uri="{BB962C8B-B14F-4D97-AF65-F5344CB8AC3E}">
        <p14:creationId xmlns:p14="http://schemas.microsoft.com/office/powerpoint/2010/main" val="36231043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995FEC-6821-6977-2431-C067695AC34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7D6CF76-DB57-9E39-882E-43FBB293B9AB}"/>
              </a:ext>
            </a:extLst>
          </p:cNvPr>
          <p:cNvSpPr>
            <a:spLocks noGrp="1"/>
          </p:cNvSpPr>
          <p:nvPr>
            <p:ph type="title"/>
          </p:nvPr>
        </p:nvSpPr>
        <p:spPr/>
        <p:txBody>
          <a:bodyPr/>
          <a:lstStyle/>
          <a:p>
            <a:r>
              <a:rPr lang="en-US" b="1" dirty="0"/>
              <a:t>Run to Completion </a:t>
            </a:r>
            <a:r>
              <a:rPr lang="en-US" dirty="0"/>
              <a:t>is a central concept</a:t>
            </a:r>
          </a:p>
        </p:txBody>
      </p:sp>
      <p:sp>
        <p:nvSpPr>
          <p:cNvPr id="3" name="Content Placeholder 2">
            <a:extLst>
              <a:ext uri="{FF2B5EF4-FFF2-40B4-BE49-F238E27FC236}">
                <a16:creationId xmlns:a16="http://schemas.microsoft.com/office/drawing/2014/main" id="{3538D3B6-EF06-E264-4B6F-5ECA254C9BD9}"/>
              </a:ext>
            </a:extLst>
          </p:cNvPr>
          <p:cNvSpPr>
            <a:spLocks noGrp="1"/>
          </p:cNvSpPr>
          <p:nvPr>
            <p:ph idx="1"/>
          </p:nvPr>
        </p:nvSpPr>
        <p:spPr/>
        <p:txBody>
          <a:bodyPr>
            <a:normAutofit/>
          </a:bodyPr>
          <a:lstStyle/>
          <a:p>
            <a:r>
              <a:rPr lang="en-US" dirty="0"/>
              <a:t>In JS, you work on one and one task only (i.e., event loop has a single call stack)</a:t>
            </a:r>
          </a:p>
          <a:p>
            <a:r>
              <a:rPr lang="en-US" dirty="0"/>
              <a:t>Also, if you start a task, you must finish it (i.e., call stack must be emptied) before you start another task. This pattern is called "run-to-completion" semantics</a:t>
            </a:r>
          </a:p>
          <a:p>
            <a:r>
              <a:rPr lang="en-US" dirty="0"/>
              <a:t>A task can be paused in exactly two places:</a:t>
            </a:r>
          </a:p>
          <a:p>
            <a:pPr lvl="1"/>
            <a:r>
              <a:rPr lang="en-US" dirty="0"/>
              <a:t>when it reaches an await</a:t>
            </a:r>
          </a:p>
          <a:p>
            <a:pPr lvl="1"/>
            <a:r>
              <a:rPr lang="en-US" dirty="0"/>
              <a:t>when it reaches a return</a:t>
            </a:r>
          </a:p>
        </p:txBody>
      </p:sp>
      <p:sp>
        <p:nvSpPr>
          <p:cNvPr id="4" name="Slide Number Placeholder 3">
            <a:extLst>
              <a:ext uri="{FF2B5EF4-FFF2-40B4-BE49-F238E27FC236}">
                <a16:creationId xmlns:a16="http://schemas.microsoft.com/office/drawing/2014/main" id="{B94B5527-A2AF-C396-DB8A-CD99C811F1CF}"/>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25251124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4E04E37-B77C-9C4E-D129-5600BEFB50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1C7B646-E7C9-1ECF-A13D-7C617B073950}"/>
              </a:ext>
            </a:extLst>
          </p:cNvPr>
          <p:cNvSpPr>
            <a:spLocks noGrp="1"/>
          </p:cNvSpPr>
          <p:nvPr>
            <p:ph type="title"/>
          </p:nvPr>
        </p:nvSpPr>
        <p:spPr/>
        <p:txBody>
          <a:bodyPr/>
          <a:lstStyle/>
          <a:p>
            <a:r>
              <a:rPr lang="en-US" dirty="0"/>
              <a:t>This function can only be paused in certain places</a:t>
            </a:r>
          </a:p>
        </p:txBody>
      </p:sp>
      <p:sp>
        <p:nvSpPr>
          <p:cNvPr id="4" name="Slide Number Placeholder 3">
            <a:extLst>
              <a:ext uri="{FF2B5EF4-FFF2-40B4-BE49-F238E27FC236}">
                <a16:creationId xmlns:a16="http://schemas.microsoft.com/office/drawing/2014/main" id="{00BB5638-3499-FC92-7DE1-50A479596E7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9" name="Group 8">
            <a:extLst>
              <a:ext uri="{FF2B5EF4-FFF2-40B4-BE49-F238E27FC236}">
                <a16:creationId xmlns:a16="http://schemas.microsoft.com/office/drawing/2014/main" id="{480AB355-7D55-D6A3-81E9-2B286F62CD44}"/>
              </a:ext>
            </a:extLst>
          </p:cNvPr>
          <p:cNvGrpSpPr/>
          <p:nvPr/>
        </p:nvGrpSpPr>
        <p:grpSpPr>
          <a:xfrm>
            <a:off x="838200" y="1828800"/>
            <a:ext cx="10222063" cy="3046988"/>
            <a:chOff x="838200" y="1828800"/>
            <a:chExt cx="10222063" cy="3046988"/>
          </a:xfrm>
        </p:grpSpPr>
        <p:sp>
          <p:nvSpPr>
            <p:cNvPr id="6" name="TextBox 5">
              <a:extLst>
                <a:ext uri="{FF2B5EF4-FFF2-40B4-BE49-F238E27FC236}">
                  <a16:creationId xmlns:a16="http://schemas.microsoft.com/office/drawing/2014/main" id="{8E901E3E-3BD3-D61C-AF10-3804D308DE16}"/>
                </a:ext>
              </a:extLst>
            </p:cNvPr>
            <p:cNvSpPr txBox="1"/>
            <p:nvPr/>
          </p:nvSpPr>
          <p:spPr>
            <a:xfrm>
              <a:off x="838200" y="1828800"/>
              <a:ext cx="10222063"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 Promise&lt;number&gt;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3" name="Rectangle 2">
              <a:extLst>
                <a:ext uri="{FF2B5EF4-FFF2-40B4-BE49-F238E27FC236}">
                  <a16:creationId xmlns:a16="http://schemas.microsoft.com/office/drawing/2014/main" id="{AD72C626-B5CD-E8CD-D7D3-DB3B71C929C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5" name="Rectangle 4">
              <a:extLst>
                <a:ext uri="{FF2B5EF4-FFF2-40B4-BE49-F238E27FC236}">
                  <a16:creationId xmlns:a16="http://schemas.microsoft.com/office/drawing/2014/main" id="{FBBEA780-06CD-240A-2352-06148FFFCBDB}"/>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7" name="TextBox 6">
            <a:extLst>
              <a:ext uri="{FF2B5EF4-FFF2-40B4-BE49-F238E27FC236}">
                <a16:creationId xmlns:a16="http://schemas.microsoft.com/office/drawing/2014/main" id="{A7054B68-E3A5-6C34-34E3-FEFB197B43B6}"/>
              </a:ext>
            </a:extLst>
          </p:cNvPr>
          <p:cNvSpPr txBox="1"/>
          <p:nvPr/>
        </p:nvSpPr>
        <p:spPr>
          <a:xfrm>
            <a:off x="8923282" y="2306829"/>
            <a:ext cx="2974427" cy="1072900"/>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It will never pause in </a:t>
            </a:r>
          </a:p>
          <a:p>
            <a:pPr algn="l"/>
            <a:r>
              <a:rPr lang="en-US" sz="2000" dirty="0">
                <a:solidFill>
                  <a:schemeClr val="tx1"/>
                </a:solidFill>
                <a:latin typeface="Verdana" panose="020B0604030504040204" pitchFamily="34" charset="0"/>
                <a:ea typeface="Verdana" panose="020B0604030504040204" pitchFamily="34" charset="0"/>
              </a:rPr>
              <a:t>here. This is called a </a:t>
            </a:r>
          </a:p>
          <a:p>
            <a:pPr algn="l"/>
            <a:r>
              <a:rPr lang="en-US" sz="2000" dirty="0">
                <a:solidFill>
                  <a:schemeClr val="tx1"/>
                </a:solidFill>
                <a:latin typeface="Verdana" panose="020B0604030504040204" pitchFamily="34" charset="0"/>
                <a:ea typeface="Verdana" panose="020B0604030504040204" pitchFamily="34" charset="0"/>
              </a:rPr>
              <a:t>Critical Section</a:t>
            </a:r>
          </a:p>
        </p:txBody>
      </p:sp>
      <p:cxnSp>
        <p:nvCxnSpPr>
          <p:cNvPr id="8" name="Straight Arrow Connector 7">
            <a:extLst>
              <a:ext uri="{FF2B5EF4-FFF2-40B4-BE49-F238E27FC236}">
                <a16:creationId xmlns:a16="http://schemas.microsoft.com/office/drawing/2014/main" id="{83030F62-7303-04CB-DF87-217370AD0FA9}"/>
              </a:ext>
            </a:extLst>
          </p:cNvPr>
          <p:cNvCxnSpPr>
            <a:cxnSpLocks/>
          </p:cNvCxnSpPr>
          <p:nvPr/>
        </p:nvCxnSpPr>
        <p:spPr>
          <a:xfrm flipH="1">
            <a:off x="4407614" y="2706069"/>
            <a:ext cx="4515668" cy="0"/>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
        <p:nvSpPr>
          <p:cNvPr id="13" name="TextBox 12">
            <a:extLst>
              <a:ext uri="{FF2B5EF4-FFF2-40B4-BE49-F238E27FC236}">
                <a16:creationId xmlns:a16="http://schemas.microsoft.com/office/drawing/2014/main" id="{92DF861A-00B0-115D-46D2-C2FE0E83C985}"/>
              </a:ext>
            </a:extLst>
          </p:cNvPr>
          <p:cNvSpPr txBox="1"/>
          <p:nvPr/>
        </p:nvSpPr>
        <p:spPr>
          <a:xfrm>
            <a:off x="8610600" y="3632831"/>
            <a:ext cx="3287110" cy="842166"/>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Or in here (this is </a:t>
            </a:r>
          </a:p>
          <a:p>
            <a:pPr algn="l"/>
            <a:r>
              <a:rPr lang="en-US" sz="2000" dirty="0">
                <a:solidFill>
                  <a:schemeClr val="tx1"/>
                </a:solidFill>
                <a:latin typeface="Verdana" panose="020B0604030504040204" pitchFamily="34" charset="0"/>
                <a:ea typeface="Verdana" panose="020B0604030504040204" pitchFamily="34" charset="0"/>
              </a:rPr>
              <a:t>another Critical Section)</a:t>
            </a:r>
          </a:p>
        </p:txBody>
      </p:sp>
      <p:cxnSp>
        <p:nvCxnSpPr>
          <p:cNvPr id="14" name="Straight Arrow Connector 13">
            <a:extLst>
              <a:ext uri="{FF2B5EF4-FFF2-40B4-BE49-F238E27FC236}">
                <a16:creationId xmlns:a16="http://schemas.microsoft.com/office/drawing/2014/main" id="{D50DDC1E-F961-9AFF-F97B-74EDC8E77DF4}"/>
              </a:ext>
            </a:extLst>
          </p:cNvPr>
          <p:cNvCxnSpPr>
            <a:cxnSpLocks/>
            <a:stCxn id="13" idx="1"/>
            <a:endCxn id="5" idx="3"/>
          </p:cNvCxnSpPr>
          <p:nvPr/>
        </p:nvCxnSpPr>
        <p:spPr>
          <a:xfrm flipH="1" flipV="1">
            <a:off x="4407612" y="3901026"/>
            <a:ext cx="4202988" cy="152888"/>
          </a:xfrm>
          <a:prstGeom prst="straightConnector1">
            <a:avLst/>
          </a:prstGeom>
          <a:ln w="38100" cap="flat" cmpd="sng" algn="ctr">
            <a:solidFill>
              <a:schemeClr val="tx1"/>
            </a:solidFill>
            <a:prstDash val="dash"/>
            <a:round/>
            <a:headEnd type="none" w="med" len="med"/>
            <a:tailEnd type="stealth" w="lg" len="lg"/>
          </a:ln>
        </p:spPr>
        <p:style>
          <a:lnRef idx="0">
            <a:scrgbClr r="0" g="0" b="0"/>
          </a:lnRef>
          <a:fillRef idx="0">
            <a:scrgbClr r="0" g="0" b="0"/>
          </a:fillRef>
          <a:effectRef idx="0">
            <a:scrgbClr r="0" g="0" b="0"/>
          </a:effectRef>
          <a:fontRef idx="minor">
            <a:schemeClr val="tx1"/>
          </a:fontRef>
        </p:style>
      </p:cxnSp>
    </p:spTree>
    <p:extLst>
      <p:ext uri="{BB962C8B-B14F-4D97-AF65-F5344CB8AC3E}">
        <p14:creationId xmlns:p14="http://schemas.microsoft.com/office/powerpoint/2010/main" val="416193105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CC6A7-42E5-92A7-A388-5D39A22C6E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53C0E2B-EA5B-E5E3-4734-1DD582E88390}"/>
              </a:ext>
            </a:extLst>
          </p:cNvPr>
          <p:cNvSpPr>
            <a:spLocks noGrp="1"/>
          </p:cNvSpPr>
          <p:nvPr>
            <p:ph type="title"/>
          </p:nvPr>
        </p:nvSpPr>
        <p:spPr/>
        <p:txBody>
          <a:bodyPr/>
          <a:lstStyle/>
          <a:p>
            <a:r>
              <a:rPr lang="en-US" dirty="0"/>
              <a:t>What happens at those pause points?</a:t>
            </a:r>
          </a:p>
        </p:txBody>
      </p:sp>
      <p:sp>
        <p:nvSpPr>
          <p:cNvPr id="4" name="Slide Number Placeholder 3">
            <a:extLst>
              <a:ext uri="{FF2B5EF4-FFF2-40B4-BE49-F238E27FC236}">
                <a16:creationId xmlns:a16="http://schemas.microsoft.com/office/drawing/2014/main" id="{098AE61C-7625-0DB4-C960-56F5656312A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12" name="Group 11">
            <a:extLst>
              <a:ext uri="{FF2B5EF4-FFF2-40B4-BE49-F238E27FC236}">
                <a16:creationId xmlns:a16="http://schemas.microsoft.com/office/drawing/2014/main" id="{4D01E542-52F2-E8A8-9707-37515E355D5C}"/>
              </a:ext>
            </a:extLst>
          </p:cNvPr>
          <p:cNvGrpSpPr/>
          <p:nvPr/>
        </p:nvGrpSpPr>
        <p:grpSpPr>
          <a:xfrm>
            <a:off x="1050852" y="1807463"/>
            <a:ext cx="8308888" cy="3046988"/>
            <a:chOff x="838201" y="1828800"/>
            <a:chExt cx="8308888" cy="3046988"/>
          </a:xfrm>
        </p:grpSpPr>
        <p:sp>
          <p:nvSpPr>
            <p:cNvPr id="13" name="TextBox 12">
              <a:extLst>
                <a:ext uri="{FF2B5EF4-FFF2-40B4-BE49-F238E27FC236}">
                  <a16:creationId xmlns:a16="http://schemas.microsoft.com/office/drawing/2014/main" id="{524B25CF-BEFF-046A-98F7-748F614143FC}"/>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14" name="Rectangle 13">
              <a:extLst>
                <a:ext uri="{FF2B5EF4-FFF2-40B4-BE49-F238E27FC236}">
                  <a16:creationId xmlns:a16="http://schemas.microsoft.com/office/drawing/2014/main" id="{8FCB9E41-85AC-1023-B08A-8B59385C7420}"/>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15" name="Rectangle 14">
              <a:extLst>
                <a:ext uri="{FF2B5EF4-FFF2-40B4-BE49-F238E27FC236}">
                  <a16:creationId xmlns:a16="http://schemas.microsoft.com/office/drawing/2014/main" id="{C15C1478-8464-EE6D-2843-95C0DBFF2C95}"/>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pic>
        <p:nvPicPr>
          <p:cNvPr id="20" name="Picture 19" descr="A yellow triangle sign on a pole&#10;&#10;AI-generated content may be incorrect.">
            <a:extLst>
              <a:ext uri="{FF2B5EF4-FFF2-40B4-BE49-F238E27FC236}">
                <a16:creationId xmlns:a16="http://schemas.microsoft.com/office/drawing/2014/main" id="{C3898ABD-47E4-1D05-62BB-461544070F4D}"/>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6" y="2532393"/>
            <a:ext cx="565449" cy="713028"/>
          </a:xfrm>
          <a:prstGeom prst="rect">
            <a:avLst/>
          </a:prstGeom>
        </p:spPr>
      </p:pic>
      <p:pic>
        <p:nvPicPr>
          <p:cNvPr id="21" name="Picture 20" descr="A yellow triangle sign on a pole&#10;&#10;AI-generated content may be incorrect.">
            <a:extLst>
              <a:ext uri="{FF2B5EF4-FFF2-40B4-BE49-F238E27FC236}">
                <a16:creationId xmlns:a16="http://schemas.microsoft.com/office/drawing/2014/main" id="{F18DA810-04C3-45CC-D75C-6FCD09FD2EE9}"/>
              </a:ext>
            </a:extLst>
          </p:cNvPr>
          <p:cNvPicPr>
            <a:picLocks noChangeAspect="1"/>
          </p:cNvPicPr>
          <p:nvPr/>
        </p:nvPicPr>
        <p:blipFill>
          <a:blip r:embed="rId3" cstate="print">
            <a:extLst>
              <a:ext uri="{28A0092B-C50C-407E-A947-70E740481C1C}">
                <a14:useLocalDpi xmlns:a14="http://schemas.microsoft.com/office/drawing/2010/main" val="0"/>
              </a:ext>
            </a:extLst>
          </a:blip>
          <a:srcRect t="-1" b="43129"/>
          <a:stretch>
            <a:fillRect/>
          </a:stretch>
        </p:blipFill>
        <p:spPr>
          <a:xfrm>
            <a:off x="3118305" y="3879688"/>
            <a:ext cx="565449" cy="713028"/>
          </a:xfrm>
          <a:prstGeom prst="rect">
            <a:avLst/>
          </a:prstGeom>
        </p:spPr>
      </p:pic>
      <p:sp>
        <p:nvSpPr>
          <p:cNvPr id="22" name="TextBox 21">
            <a:extLst>
              <a:ext uri="{FF2B5EF4-FFF2-40B4-BE49-F238E27FC236}">
                <a16:creationId xmlns:a16="http://schemas.microsoft.com/office/drawing/2014/main" id="{F7501E0E-3098-D85A-EE3B-7B7C3DD3BA87}"/>
              </a:ext>
            </a:extLst>
          </p:cNvPr>
          <p:cNvSpPr txBox="1"/>
          <p:nvPr/>
        </p:nvSpPr>
        <p:spPr>
          <a:xfrm>
            <a:off x="8220172" y="3996370"/>
            <a:ext cx="1979629" cy="596188"/>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Pause points</a:t>
            </a:r>
          </a:p>
        </p:txBody>
      </p:sp>
      <p:cxnSp>
        <p:nvCxnSpPr>
          <p:cNvPr id="24" name="Straight Arrow Connector 23">
            <a:extLst>
              <a:ext uri="{FF2B5EF4-FFF2-40B4-BE49-F238E27FC236}">
                <a16:creationId xmlns:a16="http://schemas.microsoft.com/office/drawing/2014/main" id="{A45A24AF-25E9-0D54-9223-CEB9EBCDAD1B}"/>
              </a:ext>
            </a:extLst>
          </p:cNvPr>
          <p:cNvCxnSpPr>
            <a:cxnSpLocks/>
            <a:stCxn id="22" idx="1"/>
            <a:endCxn id="20" idx="3"/>
          </p:cNvCxnSpPr>
          <p:nvPr/>
        </p:nvCxnSpPr>
        <p:spPr>
          <a:xfrm flipH="1" flipV="1">
            <a:off x="3683755" y="2888907"/>
            <a:ext cx="4536417" cy="1405557"/>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4E1E3DBE-FA26-3DF1-DB47-7EE45163FEEE}"/>
              </a:ext>
            </a:extLst>
          </p:cNvPr>
          <p:cNvCxnSpPr>
            <a:cxnSpLocks/>
            <a:stCxn id="22" idx="1"/>
          </p:cNvCxnSpPr>
          <p:nvPr/>
        </p:nvCxnSpPr>
        <p:spPr>
          <a:xfrm flipH="1" flipV="1">
            <a:off x="3401029" y="4117002"/>
            <a:ext cx="4819143" cy="177462"/>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299436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650D74F-37D9-58E0-28AE-F4FE65F1E4AA}"/>
              </a:ext>
            </a:extLst>
          </p:cNvPr>
          <p:cNvSpPr>
            <a:spLocks noGrp="1"/>
          </p:cNvSpPr>
          <p:nvPr>
            <p:ph type="title"/>
          </p:nvPr>
        </p:nvSpPr>
        <p:spPr/>
        <p:txBody>
          <a:bodyPr/>
          <a:lstStyle/>
          <a:p>
            <a:r>
              <a:rPr lang="en-US" dirty="0"/>
              <a:t>What happens when you await?</a:t>
            </a:r>
          </a:p>
        </p:txBody>
      </p:sp>
      <p:sp>
        <p:nvSpPr>
          <p:cNvPr id="3" name="Content Placeholder 2">
            <a:extLst>
              <a:ext uri="{FF2B5EF4-FFF2-40B4-BE49-F238E27FC236}">
                <a16:creationId xmlns:a16="http://schemas.microsoft.com/office/drawing/2014/main" id="{923883D1-804C-2B0E-B307-7E10EB59752B}"/>
              </a:ext>
            </a:extLst>
          </p:cNvPr>
          <p:cNvSpPr>
            <a:spLocks noGrp="1"/>
          </p:cNvSpPr>
          <p:nvPr>
            <p:ph idx="1"/>
          </p:nvPr>
        </p:nvSpPr>
        <p:spPr>
          <a:xfrm>
            <a:off x="838200" y="1500160"/>
            <a:ext cx="9240078" cy="4351338"/>
          </a:xfrm>
        </p:spPr>
        <p:txBody>
          <a:bodyPr>
            <a:normAutofit lnSpcReduction="10000"/>
          </a:bodyPr>
          <a:lstStyle/>
          <a:p>
            <a:r>
              <a:rPr lang="en-US" dirty="0"/>
              <a:t>When you ‘await’ on an asynchronous task, you are cooperating with the event loop by allowing it to work on something else.</a:t>
            </a:r>
          </a:p>
          <a:p>
            <a:r>
              <a:rPr lang="en-US" dirty="0"/>
              <a:t>In technical terms, you are </a:t>
            </a:r>
            <a:r>
              <a:rPr lang="en-US" dirty="0">
                <a:solidFill>
                  <a:srgbClr val="FF0000"/>
                </a:solidFill>
              </a:rPr>
              <a:t>returning</a:t>
            </a:r>
            <a:r>
              <a:rPr lang="en-US" dirty="0"/>
              <a:t> with a </a:t>
            </a:r>
            <a:r>
              <a:rPr lang="en-US" b="1" i="1" dirty="0"/>
              <a:t>pending</a:t>
            </a:r>
            <a:r>
              <a:rPr lang="en-US" i="1" dirty="0"/>
              <a:t> </a:t>
            </a:r>
            <a:r>
              <a:rPr lang="en-US" dirty="0"/>
              <a:t>promise which means that some work will be completed in future.</a:t>
            </a:r>
          </a:p>
          <a:p>
            <a:r>
              <a:rPr lang="en-US" dirty="0"/>
              <a:t>While you are waiting for that future, event loop will continue finishing its current task (whatever is in call stack) and then other tasks (whatever is in callback queue).</a:t>
            </a:r>
          </a:p>
          <a:p>
            <a:r>
              <a:rPr lang="en-US" dirty="0"/>
              <a:t>Eventually you will return to complete the </a:t>
            </a:r>
            <a:r>
              <a:rPr lang="en-US" b="1" i="1" dirty="0"/>
              <a:t>awaited</a:t>
            </a:r>
            <a:r>
              <a:rPr lang="en-US" i="1" dirty="0"/>
              <a:t> </a:t>
            </a:r>
            <a:r>
              <a:rPr lang="en-US" dirty="0"/>
              <a:t>work.</a:t>
            </a:r>
          </a:p>
        </p:txBody>
      </p:sp>
      <p:sp>
        <p:nvSpPr>
          <p:cNvPr id="4" name="Slide Number Placeholder 3">
            <a:extLst>
              <a:ext uri="{FF2B5EF4-FFF2-40B4-BE49-F238E27FC236}">
                <a16:creationId xmlns:a16="http://schemas.microsoft.com/office/drawing/2014/main" id="{5D0C82EA-6AFA-0238-FD72-B79658B36725}"/>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47826607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121F2F-6CF4-38E5-4111-58D01708C3D0}"/>
              </a:ext>
            </a:extLst>
          </p:cNvPr>
          <p:cNvSpPr>
            <a:spLocks noGrp="1"/>
          </p:cNvSpPr>
          <p:nvPr>
            <p:ph type="title"/>
          </p:nvPr>
        </p:nvSpPr>
        <p:spPr/>
        <p:txBody>
          <a:bodyPr>
            <a:normAutofit/>
          </a:bodyPr>
          <a:lstStyle/>
          <a:p>
            <a:r>
              <a:rPr lang="en-US" dirty="0"/>
              <a:t>Promises come in two flavors: microtasks and </a:t>
            </a:r>
            <a:r>
              <a:rPr lang="en-US" dirty="0" err="1"/>
              <a:t>macrotasks</a:t>
            </a:r>
            <a:endParaRPr lang="en-US" dirty="0"/>
          </a:p>
        </p:txBody>
      </p:sp>
      <p:sp>
        <p:nvSpPr>
          <p:cNvPr id="4" name="Slide Number Placeholder 3">
            <a:extLst>
              <a:ext uri="{FF2B5EF4-FFF2-40B4-BE49-F238E27FC236}">
                <a16:creationId xmlns:a16="http://schemas.microsoft.com/office/drawing/2014/main" id="{04664315-99D5-1896-D0BB-CD09B9541421}"/>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0" name="Content Placeholder 1">
            <a:extLst>
              <a:ext uri="{FF2B5EF4-FFF2-40B4-BE49-F238E27FC236}">
                <a16:creationId xmlns:a16="http://schemas.microsoft.com/office/drawing/2014/main" id="{C8607FDF-AE92-26C4-F259-B37D84C4E431}"/>
              </a:ext>
            </a:extLst>
          </p:cNvPr>
          <p:cNvSpPr>
            <a:spLocks noGrp="1"/>
          </p:cNvSpPr>
          <p:nvPr>
            <p:ph idx="1"/>
          </p:nvPr>
        </p:nvSpPr>
        <p:spPr>
          <a:xfrm>
            <a:off x="838199" y="1500159"/>
            <a:ext cx="5072743" cy="4769267"/>
          </a:xfrm>
        </p:spPr>
        <p:txBody>
          <a:bodyPr>
            <a:normAutofit/>
          </a:bodyPr>
          <a:lstStyle/>
          <a:p>
            <a:r>
              <a:rPr lang="en-US" dirty="0"/>
              <a:t>Microtask queue is used for immediate/urgent tasks while </a:t>
            </a:r>
            <a:r>
              <a:rPr lang="en-US" dirty="0" err="1"/>
              <a:t>Macrotask</a:t>
            </a:r>
            <a:r>
              <a:rPr lang="en-US" dirty="0"/>
              <a:t> queue is used for slower asynchronous tasks.</a:t>
            </a:r>
          </a:p>
          <a:p>
            <a:r>
              <a:rPr lang="en-US" dirty="0"/>
              <a:t>When call stack is empty, microtask queue is processed first (before browser renders). When microtask queue is empty then </a:t>
            </a:r>
            <a:r>
              <a:rPr lang="en-US" dirty="0" err="1"/>
              <a:t>macrotask</a:t>
            </a:r>
            <a:r>
              <a:rPr lang="en-US" dirty="0"/>
              <a:t> queue is processed.</a:t>
            </a:r>
          </a:p>
        </p:txBody>
      </p:sp>
      <p:pic>
        <p:nvPicPr>
          <p:cNvPr id="1026" name="Picture 2" descr="Understanding the Call Stack, Microtask Queue, and Macrotask Queue in JavaScript">
            <a:extLst>
              <a:ext uri="{FF2B5EF4-FFF2-40B4-BE49-F238E27FC236}">
                <a16:creationId xmlns:a16="http://schemas.microsoft.com/office/drawing/2014/main" id="{260730D6-DA97-1FE4-E903-8B30CB508CA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078311" y="1612446"/>
            <a:ext cx="5275489" cy="29652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0633548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FF6C7-4400-832E-8365-1AAC318F048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0F84CB2-B3EA-FA04-AF72-8861E64253AC}"/>
              </a:ext>
            </a:extLst>
          </p:cNvPr>
          <p:cNvSpPr>
            <a:spLocks noGrp="1"/>
          </p:cNvSpPr>
          <p:nvPr>
            <p:ph type="title"/>
          </p:nvPr>
        </p:nvSpPr>
        <p:spPr/>
        <p:txBody>
          <a:bodyPr>
            <a:normAutofit/>
          </a:bodyPr>
          <a:lstStyle/>
          <a:p>
            <a:r>
              <a:rPr lang="en-US" dirty="0" err="1"/>
              <a:t>Macrotasks</a:t>
            </a:r>
            <a:r>
              <a:rPr lang="en-US" dirty="0"/>
              <a:t> are API calls; Microtasks are what you do after the API call returns</a:t>
            </a:r>
          </a:p>
        </p:txBody>
      </p:sp>
      <p:sp>
        <p:nvSpPr>
          <p:cNvPr id="4" name="Slide Number Placeholder 3">
            <a:extLst>
              <a:ext uri="{FF2B5EF4-FFF2-40B4-BE49-F238E27FC236}">
                <a16:creationId xmlns:a16="http://schemas.microsoft.com/office/drawing/2014/main" id="{2412C9BA-1856-821C-1119-D2435AC7CE96}"/>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6" name="Group 5">
            <a:extLst>
              <a:ext uri="{FF2B5EF4-FFF2-40B4-BE49-F238E27FC236}">
                <a16:creationId xmlns:a16="http://schemas.microsoft.com/office/drawing/2014/main" id="{2221E0FB-30DE-898A-1345-C4EBEFBB8037}"/>
              </a:ext>
            </a:extLst>
          </p:cNvPr>
          <p:cNvGrpSpPr/>
          <p:nvPr/>
        </p:nvGrpSpPr>
        <p:grpSpPr>
          <a:xfrm>
            <a:off x="1050852" y="1829058"/>
            <a:ext cx="8308888" cy="3046988"/>
            <a:chOff x="838201" y="1828800"/>
            <a:chExt cx="8308888" cy="3046988"/>
          </a:xfrm>
        </p:grpSpPr>
        <p:sp>
          <p:nvSpPr>
            <p:cNvPr id="7" name="TextBox 6">
              <a:extLst>
                <a:ext uri="{FF2B5EF4-FFF2-40B4-BE49-F238E27FC236}">
                  <a16:creationId xmlns:a16="http://schemas.microsoft.com/office/drawing/2014/main" id="{061BD5AA-ECAC-A016-14C0-2D5B67A64FB0}"/>
                </a:ext>
              </a:extLst>
            </p:cNvPr>
            <p:cNvSpPr txBox="1"/>
            <p:nvPr/>
          </p:nvSpPr>
          <p:spPr>
            <a:xfrm>
              <a:off x="838201" y="1828800"/>
              <a:ext cx="8308888" cy="304698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someFunction</a:t>
              </a:r>
              <a:r>
                <a:rPr lang="en-US" sz="2400" b="0" dirty="0">
                  <a:solidFill>
                    <a:srgbClr val="000000"/>
                  </a:solidFill>
                  <a:effectLst/>
                  <a:latin typeface="Consolas" panose="020B0609020204030204" pitchFamily="49" charset="0"/>
                </a:rPr>
                <a:t>(</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number) {</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j = </a:t>
              </a:r>
              <a:r>
                <a:rPr lang="en-US" sz="2400" b="0" dirty="0" err="1">
                  <a:solidFill>
                    <a:srgbClr val="000000"/>
                  </a:solidFill>
                  <a:effectLst/>
                  <a:latin typeface="Consolas" panose="020B0609020204030204" pitchFamily="49" charset="0"/>
                </a:rPr>
                <a:t>i</a:t>
              </a:r>
              <a:r>
                <a:rPr lang="en-US" sz="2400" b="0" dirty="0">
                  <a:solidFill>
                    <a:srgbClr val="000000"/>
                  </a:solidFill>
                  <a:effectLst/>
                  <a:latin typeface="Consolas" panose="020B0609020204030204" pitchFamily="49" charset="0"/>
                </a:rPr>
                <a:t> + </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k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someOtherAsyncFunction</a:t>
              </a:r>
              <a:r>
                <a:rPr lang="en-US" sz="2400" b="0" dirty="0">
                  <a:solidFill>
                    <a:srgbClr val="000000"/>
                  </a:solidFill>
                  <a:effectLst/>
                  <a:latin typeface="Consolas" panose="020B0609020204030204" pitchFamily="49" charset="0"/>
                </a:rPr>
                <a:t>(j);</a:t>
              </a:r>
            </a:p>
            <a:p>
              <a:pPr algn="l">
                <a:buNone/>
              </a:pPr>
              <a:r>
                <a:rPr lang="en-US" sz="2400" b="0" dirty="0">
                  <a:solidFill>
                    <a:srgbClr val="000000"/>
                  </a:solidFill>
                  <a:effectLst/>
                  <a:latin typeface="Consolas" panose="020B0609020204030204" pitchFamily="49" charset="0"/>
                </a:rPr>
                <a:t>    </a:t>
              </a:r>
              <a:r>
                <a:rPr lang="en-US" sz="2400" b="0" dirty="0">
                  <a:solidFill>
                    <a:srgbClr val="008000"/>
                  </a:solidFill>
                  <a:effectLst/>
                  <a:latin typeface="Consolas" panose="020B0609020204030204" pitchFamily="49" charset="0"/>
                </a:rPr>
                <a:t>// ...</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m = k + </a:t>
              </a:r>
              <a:r>
                <a:rPr lang="en-US" sz="2400" b="0" dirty="0">
                  <a:solidFill>
                    <a:srgbClr val="098658"/>
                  </a:solidFill>
                  <a:effectLst/>
                  <a:latin typeface="Consolas" panose="020B0609020204030204" pitchFamily="49" charset="0"/>
                </a:rPr>
                <a:t>100</a:t>
              </a:r>
              <a:endParaRPr lang="en-US" sz="2400" b="0" dirty="0">
                <a:solidFill>
                  <a:srgbClr val="000000"/>
                </a:solidFill>
                <a:effectLst/>
                <a:latin typeface="Consolas" panose="020B0609020204030204" pitchFamily="49" charset="0"/>
              </a:endParaRP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return</a:t>
              </a:r>
              <a:r>
                <a:rPr lang="en-US" sz="2400" b="0" dirty="0">
                  <a:solidFill>
                    <a:srgbClr val="000000"/>
                  </a:solidFill>
                  <a:effectLst/>
                  <a:latin typeface="Consolas" panose="020B0609020204030204" pitchFamily="49" charset="0"/>
                </a:rPr>
                <a:t> m;</a:t>
              </a:r>
            </a:p>
            <a:p>
              <a:pPr algn="l"/>
              <a:r>
                <a:rPr lang="en-US" sz="2400" b="0" dirty="0">
                  <a:solidFill>
                    <a:srgbClr val="000000"/>
                  </a:solidFill>
                  <a:effectLst/>
                  <a:latin typeface="Consolas" panose="020B0609020204030204" pitchFamily="49" charset="0"/>
                </a:rPr>
                <a:t>}</a:t>
              </a:r>
            </a:p>
          </p:txBody>
        </p:sp>
        <p:sp>
          <p:nvSpPr>
            <p:cNvPr id="8" name="Rectangle 7">
              <a:extLst>
                <a:ext uri="{FF2B5EF4-FFF2-40B4-BE49-F238E27FC236}">
                  <a16:creationId xmlns:a16="http://schemas.microsoft.com/office/drawing/2014/main" id="{7EB1040B-4E2F-A2C7-DD36-983697394B46}"/>
                </a:ext>
              </a:extLst>
            </p:cNvPr>
            <p:cNvSpPr/>
            <p:nvPr/>
          </p:nvSpPr>
          <p:spPr>
            <a:xfrm>
              <a:off x="1561672" y="2301411"/>
              <a:ext cx="2845941" cy="729465"/>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9" name="Rectangle 8">
              <a:extLst>
                <a:ext uri="{FF2B5EF4-FFF2-40B4-BE49-F238E27FC236}">
                  <a16:creationId xmlns:a16="http://schemas.microsoft.com/office/drawing/2014/main" id="{E4C513F9-603F-2F30-B8B0-1067F2378288}"/>
                </a:ext>
              </a:extLst>
            </p:cNvPr>
            <p:cNvSpPr/>
            <p:nvPr/>
          </p:nvSpPr>
          <p:spPr>
            <a:xfrm>
              <a:off x="1561671" y="3373889"/>
              <a:ext cx="2845941" cy="1054273"/>
            </a:xfrm>
            <a:prstGeom prst="rect">
              <a:avLst/>
            </a:prstGeom>
            <a:solidFill>
              <a:srgbClr val="92D050">
                <a:alpha val="2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grpSp>
      <p:sp>
        <p:nvSpPr>
          <p:cNvPr id="17" name="TextBox 16">
            <a:extLst>
              <a:ext uri="{FF2B5EF4-FFF2-40B4-BE49-F238E27FC236}">
                <a16:creationId xmlns:a16="http://schemas.microsoft.com/office/drawing/2014/main" id="{5659ADE4-263F-D99A-4AAD-ABB5034184DB}"/>
              </a:ext>
            </a:extLst>
          </p:cNvPr>
          <p:cNvSpPr txBox="1"/>
          <p:nvPr/>
        </p:nvSpPr>
        <p:spPr>
          <a:xfrm>
            <a:off x="9699661" y="1853096"/>
            <a:ext cx="1807077"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a:t>
            </a:r>
            <a:r>
              <a:rPr lang="en-US" sz="2000" dirty="0" err="1">
                <a:solidFill>
                  <a:schemeClr val="tx1"/>
                </a:solidFill>
                <a:latin typeface="Verdana" panose="020B0604030504040204" pitchFamily="34" charset="0"/>
                <a:ea typeface="Verdana" panose="020B0604030504040204" pitchFamily="34" charset="0"/>
              </a:rPr>
              <a:t>macrotask</a:t>
            </a:r>
            <a:endParaRPr lang="en-US" sz="2000" dirty="0">
              <a:solidFill>
                <a:schemeClr val="tx1"/>
              </a:solidFill>
              <a:latin typeface="Verdana" panose="020B0604030504040204" pitchFamily="34" charset="0"/>
              <a:ea typeface="Verdana" panose="020B0604030504040204" pitchFamily="34" charset="0"/>
            </a:endParaRPr>
          </a:p>
        </p:txBody>
      </p:sp>
      <p:sp>
        <p:nvSpPr>
          <p:cNvPr id="19" name="TextBox 18">
            <a:extLst>
              <a:ext uri="{FF2B5EF4-FFF2-40B4-BE49-F238E27FC236}">
                <a16:creationId xmlns:a16="http://schemas.microsoft.com/office/drawing/2014/main" id="{28770D23-C224-3AE9-17C5-53F72BC77258}"/>
              </a:ext>
            </a:extLst>
          </p:cNvPr>
          <p:cNvSpPr txBox="1"/>
          <p:nvPr/>
        </p:nvSpPr>
        <p:spPr>
          <a:xfrm>
            <a:off x="7998408" y="4428420"/>
            <a:ext cx="1983792" cy="707886"/>
          </a:xfrm>
          <a:prstGeom prst="rect">
            <a:avLst/>
          </a:prstGeom>
          <a:noFill/>
          <a:ln>
            <a:solidFill>
              <a:srgbClr val="0A52B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spAutoFit/>
          </a:bodyPr>
          <a:lstStyle/>
          <a:p>
            <a:pPr algn="l"/>
            <a:r>
              <a:rPr lang="en-US" sz="2000" dirty="0">
                <a:solidFill>
                  <a:schemeClr val="tx1"/>
                </a:solidFill>
                <a:latin typeface="Verdana" panose="020B0604030504040204" pitchFamily="34" charset="0"/>
                <a:ea typeface="Verdana" panose="020B0604030504040204" pitchFamily="34" charset="0"/>
              </a:rPr>
              <a:t>This will be a microtask</a:t>
            </a:r>
          </a:p>
        </p:txBody>
      </p:sp>
      <p:sp>
        <p:nvSpPr>
          <p:cNvPr id="21" name="Rectangle: Rounded Corners 20">
            <a:extLst>
              <a:ext uri="{FF2B5EF4-FFF2-40B4-BE49-F238E27FC236}">
                <a16:creationId xmlns:a16="http://schemas.microsoft.com/office/drawing/2014/main" id="{657F2ACF-63C3-57C7-6DB9-E2904C44B5AF}"/>
              </a:ext>
            </a:extLst>
          </p:cNvPr>
          <p:cNvSpPr/>
          <p:nvPr/>
        </p:nvSpPr>
        <p:spPr>
          <a:xfrm>
            <a:off x="4476584" y="2941983"/>
            <a:ext cx="4492487" cy="487017"/>
          </a:xfrm>
          <a:prstGeom prst="roundRect">
            <a:avLst/>
          </a:prstGeom>
          <a:solidFill>
            <a:srgbClr val="FFFF00">
              <a:alpha val="18000"/>
            </a:srgb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cxnSp>
        <p:nvCxnSpPr>
          <p:cNvPr id="23" name="Straight Arrow Connector 22">
            <a:extLst>
              <a:ext uri="{FF2B5EF4-FFF2-40B4-BE49-F238E27FC236}">
                <a16:creationId xmlns:a16="http://schemas.microsoft.com/office/drawing/2014/main" id="{3F07F8A8-DC68-75E8-51B6-5B4E9EB26396}"/>
              </a:ext>
            </a:extLst>
          </p:cNvPr>
          <p:cNvCxnSpPr>
            <a:stCxn id="17" idx="1"/>
          </p:cNvCxnSpPr>
          <p:nvPr/>
        </p:nvCxnSpPr>
        <p:spPr>
          <a:xfrm flipH="1">
            <a:off x="8990304" y="2207039"/>
            <a:ext cx="709357" cy="734944"/>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54988588-227D-A397-E8B3-11E913D8B099}"/>
              </a:ext>
            </a:extLst>
          </p:cNvPr>
          <p:cNvCxnSpPr/>
          <p:nvPr/>
        </p:nvCxnSpPr>
        <p:spPr>
          <a:xfrm flipH="1" flipV="1">
            <a:off x="4710223" y="3901283"/>
            <a:ext cx="3200400" cy="872736"/>
          </a:xfrm>
          <a:prstGeom prst="straightConnector1">
            <a:avLst/>
          </a:prstGeom>
          <a:ln w="1270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891365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6B6FF2-D7E9-5798-4A7B-8CC815E92E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C6B1FB9-6229-BC24-7548-3E614A7B2BE7}"/>
              </a:ext>
            </a:extLst>
          </p:cNvPr>
          <p:cNvSpPr>
            <a:spLocks noGrp="1"/>
          </p:cNvSpPr>
          <p:nvPr>
            <p:ph type="title"/>
          </p:nvPr>
        </p:nvSpPr>
        <p:spPr/>
        <p:txBody>
          <a:bodyPr/>
          <a:lstStyle/>
          <a:p>
            <a:r>
              <a:rPr lang="en-US" dirty="0"/>
              <a:t>How does JS Event Loop make this happen?</a:t>
            </a:r>
          </a:p>
        </p:txBody>
      </p:sp>
      <p:sp>
        <p:nvSpPr>
          <p:cNvPr id="4" name="Slide Number Placeholder 3">
            <a:extLst>
              <a:ext uri="{FF2B5EF4-FFF2-40B4-BE49-F238E27FC236}">
                <a16:creationId xmlns:a16="http://schemas.microsoft.com/office/drawing/2014/main" id="{EA3A904D-F20A-D34F-4524-7477EE34E62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18</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19" name="Text Placeholder 3">
            <a:extLst>
              <a:ext uri="{FF2B5EF4-FFF2-40B4-BE49-F238E27FC236}">
                <a16:creationId xmlns:a16="http://schemas.microsoft.com/office/drawing/2014/main" id="{2B28A1BC-D08D-6A8C-D1F1-3D3620D33AC2}"/>
              </a:ext>
            </a:extLst>
          </p:cNvPr>
          <p:cNvSpPr txBox="1">
            <a:spLocks/>
          </p:cNvSpPr>
          <p:nvPr/>
        </p:nvSpPr>
        <p:spPr>
          <a:xfrm>
            <a:off x="838200" y="1691622"/>
            <a:ext cx="4659086" cy="4800618"/>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dirty="0"/>
              <a:t>One Event Loop means that we have single thread of execution</a:t>
            </a:r>
          </a:p>
          <a:p>
            <a:r>
              <a:rPr lang="en-US" dirty="0"/>
              <a:t>The </a:t>
            </a:r>
            <a:r>
              <a:rPr lang="en-US" dirty="0" err="1"/>
              <a:t>WebAPI</a:t>
            </a:r>
            <a:r>
              <a:rPr lang="en-US" dirty="0"/>
              <a:t> is used for asynchronous tasks</a:t>
            </a:r>
          </a:p>
          <a:p>
            <a:r>
              <a:rPr lang="en-US" dirty="0"/>
              <a:t>Queues are used for “await”-ed tasks</a:t>
            </a:r>
          </a:p>
          <a:p>
            <a:r>
              <a:rPr lang="en-US" dirty="0"/>
              <a:t>When call stack becomes </a:t>
            </a:r>
            <a:r>
              <a:rPr lang="en-US" dirty="0">
                <a:solidFill>
                  <a:srgbClr val="FF0000"/>
                </a:solidFill>
              </a:rPr>
              <a:t>empty</a:t>
            </a:r>
            <a:r>
              <a:rPr lang="en-US" dirty="0"/>
              <a:t>, the event loop picks up tasks from Callback Queues</a:t>
            </a:r>
          </a:p>
          <a:p>
            <a:r>
              <a:rPr lang="en-US" dirty="0"/>
              <a:t>Microtask queue has priority over </a:t>
            </a:r>
            <a:r>
              <a:rPr lang="en-US" dirty="0" err="1"/>
              <a:t>macrotask</a:t>
            </a:r>
            <a:r>
              <a:rPr lang="en-US" dirty="0"/>
              <a:t> queue</a:t>
            </a:r>
          </a:p>
        </p:txBody>
      </p:sp>
      <p:pic>
        <p:nvPicPr>
          <p:cNvPr id="1030" name="Picture 6">
            <a:extLst>
              <a:ext uri="{FF2B5EF4-FFF2-40B4-BE49-F238E27FC236}">
                <a16:creationId xmlns:a16="http://schemas.microsoft.com/office/drawing/2014/main" id="{BD18DA11-1A64-B2DC-B906-FF4A98FDE878}"/>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5563386" y="1892300"/>
            <a:ext cx="6094427" cy="30734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526907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0" name="Asynchronous Computation with Threads"/>
          <p:cNvSpPr txBox="1">
            <a:spLocks noGrp="1"/>
          </p:cNvSpPr>
          <p:nvPr>
            <p:ph type="title"/>
          </p:nvPr>
        </p:nvSpPr>
        <p:spPr>
          <a:xfrm>
            <a:off x="838200" y="18255"/>
            <a:ext cx="11114314" cy="1325563"/>
          </a:xfrm>
          <a:prstGeom prst="rect">
            <a:avLst/>
          </a:prstGeom>
        </p:spPr>
        <p:txBody>
          <a:bodyPr/>
          <a:lstStyle/>
          <a:p>
            <a:r>
              <a:rPr lang="en-US" dirty="0"/>
              <a:t>By contrast, most OS's use </a:t>
            </a:r>
            <a:r>
              <a:rPr lang="en-US" b="1" dirty="0"/>
              <a:t>pre-emptive</a:t>
            </a:r>
            <a:r>
              <a:rPr lang="en-US" dirty="0"/>
              <a:t> </a:t>
            </a:r>
            <a:r>
              <a:rPr lang="en-US" b="1" dirty="0"/>
              <a:t>multiprocessing</a:t>
            </a:r>
            <a:endParaRPr b="1" dirty="0"/>
          </a:p>
        </p:txBody>
      </p:sp>
      <p:sp>
        <p:nvSpPr>
          <p:cNvPr id="192" name="Multi-Threading allows us to do more than one thing at a time…"/>
          <p:cNvSpPr txBox="1">
            <a:spLocks noGrp="1"/>
          </p:cNvSpPr>
          <p:nvPr>
            <p:ph idx="1"/>
          </p:nvPr>
        </p:nvSpPr>
        <p:spPr>
          <a:xfrm>
            <a:off x="838200" y="1500160"/>
            <a:ext cx="9818914" cy="4351338"/>
          </a:xfrm>
          <a:prstGeom prst="rect">
            <a:avLst/>
          </a:prstGeom>
        </p:spPr>
        <p:txBody>
          <a:bodyPr>
            <a:normAutofit/>
          </a:bodyPr>
          <a:lstStyle/>
          <a:p>
            <a:r>
              <a:rPr lang="en-US" dirty="0"/>
              <a:t>OS manages multiprocessing with multiple threads of execution</a:t>
            </a:r>
          </a:p>
          <a:p>
            <a:r>
              <a:rPr lang="en-US" dirty="0"/>
              <a:t>Processes may be </a:t>
            </a:r>
            <a:r>
              <a:rPr lang="en-US" b="1" i="1" dirty="0"/>
              <a:t>interrupted</a:t>
            </a:r>
            <a:r>
              <a:rPr lang="en-US" dirty="0"/>
              <a:t> at unpredictable</a:t>
            </a:r>
            <a:r>
              <a:rPr lang="en-US" baseline="0" dirty="0"/>
              <a:t> times</a:t>
            </a:r>
            <a:endParaRPr lang="en-US" dirty="0"/>
          </a:p>
          <a:p>
            <a:pPr lvl="0"/>
            <a:r>
              <a:rPr lang="en-US" dirty="0"/>
              <a:t>Inter-process communication by shared memory</a:t>
            </a:r>
          </a:p>
          <a:p>
            <a:r>
              <a:rPr lang="en-US" dirty="0"/>
              <a:t>Data races abound</a:t>
            </a:r>
          </a:p>
          <a:p>
            <a:pPr lvl="0"/>
            <a:r>
              <a:rPr lang="en-US" dirty="0"/>
              <a:t>Really, really hard to get right: need critical sections, semaphores, monitors (all that stuff you learned about in op. sys.)</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Java vs. JS/TS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838200" y="1452957"/>
            <a:ext cx="7942006" cy="5016758"/>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'A'</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waitRandom</a:t>
            </a:r>
            <a:r>
              <a:rPr lang="en-US" sz="2000" b="0" dirty="0">
                <a:solidFill>
                  <a:srgbClr val="3B3B3B"/>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'B'</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    </a:t>
            </a:r>
            <a:r>
              <a:rPr lang="en-US" sz="2000" b="0" dirty="0">
                <a:solidFill>
                  <a:srgbClr val="001080"/>
                </a:solidFill>
                <a:effectLst/>
                <a:latin typeface="Consolas" panose="020B0609020204030204" pitchFamily="49" charset="0"/>
              </a:rPr>
              <a:t>console</a:t>
            </a:r>
            <a:r>
              <a:rPr lang="en-US" sz="2000" b="0" dirty="0">
                <a:solidFill>
                  <a:srgbClr val="3B3B3B"/>
                </a:solidFill>
                <a:effectLst/>
                <a:latin typeface="Consolas" panose="020B0609020204030204" pitchFamily="49" charset="0"/>
              </a:rPr>
              <a:t>.</a:t>
            </a:r>
            <a:r>
              <a:rPr lang="en-US" sz="2000" b="0" dirty="0">
                <a:solidFill>
                  <a:srgbClr val="795E26"/>
                </a:solidFill>
                <a:effectLst/>
                <a:latin typeface="Consolas" panose="020B0609020204030204" pitchFamily="49" charset="0"/>
              </a:rPr>
              <a:t>log</a:t>
            </a:r>
            <a:r>
              <a:rPr lang="en-US" sz="2000" b="0" dirty="0">
                <a:solidFill>
                  <a:srgbClr val="3B3B3B"/>
                </a:solidFill>
                <a:effectLst/>
                <a:latin typeface="Consolas" panose="020B0609020204030204" pitchFamily="49" charset="0"/>
              </a:rPr>
              <a:t>(</a:t>
            </a:r>
            <a:r>
              <a:rPr lang="en-US" sz="2000" b="0" dirty="0">
                <a:solidFill>
                  <a:srgbClr val="A31515"/>
                </a:solidFill>
                <a:effectLst/>
                <a:latin typeface="Consolas" panose="020B0609020204030204" pitchFamily="49" charset="0"/>
              </a:rPr>
              <a:t>'C'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3B3B3B"/>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3B3B3B"/>
                </a:solidFill>
                <a:effectLst/>
                <a:latin typeface="Consolas" panose="020B0609020204030204" pitchFamily="49" charset="0"/>
              </a:rPr>
              <a:t> </a:t>
            </a: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 {</a:t>
            </a:r>
          </a:p>
          <a:p>
            <a:pPr algn="l">
              <a:buNone/>
            </a:pPr>
            <a:r>
              <a:rPr lang="en-US" sz="2000" b="0" dirty="0">
                <a:solidFill>
                  <a:srgbClr val="3B3B3B"/>
                </a:solidFill>
                <a:effectLst/>
                <a:latin typeface="Consolas" panose="020B0609020204030204" pitchFamily="49" charset="0"/>
              </a:rPr>
              <a:t>    </a:t>
            </a:r>
            <a:r>
              <a:rPr lang="en-US" sz="2000" b="0" dirty="0">
                <a:solidFill>
                  <a:srgbClr val="AF00DB"/>
                </a:solidFill>
                <a:effectLst/>
                <a:latin typeface="Consolas" panose="020B0609020204030204" pitchFamily="49" charset="0"/>
              </a:rPr>
              <a:t>await</a:t>
            </a:r>
            <a:r>
              <a:rPr lang="en-US" sz="2000" b="0" dirty="0">
                <a:solidFill>
                  <a:srgbClr val="3B3B3B"/>
                </a:solidFill>
                <a:effectLst/>
                <a:latin typeface="Consolas" panose="020B0609020204030204" pitchFamily="49" charset="0"/>
              </a:rPr>
              <a:t> </a:t>
            </a:r>
            <a:r>
              <a:rPr lang="en-US" sz="2000" b="0" dirty="0" err="1">
                <a:solidFill>
                  <a:srgbClr val="267F99"/>
                </a:solidFill>
                <a:effectLst/>
                <a:latin typeface="Consolas" panose="020B0609020204030204" pitchFamily="49" charset="0"/>
              </a:rPr>
              <a:t>Promise</a:t>
            </a:r>
            <a:r>
              <a:rPr lang="en-US" sz="2000" b="0" dirty="0" err="1">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all</a:t>
            </a:r>
            <a:r>
              <a:rPr lang="en-US" sz="2000" b="0" dirty="0">
                <a:solidFill>
                  <a:srgbClr val="3B3B3B"/>
                </a:solidFill>
                <a:effectLst/>
                <a:latin typeface="Consolas" panose="020B0609020204030204" pitchFamily="49" charset="0"/>
              </a:rPr>
              <a:t>([</a:t>
            </a:r>
            <a:r>
              <a:rPr lang="en-US" sz="2000" b="0" dirty="0" err="1">
                <a:solidFill>
                  <a:srgbClr val="795E26"/>
                </a:solidFill>
                <a:effectLst/>
                <a:latin typeface="Consolas" panose="020B0609020204030204" pitchFamily="49" charset="0"/>
              </a:rPr>
              <a:t>asyncPrintA</a:t>
            </a:r>
            <a:r>
              <a:rPr lang="en-US" sz="2000" b="0" dirty="0">
                <a:solidFill>
                  <a:srgbClr val="3B3B3B"/>
                </a:solidFill>
                <a:effectLst/>
                <a:latin typeface="Consolas" panose="020B0609020204030204" pitchFamily="49" charset="0"/>
              </a:rPr>
              <a:t>(), </a:t>
            </a:r>
            <a:r>
              <a:rPr lang="en-US" sz="2000" b="0" dirty="0" err="1">
                <a:solidFill>
                  <a:srgbClr val="795E26"/>
                </a:solidFill>
                <a:effectLst/>
                <a:latin typeface="Consolas" panose="020B0609020204030204" pitchFamily="49" charset="0"/>
              </a:rPr>
              <a:t>asyncPrintBC</a:t>
            </a:r>
            <a:r>
              <a:rPr lang="en-US" sz="2000" b="0" dirty="0">
                <a:solidFill>
                  <a:srgbClr val="3B3B3B"/>
                </a:solidFill>
                <a:effectLst/>
                <a:latin typeface="Consolas" panose="020B0609020204030204" pitchFamily="49" charset="0"/>
              </a:rPr>
              <a:t>()])</a:t>
            </a:r>
          </a:p>
          <a:p>
            <a:pPr algn="l">
              <a:buNone/>
            </a:pPr>
            <a:r>
              <a:rPr lang="en-US" sz="2000" b="0" dirty="0">
                <a:solidFill>
                  <a:srgbClr val="3B3B3B"/>
                </a:solidFill>
                <a:effectLst/>
                <a:latin typeface="Consolas" panose="020B0609020204030204" pitchFamily="49" charset="0"/>
              </a:rPr>
              <a:t>}</a:t>
            </a:r>
          </a:p>
          <a:p>
            <a:pPr algn="l">
              <a:buNone/>
            </a:pPr>
            <a:br>
              <a:rPr lang="en-US" sz="2000" b="0" dirty="0">
                <a:solidFill>
                  <a:srgbClr val="3B3B3B"/>
                </a:solidFill>
                <a:effectLst/>
                <a:latin typeface="Consolas" panose="020B0609020204030204" pitchFamily="49" charset="0"/>
              </a:rPr>
            </a:br>
            <a:r>
              <a:rPr lang="en-US" sz="2000" b="0" dirty="0">
                <a:solidFill>
                  <a:srgbClr val="795E26"/>
                </a:solidFill>
                <a:effectLst/>
                <a:latin typeface="Consolas" panose="020B0609020204030204" pitchFamily="49" charset="0"/>
              </a:rPr>
              <a:t>run</a:t>
            </a:r>
            <a:r>
              <a:rPr lang="en-US" sz="2000" b="0" dirty="0">
                <a:solidFill>
                  <a:srgbClr val="3B3B3B"/>
                </a:solidFill>
                <a:effectLst/>
                <a:latin typeface="Consolas" panose="020B0609020204030204" pitchFamily="49" charset="0"/>
              </a:rPr>
              <a:t>()</a:t>
            </a:r>
          </a:p>
        </p:txBody>
      </p:sp>
      <p:sp>
        <p:nvSpPr>
          <p:cNvPr id="4" name="Rectangle: Rounded Corners 3">
            <a:extLst>
              <a:ext uri="{FF2B5EF4-FFF2-40B4-BE49-F238E27FC236}">
                <a16:creationId xmlns:a16="http://schemas.microsoft.com/office/drawing/2014/main" id="{455689C7-7C27-5D24-90F6-149A2C5D118F}"/>
              </a:ext>
            </a:extLst>
          </p:cNvPr>
          <p:cNvSpPr/>
          <p:nvPr/>
        </p:nvSpPr>
        <p:spPr>
          <a:xfrm>
            <a:off x="7366572" y="286242"/>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/Slides/dataRace2.ts</a:t>
            </a:r>
          </a:p>
        </p:txBody>
      </p:sp>
      <p:sp>
        <p:nvSpPr>
          <p:cNvPr id="5" name="Content Placeholder 4">
            <a:extLst>
              <a:ext uri="{FF2B5EF4-FFF2-40B4-BE49-F238E27FC236}">
                <a16:creationId xmlns:a16="http://schemas.microsoft.com/office/drawing/2014/main" id="{A4D17C1B-9DC9-4F66-74C1-40955C2E2C8A}"/>
              </a:ext>
            </a:extLst>
          </p:cNvPr>
          <p:cNvSpPr>
            <a:spLocks noGrp="1"/>
          </p:cNvSpPr>
          <p:nvPr>
            <p:ph idx="1"/>
          </p:nvPr>
        </p:nvSpPr>
        <p:spPr>
          <a:xfrm>
            <a:off x="8022211" y="1631794"/>
            <a:ext cx="3761294" cy="4351338"/>
          </a:xfrm>
        </p:spPr>
        <p:txBody>
          <a:bodyPr>
            <a:normAutofit/>
          </a:bodyPr>
          <a:lstStyle/>
          <a:p>
            <a:r>
              <a:rPr lang="en-US" sz="2000" dirty="0"/>
              <a:t>In Java, you could get an interrupt between the print B and the print C.</a:t>
            </a:r>
          </a:p>
          <a:p>
            <a:r>
              <a:rPr lang="en-US" sz="2000" dirty="0"/>
              <a:t>So the output could be ABC, BAC, BCA</a:t>
            </a:r>
          </a:p>
          <a:p>
            <a:r>
              <a:rPr lang="en-US" sz="2000" dirty="0"/>
              <a:t>In TS/JS, the print B and print C are in the same critical section, so BAC is impossible!</a:t>
            </a:r>
          </a:p>
        </p:txBody>
      </p:sp>
    </p:spTree>
    <p:extLst>
      <p:ext uri="{BB962C8B-B14F-4D97-AF65-F5344CB8AC3E}">
        <p14:creationId xmlns:p14="http://schemas.microsoft.com/office/powerpoint/2010/main" val="83173085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5">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A simple request</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401205"/>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a:t>
            </a:r>
            <a:r>
              <a:rPr lang="en-US" sz="2000" b="0" dirty="0" err="1">
                <a:solidFill>
                  <a:srgbClr val="008000"/>
                </a:solidFill>
                <a:effectLst/>
                <a:latin typeface="Consolas" panose="020B0609020204030204" pitchFamily="49" charset="0"/>
              </a:rPr>
              <a:t>fakeRequest</a:t>
            </a:r>
            <a:r>
              <a:rPr lang="en-US" sz="2000" b="0" dirty="0">
                <a:solidFill>
                  <a:srgbClr val="008000"/>
                </a:solidFill>
                <a:effectLst/>
                <a:latin typeface="Consolas" panose="020B0609020204030204" pitchFamily="49" charset="0"/>
              </a:rPr>
              <a:t>(n) is an async that waits for 1 second and then </a:t>
            </a:r>
          </a:p>
          <a:p>
            <a:pPr algn="l"/>
            <a:r>
              <a:rPr lang="en-US" sz="2000" b="0" dirty="0">
                <a:solidFill>
                  <a:srgbClr val="008000"/>
                </a:solidFill>
                <a:effectLst/>
                <a:latin typeface="Consolas" panose="020B0609020204030204" pitchFamily="49" charset="0"/>
              </a:rPr>
              <a:t>// resolves with the number n+10</a:t>
            </a:r>
            <a:endParaRPr lang="en-US" sz="2000" b="0" dirty="0">
              <a:solidFill>
                <a:srgbClr val="000000"/>
              </a:solidFill>
              <a:effectLst/>
              <a:latin typeface="Consolas" panose="020B0609020204030204" pitchFamily="49" charset="0"/>
            </a:endParaRPr>
          </a:p>
          <a:p>
            <a:pPr algn="l"/>
            <a:r>
              <a:rPr lang="en-US" sz="2000" dirty="0">
                <a:solidFill>
                  <a:srgbClr val="0000FF"/>
                </a:solidFill>
                <a:latin typeface="Consolas" panose="020B0609020204030204" pitchFamily="49" charset="0"/>
              </a:rPr>
              <a:t>import </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FF"/>
                </a:solidFill>
                <a:effectLst/>
                <a:latin typeface="Consolas" panose="020B0609020204030204" pitchFamily="49" charset="0"/>
              </a:rPr>
              <a:t>import</a:t>
            </a:r>
            <a:r>
              <a:rPr lang="en-US" sz="2000" b="0" dirty="0">
                <a:solidFill>
                  <a:srgbClr val="000000"/>
                </a:solidFill>
                <a:effectLst/>
                <a:latin typeface="Consolas" panose="020B0609020204030204" pitchFamily="49" charset="0"/>
              </a:rPr>
              <a:t> { </a:t>
            </a: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 } </a:t>
            </a:r>
            <a:r>
              <a:rPr lang="en-US" sz="2000" b="0" dirty="0">
                <a:solidFill>
                  <a:srgbClr val="0000FF"/>
                </a:solidFill>
                <a:effectLst/>
                <a:latin typeface="Consolas" panose="020B0609020204030204" pitchFamily="49" charset="0"/>
              </a:rPr>
              <a:t>from</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timeIt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(32);</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request</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451176" y="136525"/>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oneRequest.ts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2212691"/>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oneRequest.ts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(32) returned: 42</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1015.98 msec</a:t>
            </a:r>
          </a:p>
        </p:txBody>
      </p:sp>
      <p:sp>
        <p:nvSpPr>
          <p:cNvPr id="6" name="TextBox 5">
            <a:extLst>
              <a:ext uri="{FF2B5EF4-FFF2-40B4-BE49-F238E27FC236}">
                <a16:creationId xmlns:a16="http://schemas.microsoft.com/office/drawing/2014/main" id="{10F73DF1-E385-26F3-57AF-14F63A03A54D}"/>
              </a:ext>
            </a:extLst>
          </p:cNvPr>
          <p:cNvSpPr txBox="1"/>
          <p:nvPr/>
        </p:nvSpPr>
        <p:spPr>
          <a:xfrm>
            <a:off x="7234474" y="1924411"/>
            <a:ext cx="4745491" cy="1800325"/>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rmAutofit fontScale="55000" lnSpcReduction="20000"/>
          </a:bodyPr>
          <a:lstStyle/>
          <a:p>
            <a:pPr algn="l">
              <a:lnSpc>
                <a:spcPct val="120000"/>
              </a:lnSpc>
            </a:pPr>
            <a:r>
              <a:rPr lang="en-US" sz="2000" dirty="0">
                <a:solidFill>
                  <a:srgbClr val="0A52B1"/>
                </a:solidFill>
                <a:latin typeface="Verdana" panose="020B0604030504040204" pitchFamily="34" charset="0"/>
                <a:ea typeface="Verdana" panose="020B0604030504040204" pitchFamily="34" charset="0"/>
              </a:rPr>
              <a:t>export function </a:t>
            </a:r>
            <a:r>
              <a:rPr lang="en-US" sz="2000" b="1"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(n: number): Promise&lt;number&gt;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a:solidFill>
                  <a:srgbClr val="0A52B1"/>
                </a:solidFill>
                <a:latin typeface="Verdana" panose="020B0604030504040204" pitchFamily="34" charset="0"/>
                <a:ea typeface="Verdana" panose="020B0604030504040204" pitchFamily="34" charset="0"/>
              </a:rPr>
              <a:t>return new </a:t>
            </a:r>
            <a:r>
              <a:rPr lang="en-US" sz="2000" dirty="0">
                <a:solidFill>
                  <a:schemeClr val="tx1"/>
                </a:solidFill>
                <a:latin typeface="Verdana" panose="020B0604030504040204" pitchFamily="34" charset="0"/>
                <a:ea typeface="Verdana" panose="020B0604030504040204" pitchFamily="34" charset="0"/>
              </a:rPr>
              <a:t>Promise((resolve, reject)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a:t>
            </a:r>
            <a:r>
              <a:rPr lang="en-US" sz="2000" dirty="0" err="1">
                <a:solidFill>
                  <a:srgbClr val="C00000"/>
                </a:solidFill>
                <a:latin typeface="Verdana" panose="020B0604030504040204" pitchFamily="34" charset="0"/>
                <a:ea typeface="Verdana" panose="020B0604030504040204" pitchFamily="34" charset="0"/>
              </a:rPr>
              <a:t>fakeRequest</a:t>
            </a:r>
            <a:r>
              <a:rPr lang="en-US" sz="2000" dirty="0">
                <a:solidFill>
                  <a:srgbClr val="C00000"/>
                </a:solidFill>
                <a:latin typeface="Verdana" panose="020B0604030504040204" pitchFamily="34" charset="0"/>
                <a:ea typeface="Verdana" panose="020B0604030504040204" pitchFamily="34" charset="0"/>
              </a:rPr>
              <a:t> received request:'</a:t>
            </a:r>
            <a:r>
              <a:rPr lang="en-US" sz="2000" dirty="0">
                <a:solidFill>
                  <a:schemeClr val="tx1"/>
                </a:solidFill>
                <a:latin typeface="Verdana" panose="020B0604030504040204" pitchFamily="34" charset="0"/>
                <a:ea typeface="Verdana" panose="020B0604030504040204" pitchFamily="34" charset="0"/>
              </a:rPr>
              <a:t>, n);</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r>
              <a:rPr lang="en-US" sz="2000" dirty="0" err="1">
                <a:solidFill>
                  <a:schemeClr val="tx1"/>
                </a:solidFill>
                <a:latin typeface="Verdana" panose="020B0604030504040204" pitchFamily="34" charset="0"/>
                <a:ea typeface="Verdana" panose="020B0604030504040204" pitchFamily="34" charset="0"/>
              </a:rPr>
              <a:t>setTimeout</a:t>
            </a:r>
            <a:r>
              <a:rPr lang="en-US" sz="2000" dirty="0">
                <a:solidFill>
                  <a:schemeClr val="tx1"/>
                </a:solidFill>
                <a:latin typeface="Verdana" panose="020B0604030504040204" pitchFamily="34" charset="0"/>
                <a:ea typeface="Verdana" panose="020B0604030504040204" pitchFamily="34" charset="0"/>
              </a:rPr>
              <a:t>(() =&gt;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console.log(</a:t>
            </a:r>
            <a:r>
              <a:rPr lang="en-US" sz="2000" dirty="0">
                <a:solidFill>
                  <a:srgbClr val="C00000"/>
                </a:solidFill>
                <a:latin typeface="Verdana" panose="020B0604030504040204" pitchFamily="34" charset="0"/>
                <a:ea typeface="Verdana" panose="020B0604030504040204" pitchFamily="34" charset="0"/>
              </a:rPr>
              <a:t>'time passes....'</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resolve(n + </a:t>
            </a:r>
            <a:r>
              <a:rPr lang="en-US" sz="2000" dirty="0">
                <a:solidFill>
                  <a:schemeClr val="accent6">
                    <a:lumMod val="75000"/>
                  </a:schemeClr>
                </a:solidFill>
                <a:latin typeface="Verdana" panose="020B0604030504040204" pitchFamily="34" charset="0"/>
                <a:ea typeface="Verdana" panose="020B0604030504040204" pitchFamily="34" charset="0"/>
              </a:rPr>
              <a:t>10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 </a:t>
            </a:r>
            <a:r>
              <a:rPr lang="en-US" sz="2000" dirty="0">
                <a:solidFill>
                  <a:schemeClr val="accent6">
                    <a:lumMod val="75000"/>
                  </a:schemeClr>
                </a:solidFill>
                <a:latin typeface="Verdana" panose="020B0604030504040204" pitchFamily="34" charset="0"/>
                <a:ea typeface="Verdana" panose="020B0604030504040204" pitchFamily="34" charset="0"/>
              </a:rPr>
              <a:t>1000</a:t>
            </a:r>
            <a:r>
              <a:rPr lang="en-US" sz="2000" dirty="0">
                <a:solidFill>
                  <a:schemeClr val="tx1"/>
                </a:solidFill>
                <a:latin typeface="Verdana" panose="020B0604030504040204" pitchFamily="34" charset="0"/>
                <a:ea typeface="Verdana" panose="020B0604030504040204" pitchFamily="34" charset="0"/>
              </a:rPr>
              <a:t>);</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  });</a:t>
            </a:r>
          </a:p>
          <a:p>
            <a:pPr algn="l">
              <a:lnSpc>
                <a:spcPct val="120000"/>
              </a:lnSpc>
            </a:pPr>
            <a:r>
              <a:rPr lang="en-US" sz="2000" dirty="0">
                <a:solidFill>
                  <a:schemeClr val="tx1"/>
                </a:solidFill>
                <a:latin typeface="Verdana" panose="020B0604030504040204" pitchFamily="34" charset="0"/>
                <a:ea typeface="Verdana" panose="020B0604030504040204" pitchFamily="34" charset="0"/>
              </a:rPr>
              <a:t>}</a:t>
            </a:r>
          </a:p>
        </p:txBody>
      </p:sp>
    </p:spTree>
    <p:extLst>
      <p:ext uri="{BB962C8B-B14F-4D97-AF65-F5344CB8AC3E}">
        <p14:creationId xmlns:p14="http://schemas.microsoft.com/office/powerpoint/2010/main" val="6847969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par>
                                <p:cTn id="21" presetID="1" presetClass="entr" presetSubtype="0" fill="hold" grpId="0" nodeType="withEffect">
                                  <p:stCondLst>
                                    <p:cond delay="0"/>
                                  </p:stCondLst>
                                  <p:childTnLst>
                                    <p:set>
                                      <p:cBhvr>
                                        <p:cTn id="22" dur="1" fill="hold">
                                          <p:stCondLst>
                                            <p:cond delay="0"/>
                                          </p:stCondLst>
                                        </p:cTn>
                                        <p:tgtEl>
                                          <p:spTgt spid="4">
                                            <p:txEl>
                                              <p:pRg st="5" end="5"/>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4">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FA627C-81B3-2732-376C-3DF84021D62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A9691CA-470E-0255-51F4-CC8BF4993552}"/>
              </a:ext>
            </a:extLst>
          </p:cNvPr>
          <p:cNvSpPr>
            <a:spLocks noGrp="1"/>
          </p:cNvSpPr>
          <p:nvPr>
            <p:ph type="title"/>
          </p:nvPr>
        </p:nvSpPr>
        <p:spPr/>
        <p:txBody>
          <a:bodyPr/>
          <a:lstStyle/>
          <a:p>
            <a:r>
              <a:rPr lang="en-US" dirty="0"/>
              <a:t>Pattern for starting a concurrent computation using non-blocking I/O</a:t>
            </a:r>
          </a:p>
        </p:txBody>
      </p:sp>
      <p:sp>
        <p:nvSpPr>
          <p:cNvPr id="3" name="Content Placeholder 2">
            <a:extLst>
              <a:ext uri="{FF2B5EF4-FFF2-40B4-BE49-F238E27FC236}">
                <a16:creationId xmlns:a16="http://schemas.microsoft.com/office/drawing/2014/main" id="{9D42814D-9EF7-9483-CDB5-0247C4D40674}"/>
              </a:ext>
            </a:extLst>
          </p:cNvPr>
          <p:cNvSpPr>
            <a:spLocks noGrp="1"/>
          </p:cNvSpPr>
          <p:nvPr>
            <p:ph idx="1"/>
          </p:nvPr>
        </p:nvSpPr>
        <p:spPr>
          <a:xfrm>
            <a:off x="733302" y="3254361"/>
            <a:ext cx="11155326" cy="2755213"/>
          </a:xfrm>
        </p:spPr>
        <p:txBody>
          <a:bodyPr>
            <a:normAutofit fontScale="85000" lnSpcReduction="10000"/>
          </a:bodyPr>
          <a:lstStyle/>
          <a:p>
            <a:pPr marL="457200" indent="-457200">
              <a:buFont typeface="+mj-lt"/>
              <a:buAutoNum type="arabicPeriod"/>
            </a:pPr>
            <a:r>
              <a:rPr lang="en-US" dirty="0"/>
              <a:t>The first console.log is printed</a:t>
            </a:r>
          </a:p>
          <a:p>
            <a:pPr marL="457200" indent="-457200">
              <a:buFont typeface="+mj-lt"/>
              <a:buAutoNum type="arabicPeriod"/>
            </a:pPr>
            <a:r>
              <a:rPr lang="en-US" dirty="0"/>
              <a:t>The http request is </a:t>
            </a:r>
            <a:r>
              <a:rPr lang="en-US" i="1" dirty="0"/>
              <a:t>immediately</a:t>
            </a:r>
            <a:r>
              <a:rPr lang="en-US" dirty="0"/>
              <a:t> sent, using non-blocking i/o. </a:t>
            </a:r>
          </a:p>
          <a:p>
            <a:pPr marL="457200" indent="-457200">
              <a:buFont typeface="+mj-lt"/>
              <a:buAutoNum type="arabicPeriod"/>
            </a:pPr>
            <a:r>
              <a:rPr lang="en-US" dirty="0"/>
              <a:t>A pending promise is returned to the caller. Caller can continue its other business.</a:t>
            </a:r>
          </a:p>
          <a:p>
            <a:pPr marL="457200" indent="-457200">
              <a:buFont typeface="+mj-lt"/>
              <a:buAutoNum type="arabicPeriod"/>
            </a:pPr>
            <a:r>
              <a:rPr lang="en-US" dirty="0"/>
              <a:t>Eventually, the fetch returns.</a:t>
            </a:r>
          </a:p>
          <a:p>
            <a:pPr marL="457200" indent="-457200">
              <a:buFont typeface="+mj-lt"/>
              <a:buAutoNum type="arabicPeriod"/>
            </a:pPr>
            <a:r>
              <a:rPr lang="en-US" dirty="0"/>
              <a:t>Some time after that, the console.log is printed and the </a:t>
            </a:r>
            <a:r>
              <a:rPr lang="en-US" dirty="0" err="1"/>
              <a:t>makeRequest</a:t>
            </a:r>
            <a:r>
              <a:rPr lang="en-US" dirty="0"/>
              <a:t> concludes.</a:t>
            </a:r>
          </a:p>
          <a:p>
            <a:pPr marL="457200" indent="-457200">
              <a:buFont typeface="+mj-lt"/>
              <a:buAutoNum type="arabicPeriod"/>
            </a:pPr>
            <a:r>
              <a:rPr lang="en-US" dirty="0"/>
              <a:t>Any promises that are waiting for the result of this </a:t>
            </a:r>
            <a:r>
              <a:rPr lang="en-US" dirty="0" err="1"/>
              <a:t>makeRequest</a:t>
            </a:r>
            <a:r>
              <a:rPr lang="en-US" dirty="0"/>
              <a:t> become eligible for execution.</a:t>
            </a:r>
          </a:p>
          <a:p>
            <a:pPr marL="0" indent="0">
              <a:buNone/>
            </a:pPr>
            <a:endParaRPr lang="en-US" dirty="0"/>
          </a:p>
          <a:p>
            <a:endParaRPr lang="en-US" dirty="0"/>
          </a:p>
          <a:p>
            <a:endParaRPr lang="en-US" dirty="0"/>
          </a:p>
          <a:p>
            <a:endParaRPr lang="en-US" dirty="0"/>
          </a:p>
          <a:p>
            <a:endParaRPr lang="en-US" dirty="0"/>
          </a:p>
          <a:p>
            <a:endParaRPr lang="en-US" dirty="0"/>
          </a:p>
          <a:p>
            <a:pPr marL="0" indent="0">
              <a:buNone/>
            </a:pPr>
            <a:endParaRPr lang="en-US" dirty="0"/>
          </a:p>
        </p:txBody>
      </p:sp>
      <p:sp>
        <p:nvSpPr>
          <p:cNvPr id="4" name="Slide Number Placeholder 3">
            <a:extLst>
              <a:ext uri="{FF2B5EF4-FFF2-40B4-BE49-F238E27FC236}">
                <a16:creationId xmlns:a16="http://schemas.microsoft.com/office/drawing/2014/main" id="{43B8A6EB-75B7-BE7A-9873-38553502412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22</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9" name="TextBox 8">
            <a:extLst>
              <a:ext uri="{FF2B5EF4-FFF2-40B4-BE49-F238E27FC236}">
                <a16:creationId xmlns:a16="http://schemas.microsoft.com/office/drawing/2014/main" id="{4625BB71-7766-8C90-ECB1-1D83B8007F99}"/>
              </a:ext>
            </a:extLst>
          </p:cNvPr>
          <p:cNvSpPr txBox="1"/>
          <p:nvPr/>
        </p:nvSpPr>
        <p:spPr>
          <a:xfrm>
            <a:off x="733302" y="1611457"/>
            <a:ext cx="10620498" cy="163121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00FF"/>
                </a:solidFill>
                <a:effectLst/>
                <a:latin typeface="Consolas" panose="020B0609020204030204" pitchFamily="49" charset="0"/>
              </a:rPr>
              <a:t>export</a:t>
            </a:r>
            <a:r>
              <a:rPr lang="en-US" sz="2000" b="0" dirty="0">
                <a:solidFill>
                  <a:srgbClr val="000000"/>
                </a:solidFill>
                <a:effectLst/>
                <a:latin typeface="Consolas" panose="020B0609020204030204" pitchFamily="49" charset="0"/>
              </a:rPr>
              <a:t> </a:t>
            </a:r>
            <a:r>
              <a:rPr lang="en-US" sz="2000" b="0" dirty="0">
                <a:solidFill>
                  <a:srgbClr val="0000FF"/>
                </a:solidFill>
                <a:effectLst/>
                <a:highlight>
                  <a:srgbClr val="FFFF00"/>
                </a:highligh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makeRequest</a:t>
            </a:r>
            <a:r>
              <a:rPr lang="en-US" sz="2000" b="0" dirty="0">
                <a:solidFill>
                  <a:srgbClr val="000000"/>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requestNumber:number</a:t>
            </a:r>
            <a:r>
              <a:rPr lang="en-US" sz="2000" b="0" dirty="0">
                <a:solidFill>
                  <a:srgbClr val="000000"/>
                </a:solidFill>
                <a:effectLst/>
                <a:latin typeface="Consolas" panose="020B0609020204030204" pitchFamily="49" charset="0"/>
              </a:rPr>
              <a:t>) {</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a:t>
            </a:r>
            <a:r>
              <a:rPr lang="en-US" sz="2000" b="0" dirty="0" err="1">
                <a:solidFill>
                  <a:srgbClr val="A31515"/>
                </a:solidFill>
                <a:effectLst/>
                <a:latin typeface="Consolas" panose="020B0609020204030204" pitchFamily="49" charset="0"/>
              </a:rPr>
              <a:t>makeRequest</a:t>
            </a:r>
            <a:r>
              <a:rPr lang="en-US" sz="2000" b="0" dirty="0">
                <a:solidFill>
                  <a:srgbClr val="A31515"/>
                </a:solidFill>
                <a:effectLst/>
                <a:latin typeface="Consolas" panose="020B0609020204030204" pitchFamily="49" charset="0"/>
              </a:rPr>
              <a:t>(</a:t>
            </a:r>
            <a:r>
              <a:rPr lang="en-US" sz="2000" b="0" dirty="0">
                <a:solidFill>
                  <a:srgbClr val="0000FF"/>
                </a:solidFill>
                <a:effectLst/>
                <a:latin typeface="Consolas" panose="020B0609020204030204" pitchFamily="49" charset="0"/>
              </a:rPr>
              <a:t>${</a:t>
            </a:r>
            <a:r>
              <a:rPr lang="en-US" sz="2000" b="0" dirty="0" err="1">
                <a:solidFill>
                  <a:srgbClr val="000000"/>
                </a:solidFill>
                <a:effectLst/>
                <a:latin typeface="Consolas" panose="020B0609020204030204" pitchFamily="49" charset="0"/>
              </a:rPr>
              <a:t>requestNumber</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response = </a:t>
            </a:r>
            <a:r>
              <a:rPr lang="en-US" sz="2000" b="0" dirty="0">
                <a:solidFill>
                  <a:srgbClr val="0000FF"/>
                </a:solidFill>
                <a:effectLst/>
                <a:highlight>
                  <a:srgbClr val="FFFF00"/>
                </a:highligh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fetch</a:t>
            </a:r>
            <a:r>
              <a:rPr lang="en-US" sz="2000" b="0" dirty="0">
                <a:solidFill>
                  <a:srgbClr val="000000"/>
                </a:solidFill>
                <a:effectLst/>
                <a:latin typeface="Consolas" panose="020B0609020204030204" pitchFamily="49" charset="0"/>
              </a:rPr>
              <a:t>(</a:t>
            </a:r>
            <a:r>
              <a:rPr lang="en-US" sz="2000" b="0" dirty="0">
                <a:solidFill>
                  <a:srgbClr val="A31515"/>
                </a:solidFill>
                <a:effectLst/>
                <a:latin typeface="Consolas" panose="020B0609020204030204" pitchFamily="49" charset="0"/>
              </a:rPr>
              <a:t>'https://rest-</a:t>
            </a:r>
            <a:r>
              <a:rPr lang="en-US" sz="2000" b="0" dirty="0" err="1">
                <a:solidFill>
                  <a:srgbClr val="A31515"/>
                </a:solidFill>
                <a:effectLst/>
                <a:latin typeface="Consolas" panose="020B0609020204030204" pitchFamily="49" charset="0"/>
              </a:rPr>
              <a:t>example.covey.town</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'request:'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requestNumber</a:t>
            </a:r>
            <a:r>
              <a:rPr lang="en-US" sz="2000" b="0" dirty="0">
                <a:solidFill>
                  <a:srgbClr val="000000"/>
                </a:solidFill>
                <a:effectLst/>
                <a:latin typeface="Consolas" panose="020B0609020204030204" pitchFamily="49" charset="0"/>
              </a:rPr>
              <a:t>, </a:t>
            </a:r>
            <a:r>
              <a:rPr lang="en-US" sz="2000" b="0" dirty="0">
                <a:solidFill>
                  <a:srgbClr val="A31515"/>
                </a:solidFill>
                <a:effectLst/>
                <a:latin typeface="Consolas" panose="020B0609020204030204" pitchFamily="49" charset="0"/>
              </a:rPr>
              <a:t>'; response:'</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response.data</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p:txBody>
      </p:sp>
    </p:spTree>
    <p:extLst>
      <p:ext uri="{BB962C8B-B14F-4D97-AF65-F5344CB8AC3E}">
        <p14:creationId xmlns:p14="http://schemas.microsoft.com/office/powerpoint/2010/main" val="383959475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54EC4D-D0E4-E0A2-E9EB-0EAF13A1ABD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BA0134-0F6C-30D5-93F3-BF1ED27FAEEB}"/>
              </a:ext>
            </a:extLst>
          </p:cNvPr>
          <p:cNvSpPr>
            <a:spLocks noGrp="1"/>
          </p:cNvSpPr>
          <p:nvPr>
            <p:ph type="title"/>
          </p:nvPr>
        </p:nvSpPr>
        <p:spPr/>
        <p:txBody>
          <a:bodyPr/>
          <a:lstStyle/>
          <a:p>
            <a:r>
              <a:rPr lang="en-US" dirty="0"/>
              <a:t>Three Requests, sequentially</a:t>
            </a:r>
          </a:p>
        </p:txBody>
      </p:sp>
      <p:sp>
        <p:nvSpPr>
          <p:cNvPr id="3" name="Slide Number Placeholder 2">
            <a:extLst>
              <a:ext uri="{FF2B5EF4-FFF2-40B4-BE49-F238E27FC236}">
                <a16:creationId xmlns:a16="http://schemas.microsoft.com/office/drawing/2014/main" id="{A49AA8CF-B9E1-FE41-F28F-EAC4DABD179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08ED69-BEC0-E2B4-CE24-6547CAD27A48}"/>
              </a:ext>
            </a:extLst>
          </p:cNvPr>
          <p:cNvSpPr txBox="1"/>
          <p:nvPr/>
        </p:nvSpPr>
        <p:spPr>
          <a:xfrm>
            <a:off x="320842" y="1546051"/>
            <a:ext cx="9921240" cy="563231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'starting main'</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res1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1</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(1)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res1</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res2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res2</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const</a:t>
            </a:r>
            <a:r>
              <a:rPr lang="en-US" sz="2000" b="0" dirty="0">
                <a:solidFill>
                  <a:srgbClr val="000000"/>
                </a:solidFill>
                <a:effectLst/>
                <a:latin typeface="Consolas" panose="020B0609020204030204" pitchFamily="49" charset="0"/>
              </a:rPr>
              <a:t> res3 = </a:t>
            </a:r>
            <a:r>
              <a:rPr lang="en-US" sz="2000" b="0" dirty="0">
                <a:solidFill>
                  <a:srgbClr val="0000FF"/>
                </a:solidFill>
                <a:effectLst/>
                <a:latin typeface="Consolas" panose="020B0609020204030204" pitchFamily="49" charset="0"/>
              </a:rPr>
              <a:t>await</a:t>
            </a: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fakeRequest</a:t>
            </a:r>
            <a:r>
              <a:rPr lang="en-US" sz="2000" b="0" dirty="0">
                <a:solidFill>
                  <a:srgbClr val="000000"/>
                </a:solidFill>
                <a:effectLst/>
                <a:latin typeface="Consolas" panose="020B0609020204030204" pitchFamily="49" charset="0"/>
              </a:rPr>
              <a:t>(</a:t>
            </a:r>
            <a:r>
              <a:rPr lang="en-US" sz="2000" b="0" dirty="0">
                <a:solidFill>
                  <a:srgbClr val="098658"/>
                </a:solidFill>
                <a:effectLst/>
                <a:latin typeface="Consolas" panose="020B0609020204030204" pitchFamily="49" charset="0"/>
              </a:rPr>
              <a:t>2</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a:t>
            </a:r>
            <a:r>
              <a:rPr lang="en-US" sz="2000" b="0" dirty="0" err="1">
                <a:solidFill>
                  <a:srgbClr val="A31515"/>
                </a:solidFill>
                <a:effectLst/>
                <a:latin typeface="Consolas" panose="020B0609020204030204" pitchFamily="49" charset="0"/>
              </a:rPr>
              <a:t>fakeRequest</a:t>
            </a:r>
            <a:r>
              <a:rPr lang="en-US" sz="2000" b="0" dirty="0">
                <a:solidFill>
                  <a:srgbClr val="A31515"/>
                </a:solidFill>
                <a:effectLst/>
                <a:latin typeface="Consolas" panose="020B0609020204030204" pitchFamily="49" charset="0"/>
              </a:rPr>
              <a:t>(2) returned: </a:t>
            </a:r>
            <a:r>
              <a:rPr lang="en-US" sz="2000" b="0" dirty="0">
                <a:solidFill>
                  <a:srgbClr val="0000FF"/>
                </a:solidFill>
                <a:effectLst/>
                <a:latin typeface="Consolas" panose="020B0609020204030204" pitchFamily="49" charset="0"/>
              </a:rPr>
              <a:t>${</a:t>
            </a:r>
            <a:r>
              <a:rPr lang="en-US" sz="2000" b="0" dirty="0">
                <a:solidFill>
                  <a:srgbClr val="000000"/>
                </a:solidFill>
                <a:effectLst/>
                <a:latin typeface="Consolas" panose="020B0609020204030204" pitchFamily="49" charset="0"/>
              </a:rPr>
              <a:t>res3</a:t>
            </a:r>
            <a:r>
              <a:rPr lang="en-US" sz="2000" b="0" dirty="0">
                <a:solidFill>
                  <a:srgbClr val="0000FF"/>
                </a:solidFill>
                <a:effectLst/>
                <a:latin typeface="Consolas" panose="020B0609020204030204" pitchFamily="49" charset="0"/>
              </a:rPr>
              <a:t>}</a:t>
            </a:r>
            <a:r>
              <a:rPr lang="en-US" sz="2000" b="0" dirty="0">
                <a:solidFill>
                  <a:srgbClr val="A31515"/>
                </a:solidFill>
                <a:effectLst/>
                <a:latin typeface="Consolas" panose="020B0609020204030204" pitchFamily="49" charset="0"/>
              </a:rPr>
              <a:t>`</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buNone/>
            </a:pPr>
            <a:endParaRPr lang="en-US" sz="2000" b="0" dirty="0">
              <a:solidFill>
                <a:srgbClr val="000000"/>
              </a:solidFill>
              <a:effectLst/>
              <a:latin typeface="Consolas" panose="020B0609020204030204" pitchFamily="49" charset="0"/>
            </a:endParaRPr>
          </a:p>
          <a:p>
            <a:pPr algn="l">
              <a:buNone/>
            </a:pPr>
            <a:r>
              <a:rPr lang="en-US" sz="2000" b="0" dirty="0">
                <a:solidFill>
                  <a:srgbClr val="000000"/>
                </a:solidFill>
                <a:effectLst/>
                <a:latin typeface="Consolas" panose="020B0609020204030204" pitchFamily="49" charset="0"/>
              </a:rPr>
              <a:t>     </a:t>
            </a:r>
          </a:p>
          <a:p>
            <a:pPr algn="l">
              <a:buNone/>
            </a:pPr>
            <a:r>
              <a:rPr lang="en-US" sz="2000" b="0" dirty="0">
                <a:solidFill>
                  <a:srgbClr val="000000"/>
                </a:solidFill>
                <a:effectLst/>
                <a:latin typeface="Consolas" panose="020B0609020204030204" pitchFamily="49" charset="0"/>
              </a:rPr>
              <a:t>}</a:t>
            </a:r>
          </a:p>
          <a:p>
            <a:pPr algn="l"/>
            <a:br>
              <a:rPr lang="en-US" sz="2000" b="0" dirty="0">
                <a:solidFill>
                  <a:srgbClr val="000000"/>
                </a:solidFill>
                <a:effectLst/>
                <a:latin typeface="Consolas" panose="020B0609020204030204" pitchFamily="49" charset="0"/>
              </a:rPr>
            </a:br>
            <a:r>
              <a:rPr lang="en-US" sz="2000" b="0" dirty="0" err="1">
                <a:solidFill>
                  <a:srgbClr val="000000"/>
                </a:solidFill>
                <a:effectLst/>
                <a:latin typeface="Consolas" panose="020B0609020204030204" pitchFamily="49" charset="0"/>
              </a:rPr>
              <a:t>timeIt</a:t>
            </a:r>
            <a:r>
              <a:rPr lang="en-US" sz="2000" b="0" dirty="0">
                <a:solidFill>
                  <a:srgbClr val="000000"/>
                </a:solidFill>
                <a:effectLst/>
                <a:latin typeface="Consolas" panose="020B0609020204030204" pitchFamily="49" charset="0"/>
              </a:rPr>
              <a:t>(main)</a:t>
            </a:r>
          </a:p>
          <a:p>
            <a:pPr algn="l"/>
            <a:br>
              <a:rPr lang="en-US" sz="2000" b="0" dirty="0">
                <a:solidFill>
                  <a:srgbClr val="000000"/>
                </a:solidFill>
                <a:effectLst/>
                <a:latin typeface="Consolas" panose="020B0609020204030204" pitchFamily="49" charset="0"/>
              </a:rPr>
            </a:br>
            <a:br>
              <a:rPr lang="en-US" sz="2000" b="0" dirty="0">
                <a:solidFill>
                  <a:srgbClr val="000000"/>
                </a:solidFill>
                <a:effectLst/>
                <a:latin typeface="Consolas" panose="020B0609020204030204" pitchFamily="49" charset="0"/>
              </a:rPr>
            </a:b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520FB5E-3AE7-3FD0-69BA-048A057769EC}"/>
              </a:ext>
            </a:extLst>
          </p:cNvPr>
          <p:cNvSpPr/>
          <p:nvPr/>
        </p:nvSpPr>
        <p:spPr>
          <a:xfrm>
            <a:off x="2173705" y="6041030"/>
            <a:ext cx="5566611"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threeRequestsSequentially.ts</a:t>
            </a:r>
            <a:endParaRPr lang="en-US" sz="2400" dirty="0">
              <a:solidFill>
                <a:schemeClr val="tx1"/>
              </a:solidFill>
            </a:endParaRPr>
          </a:p>
        </p:txBody>
      </p:sp>
      <p:sp>
        <p:nvSpPr>
          <p:cNvPr id="4" name="TextBox 3">
            <a:extLst>
              <a:ext uri="{FF2B5EF4-FFF2-40B4-BE49-F238E27FC236}">
                <a16:creationId xmlns:a16="http://schemas.microsoft.com/office/drawing/2014/main" id="{028D8E6E-E736-D78B-6305-A6D88EB2A02C}"/>
              </a:ext>
            </a:extLst>
          </p:cNvPr>
          <p:cNvSpPr txBox="1"/>
          <p:nvPr/>
        </p:nvSpPr>
        <p:spPr>
          <a:xfrm>
            <a:off x="7125667" y="1375114"/>
            <a:ext cx="4969278" cy="4732548"/>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threeRequestsSequentially.ts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(1) returned: 11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(2) returned: 12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(3) returned: 13</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3024.03 msec</a:t>
            </a:r>
          </a:p>
        </p:txBody>
      </p:sp>
      <p:sp>
        <p:nvSpPr>
          <p:cNvPr id="6" name="Oval 5">
            <a:extLst>
              <a:ext uri="{FF2B5EF4-FFF2-40B4-BE49-F238E27FC236}">
                <a16:creationId xmlns:a16="http://schemas.microsoft.com/office/drawing/2014/main" id="{0D7BB16A-95D1-89D3-897B-11BAEE66BE98}"/>
              </a:ext>
            </a:extLst>
          </p:cNvPr>
          <p:cNvSpPr/>
          <p:nvPr/>
        </p:nvSpPr>
        <p:spPr>
          <a:xfrm>
            <a:off x="7041446" y="5311949"/>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Tree>
    <p:extLst>
      <p:ext uri="{BB962C8B-B14F-4D97-AF65-F5344CB8AC3E}">
        <p14:creationId xmlns:p14="http://schemas.microsoft.com/office/powerpoint/2010/main" val="2643055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6" grpId="0" animBg="1"/>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073590-E4D1-219E-103D-4DB29E3F3F4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4B57FFCB-4020-9CA3-AF50-C1B79D814C5D}"/>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9" name="Content Placeholder 8">
            <a:extLst>
              <a:ext uri="{FF2B5EF4-FFF2-40B4-BE49-F238E27FC236}">
                <a16:creationId xmlns:a16="http://schemas.microsoft.com/office/drawing/2014/main" id="{55E834AA-59DF-F3B7-4FC0-FDC6A649A6AC}"/>
              </a:ext>
            </a:extLst>
          </p:cNvPr>
          <p:cNvSpPr>
            <a:spLocks noGrp="1"/>
          </p:cNvSpPr>
          <p:nvPr>
            <p:ph idx="1"/>
          </p:nvPr>
        </p:nvSpPr>
        <p:spPr/>
        <p:txBody>
          <a:bodyPr/>
          <a:lstStyle/>
          <a:p>
            <a:r>
              <a:rPr lang="en-US" dirty="0" err="1"/>
              <a:t>Promise.all</a:t>
            </a:r>
            <a:r>
              <a:rPr lang="en-US" dirty="0"/>
              <a:t> takes a list of Promise&lt;T&gt; and creates a Promise&lt;T[]&gt;</a:t>
            </a:r>
          </a:p>
          <a:p>
            <a:pPr lvl="1"/>
            <a:r>
              <a:rPr lang="en-US" dirty="0" err="1"/>
              <a:t>ie</a:t>
            </a:r>
            <a:r>
              <a:rPr lang="en-US" dirty="0"/>
              <a:t>, a promise that resolves to a list of T's</a:t>
            </a:r>
          </a:p>
          <a:p>
            <a:r>
              <a:rPr lang="en-US" dirty="0"/>
              <a:t>When executed, this promise runs them </a:t>
            </a:r>
            <a:r>
              <a:rPr lang="en-US" i="1" dirty="0"/>
              <a:t>concurrently,</a:t>
            </a:r>
          </a:p>
          <a:p>
            <a:r>
              <a:rPr lang="en-US" dirty="0"/>
              <a:t>and resolves with the list of values</a:t>
            </a:r>
          </a:p>
          <a:p>
            <a:pPr lvl="1"/>
            <a:r>
              <a:rPr lang="en-US" dirty="0"/>
              <a:t>(assuming they all resolve successfully)</a:t>
            </a:r>
          </a:p>
        </p:txBody>
      </p:sp>
      <p:sp>
        <p:nvSpPr>
          <p:cNvPr id="3" name="Slide Number Placeholder 2">
            <a:extLst>
              <a:ext uri="{FF2B5EF4-FFF2-40B4-BE49-F238E27FC236}">
                <a16:creationId xmlns:a16="http://schemas.microsoft.com/office/drawing/2014/main" id="{77EC9027-0456-D07D-74D6-67288E7F486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24</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41600825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4838D7-25A5-BD6D-3EB0-27C3E474BB42}"/>
              </a:ext>
            </a:extLst>
          </p:cNvPr>
          <p:cNvSpPr>
            <a:spLocks noGrp="1"/>
          </p:cNvSpPr>
          <p:nvPr>
            <p:ph type="title"/>
          </p:nvPr>
        </p:nvSpPr>
        <p:spPr/>
        <p:txBody>
          <a:bodyPr/>
          <a:lstStyle/>
          <a:p>
            <a:r>
              <a:rPr lang="en-US" dirty="0"/>
              <a:t>Use </a:t>
            </a:r>
            <a:r>
              <a:rPr lang="en-US" dirty="0" err="1"/>
              <a:t>Promise.all</a:t>
            </a:r>
            <a:r>
              <a:rPr lang="en-US" dirty="0"/>
              <a:t> to execute several requests concurrently</a:t>
            </a:r>
          </a:p>
        </p:txBody>
      </p:sp>
      <p:sp>
        <p:nvSpPr>
          <p:cNvPr id="3" name="Slide Number Placeholder 2">
            <a:extLst>
              <a:ext uri="{FF2B5EF4-FFF2-40B4-BE49-F238E27FC236}">
                <a16:creationId xmlns:a16="http://schemas.microsoft.com/office/drawing/2014/main" id="{694671A2-AD83-14D7-2291-0DE439A8B07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25</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61AE052D-2915-5AC4-85A2-7B9A3F13D352}"/>
              </a:ext>
            </a:extLst>
          </p:cNvPr>
          <p:cNvSpPr txBox="1"/>
          <p:nvPr/>
        </p:nvSpPr>
        <p:spPr>
          <a:xfrm>
            <a:off x="376990" y="1528172"/>
            <a:ext cx="9285371" cy="415498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2400" b="0" dirty="0">
                <a:solidFill>
                  <a:srgbClr val="0000FF"/>
                </a:solidFill>
                <a:effectLst/>
                <a:latin typeface="Consolas" panose="020B0609020204030204" pitchFamily="49" charset="0"/>
              </a:rPr>
              <a:t>async</a:t>
            </a: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function</a:t>
            </a:r>
            <a:r>
              <a:rPr lang="en-US" sz="2400" b="0" dirty="0">
                <a:solidFill>
                  <a:srgbClr val="000000"/>
                </a:solidFill>
                <a:effectLst/>
                <a:latin typeface="Consolas" panose="020B0609020204030204" pitchFamily="49" charset="0"/>
              </a:rPr>
              <a:t> main() {</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'starting main'</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promises =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1</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2</a:t>
            </a:r>
            <a:r>
              <a:rPr lang="en-US" sz="2400" b="0" dirty="0">
                <a:solidFill>
                  <a:srgbClr val="000000"/>
                </a:solidFill>
                <a:effectLst/>
                <a:latin typeface="Consolas" panose="020B0609020204030204" pitchFamily="49" charset="0"/>
              </a:rPr>
              <a:t>), </a:t>
            </a:r>
          </a:p>
          <a:p>
            <a:pPr algn="l">
              <a:buNone/>
            </a:pPr>
            <a:r>
              <a:rPr lang="en-US" sz="2400" dirty="0">
                <a:solidFill>
                  <a:srgbClr val="000000"/>
                </a:solidFill>
                <a:latin typeface="Consolas" panose="020B0609020204030204" pitchFamily="49" charset="0"/>
              </a:rPr>
              <a:t>                      </a:t>
            </a:r>
            <a:r>
              <a:rPr lang="en-US" sz="2400" b="0" dirty="0" err="1">
                <a:solidFill>
                  <a:srgbClr val="000000"/>
                </a:solidFill>
                <a:effectLst/>
                <a:latin typeface="Consolas" panose="020B0609020204030204" pitchFamily="49" charset="0"/>
              </a:rPr>
              <a:t>fakeRequest</a:t>
            </a:r>
            <a:r>
              <a:rPr lang="en-US" sz="2400" b="0" dirty="0">
                <a:solidFill>
                  <a:srgbClr val="000000"/>
                </a:solidFill>
                <a:effectLst/>
                <a:latin typeface="Consolas" panose="020B0609020204030204" pitchFamily="49" charset="0"/>
              </a:rPr>
              <a:t>(</a:t>
            </a:r>
            <a:r>
              <a:rPr lang="en-US" sz="2400" b="0" dirty="0">
                <a:solidFill>
                  <a:srgbClr val="098658"/>
                </a:solidFill>
                <a:effectLst/>
                <a:latin typeface="Consolas" panose="020B0609020204030204" pitchFamily="49" charset="0"/>
              </a:rPr>
              <a:t>3</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    </a:t>
            </a:r>
            <a:r>
              <a:rPr lang="en-US" sz="2400" b="0" dirty="0">
                <a:solidFill>
                  <a:srgbClr val="0000FF"/>
                </a:solidFill>
                <a:effectLst/>
                <a:latin typeface="Consolas" panose="020B0609020204030204" pitchFamily="49" charset="0"/>
              </a:rPr>
              <a:t>const</a:t>
            </a:r>
            <a:r>
              <a:rPr lang="en-US" sz="2400" b="0" dirty="0">
                <a:solidFill>
                  <a:srgbClr val="000000"/>
                </a:solidFill>
                <a:effectLst/>
                <a:latin typeface="Consolas" panose="020B0609020204030204" pitchFamily="49" charset="0"/>
              </a:rPr>
              <a:t> results = </a:t>
            </a:r>
            <a:r>
              <a:rPr lang="en-US" sz="2400" b="0" dirty="0">
                <a:solidFill>
                  <a:srgbClr val="0000FF"/>
                </a:solidFill>
                <a:effectLst/>
                <a:latin typeface="Consolas" panose="020B0609020204030204" pitchFamily="49" charset="0"/>
              </a:rPr>
              <a:t>await</a:t>
            </a:r>
            <a:r>
              <a:rPr lang="en-US" sz="2400" b="0" dirty="0">
                <a:solidFill>
                  <a:srgbClr val="000000"/>
                </a:solidFill>
                <a:effectLst/>
                <a:latin typeface="Consolas" panose="020B0609020204030204" pitchFamily="49" charset="0"/>
              </a:rPr>
              <a:t> </a:t>
            </a:r>
            <a:r>
              <a:rPr lang="en-US" sz="2400" b="0" dirty="0" err="1">
                <a:solidFill>
                  <a:srgbClr val="000000"/>
                </a:solidFill>
                <a:effectLst/>
                <a:latin typeface="Consolas" panose="020B0609020204030204" pitchFamily="49" charset="0"/>
              </a:rPr>
              <a:t>Promise.all</a:t>
            </a:r>
            <a:r>
              <a:rPr lang="en-US" sz="2400" b="0" dirty="0">
                <a:solidFill>
                  <a:srgbClr val="000000"/>
                </a:solidFill>
                <a:effectLst/>
                <a:latin typeface="Consolas" panose="020B0609020204030204" pitchFamily="49" charset="0"/>
              </a:rPr>
              <a:t>(promises);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'results:'</a:t>
            </a:r>
            <a:r>
              <a:rPr lang="en-US" sz="2400" b="0" dirty="0">
                <a:solidFill>
                  <a:srgbClr val="000000"/>
                </a:solidFill>
                <a:effectLst/>
                <a:latin typeface="Consolas" panose="020B0609020204030204" pitchFamily="49" charset="0"/>
              </a:rPr>
              <a:t>, results);</a:t>
            </a:r>
          </a:p>
          <a:p>
            <a:pPr algn="l">
              <a:buNone/>
            </a:pPr>
            <a:r>
              <a:rPr lang="en-US" sz="2400" b="0" dirty="0">
                <a:solidFill>
                  <a:srgbClr val="000000"/>
                </a:solidFill>
                <a:effectLst/>
                <a:latin typeface="Consolas" panose="020B0609020204030204" pitchFamily="49" charset="0"/>
              </a:rPr>
              <a:t>    console.log(</a:t>
            </a:r>
            <a:r>
              <a:rPr lang="en-US" sz="2400" b="0" dirty="0">
                <a:solidFill>
                  <a:srgbClr val="A31515"/>
                </a:solidFill>
                <a:effectLst/>
                <a:latin typeface="Consolas" panose="020B0609020204030204" pitchFamily="49" charset="0"/>
              </a:rPr>
              <a:t>'main done'</a:t>
            </a:r>
            <a:r>
              <a:rPr lang="en-US" sz="2400" b="0" dirty="0">
                <a:solidFill>
                  <a:srgbClr val="000000"/>
                </a:solidFill>
                <a:effectLst/>
                <a:latin typeface="Consolas" panose="020B0609020204030204" pitchFamily="49" charset="0"/>
              </a:rPr>
              <a:t>);</a:t>
            </a:r>
          </a:p>
          <a:p>
            <a:pPr algn="l">
              <a:buNone/>
            </a:pPr>
            <a:r>
              <a:rPr lang="en-US" sz="2400" b="0" dirty="0">
                <a:solidFill>
                  <a:srgbClr val="000000"/>
                </a:solidFill>
                <a:effectLst/>
                <a:latin typeface="Consolas" panose="020B0609020204030204" pitchFamily="49" charset="0"/>
              </a:rPr>
              <a:t>}</a:t>
            </a:r>
          </a:p>
          <a:p>
            <a:pPr algn="l"/>
            <a:br>
              <a:rPr lang="en-US" sz="2400" b="0" dirty="0">
                <a:solidFill>
                  <a:srgbClr val="000000"/>
                </a:solidFill>
                <a:effectLst/>
                <a:latin typeface="Consolas" panose="020B0609020204030204" pitchFamily="49" charset="0"/>
              </a:rPr>
            </a:br>
            <a:r>
              <a:rPr lang="en-US" sz="2400" b="0" dirty="0" err="1">
                <a:solidFill>
                  <a:srgbClr val="000000"/>
                </a:solidFill>
                <a:effectLst/>
                <a:latin typeface="Consolas" panose="020B0609020204030204" pitchFamily="49" charset="0"/>
              </a:rPr>
              <a:t>timeIt</a:t>
            </a:r>
            <a:r>
              <a:rPr lang="en-US" sz="2400" b="0" dirty="0">
                <a:solidFill>
                  <a:srgbClr val="000000"/>
                </a:solidFill>
                <a:effectLst/>
                <a:latin typeface="Consolas" panose="020B0609020204030204" pitchFamily="49" charset="0"/>
              </a:rPr>
              <a:t>(main)</a:t>
            </a:r>
          </a:p>
        </p:txBody>
      </p:sp>
      <p:sp>
        <p:nvSpPr>
          <p:cNvPr id="6" name="TextBox 5">
            <a:extLst>
              <a:ext uri="{FF2B5EF4-FFF2-40B4-BE49-F238E27FC236}">
                <a16:creationId xmlns:a16="http://schemas.microsoft.com/office/drawing/2014/main" id="{E0DE3C76-DED3-4E5B-DACE-9C0E5736DF97}"/>
              </a:ext>
            </a:extLst>
          </p:cNvPr>
          <p:cNvSpPr txBox="1"/>
          <p:nvPr/>
        </p:nvSpPr>
        <p:spPr>
          <a:xfrm>
            <a:off x="6760709" y="2365019"/>
            <a:ext cx="5054301" cy="3855146"/>
          </a:xfrm>
          <a:prstGeom prst="rect">
            <a:avLst/>
          </a:prstGeom>
          <a:solidFill>
            <a:schemeClr val="bg1">
              <a:alpha val="96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threeRequestsConcurrently.ts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starting main</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1</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2</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results: [ 11, 12, 13 ]</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1018.81 </a:t>
            </a:r>
            <a:r>
              <a:rPr lang="en-US" sz="2000" dirty="0" err="1">
                <a:solidFill>
                  <a:schemeClr val="tx1"/>
                </a:solidFill>
                <a:latin typeface="Verdana" panose="020B0604030504040204" pitchFamily="34" charset="0"/>
                <a:ea typeface="Verdana" panose="020B0604030504040204" pitchFamily="34" charset="0"/>
              </a:rPr>
              <a:t>msecno</a:t>
            </a:r>
            <a:endParaRPr lang="en-US" sz="2000" dirty="0">
              <a:solidFill>
                <a:schemeClr val="tx1"/>
              </a:solidFill>
              <a:latin typeface="Verdana" panose="020B0604030504040204" pitchFamily="34" charset="0"/>
              <a:ea typeface="Verdana" panose="020B0604030504040204" pitchFamily="34" charset="0"/>
            </a:endParaRPr>
          </a:p>
        </p:txBody>
      </p:sp>
      <p:sp>
        <p:nvSpPr>
          <p:cNvPr id="7" name="Oval 6">
            <a:extLst>
              <a:ext uri="{FF2B5EF4-FFF2-40B4-BE49-F238E27FC236}">
                <a16:creationId xmlns:a16="http://schemas.microsoft.com/office/drawing/2014/main" id="{DF350BD1-BCBF-4053-D8F2-B89C978EAA4F}"/>
              </a:ext>
            </a:extLst>
          </p:cNvPr>
          <p:cNvSpPr/>
          <p:nvPr/>
        </p:nvSpPr>
        <p:spPr>
          <a:xfrm>
            <a:off x="6608309" y="5618765"/>
            <a:ext cx="2189747" cy="661737"/>
          </a:xfrm>
          <a:prstGeom prst="ellipse">
            <a:avLst/>
          </a:prstGeom>
          <a:noFill/>
          <a:ln w="381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sz="2800" dirty="0" err="1">
              <a:solidFill>
                <a:schemeClr val="tx1"/>
              </a:solidFill>
            </a:endParaRPr>
          </a:p>
        </p:txBody>
      </p:sp>
      <p:sp>
        <p:nvSpPr>
          <p:cNvPr id="4" name="Rectangle: Rounded Corners 3">
            <a:extLst>
              <a:ext uri="{FF2B5EF4-FFF2-40B4-BE49-F238E27FC236}">
                <a16:creationId xmlns:a16="http://schemas.microsoft.com/office/drawing/2014/main" id="{96E20820-F3F8-F753-CE7F-B002FECF2E4E}"/>
              </a:ext>
            </a:extLst>
          </p:cNvPr>
          <p:cNvSpPr/>
          <p:nvPr/>
        </p:nvSpPr>
        <p:spPr>
          <a:xfrm>
            <a:off x="5798634" y="906135"/>
            <a:ext cx="5589882"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sp>
        <p:nvSpPr>
          <p:cNvPr id="8" name="Content Placeholder 1">
            <a:extLst>
              <a:ext uri="{FF2B5EF4-FFF2-40B4-BE49-F238E27FC236}">
                <a16:creationId xmlns:a16="http://schemas.microsoft.com/office/drawing/2014/main" id="{E405C686-823C-80E4-002F-44E0B59C9D6B}"/>
              </a:ext>
            </a:extLst>
          </p:cNvPr>
          <p:cNvSpPr txBox="1">
            <a:spLocks/>
          </p:cNvSpPr>
          <p:nvPr/>
        </p:nvSpPr>
        <p:spPr>
          <a:xfrm>
            <a:off x="1046260" y="6007300"/>
            <a:ext cx="5623009" cy="425729"/>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3 requests may finish in any order</a:t>
            </a:r>
          </a:p>
        </p:txBody>
      </p:sp>
    </p:spTree>
    <p:extLst>
      <p:ext uri="{BB962C8B-B14F-4D97-AF65-F5344CB8AC3E}">
        <p14:creationId xmlns:p14="http://schemas.microsoft.com/office/powerpoint/2010/main" val="16928046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6">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6">
                                            <p:txEl>
                                              <p:pRg st="2" end="2"/>
                                            </p:txEl>
                                          </p:spTgt>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6">
                                            <p:txEl>
                                              <p:pRg st="3" end="3"/>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6">
                                            <p:txEl>
                                              <p:pRg st="4" end="4"/>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6">
                                            <p:txEl>
                                              <p:pRg st="5" end="5"/>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6">
                                            <p:txEl>
                                              <p:pRg st="6" end="6"/>
                                            </p:txEl>
                                          </p:spTgt>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grpId="0" nodeType="clickEffect">
                                  <p:stCondLst>
                                    <p:cond delay="0"/>
                                  </p:stCondLst>
                                  <p:childTnLst>
                                    <p:set>
                                      <p:cBhvr>
                                        <p:cTn id="28" dur="1" fill="hold">
                                          <p:stCondLst>
                                            <p:cond delay="0"/>
                                          </p:stCondLst>
                                        </p:cTn>
                                        <p:tgtEl>
                                          <p:spTgt spid="6">
                                            <p:txEl>
                                              <p:pRg st="7" end="7"/>
                                            </p:txEl>
                                          </p:spTgt>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6">
                                            <p:txEl>
                                              <p:pRg st="8" end="8"/>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6">
                                            <p:txEl>
                                              <p:pRg st="9" end="9"/>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6">
                                            <p:txEl>
                                              <p:pRg st="10" end="10"/>
                                            </p:txEl>
                                          </p:spTgt>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7"/>
                                        </p:tgtEl>
                                        <p:attrNameLst>
                                          <p:attrName>style.visibility</p:attrName>
                                        </p:attrNameLst>
                                      </p:cBhvr>
                                      <p:to>
                                        <p:strVal val="visible"/>
                                      </p:to>
                                    </p:set>
                                  </p:childTnLst>
                                </p:cTn>
                              </p:par>
                            </p:childTnLst>
                          </p:cTn>
                        </p:par>
                      </p:childTnLst>
                    </p:cTn>
                  </p:par>
                  <p:par>
                    <p:cTn id="37" fill="hold">
                      <p:stCondLst>
                        <p:cond delay="indefinite"/>
                      </p:stCondLst>
                      <p:childTnLst>
                        <p:par>
                          <p:cTn id="38" fill="hold">
                            <p:stCondLst>
                              <p:cond delay="0"/>
                            </p:stCondLst>
                            <p:childTnLst>
                              <p:par>
                                <p:cTn id="39" presetID="1" presetClass="entr" presetSubtype="0" fill="hold" grpId="0" nodeType="clickEffect">
                                  <p:stCondLst>
                                    <p:cond delay="0"/>
                                  </p:stCondLst>
                                  <p:childTnLst>
                                    <p:set>
                                      <p:cBhvr>
                                        <p:cTn id="40"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uiExpand="1" build="allAtOnce" animBg="1"/>
      <p:bldP spid="7" grpId="0" animBg="1"/>
      <p:bldP spid="8"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904872-A5AA-7EF3-C717-33099E420CC7}"/>
              </a:ext>
            </a:extLst>
          </p:cNvPr>
          <p:cNvSpPr>
            <a:spLocks noGrp="1"/>
          </p:cNvSpPr>
          <p:nvPr>
            <p:ph type="title"/>
          </p:nvPr>
        </p:nvSpPr>
        <p:spPr/>
        <p:txBody>
          <a:bodyPr/>
          <a:lstStyle/>
          <a:p>
            <a:r>
              <a:rPr lang="en-US" dirty="0"/>
              <a:t>Why is that? </a:t>
            </a:r>
            <a:br>
              <a:rPr lang="en-US" dirty="0"/>
            </a:br>
            <a:r>
              <a:rPr lang="en-US" dirty="0"/>
              <a:t>Visualizing </a:t>
            </a:r>
            <a:r>
              <a:rPr lang="en-US" dirty="0" err="1"/>
              <a:t>Promise.all</a:t>
            </a:r>
            <a:endParaRPr lang="en-US" dirty="0"/>
          </a:p>
        </p:txBody>
      </p:sp>
      <p:sp>
        <p:nvSpPr>
          <p:cNvPr id="3" name="Slide Number Placeholder 2">
            <a:extLst>
              <a:ext uri="{FF2B5EF4-FFF2-40B4-BE49-F238E27FC236}">
                <a16:creationId xmlns:a16="http://schemas.microsoft.com/office/drawing/2014/main" id="{1E27C171-D5EA-DE88-E683-2C6A1DB367B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grpSp>
        <p:nvGrpSpPr>
          <p:cNvPr id="82" name="Group 81">
            <a:extLst>
              <a:ext uri="{FF2B5EF4-FFF2-40B4-BE49-F238E27FC236}">
                <a16:creationId xmlns:a16="http://schemas.microsoft.com/office/drawing/2014/main" id="{5C09B819-646C-1BF0-CDF8-9C3635361FB2}"/>
              </a:ext>
            </a:extLst>
          </p:cNvPr>
          <p:cNvGrpSpPr/>
          <p:nvPr/>
        </p:nvGrpSpPr>
        <p:grpSpPr>
          <a:xfrm>
            <a:off x="517429" y="4904201"/>
            <a:ext cx="5080647" cy="1388452"/>
            <a:chOff x="728956" y="4248728"/>
            <a:chExt cx="5080647" cy="1388452"/>
          </a:xfrm>
        </p:grpSpPr>
        <p:grpSp>
          <p:nvGrpSpPr>
            <p:cNvPr id="49" name="Group 48">
              <a:extLst>
                <a:ext uri="{FF2B5EF4-FFF2-40B4-BE49-F238E27FC236}">
                  <a16:creationId xmlns:a16="http://schemas.microsoft.com/office/drawing/2014/main" id="{0F03F2D4-9D9D-5A5B-2FB0-BA0B2E9644A6}"/>
                </a:ext>
              </a:extLst>
            </p:cNvPr>
            <p:cNvGrpSpPr/>
            <p:nvPr/>
          </p:nvGrpSpPr>
          <p:grpSpPr>
            <a:xfrm>
              <a:off x="1063637" y="5148440"/>
              <a:ext cx="4745966" cy="488740"/>
              <a:chOff x="-648299" y="2326848"/>
              <a:chExt cx="4745966" cy="488740"/>
            </a:xfrm>
          </p:grpSpPr>
          <p:sp>
            <p:nvSpPr>
              <p:cNvPr id="50" name="Rectangle 49">
                <a:extLst>
                  <a:ext uri="{FF2B5EF4-FFF2-40B4-BE49-F238E27FC236}">
                    <a16:creationId xmlns:a16="http://schemas.microsoft.com/office/drawing/2014/main" id="{CFC40432-958C-952B-6872-3370A26A793F}"/>
                  </a:ext>
                </a:extLst>
              </p:cNvPr>
              <p:cNvSpPr/>
              <p:nvPr/>
            </p:nvSpPr>
            <p:spPr>
              <a:xfrm>
                <a:off x="-648299" y="2326848"/>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1" name="Rectangle 50">
                <a:extLst>
                  <a:ext uri="{FF2B5EF4-FFF2-40B4-BE49-F238E27FC236}">
                    <a16:creationId xmlns:a16="http://schemas.microsoft.com/office/drawing/2014/main" id="{2307C3DA-FED1-E2EA-9531-AEE61B0DD710}"/>
                  </a:ext>
                </a:extLst>
              </p:cNvPr>
              <p:cNvSpPr/>
              <p:nvPr/>
            </p:nvSpPr>
            <p:spPr>
              <a:xfrm>
                <a:off x="2863227" y="234696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2" name="Rectangle 51">
                <a:extLst>
                  <a:ext uri="{FF2B5EF4-FFF2-40B4-BE49-F238E27FC236}">
                    <a16:creationId xmlns:a16="http://schemas.microsoft.com/office/drawing/2014/main" id="{BC3D1DA1-8838-02F1-198E-80213880467B}"/>
                  </a:ext>
                </a:extLst>
              </p:cNvPr>
              <p:cNvSpPr/>
              <p:nvPr/>
            </p:nvSpPr>
            <p:spPr>
              <a:xfrm>
                <a:off x="586141" y="2333371"/>
                <a:ext cx="2255186"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53" name="Group 52">
              <a:extLst>
                <a:ext uri="{FF2B5EF4-FFF2-40B4-BE49-F238E27FC236}">
                  <a16:creationId xmlns:a16="http://schemas.microsoft.com/office/drawing/2014/main" id="{B0F02838-D0F8-BD56-D733-FEDFE2B23448}"/>
                </a:ext>
              </a:extLst>
            </p:cNvPr>
            <p:cNvGrpSpPr/>
            <p:nvPr/>
          </p:nvGrpSpPr>
          <p:grpSpPr>
            <a:xfrm>
              <a:off x="880134" y="4710833"/>
              <a:ext cx="4822166" cy="494722"/>
              <a:chOff x="575334" y="4406033"/>
              <a:chExt cx="4822166" cy="494722"/>
            </a:xfrm>
          </p:grpSpPr>
          <p:sp>
            <p:nvSpPr>
              <p:cNvPr id="54" name="Rectangle 53">
                <a:extLst>
                  <a:ext uri="{FF2B5EF4-FFF2-40B4-BE49-F238E27FC236}">
                    <a16:creationId xmlns:a16="http://schemas.microsoft.com/office/drawing/2014/main" id="{08972302-CCB6-9709-0572-0B9CCE455266}"/>
                  </a:ext>
                </a:extLst>
              </p:cNvPr>
              <p:cNvSpPr/>
              <p:nvPr/>
            </p:nvSpPr>
            <p:spPr>
              <a:xfrm>
                <a:off x="575334" y="4425604"/>
                <a:ext cx="1320800" cy="442534"/>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55" name="Rectangle 54">
                <a:extLst>
                  <a:ext uri="{FF2B5EF4-FFF2-40B4-BE49-F238E27FC236}">
                    <a16:creationId xmlns:a16="http://schemas.microsoft.com/office/drawing/2014/main" id="{FE22DEE2-3309-56DA-BA98-74B2D7C89158}"/>
                  </a:ext>
                </a:extLst>
              </p:cNvPr>
              <p:cNvSpPr/>
              <p:nvPr/>
            </p:nvSpPr>
            <p:spPr>
              <a:xfrm>
                <a:off x="4163060" y="4432127"/>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56" name="Rectangle 55">
                <a:extLst>
                  <a:ext uri="{FF2B5EF4-FFF2-40B4-BE49-F238E27FC236}">
                    <a16:creationId xmlns:a16="http://schemas.microsoft.com/office/drawing/2014/main" id="{16D55FBC-F6C0-31BD-82FE-3A4A3C3A33FA}"/>
                  </a:ext>
                </a:extLst>
              </p:cNvPr>
              <p:cNvSpPr/>
              <p:nvPr/>
            </p:nvSpPr>
            <p:spPr>
              <a:xfrm>
                <a:off x="1896134" y="4406033"/>
                <a:ext cx="225166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5" name="Group 64">
              <a:extLst>
                <a:ext uri="{FF2B5EF4-FFF2-40B4-BE49-F238E27FC236}">
                  <a16:creationId xmlns:a16="http://schemas.microsoft.com/office/drawing/2014/main" id="{A600B712-6C6F-51EA-917A-D5B4819DF697}"/>
                </a:ext>
              </a:extLst>
            </p:cNvPr>
            <p:cNvGrpSpPr/>
            <p:nvPr/>
          </p:nvGrpSpPr>
          <p:grpSpPr>
            <a:xfrm>
              <a:off x="728956" y="4248728"/>
              <a:ext cx="4831080" cy="481674"/>
              <a:chOff x="1485900" y="2364394"/>
              <a:chExt cx="4831080" cy="481674"/>
            </a:xfrm>
          </p:grpSpPr>
          <p:sp>
            <p:nvSpPr>
              <p:cNvPr id="66" name="Rectangle 65">
                <a:extLst>
                  <a:ext uri="{FF2B5EF4-FFF2-40B4-BE49-F238E27FC236}">
                    <a16:creationId xmlns:a16="http://schemas.microsoft.com/office/drawing/2014/main" id="{862DB715-0EBB-54B0-AFD9-9ECA6240CD8C}"/>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67" name="Rectangle 66">
                <a:extLst>
                  <a:ext uri="{FF2B5EF4-FFF2-40B4-BE49-F238E27FC236}">
                    <a16:creationId xmlns:a16="http://schemas.microsoft.com/office/drawing/2014/main" id="{D1E2B88A-0509-42E4-DF5D-AECD08D1DB35}"/>
                  </a:ext>
                </a:extLst>
              </p:cNvPr>
              <p:cNvSpPr/>
              <p:nvPr/>
            </p:nvSpPr>
            <p:spPr>
              <a:xfrm>
                <a:off x="5082540" y="2364394"/>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68" name="Rectangle 67">
                <a:extLst>
                  <a:ext uri="{FF2B5EF4-FFF2-40B4-BE49-F238E27FC236}">
                    <a16:creationId xmlns:a16="http://schemas.microsoft.com/office/drawing/2014/main" id="{6DB95BA2-2788-85B7-A0E1-A4F9F29D5EF4}"/>
                  </a:ext>
                </a:extLst>
              </p:cNvPr>
              <p:cNvSpPr/>
              <p:nvPr/>
            </p:nvSpPr>
            <p:spPr>
              <a:xfrm>
                <a:off x="2720340" y="2377440"/>
                <a:ext cx="2338022"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grpSp>
        <p:nvGrpSpPr>
          <p:cNvPr id="86" name="Group 85">
            <a:extLst>
              <a:ext uri="{FF2B5EF4-FFF2-40B4-BE49-F238E27FC236}">
                <a16:creationId xmlns:a16="http://schemas.microsoft.com/office/drawing/2014/main" id="{5176B963-A4DF-0123-9888-C475085E882C}"/>
              </a:ext>
            </a:extLst>
          </p:cNvPr>
          <p:cNvGrpSpPr/>
          <p:nvPr/>
        </p:nvGrpSpPr>
        <p:grpSpPr>
          <a:xfrm>
            <a:off x="204422" y="2825268"/>
            <a:ext cx="11603265" cy="429918"/>
            <a:chOff x="275566" y="2038843"/>
            <a:chExt cx="13845540" cy="475151"/>
          </a:xfrm>
        </p:grpSpPr>
        <p:grpSp>
          <p:nvGrpSpPr>
            <p:cNvPr id="70" name="Group 69">
              <a:extLst>
                <a:ext uri="{FF2B5EF4-FFF2-40B4-BE49-F238E27FC236}">
                  <a16:creationId xmlns:a16="http://schemas.microsoft.com/office/drawing/2014/main" id="{E0C733AD-12E5-5746-0B25-760C18C4E98F}"/>
                </a:ext>
              </a:extLst>
            </p:cNvPr>
            <p:cNvGrpSpPr/>
            <p:nvPr/>
          </p:nvGrpSpPr>
          <p:grpSpPr>
            <a:xfrm>
              <a:off x="275566" y="2038843"/>
              <a:ext cx="4610100" cy="468628"/>
              <a:chOff x="1485900" y="2377440"/>
              <a:chExt cx="4610100" cy="468628"/>
            </a:xfrm>
          </p:grpSpPr>
          <p:sp>
            <p:nvSpPr>
              <p:cNvPr id="71" name="Rectangle 70">
                <a:extLst>
                  <a:ext uri="{FF2B5EF4-FFF2-40B4-BE49-F238E27FC236}">
                    <a16:creationId xmlns:a16="http://schemas.microsoft.com/office/drawing/2014/main" id="{85B21E4C-FD23-F42D-3BAD-EF62DF4A932B}"/>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2" name="Rectangle 71">
                <a:extLst>
                  <a:ext uri="{FF2B5EF4-FFF2-40B4-BE49-F238E27FC236}">
                    <a16:creationId xmlns:a16="http://schemas.microsoft.com/office/drawing/2014/main" id="{BD9EEAB6-370C-9AD5-7988-28FA7420DCB8}"/>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3" name="Rectangle 72">
                <a:extLst>
                  <a:ext uri="{FF2B5EF4-FFF2-40B4-BE49-F238E27FC236}">
                    <a16:creationId xmlns:a16="http://schemas.microsoft.com/office/drawing/2014/main" id="{C65B9EA3-31C4-ADF8-50E0-A1A1094B5F0B}"/>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4" name="Group 73">
              <a:extLst>
                <a:ext uri="{FF2B5EF4-FFF2-40B4-BE49-F238E27FC236}">
                  <a16:creationId xmlns:a16="http://schemas.microsoft.com/office/drawing/2014/main" id="{180C92F6-CD87-BB94-A89C-06FD23E46891}"/>
                </a:ext>
              </a:extLst>
            </p:cNvPr>
            <p:cNvGrpSpPr/>
            <p:nvPr/>
          </p:nvGrpSpPr>
          <p:grpSpPr>
            <a:xfrm>
              <a:off x="4885666" y="2038843"/>
              <a:ext cx="4610100" cy="468628"/>
              <a:chOff x="1485900" y="2332079"/>
              <a:chExt cx="4610100" cy="468628"/>
            </a:xfrm>
          </p:grpSpPr>
          <p:sp>
            <p:nvSpPr>
              <p:cNvPr id="75" name="Rectangle 74">
                <a:extLst>
                  <a:ext uri="{FF2B5EF4-FFF2-40B4-BE49-F238E27FC236}">
                    <a16:creationId xmlns:a16="http://schemas.microsoft.com/office/drawing/2014/main" id="{983D0E3A-D112-0196-149D-C9315AEC3E70}"/>
                  </a:ext>
                </a:extLst>
              </p:cNvPr>
              <p:cNvSpPr/>
              <p:nvPr/>
            </p:nvSpPr>
            <p:spPr>
              <a:xfrm>
                <a:off x="148590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76" name="Rectangle 75">
                <a:extLst>
                  <a:ext uri="{FF2B5EF4-FFF2-40B4-BE49-F238E27FC236}">
                    <a16:creationId xmlns:a16="http://schemas.microsoft.com/office/drawing/2014/main" id="{6B2979F7-47F3-CFFE-95CB-75E0CEB0E6D7}"/>
                  </a:ext>
                </a:extLst>
              </p:cNvPr>
              <p:cNvSpPr/>
              <p:nvPr/>
            </p:nvSpPr>
            <p:spPr>
              <a:xfrm>
                <a:off x="4861560" y="2332079"/>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77" name="Rectangle 76">
                <a:extLst>
                  <a:ext uri="{FF2B5EF4-FFF2-40B4-BE49-F238E27FC236}">
                    <a16:creationId xmlns:a16="http://schemas.microsoft.com/office/drawing/2014/main" id="{D03FA558-2930-6B67-F8D3-BF32899EC7CC}"/>
                  </a:ext>
                </a:extLst>
              </p:cNvPr>
              <p:cNvSpPr/>
              <p:nvPr/>
            </p:nvSpPr>
            <p:spPr>
              <a:xfrm>
                <a:off x="2720340" y="2332079"/>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8" name="Group 77">
              <a:extLst>
                <a:ext uri="{FF2B5EF4-FFF2-40B4-BE49-F238E27FC236}">
                  <a16:creationId xmlns:a16="http://schemas.microsoft.com/office/drawing/2014/main" id="{76F58E3A-2CE8-8D4B-3265-99CE2E26F836}"/>
                </a:ext>
              </a:extLst>
            </p:cNvPr>
            <p:cNvGrpSpPr/>
            <p:nvPr/>
          </p:nvGrpSpPr>
          <p:grpSpPr>
            <a:xfrm>
              <a:off x="9511006" y="2045366"/>
              <a:ext cx="4610100" cy="468628"/>
              <a:chOff x="1485900" y="2377440"/>
              <a:chExt cx="4610100" cy="468628"/>
            </a:xfrm>
          </p:grpSpPr>
          <p:sp>
            <p:nvSpPr>
              <p:cNvPr id="79" name="Rectangle 78">
                <a:extLst>
                  <a:ext uri="{FF2B5EF4-FFF2-40B4-BE49-F238E27FC236}">
                    <a16:creationId xmlns:a16="http://schemas.microsoft.com/office/drawing/2014/main" id="{07931022-8389-65A1-CE37-D4C119DFD595}"/>
                  </a:ext>
                </a:extLst>
              </p:cNvPr>
              <p:cNvSpPr/>
              <p:nvPr/>
            </p:nvSpPr>
            <p:spPr>
              <a:xfrm>
                <a:off x="148590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80" name="Rectangle 79">
                <a:extLst>
                  <a:ext uri="{FF2B5EF4-FFF2-40B4-BE49-F238E27FC236}">
                    <a16:creationId xmlns:a16="http://schemas.microsoft.com/office/drawing/2014/main" id="{771578F2-CE5B-DF8D-C1CC-D99DFFB94300}"/>
                  </a:ext>
                </a:extLst>
              </p:cNvPr>
              <p:cNvSpPr/>
              <p:nvPr/>
            </p:nvSpPr>
            <p:spPr>
              <a:xfrm>
                <a:off x="4861560" y="2377440"/>
                <a:ext cx="1234440"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81" name="Rectangle 80">
                <a:extLst>
                  <a:ext uri="{FF2B5EF4-FFF2-40B4-BE49-F238E27FC236}">
                    <a16:creationId xmlns:a16="http://schemas.microsoft.com/office/drawing/2014/main" id="{B780C2A3-31AD-CA5B-7C22-CE977052038C}"/>
                  </a:ext>
                </a:extLst>
              </p:cNvPr>
              <p:cNvSpPr/>
              <p:nvPr/>
            </p:nvSpPr>
            <p:spPr>
              <a:xfrm>
                <a:off x="2720340" y="2377440"/>
                <a:ext cx="2141220"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83" name="TextBox 82">
            <a:extLst>
              <a:ext uri="{FF2B5EF4-FFF2-40B4-BE49-F238E27FC236}">
                <a16:creationId xmlns:a16="http://schemas.microsoft.com/office/drawing/2014/main" id="{289CE299-DF50-7F29-AADE-259F205F8158}"/>
              </a:ext>
            </a:extLst>
          </p:cNvPr>
          <p:cNvSpPr txBox="1"/>
          <p:nvPr/>
        </p:nvSpPr>
        <p:spPr>
          <a:xfrm>
            <a:off x="2354508" y="1645677"/>
            <a:ext cx="3020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Sequential (await)</a:t>
            </a:r>
          </a:p>
        </p:txBody>
      </p:sp>
      <p:sp>
        <p:nvSpPr>
          <p:cNvPr id="84" name="TextBox 83">
            <a:extLst>
              <a:ext uri="{FF2B5EF4-FFF2-40B4-BE49-F238E27FC236}">
                <a16:creationId xmlns:a16="http://schemas.microsoft.com/office/drawing/2014/main" id="{75DA8819-1E1F-21D0-D328-BA212D0F69E0}"/>
              </a:ext>
            </a:extLst>
          </p:cNvPr>
          <p:cNvSpPr txBox="1"/>
          <p:nvPr/>
        </p:nvSpPr>
        <p:spPr>
          <a:xfrm>
            <a:off x="2360810" y="3841707"/>
            <a:ext cx="3782084"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Concurrent (</a:t>
            </a:r>
            <a:r>
              <a:rPr lang="en-US" sz="2400" dirty="0" err="1">
                <a:solidFill>
                  <a:schemeClr val="tx1"/>
                </a:solidFill>
                <a:latin typeface="Verdana" panose="020B0604030504040204" pitchFamily="34" charset="0"/>
                <a:ea typeface="Verdana" panose="020B0604030504040204" pitchFamily="34" charset="0"/>
              </a:rPr>
              <a:t>Promise.all</a:t>
            </a:r>
            <a:r>
              <a:rPr lang="en-US" sz="2400" dirty="0">
                <a:solidFill>
                  <a:schemeClr val="tx1"/>
                </a:solidFill>
                <a:latin typeface="Verdana" panose="020B0604030504040204" pitchFamily="34" charset="0"/>
                <a:ea typeface="Verdana" panose="020B0604030504040204" pitchFamily="34" charset="0"/>
              </a:rPr>
              <a:t>)</a:t>
            </a:r>
          </a:p>
        </p:txBody>
      </p:sp>
      <p:sp>
        <p:nvSpPr>
          <p:cNvPr id="85" name="TextBox 84">
            <a:extLst>
              <a:ext uri="{FF2B5EF4-FFF2-40B4-BE49-F238E27FC236}">
                <a16:creationId xmlns:a16="http://schemas.microsoft.com/office/drawing/2014/main" id="{F53C8640-347D-C02C-2069-65D5C148A1A9}"/>
              </a:ext>
            </a:extLst>
          </p:cNvPr>
          <p:cNvSpPr txBox="1"/>
          <p:nvPr/>
        </p:nvSpPr>
        <p:spPr>
          <a:xfrm>
            <a:off x="5821608" y="149758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“Don’t make another request until you got the last response back”</a:t>
            </a:r>
          </a:p>
        </p:txBody>
      </p:sp>
      <p:sp>
        <p:nvSpPr>
          <p:cNvPr id="87" name="TextBox 86">
            <a:extLst>
              <a:ext uri="{FF2B5EF4-FFF2-40B4-BE49-F238E27FC236}">
                <a16:creationId xmlns:a16="http://schemas.microsoft.com/office/drawing/2014/main" id="{5B534789-66A7-D575-0C34-AFB9DCA26C31}"/>
              </a:ext>
            </a:extLst>
          </p:cNvPr>
          <p:cNvSpPr txBox="1"/>
          <p:nvPr/>
        </p:nvSpPr>
        <p:spPr>
          <a:xfrm>
            <a:off x="6563167" y="3693613"/>
            <a:ext cx="3925004" cy="1210588"/>
          </a:xfrm>
          <a:prstGeom prst="rect">
            <a:avLst/>
          </a:prstGeom>
          <a:ln/>
        </p:spPr>
        <p:style>
          <a:lnRef idx="2">
            <a:schemeClr val="dk1"/>
          </a:lnRef>
          <a:fillRef idx="1">
            <a:schemeClr val="lt1"/>
          </a:fillRef>
          <a:effectRef idx="0">
            <a:schemeClr val="dk1"/>
          </a:effectRef>
          <a:fontRef idx="minor">
            <a:schemeClr val="dk1"/>
          </a:fontRef>
        </p:style>
        <p:txBody>
          <a:bodyPr rot="0" spcFirstLastPara="1" vertOverflow="overflow" horzOverflow="overflow" vert="horz" wrap="square" lIns="50800" tIns="50800" rIns="50800" bIns="50800" numCol="1" spcCol="38100" rtlCol="0" anchor="ctr">
            <a:spAutoFit/>
          </a:bodyPr>
          <a:lstStyle/>
          <a:p>
            <a:pPr marL="0" marR="0" indent="0" algn="ctr" defTabSz="2438338" rtl="0" fontAlgn="auto" latinLnBrk="0" hangingPunct="0">
              <a:lnSpc>
                <a:spcPct val="100000"/>
              </a:lnSpc>
              <a:spcBef>
                <a:spcPts val="0"/>
              </a:spcBef>
              <a:spcAft>
                <a:spcPts val="0"/>
              </a:spcAft>
              <a:buClrTx/>
              <a:buSzTx/>
              <a:buFontTx/>
              <a:buNone/>
              <a:tabLst/>
            </a:pPr>
            <a:r>
              <a:rPr kumimoji="0" lang="en-US" sz="2400" b="0" i="0" u="none" strike="noStrike" cap="none" spc="0" normalizeH="0" baseline="0" dirty="0">
                <a:ln>
                  <a:noFill/>
                </a:ln>
                <a:solidFill>
                  <a:srgbClr val="5E5E5E"/>
                </a:solidFill>
                <a:effectLst/>
                <a:uFillTx/>
                <a:latin typeface="+mn-lt"/>
                <a:ea typeface="+mn-ea"/>
                <a:cs typeface="+mn-cs"/>
                <a:sym typeface="Helvetica Neue"/>
              </a:rPr>
              <a:t>“Make all of the requests now, then wait for all of the responses”</a:t>
            </a:r>
          </a:p>
        </p:txBody>
      </p:sp>
      <p:sp>
        <p:nvSpPr>
          <p:cNvPr id="88" name="TextBox 87">
            <a:extLst>
              <a:ext uri="{FF2B5EF4-FFF2-40B4-BE49-F238E27FC236}">
                <a16:creationId xmlns:a16="http://schemas.microsoft.com/office/drawing/2014/main" id="{7BCC99CE-DB71-E9BE-E8B0-BCDD5EE88A98}"/>
              </a:ext>
            </a:extLst>
          </p:cNvPr>
          <p:cNvSpPr txBox="1"/>
          <p:nvPr/>
        </p:nvSpPr>
        <p:spPr>
          <a:xfrm>
            <a:off x="10429848" y="1836861"/>
            <a:ext cx="1642882" cy="424016"/>
          </a:xfrm>
          <a:prstGeom prst="rect">
            <a:avLst/>
          </a:prstGeom>
          <a:ln/>
        </p:spPr>
        <p:style>
          <a:lnRef idx="2">
            <a:schemeClr val="dk1"/>
          </a:lnRef>
          <a:fillRef idx="1">
            <a:schemeClr val="lt1"/>
          </a:fillRef>
          <a:effectRef idx="0">
            <a:schemeClr val="dk1"/>
          </a:effectRef>
          <a:fontRef idx="minor">
            <a:schemeClr val="dk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237 msec</a:t>
            </a:r>
          </a:p>
        </p:txBody>
      </p:sp>
      <p:sp>
        <p:nvSpPr>
          <p:cNvPr id="89" name="Rectangle 88">
            <a:extLst>
              <a:ext uri="{FF2B5EF4-FFF2-40B4-BE49-F238E27FC236}">
                <a16:creationId xmlns:a16="http://schemas.microsoft.com/office/drawing/2014/main" id="{77861A10-ABD5-B4EF-DE2A-5996A6E0AF54}"/>
              </a:ext>
            </a:extLst>
          </p:cNvPr>
          <p:cNvSpPr/>
          <p:nvPr/>
        </p:nvSpPr>
        <p:spPr>
          <a:xfrm>
            <a:off x="10674302" y="3966210"/>
            <a:ext cx="1398428" cy="786357"/>
          </a:xfrm>
          <a:prstGeom prst="rect">
            <a:avLst/>
          </a:prstGeom>
          <a:ln/>
        </p:spPr>
        <p:style>
          <a:lnRef idx="2">
            <a:schemeClr val="dk1"/>
          </a:lnRef>
          <a:fillRef idx="1">
            <a:schemeClr val="lt1"/>
          </a:fillRef>
          <a:effectRef idx="0">
            <a:schemeClr val="dk1"/>
          </a:effectRef>
          <a:fontRef idx="minor">
            <a:schemeClr val="dk1"/>
          </a:fontRef>
        </p:style>
        <p:txBody>
          <a:bodyPr rtlCol="0" anchor="ctr"/>
          <a:lstStyle/>
          <a:p>
            <a:pPr algn="l"/>
            <a:r>
              <a:rPr lang="en-US" sz="2800" dirty="0">
                <a:solidFill>
                  <a:schemeClr val="tx1"/>
                </a:solidFill>
              </a:rPr>
              <a:t>34 msec</a:t>
            </a:r>
          </a:p>
        </p:txBody>
      </p:sp>
      <p:grpSp>
        <p:nvGrpSpPr>
          <p:cNvPr id="4" name="Group 3">
            <a:extLst>
              <a:ext uri="{FF2B5EF4-FFF2-40B4-BE49-F238E27FC236}">
                <a16:creationId xmlns:a16="http://schemas.microsoft.com/office/drawing/2014/main" id="{9CF502FF-9449-C12E-99D4-A08648992BE5}"/>
              </a:ext>
            </a:extLst>
          </p:cNvPr>
          <p:cNvGrpSpPr/>
          <p:nvPr/>
        </p:nvGrpSpPr>
        <p:grpSpPr>
          <a:xfrm>
            <a:off x="6451412" y="5079415"/>
            <a:ext cx="4648390" cy="1364703"/>
            <a:chOff x="753132" y="4258888"/>
            <a:chExt cx="4648390" cy="1364703"/>
          </a:xfrm>
        </p:grpSpPr>
        <p:grpSp>
          <p:nvGrpSpPr>
            <p:cNvPr id="5" name="Group 4">
              <a:extLst>
                <a:ext uri="{FF2B5EF4-FFF2-40B4-BE49-F238E27FC236}">
                  <a16:creationId xmlns:a16="http://schemas.microsoft.com/office/drawing/2014/main" id="{45A6BC30-CAE2-DBE6-18DC-D80393610BC5}"/>
                </a:ext>
              </a:extLst>
            </p:cNvPr>
            <p:cNvGrpSpPr/>
            <p:nvPr/>
          </p:nvGrpSpPr>
          <p:grpSpPr>
            <a:xfrm>
              <a:off x="753133" y="5148439"/>
              <a:ext cx="4527917" cy="475152"/>
              <a:chOff x="-958803" y="2326847"/>
              <a:chExt cx="4527917" cy="475152"/>
            </a:xfrm>
          </p:grpSpPr>
          <p:sp>
            <p:nvSpPr>
              <p:cNvPr id="14" name="Rectangle 13">
                <a:extLst>
                  <a:ext uri="{FF2B5EF4-FFF2-40B4-BE49-F238E27FC236}">
                    <a16:creationId xmlns:a16="http://schemas.microsoft.com/office/drawing/2014/main" id="{77643C05-1C0D-55B0-435D-93610662EB5E}"/>
                  </a:ext>
                </a:extLst>
              </p:cNvPr>
              <p:cNvSpPr/>
              <p:nvPr/>
            </p:nvSpPr>
            <p:spPr>
              <a:xfrm>
                <a:off x="-958803" y="2326847"/>
                <a:ext cx="1266705"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5" name="Rectangle 14">
                <a:extLst>
                  <a:ext uri="{FF2B5EF4-FFF2-40B4-BE49-F238E27FC236}">
                    <a16:creationId xmlns:a16="http://schemas.microsoft.com/office/drawing/2014/main" id="{45878723-B0A2-121E-3870-9B3A52567D5D}"/>
                  </a:ext>
                </a:extLst>
              </p:cNvPr>
              <p:cNvSpPr/>
              <p:nvPr/>
            </p:nvSpPr>
            <p:spPr>
              <a:xfrm>
                <a:off x="2513432" y="2374551"/>
                <a:ext cx="1055682" cy="420923"/>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6" name="Rectangle 15">
                <a:extLst>
                  <a:ext uri="{FF2B5EF4-FFF2-40B4-BE49-F238E27FC236}">
                    <a16:creationId xmlns:a16="http://schemas.microsoft.com/office/drawing/2014/main" id="{3A6A3E75-473F-128E-3407-0D00A7F8A088}"/>
                  </a:ext>
                </a:extLst>
              </p:cNvPr>
              <p:cNvSpPr/>
              <p:nvPr/>
            </p:nvSpPr>
            <p:spPr>
              <a:xfrm>
                <a:off x="272125" y="2383963"/>
                <a:ext cx="2241308" cy="418036"/>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6" name="Group 5">
              <a:extLst>
                <a:ext uri="{FF2B5EF4-FFF2-40B4-BE49-F238E27FC236}">
                  <a16:creationId xmlns:a16="http://schemas.microsoft.com/office/drawing/2014/main" id="{034280D1-6221-B6BA-7473-FFBDD58B00E6}"/>
                </a:ext>
              </a:extLst>
            </p:cNvPr>
            <p:cNvGrpSpPr/>
            <p:nvPr/>
          </p:nvGrpSpPr>
          <p:grpSpPr>
            <a:xfrm>
              <a:off x="753133" y="4730403"/>
              <a:ext cx="3749227" cy="475152"/>
              <a:chOff x="448333" y="4425603"/>
              <a:chExt cx="3749227" cy="475152"/>
            </a:xfrm>
          </p:grpSpPr>
          <p:sp>
            <p:nvSpPr>
              <p:cNvPr id="11" name="Rectangle 10">
                <a:extLst>
                  <a:ext uri="{FF2B5EF4-FFF2-40B4-BE49-F238E27FC236}">
                    <a16:creationId xmlns:a16="http://schemas.microsoft.com/office/drawing/2014/main" id="{01BE86A7-FE6A-A0AD-A1A6-DB66CD854509}"/>
                  </a:ext>
                </a:extLst>
              </p:cNvPr>
              <p:cNvSpPr/>
              <p:nvPr/>
            </p:nvSpPr>
            <p:spPr>
              <a:xfrm>
                <a:off x="448333" y="4425603"/>
                <a:ext cx="1230927" cy="475151"/>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12" name="Rectangle 11">
                <a:extLst>
                  <a:ext uri="{FF2B5EF4-FFF2-40B4-BE49-F238E27FC236}">
                    <a16:creationId xmlns:a16="http://schemas.microsoft.com/office/drawing/2014/main" id="{8E90F00D-DE3C-8274-2A04-A4456C94AB74}"/>
                  </a:ext>
                </a:extLst>
              </p:cNvPr>
              <p:cNvSpPr/>
              <p:nvPr/>
            </p:nvSpPr>
            <p:spPr>
              <a:xfrm>
                <a:off x="3141878" y="4432127"/>
                <a:ext cx="1055682"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3" name="Rectangle 12">
                <a:extLst>
                  <a:ext uri="{FF2B5EF4-FFF2-40B4-BE49-F238E27FC236}">
                    <a16:creationId xmlns:a16="http://schemas.microsoft.com/office/drawing/2014/main" id="{823035FA-8EC1-BF3B-F72D-DF75E7CA6228}"/>
                  </a:ext>
                </a:extLst>
              </p:cNvPr>
              <p:cNvSpPr/>
              <p:nvPr/>
            </p:nvSpPr>
            <p:spPr>
              <a:xfrm>
                <a:off x="1679260" y="4426353"/>
                <a:ext cx="1451314"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nvGrpSpPr>
            <p:cNvPr id="7" name="Group 6">
              <a:extLst>
                <a:ext uri="{FF2B5EF4-FFF2-40B4-BE49-F238E27FC236}">
                  <a16:creationId xmlns:a16="http://schemas.microsoft.com/office/drawing/2014/main" id="{D91B0986-3B73-D027-0014-935CCA463F7D}"/>
                </a:ext>
              </a:extLst>
            </p:cNvPr>
            <p:cNvGrpSpPr/>
            <p:nvPr/>
          </p:nvGrpSpPr>
          <p:grpSpPr>
            <a:xfrm>
              <a:off x="753132" y="4258888"/>
              <a:ext cx="4648390" cy="471514"/>
              <a:chOff x="1510076" y="2374554"/>
              <a:chExt cx="4648390" cy="471514"/>
            </a:xfrm>
          </p:grpSpPr>
          <p:sp>
            <p:nvSpPr>
              <p:cNvPr id="8" name="Rectangle 7">
                <a:extLst>
                  <a:ext uri="{FF2B5EF4-FFF2-40B4-BE49-F238E27FC236}">
                    <a16:creationId xmlns:a16="http://schemas.microsoft.com/office/drawing/2014/main" id="{4132249D-836A-169B-C18E-AAD87E1FEB5F}"/>
                  </a:ext>
                </a:extLst>
              </p:cNvPr>
              <p:cNvSpPr/>
              <p:nvPr/>
            </p:nvSpPr>
            <p:spPr>
              <a:xfrm>
                <a:off x="1510076" y="2377440"/>
                <a:ext cx="1443244"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send</a:t>
                </a:r>
              </a:p>
            </p:txBody>
          </p:sp>
          <p:sp>
            <p:nvSpPr>
              <p:cNvPr id="9" name="Rectangle 8">
                <a:extLst>
                  <a:ext uri="{FF2B5EF4-FFF2-40B4-BE49-F238E27FC236}">
                    <a16:creationId xmlns:a16="http://schemas.microsoft.com/office/drawing/2014/main" id="{B13A1FA0-1AA8-8A40-C3B4-127F7ED8CC99}"/>
                  </a:ext>
                </a:extLst>
              </p:cNvPr>
              <p:cNvSpPr/>
              <p:nvPr/>
            </p:nvSpPr>
            <p:spPr>
              <a:xfrm>
                <a:off x="4691047" y="2374554"/>
                <a:ext cx="1467419" cy="468628"/>
              </a:xfrm>
              <a:prstGeom prst="rect">
                <a:avLst/>
              </a:prstGeom>
              <a:ln/>
            </p:spPr>
            <p:style>
              <a:lnRef idx="1">
                <a:schemeClr val="accent6"/>
              </a:lnRef>
              <a:fillRef idx="2">
                <a:schemeClr val="accent6"/>
              </a:fillRef>
              <a:effectRef idx="1">
                <a:schemeClr val="accent6"/>
              </a:effectRef>
              <a:fontRef idx="minor">
                <a:schemeClr val="dk1"/>
              </a:fontRef>
            </p:style>
            <p:txBody>
              <a:bodyPr rtlCol="0" anchor="ctr"/>
              <a:lstStyle/>
              <a:p>
                <a:r>
                  <a:rPr lang="en-US" sz="2000" dirty="0">
                    <a:solidFill>
                      <a:schemeClr val="tx1"/>
                    </a:solidFill>
                  </a:rPr>
                  <a:t>receive</a:t>
                </a:r>
              </a:p>
            </p:txBody>
          </p:sp>
          <p:sp>
            <p:nvSpPr>
              <p:cNvPr id="10" name="Rectangle 9">
                <a:extLst>
                  <a:ext uri="{FF2B5EF4-FFF2-40B4-BE49-F238E27FC236}">
                    <a16:creationId xmlns:a16="http://schemas.microsoft.com/office/drawing/2014/main" id="{15AA8396-80B1-AAA3-A3B6-110731A02BD2}"/>
                  </a:ext>
                </a:extLst>
              </p:cNvPr>
              <p:cNvSpPr/>
              <p:nvPr/>
            </p:nvSpPr>
            <p:spPr>
              <a:xfrm>
                <a:off x="2741003" y="2377440"/>
                <a:ext cx="1969661" cy="468628"/>
              </a:xfrm>
              <a:prstGeom prst="rect">
                <a:avLst/>
              </a:prstGeom>
              <a:solidFill>
                <a:srgbClr val="FFFF00"/>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2000" dirty="0">
                    <a:solidFill>
                      <a:schemeClr val="tx1"/>
                    </a:solidFill>
                  </a:rPr>
                  <a:t>wait</a:t>
                </a:r>
              </a:p>
            </p:txBody>
          </p:sp>
        </p:grpSp>
      </p:grpSp>
      <p:sp>
        <p:nvSpPr>
          <p:cNvPr id="17" name="TextBox 16">
            <a:extLst>
              <a:ext uri="{FF2B5EF4-FFF2-40B4-BE49-F238E27FC236}">
                <a16:creationId xmlns:a16="http://schemas.microsoft.com/office/drawing/2014/main" id="{AB2F4E94-2EAC-FCAC-5DDE-AA96AB7790FD}"/>
              </a:ext>
            </a:extLst>
          </p:cNvPr>
          <p:cNvSpPr txBox="1"/>
          <p:nvPr/>
        </p:nvSpPr>
        <p:spPr>
          <a:xfrm>
            <a:off x="5768075" y="5143939"/>
            <a:ext cx="423037" cy="9144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p>
            <a:pPr algn="l"/>
            <a:r>
              <a:rPr lang="en-US" sz="2400" dirty="0">
                <a:solidFill>
                  <a:schemeClr val="tx1"/>
                </a:solidFill>
                <a:latin typeface="Verdana" panose="020B0604030504040204" pitchFamily="34" charset="0"/>
                <a:ea typeface="Verdana" panose="020B0604030504040204" pitchFamily="34" charset="0"/>
              </a:rPr>
              <a:t>or</a:t>
            </a:r>
          </a:p>
        </p:txBody>
      </p:sp>
    </p:spTree>
    <p:extLst>
      <p:ext uri="{BB962C8B-B14F-4D97-AF65-F5344CB8AC3E}">
        <p14:creationId xmlns:p14="http://schemas.microsoft.com/office/powerpoint/2010/main" val="13180735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7" grpId="0"/>
    </p:bld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Box 4">
            <a:extLst>
              <a:ext uri="{FF2B5EF4-FFF2-40B4-BE49-F238E27FC236}">
                <a16:creationId xmlns:a16="http://schemas.microsoft.com/office/drawing/2014/main" id="{F5C46596-489D-B203-0373-763804FB1CCC}"/>
              </a:ext>
            </a:extLst>
          </p:cNvPr>
          <p:cNvSpPr txBox="1"/>
          <p:nvPr/>
        </p:nvSpPr>
        <p:spPr>
          <a:xfrm>
            <a:off x="736600" y="1350065"/>
            <a:ext cx="6038773" cy="276999"/>
          </a:xfrm>
          <a:prstGeom prst="rect">
            <a:avLst/>
          </a:prstGeom>
          <a:ln>
            <a:noFill/>
          </a:ln>
        </p:spPr>
        <p:style>
          <a:lnRef idx="2">
            <a:schemeClr val="dk1"/>
          </a:lnRef>
          <a:fillRef idx="1">
            <a:schemeClr val="lt1"/>
          </a:fillRef>
          <a:effectRef idx="0">
            <a:schemeClr val="dk1"/>
          </a:effectRef>
          <a:fontRef idx="minor">
            <a:schemeClr val="dk1"/>
          </a:fontRef>
        </p:style>
        <p:txBody>
          <a:bodyPr wrap="square">
            <a:spAutoFit/>
          </a:bodyPr>
          <a:lstStyle/>
          <a:p>
            <a:pPr algn="l"/>
            <a:endParaRPr lang="en-US" b="0" dirty="0">
              <a:solidFill>
                <a:srgbClr val="000000"/>
              </a:solidFill>
              <a:effectLst/>
              <a:latin typeface="Consolas" panose="020B0609020204030204" pitchFamily="49" charset="0"/>
            </a:endParaRPr>
          </a:p>
        </p:txBody>
      </p:sp>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(start)</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console.log(‘starting make3 …’);</a:t>
            </a:r>
          </a:p>
        </p:txBody>
      </p:sp>
      <p:sp>
        <p:nvSpPr>
          <p:cNvPr id="10" name="Rectangle: Rounded Corners 9">
            <a:extLst>
              <a:ext uri="{FF2B5EF4-FFF2-40B4-BE49-F238E27FC236}">
                <a16:creationId xmlns:a16="http://schemas.microsoft.com/office/drawing/2014/main" id="{186D7E71-219E-6967-4E99-C7D5B2109487}"/>
              </a:ext>
            </a:extLst>
          </p:cNvPr>
          <p:cNvSpPr/>
          <p:nvPr/>
        </p:nvSpPr>
        <p:spPr>
          <a:xfrm>
            <a:off x="4769126" y="3899151"/>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err="1">
                <a:solidFill>
                  <a:schemeClr val="tx1"/>
                </a:solidFill>
              </a:rPr>
              <a:t>makeRequest</a:t>
            </a:r>
            <a:r>
              <a:rPr lang="en-US" sz="1000" b="1" dirty="0">
                <a:solidFill>
                  <a:schemeClr val="tx1"/>
                </a:solidFill>
              </a:rPr>
              <a:t> (100)</a:t>
            </a:r>
          </a:p>
        </p:txBody>
      </p:sp>
      <p:sp>
        <p:nvSpPr>
          <p:cNvPr id="11" name="Rectangle: Rounded Corners 10">
            <a:extLst>
              <a:ext uri="{FF2B5EF4-FFF2-40B4-BE49-F238E27FC236}">
                <a16:creationId xmlns:a16="http://schemas.microsoft.com/office/drawing/2014/main" id="{D7E1A2C5-03D4-1E2E-F7A1-67DD728AA5A7}"/>
              </a:ext>
            </a:extLst>
          </p:cNvPr>
          <p:cNvSpPr/>
          <p:nvPr/>
        </p:nvSpPr>
        <p:spPr>
          <a:xfrm>
            <a:off x="4649570" y="3352716"/>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 (‘starting </a:t>
            </a:r>
            <a:r>
              <a:rPr lang="en-US" sz="1000" b="1" dirty="0" err="1">
                <a:solidFill>
                  <a:schemeClr val="tx1"/>
                </a:solidFill>
              </a:rPr>
              <a:t>makeR</a:t>
            </a:r>
            <a:r>
              <a:rPr lang="en-US" sz="1000" b="1" dirty="0">
                <a:solidFill>
                  <a:schemeClr val="tx1"/>
                </a:solidFill>
              </a:rPr>
              <a:t>…’)</a:t>
            </a:r>
          </a:p>
        </p:txBody>
      </p:sp>
      <p:sp>
        <p:nvSpPr>
          <p:cNvPr id="12" name="Rectangle: Rounded Corners 11">
            <a:extLst>
              <a:ext uri="{FF2B5EF4-FFF2-40B4-BE49-F238E27FC236}">
                <a16:creationId xmlns:a16="http://schemas.microsoft.com/office/drawing/2014/main" id="{1A4AAF2C-84EE-0E05-B19E-DA09A095A498}"/>
              </a:ext>
            </a:extLst>
          </p:cNvPr>
          <p:cNvSpPr/>
          <p:nvPr/>
        </p:nvSpPr>
        <p:spPr>
          <a:xfrm>
            <a:off x="9704965" y="3391944"/>
            <a:ext cx="1910079"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US" sz="1000" dirty="0">
                <a:solidFill>
                  <a:srgbClr val="000000"/>
                </a:solidFill>
                <a:latin typeface="Consolas" panose="020B0609020204030204" pitchFamily="49" charset="0"/>
              </a:rPr>
              <a:t>fetch(</a:t>
            </a:r>
            <a:r>
              <a:rPr lang="en-US" sz="1000" dirty="0">
                <a:solidFill>
                  <a:srgbClr val="A31515"/>
                </a:solidFill>
                <a:latin typeface="Consolas" panose="020B0609020204030204" pitchFamily="49" charset="0"/>
              </a:rPr>
              <a:t>'https://rest…'</a:t>
            </a:r>
            <a:r>
              <a:rPr lang="en-US" sz="1000" dirty="0">
                <a:solidFill>
                  <a:srgbClr val="000000"/>
                </a:solidFill>
                <a:latin typeface="Consolas" panose="020B0609020204030204" pitchFamily="49" charset="0"/>
              </a:rPr>
              <a:t>);</a:t>
            </a:r>
            <a:endParaRPr lang="en-US" sz="1000" b="1" dirty="0">
              <a:solidFill>
                <a:schemeClr val="tx1"/>
              </a:solidFill>
            </a:endParaRPr>
          </a:p>
        </p:txBody>
      </p:sp>
      <p:sp>
        <p:nvSpPr>
          <p:cNvPr id="14" name="Rectangle: Rounded Corners 13">
            <a:extLst>
              <a:ext uri="{FF2B5EF4-FFF2-40B4-BE49-F238E27FC236}">
                <a16:creationId xmlns:a16="http://schemas.microsoft.com/office/drawing/2014/main" id="{2E7D8C9E-B65F-0D53-0543-003E2C41C147}"/>
              </a:ext>
            </a:extLst>
          </p:cNvPr>
          <p:cNvSpPr/>
          <p:nvPr/>
        </p:nvSpPr>
        <p:spPr>
          <a:xfrm>
            <a:off x="7752863" y="6149245"/>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 from fetch</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17" name="Content Placeholder 1">
            <a:extLst>
              <a:ext uri="{FF2B5EF4-FFF2-40B4-BE49-F238E27FC236}">
                <a16:creationId xmlns:a16="http://schemas.microsoft.com/office/drawing/2014/main" id="{CECC858F-855F-B805-23D7-40D0CFA0AA2D}"/>
              </a:ext>
            </a:extLst>
          </p:cNvPr>
          <p:cNvSpPr txBox="1">
            <a:spLocks/>
          </p:cNvSpPr>
          <p:nvPr/>
        </p:nvSpPr>
        <p:spPr>
          <a:xfrm>
            <a:off x="518711" y="4946213"/>
            <a:ext cx="3744982" cy="653882"/>
          </a:xfrm>
          <a:prstGeom prst="rect">
            <a:avLst/>
          </a:prstGeom>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Verdana" panose="020B0604030504040204" pitchFamily="34" charset="0"/>
                <a:ea typeface="Verdana" panose="020B0604030504040204" pitchFamily="34" charset="0"/>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Verdana" panose="020B0604030504040204" pitchFamily="34" charset="0"/>
                <a:ea typeface="Verdana" panose="020B0604030504040204" pitchFamily="34" charset="0"/>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Verdana" panose="020B0604030504040204" pitchFamily="34" charset="0"/>
                <a:ea typeface="Verdana" panose="020B0604030504040204" pitchFamily="34" charset="0"/>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Verdana" panose="020B0604030504040204" pitchFamily="34" charset="0"/>
                <a:ea typeface="Verdana" panose="020B0604030504040204" pitchFamily="34" charset="0"/>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en-US" sz="2000" dirty="0"/>
              <a:t>Now, </a:t>
            </a:r>
            <a:r>
              <a:rPr lang="en-US" sz="2000" dirty="0" err="1"/>
              <a:t>makeRequest</a:t>
            </a:r>
            <a:r>
              <a:rPr lang="en-US" sz="2000" dirty="0"/>
              <a:t>(200) can proceed …</a:t>
            </a:r>
          </a:p>
        </p:txBody>
      </p:sp>
      <p:sp>
        <p:nvSpPr>
          <p:cNvPr id="13" name="TextBox 12">
            <a:extLst>
              <a:ext uri="{FF2B5EF4-FFF2-40B4-BE49-F238E27FC236}">
                <a16:creationId xmlns:a16="http://schemas.microsoft.com/office/drawing/2014/main" id="{1B64EA3A-9E61-47FA-1240-B7E38B9A1B8D}"/>
              </a:ext>
            </a:extLst>
          </p:cNvPr>
          <p:cNvSpPr txBox="1"/>
          <p:nvPr/>
        </p:nvSpPr>
        <p:spPr>
          <a:xfrm>
            <a:off x="381850" y="1570436"/>
            <a:ext cx="496708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main()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'starting main'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promises =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3</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 =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lang="en-US" sz="1400" dirty="0">
                <a:solidFill>
                  <a:srgbClr val="000000"/>
                </a:solidFill>
                <a:latin typeface="Consolas" panose="020B0609020204030204" pitchFamily="49" charset="0"/>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Promise.all</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(promises);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'results:'</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'main done'</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b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timeIt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(main)</a:t>
            </a:r>
          </a:p>
        </p:txBody>
      </p:sp>
    </p:spTree>
    <p:extLst>
      <p:ext uri="{BB962C8B-B14F-4D97-AF65-F5344CB8AC3E}">
        <p14:creationId xmlns:p14="http://schemas.microsoft.com/office/powerpoint/2010/main" val="21883870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 presetClass="entr" presetSubtype="1" fill="hold" grpId="0" nodeType="clickEffect">
                                  <p:stCondLst>
                                    <p:cond delay="0"/>
                                  </p:stCondLst>
                                  <p:childTnLst>
                                    <p:set>
                                      <p:cBhvr>
                                        <p:cTn id="6" dur="1" fill="hold">
                                          <p:stCondLst>
                                            <p:cond delay="0"/>
                                          </p:stCondLst>
                                        </p:cTn>
                                        <p:tgtEl>
                                          <p:spTgt spid="8"/>
                                        </p:tgtEl>
                                        <p:attrNameLst>
                                          <p:attrName>style.visibility</p:attrName>
                                        </p:attrNameLst>
                                      </p:cBhvr>
                                      <p:to>
                                        <p:strVal val="visible"/>
                                      </p:to>
                                    </p:set>
                                    <p:anim calcmode="lin" valueType="num">
                                      <p:cBhvr additive="base">
                                        <p:cTn id="7" dur="500" fill="hold"/>
                                        <p:tgtEl>
                                          <p:spTgt spid="8"/>
                                        </p:tgtEl>
                                        <p:attrNameLst>
                                          <p:attrName>ppt_x</p:attrName>
                                        </p:attrNameLst>
                                      </p:cBhvr>
                                      <p:tavLst>
                                        <p:tav tm="0">
                                          <p:val>
                                            <p:strVal val="#ppt_x"/>
                                          </p:val>
                                        </p:tav>
                                        <p:tav tm="100000">
                                          <p:val>
                                            <p:strVal val="#ppt_x"/>
                                          </p:val>
                                        </p:tav>
                                      </p:tavLst>
                                    </p:anim>
                                    <p:anim calcmode="lin" valueType="num">
                                      <p:cBhvr additive="base">
                                        <p:cTn id="8" dur="500" fill="hold"/>
                                        <p:tgtEl>
                                          <p:spTgt spid="8"/>
                                        </p:tgtEl>
                                        <p:attrNameLst>
                                          <p:attrName>ppt_y</p:attrName>
                                        </p:attrNameLst>
                                      </p:cBhvr>
                                      <p:tavLst>
                                        <p:tav tm="0">
                                          <p:val>
                                            <p:strVal val="0-#ppt_h/2"/>
                                          </p:val>
                                        </p:tav>
                                        <p:tav tm="100000">
                                          <p:val>
                                            <p:strVal val="#ppt_y"/>
                                          </p:val>
                                        </p:tav>
                                      </p:tavLst>
                                    </p:anim>
                                  </p:childTnLst>
                                </p:cTn>
                              </p:par>
                            </p:childTnLst>
                          </p:cTn>
                        </p:par>
                      </p:childTnLst>
                    </p:cTn>
                  </p:par>
                  <p:par>
                    <p:cTn id="9" fill="hold">
                      <p:stCondLst>
                        <p:cond delay="indefinite"/>
                      </p:stCondLst>
                      <p:childTnLst>
                        <p:par>
                          <p:cTn id="10" fill="hold">
                            <p:stCondLst>
                              <p:cond delay="0"/>
                            </p:stCondLst>
                            <p:childTnLst>
                              <p:par>
                                <p:cTn id="11" presetID="2" presetClass="entr" presetSubtype="1" fill="hold" grpId="0" nodeType="clickEffect">
                                  <p:stCondLst>
                                    <p:cond delay="0"/>
                                  </p:stCondLst>
                                  <p:childTnLst>
                                    <p:set>
                                      <p:cBhvr>
                                        <p:cTn id="12" dur="1" fill="hold">
                                          <p:stCondLst>
                                            <p:cond delay="0"/>
                                          </p:stCondLst>
                                        </p:cTn>
                                        <p:tgtEl>
                                          <p:spTgt spid="9"/>
                                        </p:tgtEl>
                                        <p:attrNameLst>
                                          <p:attrName>style.visibility</p:attrName>
                                        </p:attrNameLst>
                                      </p:cBhvr>
                                      <p:to>
                                        <p:strVal val="visible"/>
                                      </p:to>
                                    </p:set>
                                    <p:anim calcmode="lin" valueType="num">
                                      <p:cBhvr additive="base">
                                        <p:cTn id="13" dur="500" fill="hold"/>
                                        <p:tgtEl>
                                          <p:spTgt spid="9"/>
                                        </p:tgtEl>
                                        <p:attrNameLst>
                                          <p:attrName>ppt_x</p:attrName>
                                        </p:attrNameLst>
                                      </p:cBhvr>
                                      <p:tavLst>
                                        <p:tav tm="0">
                                          <p:val>
                                            <p:strVal val="#ppt_x"/>
                                          </p:val>
                                        </p:tav>
                                        <p:tav tm="100000">
                                          <p:val>
                                            <p:strVal val="#ppt_x"/>
                                          </p:val>
                                        </p:tav>
                                      </p:tavLst>
                                    </p:anim>
                                    <p:anim calcmode="lin" valueType="num">
                                      <p:cBhvr additive="base">
                                        <p:cTn id="14"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5" fill="hold">
                      <p:stCondLst>
                        <p:cond delay="indefinite"/>
                      </p:stCondLst>
                      <p:childTnLst>
                        <p:par>
                          <p:cTn id="16" fill="hold">
                            <p:stCondLst>
                              <p:cond delay="0"/>
                            </p:stCondLst>
                            <p:childTnLst>
                              <p:par>
                                <p:cTn id="17" presetID="2" presetClass="exit" presetSubtype="1" fill="hold" grpId="1" nodeType="clickEffect">
                                  <p:stCondLst>
                                    <p:cond delay="0"/>
                                  </p:stCondLst>
                                  <p:childTnLst>
                                    <p:anim calcmode="lin" valueType="num">
                                      <p:cBhvr additive="base">
                                        <p:cTn id="18" dur="500"/>
                                        <p:tgtEl>
                                          <p:spTgt spid="9"/>
                                        </p:tgtEl>
                                        <p:attrNameLst>
                                          <p:attrName>ppt_x</p:attrName>
                                        </p:attrNameLst>
                                      </p:cBhvr>
                                      <p:tavLst>
                                        <p:tav tm="0">
                                          <p:val>
                                            <p:strVal val="ppt_x"/>
                                          </p:val>
                                        </p:tav>
                                        <p:tav tm="100000">
                                          <p:val>
                                            <p:strVal val="ppt_x"/>
                                          </p:val>
                                        </p:tav>
                                      </p:tavLst>
                                    </p:anim>
                                    <p:anim calcmode="lin" valueType="num">
                                      <p:cBhvr additive="base">
                                        <p:cTn id="19" dur="500"/>
                                        <p:tgtEl>
                                          <p:spTgt spid="9"/>
                                        </p:tgtEl>
                                        <p:attrNameLst>
                                          <p:attrName>ppt_y</p:attrName>
                                        </p:attrNameLst>
                                      </p:cBhvr>
                                      <p:tavLst>
                                        <p:tav tm="0">
                                          <p:val>
                                            <p:strVal val="ppt_y"/>
                                          </p:val>
                                        </p:tav>
                                        <p:tav tm="100000">
                                          <p:val>
                                            <p:strVal val="0-ppt_h/2"/>
                                          </p:val>
                                        </p:tav>
                                      </p:tavLst>
                                    </p:anim>
                                    <p:set>
                                      <p:cBhvr>
                                        <p:cTn id="20" dur="1" fill="hold">
                                          <p:stCondLst>
                                            <p:cond delay="499"/>
                                          </p:stCondLst>
                                        </p:cTn>
                                        <p:tgtEl>
                                          <p:spTgt spid="9"/>
                                        </p:tgtEl>
                                        <p:attrNameLst>
                                          <p:attrName>style.visibility</p:attrName>
                                        </p:attrNameLst>
                                      </p:cBhvr>
                                      <p:to>
                                        <p:strVal val="hidden"/>
                                      </p:to>
                                    </p:set>
                                  </p:childTnLst>
                                </p:cTn>
                              </p:par>
                            </p:childTnLst>
                          </p:cTn>
                        </p:par>
                      </p:childTnLst>
                    </p:cTn>
                  </p:par>
                  <p:par>
                    <p:cTn id="21" fill="hold">
                      <p:stCondLst>
                        <p:cond delay="indefinite"/>
                      </p:stCondLst>
                      <p:childTnLst>
                        <p:par>
                          <p:cTn id="22" fill="hold">
                            <p:stCondLst>
                              <p:cond delay="0"/>
                            </p:stCondLst>
                            <p:childTnLst>
                              <p:par>
                                <p:cTn id="23" presetID="2" presetClass="entr" presetSubtype="1"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 calcmode="lin" valueType="num">
                                      <p:cBhvr additive="base">
                                        <p:cTn id="25" dur="500" fill="hold"/>
                                        <p:tgtEl>
                                          <p:spTgt spid="10"/>
                                        </p:tgtEl>
                                        <p:attrNameLst>
                                          <p:attrName>ppt_x</p:attrName>
                                        </p:attrNameLst>
                                      </p:cBhvr>
                                      <p:tavLst>
                                        <p:tav tm="0">
                                          <p:val>
                                            <p:strVal val="#ppt_x"/>
                                          </p:val>
                                        </p:tav>
                                        <p:tav tm="100000">
                                          <p:val>
                                            <p:strVal val="#ppt_x"/>
                                          </p:val>
                                        </p:tav>
                                      </p:tavLst>
                                    </p:anim>
                                    <p:anim calcmode="lin" valueType="num">
                                      <p:cBhvr additive="base">
                                        <p:cTn id="26" dur="500" fill="hold"/>
                                        <p:tgtEl>
                                          <p:spTgt spid="10"/>
                                        </p:tgtEl>
                                        <p:attrNameLst>
                                          <p:attrName>ppt_y</p:attrName>
                                        </p:attrNameLst>
                                      </p:cBhvr>
                                      <p:tavLst>
                                        <p:tav tm="0">
                                          <p:val>
                                            <p:strVal val="0-#ppt_h/2"/>
                                          </p:val>
                                        </p:tav>
                                        <p:tav tm="100000">
                                          <p:val>
                                            <p:strVal val="#ppt_y"/>
                                          </p:val>
                                        </p:tav>
                                      </p:tavLst>
                                    </p:anim>
                                  </p:childTnLst>
                                </p:cTn>
                              </p:par>
                            </p:childTnLst>
                          </p:cTn>
                        </p:par>
                      </p:childTnLst>
                    </p:cTn>
                  </p:par>
                  <p:par>
                    <p:cTn id="27" fill="hold">
                      <p:stCondLst>
                        <p:cond delay="indefinite"/>
                      </p:stCondLst>
                      <p:childTnLst>
                        <p:par>
                          <p:cTn id="28" fill="hold">
                            <p:stCondLst>
                              <p:cond delay="0"/>
                            </p:stCondLst>
                            <p:childTnLst>
                              <p:par>
                                <p:cTn id="29" presetID="2" presetClass="entr" presetSubtype="1" fill="hold" grpId="0" nodeType="clickEffect">
                                  <p:stCondLst>
                                    <p:cond delay="0"/>
                                  </p:stCondLst>
                                  <p:childTnLst>
                                    <p:set>
                                      <p:cBhvr>
                                        <p:cTn id="30" dur="1" fill="hold">
                                          <p:stCondLst>
                                            <p:cond delay="0"/>
                                          </p:stCondLst>
                                        </p:cTn>
                                        <p:tgtEl>
                                          <p:spTgt spid="11"/>
                                        </p:tgtEl>
                                        <p:attrNameLst>
                                          <p:attrName>style.visibility</p:attrName>
                                        </p:attrNameLst>
                                      </p:cBhvr>
                                      <p:to>
                                        <p:strVal val="visible"/>
                                      </p:to>
                                    </p:set>
                                    <p:anim calcmode="lin" valueType="num">
                                      <p:cBhvr additive="base">
                                        <p:cTn id="31" dur="500" fill="hold"/>
                                        <p:tgtEl>
                                          <p:spTgt spid="11"/>
                                        </p:tgtEl>
                                        <p:attrNameLst>
                                          <p:attrName>ppt_x</p:attrName>
                                        </p:attrNameLst>
                                      </p:cBhvr>
                                      <p:tavLst>
                                        <p:tav tm="0">
                                          <p:val>
                                            <p:strVal val="#ppt_x"/>
                                          </p:val>
                                        </p:tav>
                                        <p:tav tm="100000">
                                          <p:val>
                                            <p:strVal val="#ppt_x"/>
                                          </p:val>
                                        </p:tav>
                                      </p:tavLst>
                                    </p:anim>
                                    <p:anim calcmode="lin" valueType="num">
                                      <p:cBhvr additive="base">
                                        <p:cTn id="32" dur="500" fill="hold"/>
                                        <p:tgtEl>
                                          <p:spTgt spid="11"/>
                                        </p:tgtEl>
                                        <p:attrNameLst>
                                          <p:attrName>ppt_y</p:attrName>
                                        </p:attrNameLst>
                                      </p:cBhvr>
                                      <p:tavLst>
                                        <p:tav tm="0">
                                          <p:val>
                                            <p:strVal val="0-#ppt_h/2"/>
                                          </p:val>
                                        </p:tav>
                                        <p:tav tm="100000">
                                          <p:val>
                                            <p:strVal val="#ppt_y"/>
                                          </p:val>
                                        </p:tav>
                                      </p:tavLst>
                                    </p:anim>
                                  </p:childTnLst>
                                </p:cTn>
                              </p:par>
                            </p:childTnLst>
                          </p:cTn>
                        </p:par>
                      </p:childTnLst>
                    </p:cTn>
                  </p:par>
                  <p:par>
                    <p:cTn id="33" fill="hold">
                      <p:stCondLst>
                        <p:cond delay="indefinite"/>
                      </p:stCondLst>
                      <p:childTnLst>
                        <p:par>
                          <p:cTn id="34" fill="hold">
                            <p:stCondLst>
                              <p:cond delay="0"/>
                            </p:stCondLst>
                            <p:childTnLst>
                              <p:par>
                                <p:cTn id="35" presetID="2" presetClass="exit" presetSubtype="1" fill="hold" grpId="1" nodeType="clickEffect">
                                  <p:stCondLst>
                                    <p:cond delay="0"/>
                                  </p:stCondLst>
                                  <p:childTnLst>
                                    <p:anim calcmode="lin" valueType="num">
                                      <p:cBhvr additive="base">
                                        <p:cTn id="36" dur="500"/>
                                        <p:tgtEl>
                                          <p:spTgt spid="11"/>
                                        </p:tgtEl>
                                        <p:attrNameLst>
                                          <p:attrName>ppt_x</p:attrName>
                                        </p:attrNameLst>
                                      </p:cBhvr>
                                      <p:tavLst>
                                        <p:tav tm="0">
                                          <p:val>
                                            <p:strVal val="ppt_x"/>
                                          </p:val>
                                        </p:tav>
                                        <p:tav tm="100000">
                                          <p:val>
                                            <p:strVal val="ppt_x"/>
                                          </p:val>
                                        </p:tav>
                                      </p:tavLst>
                                    </p:anim>
                                    <p:anim calcmode="lin" valueType="num">
                                      <p:cBhvr additive="base">
                                        <p:cTn id="37" dur="500"/>
                                        <p:tgtEl>
                                          <p:spTgt spid="11"/>
                                        </p:tgtEl>
                                        <p:attrNameLst>
                                          <p:attrName>ppt_y</p:attrName>
                                        </p:attrNameLst>
                                      </p:cBhvr>
                                      <p:tavLst>
                                        <p:tav tm="0">
                                          <p:val>
                                            <p:strVal val="ppt_y"/>
                                          </p:val>
                                        </p:tav>
                                        <p:tav tm="100000">
                                          <p:val>
                                            <p:strVal val="0-ppt_h/2"/>
                                          </p:val>
                                        </p:tav>
                                      </p:tavLst>
                                    </p:anim>
                                    <p:set>
                                      <p:cBhvr>
                                        <p:cTn id="38" dur="1" fill="hold">
                                          <p:stCondLst>
                                            <p:cond delay="499"/>
                                          </p:stCondLst>
                                        </p:cTn>
                                        <p:tgtEl>
                                          <p:spTgt spid="11"/>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 presetClass="entr" presetSubtype="8" fill="hold" grpId="1" nodeType="clickEffect">
                                  <p:stCondLst>
                                    <p:cond delay="0"/>
                                  </p:stCondLst>
                                  <p:childTnLst>
                                    <p:set>
                                      <p:cBhvr>
                                        <p:cTn id="42" dur="1" fill="hold">
                                          <p:stCondLst>
                                            <p:cond delay="0"/>
                                          </p:stCondLst>
                                        </p:cTn>
                                        <p:tgtEl>
                                          <p:spTgt spid="12"/>
                                        </p:tgtEl>
                                        <p:attrNameLst>
                                          <p:attrName>style.visibility</p:attrName>
                                        </p:attrNameLst>
                                      </p:cBhvr>
                                      <p:to>
                                        <p:strVal val="visible"/>
                                      </p:to>
                                    </p:set>
                                    <p:anim calcmode="lin" valueType="num">
                                      <p:cBhvr additive="base">
                                        <p:cTn id="43" dur="500" fill="hold"/>
                                        <p:tgtEl>
                                          <p:spTgt spid="12"/>
                                        </p:tgtEl>
                                        <p:attrNameLst>
                                          <p:attrName>ppt_x</p:attrName>
                                        </p:attrNameLst>
                                      </p:cBhvr>
                                      <p:tavLst>
                                        <p:tav tm="0">
                                          <p:val>
                                            <p:strVal val="0-#ppt_w/2"/>
                                          </p:val>
                                        </p:tav>
                                        <p:tav tm="100000">
                                          <p:val>
                                            <p:strVal val="#ppt_x"/>
                                          </p:val>
                                        </p:tav>
                                      </p:tavLst>
                                    </p:anim>
                                    <p:anim calcmode="lin" valueType="num">
                                      <p:cBhvr additive="base">
                                        <p:cTn id="44" dur="500" fill="hold"/>
                                        <p:tgtEl>
                                          <p:spTgt spid="12"/>
                                        </p:tgtEl>
                                        <p:attrNameLst>
                                          <p:attrName>ppt_y</p:attrName>
                                        </p:attrNameLst>
                                      </p:cBhvr>
                                      <p:tavLst>
                                        <p:tav tm="0">
                                          <p:val>
                                            <p:strVal val="#ppt_y"/>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2" presetClass="entr" presetSubtype="2" fill="hold" grpId="0" nodeType="clickEffect">
                                  <p:stCondLst>
                                    <p:cond delay="0"/>
                                  </p:stCondLst>
                                  <p:childTnLst>
                                    <p:set>
                                      <p:cBhvr>
                                        <p:cTn id="48" dur="1" fill="hold">
                                          <p:stCondLst>
                                            <p:cond delay="0"/>
                                          </p:stCondLst>
                                        </p:cTn>
                                        <p:tgtEl>
                                          <p:spTgt spid="15"/>
                                        </p:tgtEl>
                                        <p:attrNameLst>
                                          <p:attrName>style.visibility</p:attrName>
                                        </p:attrNameLst>
                                      </p:cBhvr>
                                      <p:to>
                                        <p:strVal val="visible"/>
                                      </p:to>
                                    </p:set>
                                    <p:anim calcmode="lin" valueType="num">
                                      <p:cBhvr additive="base">
                                        <p:cTn id="49" dur="500" fill="hold"/>
                                        <p:tgtEl>
                                          <p:spTgt spid="15"/>
                                        </p:tgtEl>
                                        <p:attrNameLst>
                                          <p:attrName>ppt_x</p:attrName>
                                        </p:attrNameLst>
                                      </p:cBhvr>
                                      <p:tavLst>
                                        <p:tav tm="0">
                                          <p:val>
                                            <p:strVal val="1+#ppt_w/2"/>
                                          </p:val>
                                        </p:tav>
                                        <p:tav tm="100000">
                                          <p:val>
                                            <p:strVal val="#ppt_x"/>
                                          </p:val>
                                        </p:tav>
                                      </p:tavLst>
                                    </p:anim>
                                    <p:anim calcmode="lin" valueType="num">
                                      <p:cBhvr additive="base">
                                        <p:cTn id="50" dur="500" fill="hold"/>
                                        <p:tgtEl>
                                          <p:spTgt spid="15"/>
                                        </p:tgtEl>
                                        <p:attrNameLst>
                                          <p:attrName>ppt_y</p:attrName>
                                        </p:attrNameLst>
                                      </p:cBhvr>
                                      <p:tavLst>
                                        <p:tav tm="0">
                                          <p:val>
                                            <p:strVal val="#ppt_y"/>
                                          </p:val>
                                        </p:tav>
                                        <p:tav tm="100000">
                                          <p:val>
                                            <p:strVal val="#ppt_y"/>
                                          </p:val>
                                        </p:tav>
                                      </p:tavLst>
                                    </p:anim>
                                  </p:childTnLst>
                                </p:cTn>
                              </p:par>
                            </p:childTnLst>
                          </p:cTn>
                        </p:par>
                      </p:childTnLst>
                    </p:cTn>
                  </p:par>
                  <p:par>
                    <p:cTn id="51" fill="hold">
                      <p:stCondLst>
                        <p:cond delay="indefinite"/>
                      </p:stCondLst>
                      <p:childTnLst>
                        <p:par>
                          <p:cTn id="52" fill="hold">
                            <p:stCondLst>
                              <p:cond delay="0"/>
                            </p:stCondLst>
                            <p:childTnLst>
                              <p:par>
                                <p:cTn id="53" presetID="2" presetClass="exit" presetSubtype="1" fill="hold" grpId="1" nodeType="clickEffect">
                                  <p:stCondLst>
                                    <p:cond delay="0"/>
                                  </p:stCondLst>
                                  <p:childTnLst>
                                    <p:anim calcmode="lin" valueType="num">
                                      <p:cBhvr additive="base">
                                        <p:cTn id="54" dur="1000"/>
                                        <p:tgtEl>
                                          <p:spTgt spid="10"/>
                                        </p:tgtEl>
                                        <p:attrNameLst>
                                          <p:attrName>ppt_x</p:attrName>
                                        </p:attrNameLst>
                                      </p:cBhvr>
                                      <p:tavLst>
                                        <p:tav tm="0">
                                          <p:val>
                                            <p:strVal val="ppt_x"/>
                                          </p:val>
                                        </p:tav>
                                        <p:tav tm="100000">
                                          <p:val>
                                            <p:strVal val="ppt_x"/>
                                          </p:val>
                                        </p:tav>
                                      </p:tavLst>
                                    </p:anim>
                                    <p:anim calcmode="lin" valueType="num">
                                      <p:cBhvr additive="base">
                                        <p:cTn id="55" dur="1000"/>
                                        <p:tgtEl>
                                          <p:spTgt spid="10"/>
                                        </p:tgtEl>
                                        <p:attrNameLst>
                                          <p:attrName>ppt_y</p:attrName>
                                        </p:attrNameLst>
                                      </p:cBhvr>
                                      <p:tavLst>
                                        <p:tav tm="0">
                                          <p:val>
                                            <p:strVal val="ppt_y"/>
                                          </p:val>
                                        </p:tav>
                                        <p:tav tm="100000">
                                          <p:val>
                                            <p:strVal val="0-ppt_h/2"/>
                                          </p:val>
                                        </p:tav>
                                      </p:tavLst>
                                    </p:anim>
                                    <p:set>
                                      <p:cBhvr>
                                        <p:cTn id="56" dur="1" fill="hold">
                                          <p:stCondLst>
                                            <p:cond delay="999"/>
                                          </p:stCondLst>
                                        </p:cTn>
                                        <p:tgtEl>
                                          <p:spTgt spid="10"/>
                                        </p:tgtEl>
                                        <p:attrNameLst>
                                          <p:attrName>style.visibility</p:attrName>
                                        </p:attrNameLst>
                                      </p:cBhvr>
                                      <p:to>
                                        <p:strVal val="hidden"/>
                                      </p:to>
                                    </p:set>
                                  </p:childTnLst>
                                </p:cTn>
                              </p:par>
                            </p:childTnLst>
                          </p:cTn>
                        </p:par>
                      </p:childTnLst>
                    </p:cTn>
                  </p:par>
                  <p:par>
                    <p:cTn id="57" fill="hold">
                      <p:stCondLst>
                        <p:cond delay="indefinite"/>
                      </p:stCondLst>
                      <p:childTnLst>
                        <p:par>
                          <p:cTn id="58" fill="hold">
                            <p:stCondLst>
                              <p:cond delay="0"/>
                            </p:stCondLst>
                            <p:childTnLst>
                              <p:par>
                                <p:cTn id="59" presetID="10" presetClass="exit" presetSubtype="0" fill="hold" grpId="0" nodeType="clickEffect">
                                  <p:stCondLst>
                                    <p:cond delay="0"/>
                                  </p:stCondLst>
                                  <p:childTnLst>
                                    <p:animEffect transition="out" filter="fade">
                                      <p:cBhvr>
                                        <p:cTn id="60" dur="500"/>
                                        <p:tgtEl>
                                          <p:spTgt spid="12"/>
                                        </p:tgtEl>
                                      </p:cBhvr>
                                    </p:animEffect>
                                    <p:set>
                                      <p:cBhvr>
                                        <p:cTn id="61" dur="1" fill="hold">
                                          <p:stCondLst>
                                            <p:cond delay="499"/>
                                          </p:stCondLst>
                                        </p:cTn>
                                        <p:tgtEl>
                                          <p:spTgt spid="12"/>
                                        </p:tgtEl>
                                        <p:attrNameLst>
                                          <p:attrName>style.visibility</p:attrName>
                                        </p:attrNameLst>
                                      </p:cBhvr>
                                      <p:to>
                                        <p:strVal val="hidden"/>
                                      </p:to>
                                    </p:set>
                                  </p:childTnLst>
                                </p:cTn>
                              </p:par>
                              <p:par>
                                <p:cTn id="62" presetID="1" presetClass="entr" presetSubtype="0" fill="hold" grpId="0" nodeType="withEffect">
                                  <p:stCondLst>
                                    <p:cond delay="0"/>
                                  </p:stCondLst>
                                  <p:childTnLst>
                                    <p:set>
                                      <p:cBhvr>
                                        <p:cTn id="63" dur="1" fill="hold">
                                          <p:stCondLst>
                                            <p:cond delay="0"/>
                                          </p:stCondLst>
                                        </p:cTn>
                                        <p:tgtEl>
                                          <p:spTgt spid="14"/>
                                        </p:tgtEl>
                                        <p:attrNameLst>
                                          <p:attrName>style.visibility</p:attrName>
                                        </p:attrNameLst>
                                      </p:cBhvr>
                                      <p:to>
                                        <p:strVal val="visible"/>
                                      </p:to>
                                    </p:set>
                                  </p:childTnLst>
                                </p:cTn>
                              </p:par>
                            </p:childTnLst>
                          </p:cTn>
                        </p:par>
                      </p:childTnLst>
                    </p:cTn>
                  </p:par>
                  <p:par>
                    <p:cTn id="64" fill="hold">
                      <p:stCondLst>
                        <p:cond delay="indefinite"/>
                      </p:stCondLst>
                      <p:childTnLst>
                        <p:par>
                          <p:cTn id="65" fill="hold">
                            <p:stCondLst>
                              <p:cond delay="0"/>
                            </p:stCondLst>
                            <p:childTnLst>
                              <p:par>
                                <p:cTn id="66" presetID="1" presetClass="entr" presetSubtype="0" fill="hold" grpId="0" nodeType="clickEffect">
                                  <p:stCondLst>
                                    <p:cond delay="0"/>
                                  </p:stCondLst>
                                  <p:childTnLst>
                                    <p:set>
                                      <p:cBhvr>
                                        <p:cTn id="67"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0" grpId="0" animBg="1"/>
      <p:bldP spid="10" grpId="1" animBg="1"/>
      <p:bldP spid="11" grpId="0" animBg="1"/>
      <p:bldP spid="11" grpId="1" animBg="1"/>
      <p:bldP spid="12" grpId="0" animBg="1"/>
      <p:bldP spid="12" grpId="1" animBg="1"/>
      <p:bldP spid="14" grpId="0" animBg="1"/>
      <p:bldP spid="15" grpId="0" animBg="1"/>
      <p:bldP spid="17" grpId="0"/>
    </p:bld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3FC1936-0875-A943-271E-4C1677787FA4}"/>
              </a:ext>
            </a:extLst>
          </p:cNvPr>
          <p:cNvSpPr>
            <a:spLocks noGrp="1"/>
          </p:cNvSpPr>
          <p:nvPr>
            <p:ph type="title"/>
          </p:nvPr>
        </p:nvSpPr>
        <p:spPr/>
        <p:txBody>
          <a:bodyPr/>
          <a:lstStyle/>
          <a:p>
            <a:r>
              <a:rPr lang="en-US" dirty="0"/>
              <a:t>Running 3 concurrent fetch requests (end)</a:t>
            </a:r>
          </a:p>
        </p:txBody>
      </p:sp>
      <p:sp>
        <p:nvSpPr>
          <p:cNvPr id="3" name="Slide Number Placeholder 2">
            <a:extLst>
              <a:ext uri="{FF2B5EF4-FFF2-40B4-BE49-F238E27FC236}">
                <a16:creationId xmlns:a16="http://schemas.microsoft.com/office/drawing/2014/main" id="{62643F24-77D0-CAA1-9D6C-977051B458A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28</a:t>
            </a:fld>
            <a:endParaRPr kumimoji="0" lang="en-US" sz="1200" b="0" i="0" u="none" strike="noStrike" kern="1200" cap="none" spc="0" normalizeH="0" baseline="0" noProof="0" dirty="0">
              <a:ln>
                <a:noFill/>
              </a:ln>
              <a:solidFill>
                <a:prstClr val="black">
                  <a:tint val="75000"/>
                </a:prstClr>
              </a:solidFill>
              <a:effectLst/>
              <a:uLnTx/>
              <a:uFillTx/>
              <a:latin typeface="Calibri" panose="020F0502020204030204"/>
              <a:ea typeface="+mn-ea"/>
              <a:cs typeface="+mn-cs"/>
            </a:endParaRPr>
          </a:p>
        </p:txBody>
      </p:sp>
      <p:sp>
        <p:nvSpPr>
          <p:cNvPr id="4" name="Rectangle: Rounded Corners 3">
            <a:extLst>
              <a:ext uri="{FF2B5EF4-FFF2-40B4-BE49-F238E27FC236}">
                <a16:creationId xmlns:a16="http://schemas.microsoft.com/office/drawing/2014/main" id="{B76B0BB5-1494-202B-F9A2-4F1F107F0068}"/>
              </a:ext>
            </a:extLst>
          </p:cNvPr>
          <p:cNvSpPr/>
          <p:nvPr/>
        </p:nvSpPr>
        <p:spPr>
          <a:xfrm>
            <a:off x="5411765" y="176967"/>
            <a:ext cx="656116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threeRequestsConcurrently.ts</a:t>
            </a:r>
            <a:endParaRPr lang="en-US" sz="2400" dirty="0">
              <a:solidFill>
                <a:schemeClr val="tx1"/>
              </a:solidFill>
            </a:endParaRPr>
          </a:p>
        </p:txBody>
      </p:sp>
      <p:pic>
        <p:nvPicPr>
          <p:cNvPr id="6" name="Picture 6">
            <a:extLst>
              <a:ext uri="{FF2B5EF4-FFF2-40B4-BE49-F238E27FC236}">
                <a16:creationId xmlns:a16="http://schemas.microsoft.com/office/drawing/2014/main" id="{C6C42817-5094-8D07-AFCA-79A07D27307F}"/>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4263693" y="2257854"/>
            <a:ext cx="7709232" cy="3887741"/>
          </a:xfrm>
          <a:prstGeom prst="rect">
            <a:avLst/>
          </a:prstGeom>
          <a:noFill/>
          <a:extLst>
            <a:ext uri="{909E8E84-426E-40DD-AFC4-6F175D3DCCD1}">
              <a14:hiddenFill xmlns:a14="http://schemas.microsoft.com/office/drawing/2010/main">
                <a:solidFill>
                  <a:srgbClr val="FFFFFF"/>
                </a:solidFill>
              </a14:hiddenFill>
            </a:ext>
          </a:extLst>
        </p:spPr>
      </p:pic>
      <p:sp>
        <p:nvSpPr>
          <p:cNvPr id="8" name="Rectangle: Rounded Corners 7">
            <a:extLst>
              <a:ext uri="{FF2B5EF4-FFF2-40B4-BE49-F238E27FC236}">
                <a16:creationId xmlns:a16="http://schemas.microsoft.com/office/drawing/2014/main" id="{FC601887-1A4B-5135-88CF-7409E8E431AE}"/>
              </a:ext>
            </a:extLst>
          </p:cNvPr>
          <p:cNvSpPr/>
          <p:nvPr/>
        </p:nvSpPr>
        <p:spPr>
          <a:xfrm>
            <a:off x="4769126" y="4465500"/>
            <a:ext cx="1670967"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make3ConcurrentRequests</a:t>
            </a:r>
          </a:p>
        </p:txBody>
      </p:sp>
      <p:sp>
        <p:nvSpPr>
          <p:cNvPr id="9" name="Rectangle: Rounded Corners 8">
            <a:extLst>
              <a:ext uri="{FF2B5EF4-FFF2-40B4-BE49-F238E27FC236}">
                <a16:creationId xmlns:a16="http://schemas.microsoft.com/office/drawing/2014/main" id="{CE299C0C-805A-0A39-39EA-B65275C83FD4}"/>
              </a:ext>
            </a:extLst>
          </p:cNvPr>
          <p:cNvSpPr/>
          <p:nvPr/>
        </p:nvSpPr>
        <p:spPr>
          <a:xfrm>
            <a:off x="4649569" y="3900585"/>
            <a:ext cx="1910080" cy="254271"/>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console.log(‘make3… finished’);</a:t>
            </a:r>
          </a:p>
        </p:txBody>
      </p:sp>
      <p:sp>
        <p:nvSpPr>
          <p:cNvPr id="15" name="Rectangle: Rounded Corners 14">
            <a:extLst>
              <a:ext uri="{FF2B5EF4-FFF2-40B4-BE49-F238E27FC236}">
                <a16:creationId xmlns:a16="http://schemas.microsoft.com/office/drawing/2014/main" id="{B71F8E63-AA09-7A6D-4A03-49DBE4E515A7}"/>
              </a:ext>
            </a:extLst>
          </p:cNvPr>
          <p:cNvSpPr/>
          <p:nvPr/>
        </p:nvSpPr>
        <p:spPr>
          <a:xfrm>
            <a:off x="6945526"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P1</a:t>
            </a:r>
          </a:p>
        </p:txBody>
      </p:sp>
      <p:sp>
        <p:nvSpPr>
          <p:cNvPr id="7" name="Rectangle: Rounded Corners 6">
            <a:extLst>
              <a:ext uri="{FF2B5EF4-FFF2-40B4-BE49-F238E27FC236}">
                <a16:creationId xmlns:a16="http://schemas.microsoft.com/office/drawing/2014/main" id="{5FD298F8-0B37-DB0E-5E94-33365322A466}"/>
              </a:ext>
            </a:extLst>
          </p:cNvPr>
          <p:cNvSpPr/>
          <p:nvPr/>
        </p:nvSpPr>
        <p:spPr>
          <a:xfrm>
            <a:off x="7705086" y="4177738"/>
            <a:ext cx="577613"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P2</a:t>
            </a:r>
          </a:p>
        </p:txBody>
      </p:sp>
      <p:sp>
        <p:nvSpPr>
          <p:cNvPr id="13" name="Rectangle: Rounded Corners 12">
            <a:extLst>
              <a:ext uri="{FF2B5EF4-FFF2-40B4-BE49-F238E27FC236}">
                <a16:creationId xmlns:a16="http://schemas.microsoft.com/office/drawing/2014/main" id="{AAB5B8BD-FC4A-5018-2369-365103188C83}"/>
              </a:ext>
            </a:extLst>
          </p:cNvPr>
          <p:cNvSpPr/>
          <p:nvPr/>
        </p:nvSpPr>
        <p:spPr>
          <a:xfrm>
            <a:off x="8343348" y="4177739"/>
            <a:ext cx="698911" cy="365125"/>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000" b="1" dirty="0">
                <a:solidFill>
                  <a:schemeClr val="tx1"/>
                </a:solidFill>
              </a:rPr>
              <a:t>P3</a:t>
            </a:r>
          </a:p>
        </p:txBody>
      </p:sp>
      <p:sp>
        <p:nvSpPr>
          <p:cNvPr id="16" name="Rectangle: Rounded Corners 15">
            <a:extLst>
              <a:ext uri="{FF2B5EF4-FFF2-40B4-BE49-F238E27FC236}">
                <a16:creationId xmlns:a16="http://schemas.microsoft.com/office/drawing/2014/main" id="{D65DBFC0-C599-616B-B28E-0775882A13D8}"/>
              </a:ext>
            </a:extLst>
          </p:cNvPr>
          <p:cNvSpPr/>
          <p:nvPr/>
        </p:nvSpPr>
        <p:spPr>
          <a:xfrm>
            <a:off x="7644437" y="6149245"/>
            <a:ext cx="1765710" cy="200407"/>
          </a:xfrm>
          <a:prstGeom prst="roundRect">
            <a:avLst/>
          </a:prstGeom>
          <a:no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000" b="1" dirty="0">
                <a:solidFill>
                  <a:schemeClr val="tx1"/>
                </a:solidFill>
              </a:rPr>
              <a:t>Responses from fetch 1, 2, 3</a:t>
            </a:r>
          </a:p>
        </p:txBody>
      </p:sp>
      <p:sp>
        <p:nvSpPr>
          <p:cNvPr id="11" name="TextBox 10">
            <a:extLst>
              <a:ext uri="{FF2B5EF4-FFF2-40B4-BE49-F238E27FC236}">
                <a16:creationId xmlns:a16="http://schemas.microsoft.com/office/drawing/2014/main" id="{F62C23ED-9342-ADEF-7F30-4973ECB8F17F}"/>
              </a:ext>
            </a:extLst>
          </p:cNvPr>
          <p:cNvSpPr txBox="1"/>
          <p:nvPr/>
        </p:nvSpPr>
        <p:spPr>
          <a:xfrm>
            <a:off x="381850" y="1570436"/>
            <a:ext cx="4967083" cy="2677656"/>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main()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'starting main'</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promises =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fakeRequest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4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3</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 = </a:t>
            </a:r>
            <a:r>
              <a:rPr kumimoji="0" lang="en-US" sz="14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await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lang="en-US" sz="1400" dirty="0">
                <a:solidFill>
                  <a:srgbClr val="000000"/>
                </a:solidFill>
                <a:latin typeface="Consolas" panose="020B0609020204030204" pitchFamily="49" charset="0"/>
              </a:rPr>
              <a:t>                   </a:t>
            </a: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Promise.all</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(promises);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'results:'</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results);</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    console.log(</a:t>
            </a:r>
            <a:r>
              <a:rPr kumimoji="0" lang="en-US" sz="14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'main done'</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br>
            <a:r>
              <a:rPr kumimoji="0" lang="en-US" sz="1400" b="0" i="0" u="none" strike="noStrike" kern="0" cap="none" spc="0" normalizeH="0" baseline="0" noProof="0" dirty="0" err="1">
                <a:ln>
                  <a:noFill/>
                </a:ln>
                <a:solidFill>
                  <a:srgbClr val="000000"/>
                </a:solidFill>
                <a:effectLst/>
                <a:uLnTx/>
                <a:uFillTx/>
                <a:latin typeface="Consolas" panose="020B0609020204030204" pitchFamily="49" charset="0"/>
                <a:ea typeface="+mn-ea"/>
                <a:cs typeface="+mn-cs"/>
                <a:sym typeface="Helvetica Neue"/>
              </a:rPr>
              <a:t>timeIt</a:t>
            </a:r>
            <a:r>
              <a:rPr kumimoji="0" lang="en-US" sz="14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(main)</a:t>
            </a:r>
          </a:p>
        </p:txBody>
      </p:sp>
    </p:spTree>
    <p:extLst>
      <p:ext uri="{BB962C8B-B14F-4D97-AF65-F5344CB8AC3E}">
        <p14:creationId xmlns:p14="http://schemas.microsoft.com/office/powerpoint/2010/main" val="16059468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5"/>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6"/>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2" presetClass="entr" presetSubtype="1"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 calcmode="lin" valueType="num">
                                      <p:cBhvr additive="base">
                                        <p:cTn id="17" dur="500" fill="hold"/>
                                        <p:tgtEl>
                                          <p:spTgt spid="9"/>
                                        </p:tgtEl>
                                        <p:attrNameLst>
                                          <p:attrName>ppt_x</p:attrName>
                                        </p:attrNameLst>
                                      </p:cBhvr>
                                      <p:tavLst>
                                        <p:tav tm="0">
                                          <p:val>
                                            <p:strVal val="#ppt_x"/>
                                          </p:val>
                                        </p:tav>
                                        <p:tav tm="100000">
                                          <p:val>
                                            <p:strVal val="#ppt_x"/>
                                          </p:val>
                                        </p:tav>
                                      </p:tavLst>
                                    </p:anim>
                                    <p:anim calcmode="lin" valueType="num">
                                      <p:cBhvr additive="base">
                                        <p:cTn id="18" dur="500" fill="hold"/>
                                        <p:tgtEl>
                                          <p:spTgt spid="9"/>
                                        </p:tgtEl>
                                        <p:attrNameLst>
                                          <p:attrName>ppt_y</p:attrName>
                                        </p:attrNameLst>
                                      </p:cBhvr>
                                      <p:tavLst>
                                        <p:tav tm="0">
                                          <p:val>
                                            <p:strVal val="0-#ppt_h/2"/>
                                          </p:val>
                                        </p:tav>
                                        <p:tav tm="100000">
                                          <p:val>
                                            <p:strVal val="#ppt_y"/>
                                          </p:val>
                                        </p:tav>
                                      </p:tavLst>
                                    </p:anim>
                                  </p:childTnLst>
                                </p:cTn>
                              </p:par>
                            </p:childTnLst>
                          </p:cTn>
                        </p:par>
                      </p:childTnLst>
                    </p:cTn>
                  </p:par>
                  <p:par>
                    <p:cTn id="19" fill="hold">
                      <p:stCondLst>
                        <p:cond delay="indefinite"/>
                      </p:stCondLst>
                      <p:childTnLst>
                        <p:par>
                          <p:cTn id="20" fill="hold">
                            <p:stCondLst>
                              <p:cond delay="0"/>
                            </p:stCondLst>
                            <p:childTnLst>
                              <p:par>
                                <p:cTn id="21" presetID="2" presetClass="exit" presetSubtype="1" fill="hold" grpId="1" nodeType="clickEffect">
                                  <p:stCondLst>
                                    <p:cond delay="0"/>
                                  </p:stCondLst>
                                  <p:childTnLst>
                                    <p:anim calcmode="lin" valueType="num">
                                      <p:cBhvr additive="base">
                                        <p:cTn id="22" dur="500"/>
                                        <p:tgtEl>
                                          <p:spTgt spid="9"/>
                                        </p:tgtEl>
                                        <p:attrNameLst>
                                          <p:attrName>ppt_x</p:attrName>
                                        </p:attrNameLst>
                                      </p:cBhvr>
                                      <p:tavLst>
                                        <p:tav tm="0">
                                          <p:val>
                                            <p:strVal val="ppt_x"/>
                                          </p:val>
                                        </p:tav>
                                        <p:tav tm="100000">
                                          <p:val>
                                            <p:strVal val="ppt_x"/>
                                          </p:val>
                                        </p:tav>
                                      </p:tavLst>
                                    </p:anim>
                                    <p:anim calcmode="lin" valueType="num">
                                      <p:cBhvr additive="base">
                                        <p:cTn id="23" dur="500"/>
                                        <p:tgtEl>
                                          <p:spTgt spid="9"/>
                                        </p:tgtEl>
                                        <p:attrNameLst>
                                          <p:attrName>ppt_y</p:attrName>
                                        </p:attrNameLst>
                                      </p:cBhvr>
                                      <p:tavLst>
                                        <p:tav tm="0">
                                          <p:val>
                                            <p:strVal val="ppt_y"/>
                                          </p:val>
                                        </p:tav>
                                        <p:tav tm="100000">
                                          <p:val>
                                            <p:strVal val="0-ppt_h/2"/>
                                          </p:val>
                                        </p:tav>
                                      </p:tavLst>
                                    </p:anim>
                                    <p:set>
                                      <p:cBhvr>
                                        <p:cTn id="24" dur="1" fill="hold">
                                          <p:stCondLst>
                                            <p:cond delay="499"/>
                                          </p:stCondLst>
                                        </p:cTn>
                                        <p:tgtEl>
                                          <p:spTgt spid="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2" presetClass="exit" presetSubtype="1" fill="hold" grpId="0" nodeType="clickEffect">
                                  <p:stCondLst>
                                    <p:cond delay="0"/>
                                  </p:stCondLst>
                                  <p:childTnLst>
                                    <p:anim calcmode="lin" valueType="num">
                                      <p:cBhvr additive="base">
                                        <p:cTn id="28" dur="500"/>
                                        <p:tgtEl>
                                          <p:spTgt spid="8"/>
                                        </p:tgtEl>
                                        <p:attrNameLst>
                                          <p:attrName>ppt_x</p:attrName>
                                        </p:attrNameLst>
                                      </p:cBhvr>
                                      <p:tavLst>
                                        <p:tav tm="0">
                                          <p:val>
                                            <p:strVal val="ppt_x"/>
                                          </p:val>
                                        </p:tav>
                                        <p:tav tm="100000">
                                          <p:val>
                                            <p:strVal val="ppt_x"/>
                                          </p:val>
                                        </p:tav>
                                      </p:tavLst>
                                    </p:anim>
                                    <p:anim calcmode="lin" valueType="num">
                                      <p:cBhvr additive="base">
                                        <p:cTn id="29" dur="500"/>
                                        <p:tgtEl>
                                          <p:spTgt spid="8"/>
                                        </p:tgtEl>
                                        <p:attrNameLst>
                                          <p:attrName>ppt_y</p:attrName>
                                        </p:attrNameLst>
                                      </p:cBhvr>
                                      <p:tavLst>
                                        <p:tav tm="0">
                                          <p:val>
                                            <p:strVal val="ppt_y"/>
                                          </p:val>
                                        </p:tav>
                                        <p:tav tm="100000">
                                          <p:val>
                                            <p:strVal val="0-ppt_h/2"/>
                                          </p:val>
                                        </p:tav>
                                      </p:tavLst>
                                    </p:anim>
                                    <p:set>
                                      <p:cBhvr>
                                        <p:cTn id="30" dur="1" fill="hold">
                                          <p:stCondLst>
                                            <p:cond delay="499"/>
                                          </p:stCondLst>
                                        </p:cTn>
                                        <p:tgtEl>
                                          <p:spTgt spid="8"/>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9" grpId="0" animBg="1"/>
      <p:bldP spid="9" grpId="1" animBg="1"/>
      <p:bldP spid="15" grpId="0" animBg="1"/>
      <p:bldP spid="7" grpId="0" animBg="1"/>
      <p:bldP spid="13" grpId="0" animBg="1"/>
      <p:bldP spid="16" grpId="0" animBg="1"/>
    </p:bldLst>
  </p:timing>
</p:sld>
</file>

<file path=ppt/slides/slide2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71DE33-0ED1-3F24-05FB-1AD08BFF9F07}"/>
              </a:ext>
            </a:extLst>
          </p:cNvPr>
          <p:cNvSpPr>
            <a:spLocks noGrp="1"/>
          </p:cNvSpPr>
          <p:nvPr>
            <p:ph type="title"/>
          </p:nvPr>
        </p:nvSpPr>
        <p:spPr/>
        <p:txBody>
          <a:bodyPr/>
          <a:lstStyle/>
          <a:p>
            <a:r>
              <a:rPr lang="en-US" dirty="0"/>
              <a:t>Promises have priority (Micro over Macro)</a:t>
            </a:r>
          </a:p>
        </p:txBody>
      </p:sp>
      <p:sp>
        <p:nvSpPr>
          <p:cNvPr id="3" name="Slide Number Placeholder 2">
            <a:extLst>
              <a:ext uri="{FF2B5EF4-FFF2-40B4-BE49-F238E27FC236}">
                <a16:creationId xmlns:a16="http://schemas.microsoft.com/office/drawing/2014/main" id="{F2114101-1E1B-B6A5-9257-8274D453B303}"/>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29</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7EEEED4A-F825-36DE-4D0D-71F249BADA7F}"/>
              </a:ext>
            </a:extLst>
          </p:cNvPr>
          <p:cNvSpPr txBox="1"/>
          <p:nvPr/>
        </p:nvSpPr>
        <p:spPr>
          <a:xfrm>
            <a:off x="838200" y="1439663"/>
            <a:ext cx="9921240"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b="0" dirty="0">
                <a:solidFill>
                  <a:srgbClr val="008000"/>
                </a:solidFill>
                <a:effectLst/>
                <a:latin typeface="Consolas" panose="020B0609020204030204" pitchFamily="49" charset="0"/>
              </a:rPr>
              <a:t>// simple synchronous execution</a:t>
            </a:r>
            <a:endParaRPr lang="en-US" sz="2000" b="0" dirty="0">
              <a:solidFill>
                <a:srgbClr val="000000"/>
              </a:solidFill>
              <a:effectLst/>
              <a:latin typeface="Consolas" panose="020B0609020204030204" pitchFamily="49" charset="0"/>
            </a:endParaRPr>
          </a:p>
          <a:p>
            <a:pPr algn="l"/>
            <a:r>
              <a:rPr lang="en-US" sz="2000" b="0" dirty="0">
                <a:solidFill>
                  <a:srgbClr val="0000FF"/>
                </a:solidFill>
                <a:effectLst/>
                <a:latin typeface="Consolas" panose="020B0609020204030204" pitchFamily="49" charset="0"/>
              </a:rPr>
              <a:t>async</a:t>
            </a:r>
            <a:r>
              <a:rPr lang="en-US" sz="2000" b="0" dirty="0">
                <a:solidFill>
                  <a:srgbClr val="000000"/>
                </a:solidFill>
                <a:effectLst/>
                <a:latin typeface="Consolas" panose="020B0609020204030204" pitchFamily="49" charset="0"/>
              </a:rPr>
              <a:t> </a:t>
            </a:r>
            <a:r>
              <a:rPr lang="en-US" sz="2000" b="0" dirty="0">
                <a:solidFill>
                  <a:srgbClr val="0000FF"/>
                </a:solidFill>
                <a:effectLst/>
                <a:latin typeface="Consolas" panose="020B0609020204030204" pitchFamily="49" charset="0"/>
              </a:rPr>
              <a:t>function</a:t>
            </a:r>
            <a:r>
              <a:rPr lang="en-US" sz="2000" b="0" dirty="0">
                <a:solidFill>
                  <a:srgbClr val="000000"/>
                </a:solidFill>
                <a:effectLst/>
                <a:latin typeface="Consolas" panose="020B0609020204030204" pitchFamily="49" charset="0"/>
              </a:rPr>
              <a:t> main() {</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started'</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`sync task`</a:t>
            </a:r>
            <a:r>
              <a:rPr lang="en-US" sz="2000" b="0" dirty="0">
                <a:solidFill>
                  <a:srgbClr val="000000"/>
                </a:solidFill>
                <a:effectLst/>
                <a:latin typeface="Consolas" panose="020B0609020204030204" pitchFamily="49" charset="0"/>
              </a:rPr>
              <a:t>);</a:t>
            </a: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    </a:t>
            </a:r>
            <a:r>
              <a:rPr lang="en-US" sz="2000" b="0" dirty="0" err="1">
                <a:solidFill>
                  <a:srgbClr val="000000"/>
                </a:solidFill>
                <a:effectLst/>
                <a:latin typeface="Consolas" panose="020B0609020204030204" pitchFamily="49" charset="0"/>
              </a:rPr>
              <a:t>Promise.resolve</a:t>
            </a:r>
            <a:r>
              <a:rPr lang="en-US" sz="2000" b="0" dirty="0">
                <a:solidFill>
                  <a:srgbClr val="000000"/>
                </a:solidFill>
                <a:effectLst/>
                <a:latin typeface="Consolas" panose="020B0609020204030204" pitchFamily="49" charset="0"/>
              </a:rPr>
              <a:t>().then( () =&gt; {</a:t>
            </a:r>
          </a:p>
          <a:p>
            <a:pPr algn="l">
              <a:buNone/>
            </a:pPr>
            <a:r>
              <a:rPr lang="en-US" sz="2000" b="0" dirty="0">
                <a:solidFill>
                  <a:srgbClr val="000000"/>
                </a:solidFill>
                <a:effectLst/>
                <a:latin typeface="Consolas" panose="020B0609020204030204" pitchFamily="49" charset="0"/>
              </a:rPr>
              <a:t>      console.log('</a:t>
            </a:r>
            <a:r>
              <a:rPr lang="en-US" sz="2000" b="0" dirty="0">
                <a:solidFill>
                  <a:srgbClr val="C00000"/>
                </a:solidFill>
                <a:effectLst/>
                <a:latin typeface="Consolas" panose="020B0609020204030204" pitchFamily="49" charset="0"/>
              </a:rPr>
              <a:t>promise</a:t>
            </a:r>
            <a:r>
              <a:rPr lang="en-US" sz="2000" b="0" dirty="0">
                <a:solidFill>
                  <a:srgbClr val="000000"/>
                </a:solidFill>
                <a:effectLst/>
                <a:latin typeface="Consolas" panose="020B0609020204030204" pitchFamily="49" charset="0"/>
              </a:rPr>
              <a:t>');</a:t>
            </a:r>
          </a:p>
          <a:p>
            <a:pPr algn="l">
              <a:buNone/>
            </a:pPr>
            <a:r>
              <a:rPr lang="en-US" sz="2000" b="0" dirty="0">
                <a:solidFill>
                  <a:srgbClr val="000000"/>
                </a:solidFill>
                <a:effectLst/>
                <a:latin typeface="Consolas" panose="020B0609020204030204" pitchFamily="49" charset="0"/>
              </a:rPr>
              <a:t>    } ); </a:t>
            </a:r>
          </a:p>
          <a:p>
            <a:pPr algn="l"/>
            <a:r>
              <a:rPr lang="en-US" sz="2000" b="0" dirty="0">
                <a:solidFill>
                  <a:srgbClr val="000000"/>
                </a:solidFill>
                <a:effectLst/>
                <a:latin typeface="Consolas" panose="020B0609020204030204" pitchFamily="49" charset="0"/>
              </a:rPr>
              <a:t>   </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setTimeout</a:t>
            </a:r>
            <a:r>
              <a:rPr lang="en-US" sz="2000" dirty="0">
                <a:solidFill>
                  <a:srgbClr val="000000"/>
                </a:solidFill>
                <a:latin typeface="Consolas" panose="020B0609020204030204" pitchFamily="49" charset="0"/>
              </a:rPr>
              <a:t>(() =&gt; {</a:t>
            </a:r>
          </a:p>
          <a:p>
            <a:pPr algn="l"/>
            <a:r>
              <a:rPr lang="en-US" sz="2000" dirty="0">
                <a:solidFill>
                  <a:srgbClr val="000000"/>
                </a:solidFill>
                <a:latin typeface="Consolas" panose="020B0609020204030204" pitchFamily="49" charset="0"/>
              </a:rPr>
              <a:t>      console.log(</a:t>
            </a:r>
            <a:r>
              <a:rPr lang="en-US" sz="2000" dirty="0">
                <a:solidFill>
                  <a:srgbClr val="C00000"/>
                </a:solidFill>
                <a:latin typeface="Consolas" panose="020B0609020204030204" pitchFamily="49" charset="0"/>
              </a:rPr>
              <a:t>'timeout'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chemeClr val="accent6">
                    <a:lumMod val="75000"/>
                  </a:schemeClr>
                </a:solidFill>
                <a:latin typeface="Consolas" panose="020B0609020204030204" pitchFamily="49" charset="0"/>
              </a:rPr>
              <a:t>0</a:t>
            </a:r>
            <a:r>
              <a:rPr lang="en-US" sz="2000" dirty="0">
                <a:solidFill>
                  <a:srgbClr val="000000"/>
                </a:solidFill>
                <a:latin typeface="Consolas" panose="020B0609020204030204" pitchFamily="49" charset="0"/>
              </a:rPr>
              <a:t>);</a:t>
            </a:r>
          </a:p>
          <a:p>
            <a:pPr algn="l"/>
            <a:r>
              <a:rPr lang="en-US" sz="2000" b="0" dirty="0">
                <a:solidFill>
                  <a:srgbClr val="000000"/>
                </a:solidFill>
                <a:effectLst/>
                <a:latin typeface="Consolas" panose="020B0609020204030204" pitchFamily="49" charset="0"/>
              </a:rPr>
              <a:t>   console.log(</a:t>
            </a:r>
            <a:r>
              <a:rPr lang="en-US" sz="2000" b="0" dirty="0">
                <a:solidFill>
                  <a:srgbClr val="A31515"/>
                </a:solidFill>
                <a:effectLst/>
                <a:latin typeface="Consolas" panose="020B0609020204030204" pitchFamily="49" charset="0"/>
              </a:rPr>
              <a:t>'main done'</a:t>
            </a:r>
            <a:r>
              <a:rPr lang="en-US" sz="2000" b="0" dirty="0">
                <a:solidFill>
                  <a:srgbClr val="000000"/>
                </a:solidFill>
                <a:effectLst/>
                <a:latin typeface="Consolas" panose="020B0609020204030204" pitchFamily="49" charset="0"/>
              </a:rPr>
              <a:t>);</a:t>
            </a:r>
          </a:p>
          <a:p>
            <a:pPr algn="l"/>
            <a:r>
              <a:rPr lang="en-US" sz="2000" b="0" dirty="0">
                <a:solidFill>
                  <a:srgbClr val="000000"/>
                </a:solidFill>
                <a:effectLst/>
                <a:latin typeface="Consolas" panose="020B0609020204030204" pitchFamily="49" charset="0"/>
              </a:rPr>
              <a:t>}</a:t>
            </a:r>
          </a:p>
          <a:p>
            <a:pPr algn="l">
              <a:buNone/>
            </a:pPr>
            <a:br>
              <a:rPr lang="en-US" sz="2000" b="0" dirty="0">
                <a:solidFill>
                  <a:srgbClr val="000000"/>
                </a:solidFill>
                <a:effectLst/>
                <a:latin typeface="Consolas" panose="020B0609020204030204" pitchFamily="49" charset="0"/>
              </a:rPr>
            </a:br>
            <a:r>
              <a:rPr lang="en-US" sz="2000" b="0" dirty="0">
                <a:solidFill>
                  <a:srgbClr val="000000"/>
                </a:solidFill>
                <a:effectLst/>
                <a:latin typeface="Consolas" panose="020B0609020204030204" pitchFamily="49" charset="0"/>
              </a:rPr>
              <a:t>main</a:t>
            </a:r>
            <a:r>
              <a:rPr lang="en-US" sz="2000" dirty="0">
                <a:solidFill>
                  <a:srgbClr val="000000"/>
                </a:solidFill>
                <a:latin typeface="Consolas" panose="020B0609020204030204" pitchFamily="49" charset="0"/>
              </a:rPr>
              <a:t>()</a:t>
            </a:r>
            <a:endParaRPr lang="en-US" sz="2000" b="0" dirty="0">
              <a:solidFill>
                <a:srgbClr val="000000"/>
              </a:solidFill>
              <a:effectLst/>
              <a:latin typeface="Consolas" panose="020B0609020204030204" pitchFamily="49" charset="0"/>
            </a:endParaRPr>
          </a:p>
          <a:p>
            <a:pPr algn="l"/>
            <a:endParaRPr lang="en-US" sz="2000" b="0" dirty="0">
              <a:solidFill>
                <a:srgbClr val="000000"/>
              </a:solidFill>
              <a:effectLst/>
              <a:latin typeface="Consolas" panose="020B0609020204030204" pitchFamily="49" charset="0"/>
            </a:endParaRPr>
          </a:p>
        </p:txBody>
      </p:sp>
      <p:sp>
        <p:nvSpPr>
          <p:cNvPr id="11" name="Rectangle: Rounded Corners 10">
            <a:extLst>
              <a:ext uri="{FF2B5EF4-FFF2-40B4-BE49-F238E27FC236}">
                <a16:creationId xmlns:a16="http://schemas.microsoft.com/office/drawing/2014/main" id="{3A1A2B3D-50BE-3B83-D716-F6FF92A3781B}"/>
              </a:ext>
            </a:extLst>
          </p:cNvPr>
          <p:cNvSpPr/>
          <p:nvPr/>
        </p:nvSpPr>
        <p:spPr>
          <a:xfrm>
            <a:off x="6312028" y="118044"/>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newRequest.ts</a:t>
            </a:r>
            <a:endParaRPr lang="en-US" sz="2400" dirty="0">
              <a:solidFill>
                <a:schemeClr val="tx1"/>
              </a:solidFill>
            </a:endParaRPr>
          </a:p>
        </p:txBody>
      </p:sp>
      <p:sp>
        <p:nvSpPr>
          <p:cNvPr id="4" name="TextBox 3">
            <a:extLst>
              <a:ext uri="{FF2B5EF4-FFF2-40B4-BE49-F238E27FC236}">
                <a16:creationId xmlns:a16="http://schemas.microsoft.com/office/drawing/2014/main" id="{0A9DC6B3-C52B-0E35-E5BE-5239B6039A57}"/>
              </a:ext>
            </a:extLst>
          </p:cNvPr>
          <p:cNvSpPr txBox="1"/>
          <p:nvPr/>
        </p:nvSpPr>
        <p:spPr>
          <a:xfrm>
            <a:off x="7234475" y="4628324"/>
            <a:ext cx="4745491" cy="1971259"/>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newRequest.ts</a:t>
            </a:r>
            <a:endParaRPr lang="en-US" sz="2000" dirty="0">
              <a:solidFill>
                <a:schemeClr val="tx1"/>
              </a:solidFill>
              <a:latin typeface="Verdana" panose="020B0604030504040204" pitchFamily="34" charset="0"/>
              <a:ea typeface="Verdana" panose="020B0604030504040204" pitchFamily="34" charset="0"/>
            </a:endParaRP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a:solidFill>
                  <a:schemeClr val="tx1"/>
                </a:solidFill>
                <a:latin typeface="Verdana" panose="020B0604030504040204" pitchFamily="34" charset="0"/>
                <a:ea typeface="Verdana" panose="020B0604030504040204" pitchFamily="34" charset="0"/>
              </a:rPr>
              <a:t>sync task</a:t>
            </a:r>
          </a:p>
          <a:p>
            <a:pPr algn="l"/>
            <a:r>
              <a:rPr lang="en-US" sz="2000" dirty="0">
                <a:solidFill>
                  <a:schemeClr val="tx1"/>
                </a:solidFill>
                <a:latin typeface="Verdana" panose="020B0604030504040204" pitchFamily="34" charset="0"/>
                <a:ea typeface="Verdana" panose="020B0604030504040204" pitchFamily="34" charset="0"/>
              </a:rPr>
              <a:t>main done</a:t>
            </a:r>
          </a:p>
          <a:p>
            <a:pPr algn="l"/>
            <a:r>
              <a:rPr lang="en-US" sz="2000" dirty="0">
                <a:solidFill>
                  <a:schemeClr val="tx1"/>
                </a:solidFill>
                <a:latin typeface="Verdana" panose="020B0604030504040204" pitchFamily="34" charset="0"/>
                <a:ea typeface="Verdana" panose="020B0604030504040204" pitchFamily="34" charset="0"/>
              </a:rPr>
              <a:t>promise</a:t>
            </a:r>
          </a:p>
          <a:p>
            <a:pPr algn="l"/>
            <a:r>
              <a:rPr lang="en-US" sz="2000" dirty="0">
                <a:solidFill>
                  <a:schemeClr val="tx1"/>
                </a:solidFill>
                <a:latin typeface="Verdana" panose="020B0604030504040204" pitchFamily="34" charset="0"/>
                <a:ea typeface="Verdana" panose="020B0604030504040204" pitchFamily="34" charset="0"/>
              </a:rPr>
              <a:t>timeout</a:t>
            </a:r>
          </a:p>
        </p:txBody>
      </p:sp>
      <p:sp>
        <p:nvSpPr>
          <p:cNvPr id="6" name="TextBox 5">
            <a:extLst>
              <a:ext uri="{FF2B5EF4-FFF2-40B4-BE49-F238E27FC236}">
                <a16:creationId xmlns:a16="http://schemas.microsoft.com/office/drawing/2014/main" id="{AD1001DB-76DD-2586-B9F2-E882C95ACD40}"/>
              </a:ext>
            </a:extLst>
          </p:cNvPr>
          <p:cNvSpPr txBox="1"/>
          <p:nvPr/>
        </p:nvSpPr>
        <p:spPr>
          <a:xfrm>
            <a:off x="6237854" y="2226796"/>
            <a:ext cx="4745491" cy="1267801"/>
          </a:xfrm>
          <a:prstGeom prst="rect">
            <a:avLst/>
          </a:prstGeom>
          <a:solidFill>
            <a:srgbClr val="FFFF00"/>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I don't understand this. Is it necessary? It uses </a:t>
            </a:r>
            <a:r>
              <a:rPr lang="en-US" sz="2000" dirty="0" err="1">
                <a:solidFill>
                  <a:schemeClr val="tx1"/>
                </a:solidFill>
                <a:latin typeface="Verdana" panose="020B0604030504040204" pitchFamily="34" charset="0"/>
                <a:ea typeface="Verdana" panose="020B0604030504040204" pitchFamily="34" charset="0"/>
              </a:rPr>
              <a:t>Promise.resolve</a:t>
            </a:r>
            <a:r>
              <a:rPr lang="en-US" sz="2000" dirty="0">
                <a:solidFill>
                  <a:schemeClr val="tx1"/>
                </a:solidFill>
                <a:latin typeface="Verdana" panose="020B0604030504040204" pitchFamily="34" charset="0"/>
                <a:ea typeface="Verdana" panose="020B0604030504040204" pitchFamily="34" charset="0"/>
              </a:rPr>
              <a:t> and .then, which we don't use elsewhere.</a:t>
            </a:r>
          </a:p>
        </p:txBody>
      </p:sp>
    </p:spTree>
    <p:extLst>
      <p:ext uri="{BB962C8B-B14F-4D97-AF65-F5344CB8AC3E}">
        <p14:creationId xmlns:p14="http://schemas.microsoft.com/office/powerpoint/2010/main" val="200820988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bg/>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
                                            <p:txEl>
                                              <p:pRg st="0" end="0"/>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4">
                                            <p:txEl>
                                              <p:pRg st="1" end="1"/>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4">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allAtOnce" animBg="1"/>
    </p:bld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822D8-647D-CE4F-4440-4E7D817A3BD5}"/>
              </a:ext>
            </a:extLst>
          </p:cNvPr>
          <p:cNvSpPr>
            <a:spLocks noGrp="1"/>
          </p:cNvSpPr>
          <p:nvPr>
            <p:ph type="title"/>
          </p:nvPr>
        </p:nvSpPr>
        <p:spPr/>
        <p:txBody>
          <a:bodyPr/>
          <a:lstStyle/>
          <a:p>
            <a:r>
              <a:rPr lang="en-US" dirty="0"/>
              <a:t>Recover from errors with try/catch</a:t>
            </a:r>
          </a:p>
        </p:txBody>
      </p:sp>
      <p:sp>
        <p:nvSpPr>
          <p:cNvPr id="3" name="Slide Number Placeholder 2">
            <a:extLst>
              <a:ext uri="{FF2B5EF4-FFF2-40B4-BE49-F238E27FC236}">
                <a16:creationId xmlns:a16="http://schemas.microsoft.com/office/drawing/2014/main" id="{9EE7E889-2466-AAB6-88E1-F8947E31B69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30</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2306D213-2BE5-C1BC-8B14-F0F96C46938F}"/>
              </a:ext>
            </a:extLst>
          </p:cNvPr>
          <p:cNvSpPr txBox="1"/>
          <p:nvPr/>
        </p:nvSpPr>
        <p:spPr>
          <a:xfrm>
            <a:off x="838200" y="1502688"/>
            <a:ext cx="10515599" cy="2862322"/>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buNone/>
            </a:pPr>
            <a:r>
              <a:rPr lang="en-US" sz="1800" b="0" dirty="0">
                <a:solidFill>
                  <a:srgbClr val="008000"/>
                </a:solidFill>
                <a:effectLst/>
                <a:latin typeface="Consolas" panose="020B0609020204030204" pitchFamily="49" charset="0"/>
              </a:rPr>
              <a:t>// a request that may fail</a:t>
            </a:r>
            <a:endParaRPr lang="en-US" sz="1800" b="0" dirty="0">
              <a:solidFill>
                <a:srgbClr val="000000"/>
              </a:solidFill>
              <a:effectLst/>
              <a:latin typeface="Consolas" panose="020B0609020204030204" pitchFamily="49" charset="0"/>
            </a:endParaRPr>
          </a:p>
          <a:p>
            <a:pPr algn="l">
              <a:buNone/>
            </a:pPr>
            <a:r>
              <a:rPr lang="en-US" sz="1800" b="0" dirty="0">
                <a:solidFill>
                  <a:srgbClr val="0000FF"/>
                </a:solidFill>
                <a:effectLst/>
                <a:latin typeface="Consolas" panose="020B0609020204030204" pitchFamily="49" charset="0"/>
              </a:rPr>
              <a:t>async</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function</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maybeFailingRequest</a:t>
            </a:r>
            <a:r>
              <a:rPr lang="en-US" sz="1800" b="0" dirty="0">
                <a:solidFill>
                  <a:srgbClr val="000000"/>
                </a:solidFill>
                <a:effectLst/>
                <a:latin typeface="Consolas" panose="020B0609020204030204" pitchFamily="49" charset="0"/>
              </a:rPr>
              <a:t>(req: number): Promise&lt;number&gt;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const</a:t>
            </a:r>
            <a:r>
              <a:rPr lang="en-US" sz="1800" b="0" dirty="0">
                <a:solidFill>
                  <a:srgbClr val="000000"/>
                </a:solidFill>
                <a:effectLst/>
                <a:latin typeface="Consolas" panose="020B0609020204030204" pitchFamily="49" charset="0"/>
              </a:rPr>
              <a:t> res = </a:t>
            </a:r>
            <a:r>
              <a:rPr lang="en-US" sz="1800" b="0" dirty="0">
                <a:solidFill>
                  <a:srgbClr val="0000FF"/>
                </a:solidFill>
                <a:effectLst/>
                <a:latin typeface="Consolas" panose="020B0609020204030204" pitchFamily="49" charset="0"/>
              </a:rPr>
              <a:t>await</a:t>
            </a:r>
            <a:r>
              <a:rPr lang="en-US" sz="1800" b="0" dirty="0">
                <a:solidFill>
                  <a:srgbClr val="000000"/>
                </a:solidFill>
                <a:effectLst/>
                <a:latin typeface="Consolas" panose="020B0609020204030204" pitchFamily="49" charset="0"/>
              </a:rPr>
              <a:t> </a:t>
            </a:r>
            <a:r>
              <a:rPr lang="en-US" sz="1800" b="0" dirty="0" err="1">
                <a:solidFill>
                  <a:srgbClr val="000000"/>
                </a:solidFill>
                <a:effectLst/>
                <a:latin typeface="Consolas" panose="020B0609020204030204" pitchFamily="49" charset="0"/>
              </a:rPr>
              <a:t>fakeRequest</a:t>
            </a:r>
            <a:r>
              <a:rPr lang="en-US" sz="1800" b="0" dirty="0">
                <a:solidFill>
                  <a:srgbClr val="000000"/>
                </a:solidFill>
                <a:effectLst/>
                <a:latin typeface="Consolas" panose="020B0609020204030204" pitchFamily="49" charset="0"/>
              </a:rPr>
              <a:t>(req);</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if</a:t>
            </a:r>
            <a:r>
              <a:rPr lang="en-US" sz="1800" b="0" dirty="0">
                <a:solidFill>
                  <a:srgbClr val="000000"/>
                </a:solidFill>
                <a:effectLst/>
                <a:latin typeface="Consolas" panose="020B0609020204030204" pitchFamily="49" charset="0"/>
              </a:rPr>
              <a:t> (res &lt; </a:t>
            </a:r>
            <a:r>
              <a:rPr lang="en-US" sz="1800" b="0" dirty="0">
                <a:solidFill>
                  <a:srgbClr val="098658"/>
                </a:solidFill>
                <a:effectLst/>
                <a:latin typeface="Consolas" panose="020B0609020204030204" pitchFamily="49" charset="0"/>
              </a:rPr>
              <a:t>0</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throw</a:t>
            </a: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new</a:t>
            </a:r>
            <a:r>
              <a:rPr lang="en-US" sz="1800" b="0" dirty="0">
                <a:solidFill>
                  <a:srgbClr val="000000"/>
                </a:solidFill>
                <a:effectLst/>
                <a:latin typeface="Consolas" panose="020B0609020204030204" pitchFamily="49" charset="0"/>
              </a:rPr>
              <a:t> Error(</a:t>
            </a:r>
            <a:r>
              <a:rPr lang="en-US" sz="1800" b="0" dirty="0">
                <a:solidFill>
                  <a:srgbClr val="A31515"/>
                </a:solidFill>
                <a:effectLst/>
                <a:latin typeface="Consolas" panose="020B0609020204030204" pitchFamily="49" charset="0"/>
              </a:rPr>
              <a:t>`Request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req</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failed because response </a:t>
            </a:r>
            <a:r>
              <a:rPr lang="en-US" sz="1800" b="0" dirty="0">
                <a:solidFill>
                  <a:srgbClr val="0000FF"/>
                </a:solidFill>
                <a:effectLst/>
                <a:latin typeface="Consolas" panose="020B0609020204030204" pitchFamily="49" charset="0"/>
              </a:rPr>
              <a:t>${</a:t>
            </a:r>
            <a:r>
              <a:rPr lang="en-US" sz="1800" b="0" dirty="0">
                <a:solidFill>
                  <a:srgbClr val="000000"/>
                </a:solidFill>
                <a:effectLst/>
                <a:latin typeface="Consolas" panose="020B0609020204030204" pitchFamily="49" charset="0"/>
              </a:rPr>
              <a:t>res</a:t>
            </a:r>
            <a:r>
              <a:rPr lang="en-US" sz="1800" b="0" dirty="0">
                <a:solidFill>
                  <a:srgbClr val="0000FF"/>
                </a:solidFill>
                <a:effectLst/>
                <a:latin typeface="Consolas" panose="020B0609020204030204" pitchFamily="49" charset="0"/>
              </a:rPr>
              <a:t>}</a:t>
            </a:r>
            <a:r>
              <a:rPr lang="en-US" sz="1800" b="0" dirty="0">
                <a:solidFill>
                  <a:srgbClr val="A31515"/>
                </a:solidFill>
                <a:effectLst/>
                <a:latin typeface="Consolas" panose="020B0609020204030204" pitchFamily="49" charset="0"/>
              </a:rPr>
              <a:t> &lt; 0`</a:t>
            </a:r>
            <a:r>
              <a:rPr lang="en-US" sz="1800" b="0" dirty="0">
                <a:solidFill>
                  <a:srgbClr val="000000"/>
                </a:solidFill>
                <a:effectLst/>
                <a:latin typeface="Consolas" panose="020B0609020204030204" pitchFamily="49" charset="0"/>
              </a:rPr>
              <a:t>);</a:t>
            </a:r>
          </a:p>
          <a:p>
            <a:pPr algn="l">
              <a:buNone/>
            </a:pPr>
            <a:r>
              <a:rPr lang="en-US" sz="1800" b="0" dirty="0">
                <a:solidFill>
                  <a:srgbClr val="000000"/>
                </a:solidFill>
                <a:effectLst/>
                <a:latin typeface="Consolas" panose="020B0609020204030204" pitchFamily="49" charset="0"/>
              </a:rPr>
              <a:t>    } </a:t>
            </a:r>
            <a:r>
              <a:rPr lang="en-US" sz="1800" b="0" dirty="0">
                <a:solidFill>
                  <a:srgbClr val="0000FF"/>
                </a:solidFill>
                <a:effectLst/>
                <a:latin typeface="Consolas" panose="020B0609020204030204" pitchFamily="49" charset="0"/>
              </a:rPr>
              <a:t>else</a:t>
            </a: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        </a:t>
            </a:r>
            <a:r>
              <a:rPr lang="en-US" sz="1800" b="0" dirty="0">
                <a:solidFill>
                  <a:srgbClr val="0000FF"/>
                </a:solidFill>
                <a:effectLst/>
                <a:latin typeface="Consolas" panose="020B0609020204030204" pitchFamily="49" charset="0"/>
              </a:rPr>
              <a:t>return</a:t>
            </a:r>
            <a:r>
              <a:rPr lang="en-US" sz="1800" b="0" dirty="0">
                <a:solidFill>
                  <a:srgbClr val="000000"/>
                </a:solidFill>
                <a:effectLst/>
                <a:latin typeface="Consolas" panose="020B0609020204030204" pitchFamily="49" charset="0"/>
              </a:rPr>
              <a:t> res;</a:t>
            </a:r>
          </a:p>
          <a:p>
            <a:pPr algn="l">
              <a:buNone/>
            </a:pPr>
            <a:r>
              <a:rPr lang="en-US" sz="1800" b="0" dirty="0">
                <a:solidFill>
                  <a:srgbClr val="000000"/>
                </a:solidFill>
                <a:effectLst/>
                <a:latin typeface="Consolas" panose="020B0609020204030204" pitchFamily="49" charset="0"/>
              </a:rPr>
              <a:t>    }</a:t>
            </a:r>
          </a:p>
          <a:p>
            <a:pPr algn="l">
              <a:buNone/>
            </a:pPr>
            <a:r>
              <a:rPr lang="en-US" sz="1800" b="0" dirty="0">
                <a:solidFill>
                  <a:srgbClr val="000000"/>
                </a:solidFill>
                <a:effectLst/>
                <a:latin typeface="Consolas" panose="020B0609020204030204" pitchFamily="49" charset="0"/>
              </a:rPr>
              <a:t>}</a:t>
            </a:r>
          </a:p>
          <a:p>
            <a:pPr algn="l">
              <a:buNone/>
            </a:pPr>
            <a:endParaRPr lang="en-US" sz="1800" b="0" dirty="0">
              <a:solidFill>
                <a:srgbClr val="000000"/>
              </a:solidFill>
              <a:effectLst/>
              <a:latin typeface="Consolas" panose="020B0609020204030204" pitchFamily="49" charset="0"/>
            </a:endParaRPr>
          </a:p>
        </p:txBody>
      </p:sp>
      <p:sp>
        <p:nvSpPr>
          <p:cNvPr id="4" name="Rectangle: Rounded Corners 3">
            <a:extLst>
              <a:ext uri="{FF2B5EF4-FFF2-40B4-BE49-F238E27FC236}">
                <a16:creationId xmlns:a16="http://schemas.microsoft.com/office/drawing/2014/main" id="{C7108A02-3D83-0BE9-4385-6767443E92F9}"/>
              </a:ext>
            </a:extLst>
          </p:cNvPr>
          <p:cNvSpPr/>
          <p:nvPr/>
        </p:nvSpPr>
        <p:spPr>
          <a:xfrm>
            <a:off x="5392295" y="4203988"/>
            <a:ext cx="5180920" cy="601981"/>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2400" dirty="0" err="1">
                <a:solidFill>
                  <a:schemeClr val="tx1"/>
                </a:solidFill>
              </a:rPr>
              <a:t>src</a:t>
            </a:r>
            <a:r>
              <a:rPr lang="en-US" sz="2400" dirty="0">
                <a:solidFill>
                  <a:schemeClr val="tx1"/>
                </a:solidFill>
              </a:rPr>
              <a:t>/Slides/</a:t>
            </a:r>
            <a:r>
              <a:rPr lang="en-US" sz="2400" dirty="0" err="1">
                <a:solidFill>
                  <a:schemeClr val="tx1"/>
                </a:solidFill>
              </a:rPr>
              <a:t>tryCatchExample.ts</a:t>
            </a:r>
            <a:endParaRPr lang="en-US" sz="2400" dirty="0">
              <a:solidFill>
                <a:schemeClr val="tx1"/>
              </a:solidFill>
            </a:endParaRPr>
          </a:p>
        </p:txBody>
      </p:sp>
    </p:spTree>
    <p:extLst>
      <p:ext uri="{BB962C8B-B14F-4D97-AF65-F5344CB8AC3E}">
        <p14:creationId xmlns:p14="http://schemas.microsoft.com/office/powerpoint/2010/main" val="27111117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C7AD786-B7DC-3321-491C-CA9ED91D7CD2}"/>
              </a:ext>
            </a:extLst>
          </p:cNvPr>
          <p:cNvSpPr>
            <a:spLocks noGrp="1"/>
          </p:cNvSpPr>
          <p:nvPr>
            <p:ph type="title"/>
          </p:nvPr>
        </p:nvSpPr>
        <p:spPr/>
        <p:txBody>
          <a:bodyPr/>
          <a:lstStyle/>
          <a:p>
            <a:r>
              <a:rPr lang="en-US" dirty="0"/>
              <a:t>try/catch, continued</a:t>
            </a:r>
          </a:p>
        </p:txBody>
      </p:sp>
      <p:sp>
        <p:nvSpPr>
          <p:cNvPr id="3" name="Slide Number Placeholder 2">
            <a:extLst>
              <a:ext uri="{FF2B5EF4-FFF2-40B4-BE49-F238E27FC236}">
                <a16:creationId xmlns:a16="http://schemas.microsoft.com/office/drawing/2014/main" id="{C3DB2FF2-D4C6-4A23-094E-2911EB3F951A}"/>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31</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
        <p:nvSpPr>
          <p:cNvPr id="5" name="TextBox 4">
            <a:extLst>
              <a:ext uri="{FF2B5EF4-FFF2-40B4-BE49-F238E27FC236}">
                <a16:creationId xmlns:a16="http://schemas.microsoft.com/office/drawing/2014/main" id="{5463AA30-80EE-A64B-CB98-E6D0ABBA68FA}"/>
              </a:ext>
            </a:extLst>
          </p:cNvPr>
          <p:cNvSpPr txBox="1"/>
          <p:nvPr/>
        </p:nvSpPr>
        <p:spPr>
          <a:xfrm>
            <a:off x="437321" y="1336969"/>
            <a:ext cx="8852453" cy="4708981"/>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algn="l"/>
            <a:r>
              <a:rPr lang="en-US" sz="2000" dirty="0">
                <a:solidFill>
                  <a:srgbClr val="0000FF"/>
                </a:solidFill>
                <a:latin typeface="Consolas" panose="020B0609020204030204" pitchFamily="49" charset="0"/>
              </a:rPr>
              <a:t>async</a:t>
            </a:r>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function</a:t>
            </a:r>
            <a:r>
              <a:rPr lang="en-US" sz="2000" dirty="0">
                <a:solidFill>
                  <a:srgbClr val="000000"/>
                </a:solidFill>
                <a:latin typeface="Consolas" panose="020B0609020204030204" pitchFamily="49" charset="0"/>
              </a:rPr>
              <a:t> main()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started'</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const</a:t>
            </a:r>
            <a:r>
              <a:rPr lang="en-US" sz="2000" dirty="0">
                <a:solidFill>
                  <a:srgbClr val="000000"/>
                </a:solidFill>
                <a:latin typeface="Consolas" panose="020B0609020204030204" pitchFamily="49" charset="0"/>
              </a:rPr>
              <a:t> req1 = -</a:t>
            </a:r>
            <a:r>
              <a:rPr lang="en-US" sz="2000" dirty="0">
                <a:solidFill>
                  <a:srgbClr val="098658"/>
                </a:solidFill>
                <a:latin typeface="Consolas" panose="020B0609020204030204" pitchFamily="49" charset="0"/>
              </a:rPr>
              <a:t>32</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let</a:t>
            </a:r>
            <a:r>
              <a:rPr lang="en-US" sz="2000" dirty="0">
                <a:solidFill>
                  <a:srgbClr val="000000"/>
                </a:solidFill>
                <a:latin typeface="Consolas" panose="020B0609020204030204" pitchFamily="49" charset="0"/>
              </a:rPr>
              <a:t> res: number;</a:t>
            </a:r>
          </a:p>
          <a:p>
            <a:pPr algn="l"/>
            <a:r>
              <a:rPr lang="en-US" sz="2000" dirty="0">
                <a:solidFill>
                  <a:srgbClr val="000000"/>
                </a:solidFill>
                <a:latin typeface="Consolas" panose="020B0609020204030204" pitchFamily="49" charset="0"/>
              </a:rPr>
              <a:t>    </a:t>
            </a:r>
            <a:r>
              <a:rPr lang="en-US" sz="2000" dirty="0">
                <a:solidFill>
                  <a:srgbClr val="0000FF"/>
                </a:solidFill>
                <a:latin typeface="Consolas" panose="020B0609020204030204" pitchFamily="49" charset="0"/>
              </a:rPr>
              <a:t>try</a:t>
            </a:r>
            <a:r>
              <a:rPr lang="en-US" sz="2000" dirty="0">
                <a:solidFill>
                  <a:srgbClr val="000000"/>
                </a:solidFill>
                <a:latin typeface="Consolas" panose="020B0609020204030204" pitchFamily="49" charset="0"/>
              </a:rPr>
              <a:t> {</a:t>
            </a:r>
          </a:p>
          <a:p>
            <a:pPr algn="l"/>
            <a:r>
              <a:rPr lang="en-US" sz="2000" dirty="0">
                <a:solidFill>
                  <a:srgbClr val="000000"/>
                </a:solidFill>
                <a:latin typeface="Consolas" panose="020B0609020204030204" pitchFamily="49" charset="0"/>
              </a:rPr>
              <a:t>        res = </a:t>
            </a:r>
            <a:r>
              <a:rPr lang="en-US" sz="2000" dirty="0">
                <a:solidFill>
                  <a:srgbClr val="0000FF"/>
                </a:solidFill>
                <a:latin typeface="Consolas" panose="020B0609020204030204" pitchFamily="49" charset="0"/>
              </a:rPr>
              <a:t>await</a:t>
            </a:r>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maybeFailingRequest</a:t>
            </a:r>
            <a:r>
              <a:rPr lang="en-US" sz="2000" dirty="0">
                <a:solidFill>
                  <a:srgbClr val="000000"/>
                </a:solidFill>
                <a:latin typeface="Consolas" panose="020B0609020204030204" pitchFamily="49" charset="0"/>
              </a:rPr>
              <a:t>(req1);</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a:t>
            </a:r>
            <a:r>
              <a:rPr lang="en-US" sz="2000" dirty="0" err="1">
                <a:solidFill>
                  <a:srgbClr val="A31515"/>
                </a:solidFill>
                <a:latin typeface="Consolas" panose="020B0609020204030204" pitchFamily="49" charset="0"/>
              </a:rPr>
              <a:t>fakeRequest</a:t>
            </a:r>
            <a:r>
              <a:rPr lang="en-US" sz="2000" dirty="0">
                <a:solidFill>
                  <a:srgbClr val="A31515"/>
                </a:solidFill>
                <a:latin typeface="Consolas" panose="020B0609020204030204" pitchFamily="49" charset="0"/>
              </a:rPr>
              <a:t>(</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 returned: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res</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 </a:t>
            </a:r>
            <a:r>
              <a:rPr lang="en-US" sz="2000" dirty="0">
                <a:solidFill>
                  <a:srgbClr val="0000FF"/>
                </a:solidFill>
                <a:latin typeface="Consolas" panose="020B0609020204030204" pitchFamily="49" charset="0"/>
              </a:rPr>
              <a:t>catch</a:t>
            </a:r>
            <a:r>
              <a:rPr lang="en-US" sz="2000" dirty="0">
                <a:solidFill>
                  <a:srgbClr val="000000"/>
                </a:solidFill>
                <a:latin typeface="Consolas" panose="020B0609020204030204" pitchFamily="49" charset="0"/>
              </a:rPr>
              <a:t> (err) {</a:t>
            </a:r>
          </a:p>
          <a:p>
            <a:pPr algn="l"/>
            <a:r>
              <a:rPr lang="en-US" sz="2000" dirty="0">
                <a:solidFill>
                  <a:srgbClr val="000000"/>
                </a:solidFill>
                <a:latin typeface="Consolas" panose="020B0609020204030204" pitchFamily="49" charset="0"/>
              </a:rPr>
              <a:t>        </a:t>
            </a:r>
            <a:r>
              <a:rPr lang="en-US" sz="2000" dirty="0" err="1">
                <a:solidFill>
                  <a:srgbClr val="000000"/>
                </a:solidFill>
                <a:latin typeface="Consolas" panose="020B0609020204030204" pitchFamily="49" charset="0"/>
              </a:rPr>
              <a:t>console.error</a:t>
            </a:r>
            <a:r>
              <a:rPr lang="en-US" sz="2000" dirty="0">
                <a:solidFill>
                  <a:srgbClr val="000000"/>
                </a:solidFill>
                <a:latin typeface="Consolas" panose="020B0609020204030204" pitchFamily="49" charset="0"/>
              </a:rPr>
              <a:t>(</a:t>
            </a:r>
            <a:r>
              <a:rPr lang="en-US" sz="2000" dirty="0">
                <a:solidFill>
                  <a:srgbClr val="A31515"/>
                </a:solidFill>
                <a:latin typeface="Consolas" panose="020B0609020204030204" pitchFamily="49" charset="0"/>
              </a:rPr>
              <a:t>`Error occurred for request </a:t>
            </a:r>
            <a:r>
              <a:rPr lang="en-US" sz="2000" dirty="0">
                <a:solidFill>
                  <a:srgbClr val="0000FF"/>
                </a:solidFill>
                <a:latin typeface="Consolas" panose="020B0609020204030204" pitchFamily="49" charset="0"/>
              </a:rPr>
              <a:t>${</a:t>
            </a:r>
            <a:r>
              <a:rPr lang="en-US" sz="2000" dirty="0">
                <a:solidFill>
                  <a:srgbClr val="000000"/>
                </a:solidFill>
                <a:latin typeface="Consolas" panose="020B0609020204030204" pitchFamily="49" charset="0"/>
              </a:rPr>
              <a:t>req1</a:t>
            </a:r>
            <a:r>
              <a:rPr lang="en-US" sz="2000" dirty="0">
                <a:solidFill>
                  <a:srgbClr val="0000FF"/>
                </a:solidFill>
                <a:latin typeface="Consolas" panose="020B0609020204030204" pitchFamily="49" charset="0"/>
              </a:rPr>
              <a:t>}</a:t>
            </a:r>
            <a:r>
              <a:rPr lang="en-US" sz="2000" dirty="0">
                <a:solidFill>
                  <a:srgbClr val="A31515"/>
                </a:solidFill>
                <a:latin typeface="Consolas" panose="020B0609020204030204" pitchFamily="49" charset="0"/>
              </a:rPr>
              <a:t>`</a:t>
            </a:r>
            <a:r>
              <a:rPr lang="en-US" sz="2000" dirty="0">
                <a:solidFill>
                  <a:srgbClr val="000000"/>
                </a:solidFill>
                <a:latin typeface="Consolas" panose="020B0609020204030204" pitchFamily="49" charset="0"/>
              </a:rPr>
              <a:t>);</a:t>
            </a:r>
          </a:p>
          <a:p>
            <a:pPr algn="l"/>
            <a:r>
              <a:rPr lang="en-US" sz="2000" dirty="0">
                <a:solidFill>
                  <a:srgbClr val="000000"/>
                </a:solidFill>
                <a:latin typeface="Consolas" panose="020B0609020204030204" pitchFamily="49" charset="0"/>
              </a:rPr>
              <a:t>        res = </a:t>
            </a:r>
            <a:r>
              <a:rPr lang="en-US" sz="2000" dirty="0">
                <a:solidFill>
                  <a:srgbClr val="098658"/>
                </a:solidFill>
                <a:latin typeface="Consolas" panose="020B0609020204030204" pitchFamily="49" charset="0"/>
              </a:rPr>
              <a:t>0</a:t>
            </a:r>
            <a:endParaRPr lang="en-US" sz="2000" dirty="0">
              <a:solidFill>
                <a:srgbClr val="000000"/>
              </a:solidFill>
              <a:latin typeface="Consolas" panose="020B0609020204030204" pitchFamily="49" charset="0"/>
            </a:endParaRPr>
          </a:p>
          <a:p>
            <a:pPr algn="l"/>
            <a:r>
              <a:rPr lang="en-US" sz="2000" dirty="0">
                <a:solidFill>
                  <a:srgbClr val="000000"/>
                </a:solidFill>
                <a:latin typeface="Consolas" panose="020B0609020204030204" pitchFamily="49" charset="0"/>
              </a:rPr>
              <a:t>    }    </a:t>
            </a:r>
          </a:p>
          <a:p>
            <a:pPr algn="l"/>
            <a:r>
              <a:rPr lang="en-US" sz="2000" dirty="0">
                <a:solidFill>
                  <a:srgbClr val="000000"/>
                </a:solidFill>
                <a:latin typeface="Consolas" panose="020B0609020204030204" pitchFamily="49" charset="0"/>
              </a:rPr>
              <a:t>    console.log(</a:t>
            </a:r>
            <a:r>
              <a:rPr lang="en-US" sz="2000" dirty="0">
                <a:solidFill>
                  <a:srgbClr val="A31515"/>
                </a:solidFill>
                <a:latin typeface="Consolas" panose="020B0609020204030204" pitchFamily="49" charset="0"/>
              </a:rPr>
              <a:t>'main done with res ='</a:t>
            </a:r>
            <a:r>
              <a:rPr lang="en-US" sz="2000" dirty="0">
                <a:solidFill>
                  <a:srgbClr val="000000"/>
                </a:solidFill>
                <a:latin typeface="Consolas" panose="020B0609020204030204" pitchFamily="49" charset="0"/>
              </a:rPr>
              <a:t>, res);</a:t>
            </a:r>
          </a:p>
          <a:p>
            <a:pPr algn="l"/>
            <a:r>
              <a:rPr lang="en-US" sz="2000" dirty="0">
                <a:solidFill>
                  <a:srgbClr val="000000"/>
                </a:solidFill>
                <a:latin typeface="Consolas" panose="020B0609020204030204" pitchFamily="49" charset="0"/>
              </a:rPr>
              <a:t>}</a:t>
            </a:r>
          </a:p>
          <a:p>
            <a:pPr algn="l"/>
            <a:br>
              <a:rPr lang="en-US" sz="2000" dirty="0">
                <a:solidFill>
                  <a:srgbClr val="000000"/>
                </a:solidFill>
                <a:latin typeface="Consolas" panose="020B0609020204030204" pitchFamily="49" charset="0"/>
              </a:rPr>
            </a:br>
            <a:r>
              <a:rPr lang="en-US" sz="2000" dirty="0" err="1">
                <a:solidFill>
                  <a:srgbClr val="000000"/>
                </a:solidFill>
                <a:latin typeface="Consolas" panose="020B0609020204030204" pitchFamily="49" charset="0"/>
              </a:rPr>
              <a:t>timeIt</a:t>
            </a:r>
            <a:r>
              <a:rPr lang="en-US" sz="2000" dirty="0">
                <a:solidFill>
                  <a:srgbClr val="000000"/>
                </a:solidFill>
                <a:latin typeface="Consolas" panose="020B0609020204030204" pitchFamily="49" charset="0"/>
              </a:rPr>
              <a:t>(main);</a:t>
            </a:r>
          </a:p>
        </p:txBody>
      </p:sp>
      <p:sp>
        <p:nvSpPr>
          <p:cNvPr id="6" name="TextBox 5">
            <a:extLst>
              <a:ext uri="{FF2B5EF4-FFF2-40B4-BE49-F238E27FC236}">
                <a16:creationId xmlns:a16="http://schemas.microsoft.com/office/drawing/2014/main" id="{78A3314E-5172-5F8E-8896-D7ADF7D3024D}"/>
              </a:ext>
            </a:extLst>
          </p:cNvPr>
          <p:cNvSpPr txBox="1"/>
          <p:nvPr/>
        </p:nvSpPr>
        <p:spPr>
          <a:xfrm>
            <a:off x="5961358" y="4105898"/>
            <a:ext cx="4773698" cy="2250452"/>
          </a:xfrm>
          <a:prstGeom prst="rect">
            <a:avLst/>
          </a:prstGeom>
          <a:solidFill>
            <a:schemeClr val="bg1">
              <a:alpha val="96000"/>
            </a:schemeClr>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algn="l"/>
            <a:r>
              <a:rPr lang="en-US" sz="2000" dirty="0">
                <a:solidFill>
                  <a:schemeClr val="tx1"/>
                </a:solidFill>
                <a:latin typeface="Verdana" panose="020B0604030504040204" pitchFamily="34" charset="0"/>
                <a:ea typeface="Verdana" panose="020B0604030504040204" pitchFamily="34" charset="0"/>
              </a:rPr>
              <a:t>$ node </a:t>
            </a:r>
            <a:r>
              <a:rPr lang="en-US" sz="2000" dirty="0" err="1">
                <a:solidFill>
                  <a:schemeClr val="tx1"/>
                </a:solidFill>
                <a:latin typeface="Verdana" panose="020B0604030504040204" pitchFamily="34" charset="0"/>
                <a:ea typeface="Verdana" panose="020B0604030504040204" pitchFamily="34" charset="0"/>
              </a:rPr>
              <a:t>tryCatchExample.ts</a:t>
            </a:r>
            <a:r>
              <a:rPr lang="en-US" sz="2000" dirty="0">
                <a:solidFill>
                  <a:schemeClr val="tx1"/>
                </a:solidFill>
                <a:latin typeface="Verdana" panose="020B0604030504040204" pitchFamily="34" charset="0"/>
                <a:ea typeface="Verdana" panose="020B0604030504040204" pitchFamily="34" charset="0"/>
              </a:rPr>
              <a:t> </a:t>
            </a:r>
          </a:p>
          <a:p>
            <a:pPr algn="l"/>
            <a:r>
              <a:rPr lang="en-US" sz="2000" dirty="0">
                <a:solidFill>
                  <a:schemeClr val="tx1"/>
                </a:solidFill>
                <a:latin typeface="Verdana" panose="020B0604030504040204" pitchFamily="34" charset="0"/>
                <a:ea typeface="Verdana" panose="020B0604030504040204" pitchFamily="34" charset="0"/>
              </a:rPr>
              <a:t>main started</a:t>
            </a:r>
          </a:p>
          <a:p>
            <a:pPr algn="l"/>
            <a:r>
              <a:rPr lang="en-US" sz="2000" dirty="0" err="1">
                <a:solidFill>
                  <a:schemeClr val="tx1"/>
                </a:solidFill>
                <a:latin typeface="Verdana" panose="020B0604030504040204" pitchFamily="34" charset="0"/>
                <a:ea typeface="Verdana" panose="020B0604030504040204" pitchFamily="34" charset="0"/>
              </a:rPr>
              <a:t>fakeRequest</a:t>
            </a:r>
            <a:r>
              <a:rPr lang="en-US" sz="2000" dirty="0">
                <a:solidFill>
                  <a:schemeClr val="tx1"/>
                </a:solidFill>
                <a:latin typeface="Verdana" panose="020B0604030504040204" pitchFamily="34" charset="0"/>
                <a:ea typeface="Verdana" panose="020B0604030504040204" pitchFamily="34" charset="0"/>
              </a:rPr>
              <a:t> received request: -32</a:t>
            </a:r>
          </a:p>
          <a:p>
            <a:pPr algn="l"/>
            <a:r>
              <a:rPr lang="en-US" sz="2000" dirty="0">
                <a:solidFill>
                  <a:schemeClr val="tx1"/>
                </a:solidFill>
                <a:latin typeface="Verdana" panose="020B0604030504040204" pitchFamily="34" charset="0"/>
                <a:ea typeface="Verdana" panose="020B0604030504040204" pitchFamily="34" charset="0"/>
              </a:rPr>
              <a:t>time passes....</a:t>
            </a:r>
          </a:p>
          <a:p>
            <a:pPr algn="l"/>
            <a:r>
              <a:rPr lang="en-US" sz="2000" dirty="0">
                <a:solidFill>
                  <a:schemeClr val="tx1"/>
                </a:solidFill>
                <a:latin typeface="Verdana" panose="020B0604030504040204" pitchFamily="34" charset="0"/>
                <a:ea typeface="Verdana" panose="020B0604030504040204" pitchFamily="34" charset="0"/>
              </a:rPr>
              <a:t>Error occurred for request -32</a:t>
            </a:r>
          </a:p>
          <a:p>
            <a:pPr algn="l"/>
            <a:r>
              <a:rPr lang="en-US" sz="2000" dirty="0">
                <a:solidFill>
                  <a:schemeClr val="tx1"/>
                </a:solidFill>
                <a:latin typeface="Verdana" panose="020B0604030504040204" pitchFamily="34" charset="0"/>
                <a:ea typeface="Verdana" panose="020B0604030504040204" pitchFamily="34" charset="0"/>
              </a:rPr>
              <a:t>main done with res = 0        </a:t>
            </a:r>
          </a:p>
          <a:p>
            <a:pPr algn="l"/>
            <a:r>
              <a:rPr lang="en-US" sz="2000" dirty="0">
                <a:solidFill>
                  <a:schemeClr val="tx1"/>
                </a:solidFill>
                <a:latin typeface="Verdana" panose="020B0604030504040204" pitchFamily="34" charset="0"/>
                <a:ea typeface="Verdana" panose="020B0604030504040204" pitchFamily="34" charset="0"/>
              </a:rPr>
              <a:t>1007.52 msec</a:t>
            </a:r>
          </a:p>
        </p:txBody>
      </p:sp>
    </p:spTree>
    <p:extLst>
      <p:ext uri="{BB962C8B-B14F-4D97-AF65-F5344CB8AC3E}">
        <p14:creationId xmlns:p14="http://schemas.microsoft.com/office/powerpoint/2010/main" val="2045028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B20D8D-8532-DA86-A683-B1C203EACE32}"/>
              </a:ext>
            </a:extLst>
          </p:cNvPr>
          <p:cNvSpPr>
            <a:spLocks noGrp="1"/>
          </p:cNvSpPr>
          <p:nvPr>
            <p:ph type="title"/>
          </p:nvPr>
        </p:nvSpPr>
        <p:spPr/>
        <p:txBody>
          <a:bodyPr/>
          <a:lstStyle/>
          <a:p>
            <a:r>
              <a:rPr lang="en-US" dirty="0"/>
              <a:t>Pattern for testing an async function</a:t>
            </a:r>
          </a:p>
        </p:txBody>
      </p:sp>
      <p:sp>
        <p:nvSpPr>
          <p:cNvPr id="3" name="Slide Number Placeholder 2">
            <a:extLst>
              <a:ext uri="{FF2B5EF4-FFF2-40B4-BE49-F238E27FC236}">
                <a16:creationId xmlns:a16="http://schemas.microsoft.com/office/drawing/2014/main" id="{64699641-A0C9-C405-C80C-41C087A6B28C}"/>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32</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5" name="TextBox 4">
            <a:extLst>
              <a:ext uri="{FF2B5EF4-FFF2-40B4-BE49-F238E27FC236}">
                <a16:creationId xmlns:a16="http://schemas.microsoft.com/office/drawing/2014/main" id="{560A18AA-69C5-D290-77BA-EC0C2600C77F}"/>
              </a:ext>
            </a:extLst>
          </p:cNvPr>
          <p:cNvSpPr txBox="1"/>
          <p:nvPr/>
        </p:nvSpPr>
        <p:spPr>
          <a:xfrm>
            <a:off x="838199" y="1377264"/>
            <a:ext cx="10670649" cy="4801314"/>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vitest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should make a network request using </a:t>
            </a:r>
            <a:r>
              <a:rPr kumimoji="0" lang="en-US" sz="1800" b="0" i="0" u="none" strike="noStrike" kern="0" cap="none" spc="0" normalizeH="0" baseline="0" noProof="0" dirty="0" err="1">
                <a:ln>
                  <a:noFill/>
                </a:ln>
                <a:solidFill>
                  <a:srgbClr val="008000"/>
                </a:solidFill>
                <a:effectLst/>
                <a:uLnTx/>
                <a:uFillTx/>
                <a:latin typeface="Consolas" panose="020B0609020204030204" pitchFamily="49" charset="0"/>
                <a:ea typeface="+mn-ea"/>
                <a:cs typeface="+mn-cs"/>
                <a:sym typeface="Helvetica Neue"/>
              </a:rPr>
              <a:t>myFetch</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8000"/>
                </a:solidFill>
                <a:effectLst/>
                <a:uLnTx/>
                <a:uFillTx/>
                <a:latin typeface="Consolas" panose="020B0609020204030204" pitchFamily="49" charset="0"/>
                <a:ea typeface="+mn-ea"/>
                <a:cs typeface="+mn-cs"/>
                <a:sym typeface="Helvetica Neue"/>
              </a:rPr>
              <a:t>// and then returns n + 1</a:t>
            </a: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describe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(await/expect)'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resolves</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test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 should return its argument + 1 (expect/await)'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=&gt;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assertions</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expect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fakeRequest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7</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toEqual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8</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p:txBody>
      </p:sp>
      <p:sp>
        <p:nvSpPr>
          <p:cNvPr id="4" name="Rectangle: Rounded Corners 3">
            <a:extLst>
              <a:ext uri="{FF2B5EF4-FFF2-40B4-BE49-F238E27FC236}">
                <a16:creationId xmlns:a16="http://schemas.microsoft.com/office/drawing/2014/main" id="{915E4C98-57FC-EAD8-7E9D-5CC1781AD506}"/>
              </a:ext>
            </a:extLst>
          </p:cNvPr>
          <p:cNvSpPr/>
          <p:nvPr/>
        </p:nvSpPr>
        <p:spPr>
          <a:xfrm>
            <a:off x="6936849" y="1452713"/>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example.spec.ts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Tree>
    <p:extLst>
      <p:ext uri="{BB962C8B-B14F-4D97-AF65-F5344CB8AC3E}">
        <p14:creationId xmlns:p14="http://schemas.microsoft.com/office/powerpoint/2010/main" val="66498381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D8C9CF27-CC4B-01C9-C7B0-88C6D5010B66}"/>
              </a:ext>
            </a:extLst>
          </p:cNvPr>
          <p:cNvSpPr>
            <a:spLocks noGrp="1"/>
          </p:cNvSpPr>
          <p:nvPr>
            <p:ph type="title"/>
          </p:nvPr>
        </p:nvSpPr>
        <p:spPr/>
        <p:txBody>
          <a:bodyPr/>
          <a:lstStyle/>
          <a:p>
            <a:r>
              <a:rPr lang="en-US" dirty="0"/>
              <a:t>Other things you should know about async</a:t>
            </a:r>
          </a:p>
        </p:txBody>
      </p:sp>
      <p:sp>
        <p:nvSpPr>
          <p:cNvPr id="3" name="Slide Number Placeholder 2">
            <a:extLst>
              <a:ext uri="{FF2B5EF4-FFF2-40B4-BE49-F238E27FC236}">
                <a16:creationId xmlns:a16="http://schemas.microsoft.com/office/drawing/2014/main" id="{994AF94F-B74C-2AD8-6446-7B806018EA84}"/>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rPr>
              <a:pPr marL="0" marR="0" lvl="0" indent="0" algn="r" defTabSz="914400" rtl="0" eaLnBrk="1" fontAlgn="auto" latinLnBrk="0" hangingPunct="1">
                <a:lnSpc>
                  <a:spcPct val="100000"/>
                </a:lnSpc>
                <a:spcBef>
                  <a:spcPts val="0"/>
                </a:spcBef>
                <a:spcAft>
                  <a:spcPts val="0"/>
                </a:spcAft>
                <a:buClrTx/>
                <a:buSzTx/>
                <a:buFontTx/>
                <a:buNone/>
                <a:tabLst/>
                <a:defRPr/>
              </a:pPr>
              <a:t>33</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899805603"/>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6F8AB4-79C0-5541-B7FE-F86B81498ADA}"/>
              </a:ext>
            </a:extLst>
          </p:cNvPr>
          <p:cNvSpPr>
            <a:spLocks noGrp="1"/>
          </p:cNvSpPr>
          <p:nvPr>
            <p:ph type="title"/>
          </p:nvPr>
        </p:nvSpPr>
        <p:spPr/>
        <p:txBody>
          <a:bodyPr>
            <a:normAutofit/>
          </a:bodyPr>
          <a:lstStyle/>
          <a:p>
            <a:r>
              <a:rPr lang="en-US" dirty="0"/>
              <a:t>Async/await code is compiled into promise/then code. Using await is preferred</a:t>
            </a:r>
          </a:p>
        </p:txBody>
      </p:sp>
      <p:sp>
        <p:nvSpPr>
          <p:cNvPr id="7" name="TextBox 6">
            <a:extLst>
              <a:ext uri="{FF2B5EF4-FFF2-40B4-BE49-F238E27FC236}">
                <a16:creationId xmlns:a16="http://schemas.microsoft.com/office/drawing/2014/main" id="{664A71CD-173B-9249-90F8-EC44FC65A895}"/>
              </a:ext>
            </a:extLst>
          </p:cNvPr>
          <p:cNvSpPr txBox="1"/>
          <p:nvPr/>
        </p:nvSpPr>
        <p:spPr>
          <a:xfrm>
            <a:off x="279913" y="2130525"/>
            <a:ext cx="5629274" cy="3970318"/>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dirty="0">
                <a:solidFill>
                  <a:srgbClr val="000080"/>
                </a:solidFill>
                <a:latin typeface="Courier" pitchFamily="2" charset="0"/>
              </a:rPr>
              <a:t>async function </a:t>
            </a:r>
            <a:r>
              <a:rPr lang="en-US" sz="1800" dirty="0" err="1">
                <a:latin typeface="Courier" pitchFamily="2" charset="0"/>
              </a:rPr>
              <a:t>makeThreeSerialRequests</a:t>
            </a:r>
            <a:r>
              <a:rPr lang="en-US" sz="1800" dirty="0">
                <a:latin typeface="Courier" pitchFamily="2" charset="0"/>
              </a:rPr>
              <a:t>(){</a:t>
            </a:r>
            <a:br>
              <a:rPr lang="en-US" sz="1800" dirty="0">
                <a:latin typeface="Courier" pitchFamily="2" charset="0"/>
              </a:rPr>
            </a:br>
            <a:r>
              <a:rPr lang="en-US" sz="1800" dirty="0">
                <a:latin typeface="Courier" pitchFamily="2" charset="0"/>
              </a:rPr>
              <a:t>1.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a:latin typeface="Courier" pitchFamily="2" charset="0"/>
              </a:rPr>
              <a:t>2.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3.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4.  </a:t>
            </a:r>
            <a:r>
              <a:rPr lang="en-US" sz="1800" b="1" dirty="0">
                <a:solidFill>
                  <a:srgbClr val="000080"/>
                </a:solidFill>
                <a:highlight>
                  <a:srgbClr val="FFFF00"/>
                </a:highlight>
                <a:latin typeface="Courier" pitchFamily="2" charset="0"/>
              </a:rPr>
              <a:t>await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5.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6.  </a:t>
            </a:r>
            <a:r>
              <a:rPr lang="en-US" sz="1800" b="1" dirty="0">
                <a:solidFill>
                  <a:srgbClr val="000080"/>
                </a:solidFill>
                <a:highlight>
                  <a:srgbClr val="FFFF00"/>
                </a:highlight>
                <a:latin typeface="Courier" pitchFamily="2" charset="0"/>
              </a:rPr>
              <a:t>await</a:t>
            </a:r>
            <a:r>
              <a:rPr lang="en-US" sz="1800" b="1" dirty="0">
                <a:solidFill>
                  <a:srgbClr val="000080"/>
                </a:solidFill>
                <a:latin typeface="Courier" pitchFamily="2" charset="0"/>
              </a:rPr>
              <a:t>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7.  </a:t>
            </a:r>
            <a:r>
              <a:rPr lang="en-US" sz="1800" b="1" i="1" dirty="0" err="1">
                <a:solidFill>
                  <a:srgbClr val="660E7A"/>
                </a:solidFill>
                <a:latin typeface="Courier" pitchFamily="2" charset="0"/>
              </a:rPr>
              <a:t>console</a:t>
            </a:r>
            <a:r>
              <a:rPr lang="en-US" sz="1800" dirty="0" err="1">
                <a:latin typeface="Courier" pitchFamily="2" charset="0"/>
              </a:rPr>
              <a:t>.</a:t>
            </a:r>
            <a:r>
              <a:rPr lang="en-US" sz="1800" dirty="0" err="1">
                <a:solidFill>
                  <a:srgbClr val="7A7A43"/>
                </a:solidFill>
                <a:latin typeface="Courier" pitchFamily="2" charset="0"/>
              </a:rPr>
              <a:t>log</a:t>
            </a:r>
            <a:r>
              <a:rPr lang="en-US" sz="1800" dirty="0">
                <a:latin typeface="Courier" pitchFamily="2" charset="0"/>
              </a:rPr>
              <a:t>(</a:t>
            </a:r>
            <a:r>
              <a:rPr lang="en-US" sz="1800" b="1" dirty="0">
                <a:solidFill>
                  <a:srgbClr val="008000"/>
                </a:solidFill>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br>
              <a:rPr lang="en-US" sz="1800" dirty="0">
                <a:latin typeface="Courier" pitchFamily="2" charset="0"/>
              </a:rPr>
            </a:br>
            <a:r>
              <a:rPr lang="en-US" sz="1800" dirty="0" err="1">
                <a:latin typeface="Courier" pitchFamily="2" charset="0"/>
              </a:rPr>
              <a:t>makeThreeSerialRequests</a:t>
            </a:r>
            <a:r>
              <a:rPr lang="en-US" sz="1800" dirty="0">
                <a:latin typeface="Courier" pitchFamily="2" charset="0"/>
              </a:rPr>
              <a:t>();</a:t>
            </a:r>
          </a:p>
        </p:txBody>
      </p:sp>
      <p:sp>
        <p:nvSpPr>
          <p:cNvPr id="9" name="TextBox 8">
            <a:extLst>
              <a:ext uri="{FF2B5EF4-FFF2-40B4-BE49-F238E27FC236}">
                <a16:creationId xmlns:a16="http://schemas.microsoft.com/office/drawing/2014/main" id="{59205B7A-877D-3946-81A8-3BB73A15E5FF}"/>
              </a:ext>
            </a:extLst>
          </p:cNvPr>
          <p:cNvSpPr txBox="1"/>
          <p:nvPr/>
        </p:nvSpPr>
        <p:spPr>
          <a:xfrm>
            <a:off x="6562726" y="2151727"/>
            <a:ext cx="5629274" cy="2862322"/>
          </a:xfrm>
          <a:prstGeom prst="rect">
            <a:avLst/>
          </a:prstGeom>
          <a:noFill/>
          <a:ln w="12700" cap="flat">
            <a:solidFill>
              <a:schemeClr val="tx2">
                <a:lumMod val="50000"/>
              </a:schemeClr>
            </a:solidFill>
            <a:miter lim="400000"/>
          </a:ln>
          <a:effectLst/>
          <a:sp3d/>
        </p:spPr>
        <p:style>
          <a:lnRef idx="0">
            <a:scrgbClr r="0" g="0" b="0"/>
          </a:lnRef>
          <a:fillRef idx="0">
            <a:scrgbClr r="0" g="0" b="0"/>
          </a:fillRef>
          <a:effectRef idx="0">
            <a:scrgbClr r="0" g="0" b="0"/>
          </a:effectRef>
          <a:fontRef idx="none"/>
        </p:style>
        <p:txBody>
          <a:bodyPr wrap="square">
            <a:spAutoFit/>
          </a:bodyPr>
          <a:lstStyle/>
          <a:p>
            <a:pPr algn="l"/>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first request'</a:t>
            </a:r>
            <a:r>
              <a:rPr lang="en-US" sz="1800" dirty="0">
                <a:latin typeface="Courier" pitchFamily="2" charset="0"/>
              </a:rPr>
              <a:t>);</a:t>
            </a:r>
            <a:br>
              <a:rPr lang="en-US" sz="1800" dirty="0">
                <a:latin typeface="Courier" pitchFamily="2" charset="0"/>
              </a:rPr>
            </a:br>
            <a:r>
              <a:rPr lang="en-US" sz="1800" dirty="0" err="1">
                <a:latin typeface="Courier" pitchFamily="2" charset="0"/>
              </a:rPr>
              <a:t>makeOneGetRequest</a:t>
            </a: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 =&gt;{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second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 =&gt; {</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'Making third request'</a:t>
            </a:r>
            <a:r>
              <a:rPr lang="en-US" sz="1800" dirty="0">
                <a:latin typeface="Courier" pitchFamily="2" charset="0"/>
              </a:rPr>
              <a:t>);</a:t>
            </a:r>
            <a:br>
              <a:rPr lang="en-US" sz="1800" dirty="0">
                <a:latin typeface="Courier" pitchFamily="2" charset="0"/>
              </a:rPr>
            </a:br>
            <a:r>
              <a:rPr lang="en-US" sz="1800" dirty="0">
                <a:latin typeface="Courier" pitchFamily="2" charset="0"/>
              </a:rPr>
              <a:t>  </a:t>
            </a:r>
            <a:r>
              <a:rPr lang="en-US" sz="1800" b="1" dirty="0">
                <a:solidFill>
                  <a:srgbClr val="000080"/>
                </a:solidFill>
                <a:effectLst/>
                <a:latin typeface="Courier" pitchFamily="2" charset="0"/>
              </a:rPr>
              <a:t>return </a:t>
            </a:r>
            <a:r>
              <a:rPr lang="en-US" sz="1800" dirty="0" err="1">
                <a:latin typeface="Courier" pitchFamily="2" charset="0"/>
              </a:rPr>
              <a:t>makeOneGetRequest</a:t>
            </a:r>
            <a:r>
              <a:rPr lang="en-US" sz="1800" dirty="0">
                <a:latin typeface="Courier" pitchFamily="2" charset="0"/>
              </a:rPr>
              <a:t>();</a:t>
            </a:r>
            <a:br>
              <a:rPr lang="en-US" sz="1800" dirty="0">
                <a:latin typeface="Courier" pitchFamily="2" charset="0"/>
              </a:rPr>
            </a:br>
            <a:r>
              <a:rPr lang="en-US" sz="1800" dirty="0">
                <a:latin typeface="Courier" pitchFamily="2" charset="0"/>
              </a:rPr>
              <a:t>}).</a:t>
            </a:r>
            <a:r>
              <a:rPr lang="en-US" sz="1800" dirty="0">
                <a:solidFill>
                  <a:srgbClr val="7A7A43"/>
                </a:solidFill>
                <a:effectLst/>
                <a:highlight>
                  <a:srgbClr val="FFFF00"/>
                </a:highlight>
                <a:latin typeface="Courier" pitchFamily="2" charset="0"/>
              </a:rPr>
              <a:t>then</a:t>
            </a:r>
            <a:r>
              <a:rPr lang="en-US" sz="1800" dirty="0">
                <a:latin typeface="Courier" pitchFamily="2" charset="0"/>
              </a:rPr>
              <a:t>(()=&gt;{</a:t>
            </a:r>
            <a:br>
              <a:rPr lang="en-US" sz="1800" dirty="0">
                <a:latin typeface="Courier" pitchFamily="2" charset="0"/>
              </a:rPr>
            </a:br>
            <a:r>
              <a:rPr lang="en-US" sz="1800" dirty="0">
                <a:latin typeface="Courier" pitchFamily="2" charset="0"/>
              </a:rPr>
              <a:t>  </a:t>
            </a:r>
            <a:r>
              <a:rPr lang="en-US" sz="1800" b="1" i="1" dirty="0" err="1">
                <a:solidFill>
                  <a:srgbClr val="660E7A"/>
                </a:solidFill>
                <a:effectLst/>
                <a:latin typeface="Courier" pitchFamily="2" charset="0"/>
              </a:rPr>
              <a:t>console</a:t>
            </a:r>
            <a:r>
              <a:rPr lang="en-US" sz="1800" dirty="0" err="1">
                <a:latin typeface="Courier" pitchFamily="2" charset="0"/>
              </a:rPr>
              <a:t>.</a:t>
            </a:r>
            <a:r>
              <a:rPr lang="en-US" sz="1800" dirty="0" err="1">
                <a:solidFill>
                  <a:srgbClr val="7A7A43"/>
                </a:solidFill>
                <a:effectLst/>
                <a:latin typeface="Courier" pitchFamily="2" charset="0"/>
              </a:rPr>
              <a:t>log</a:t>
            </a:r>
            <a:r>
              <a:rPr lang="en-US" sz="1800" dirty="0">
                <a:latin typeface="Courier" pitchFamily="2" charset="0"/>
              </a:rPr>
              <a:t>(</a:t>
            </a:r>
            <a:r>
              <a:rPr lang="en-US" sz="1800" b="1" dirty="0">
                <a:solidFill>
                  <a:srgbClr val="008000"/>
                </a:solidFill>
                <a:effectLst/>
                <a:latin typeface="Courier" pitchFamily="2" charset="0"/>
              </a:rPr>
              <a:t>'All done!'</a:t>
            </a:r>
            <a:r>
              <a:rPr lang="en-US" sz="1800" dirty="0">
                <a:latin typeface="Courier" pitchFamily="2" charset="0"/>
              </a:rPr>
              <a:t>);</a:t>
            </a:r>
            <a:br>
              <a:rPr lang="en-US" sz="1800" dirty="0">
                <a:latin typeface="Courier" pitchFamily="2" charset="0"/>
              </a:rPr>
            </a:br>
            <a:r>
              <a:rPr lang="en-US" sz="1800" dirty="0">
                <a:latin typeface="Courier" pitchFamily="2" charset="0"/>
              </a:rPr>
              <a:t>});</a:t>
            </a:r>
          </a:p>
        </p:txBody>
      </p:sp>
      <p:sp>
        <p:nvSpPr>
          <p:cNvPr id="5" name="Arrow: Right 4">
            <a:extLst>
              <a:ext uri="{FF2B5EF4-FFF2-40B4-BE49-F238E27FC236}">
                <a16:creationId xmlns:a16="http://schemas.microsoft.com/office/drawing/2014/main" id="{D2138079-AF83-4427-60AA-1DEFDEAC13DB}"/>
              </a:ext>
            </a:extLst>
          </p:cNvPr>
          <p:cNvSpPr/>
          <p:nvPr/>
        </p:nvSpPr>
        <p:spPr>
          <a:xfrm>
            <a:off x="5422490" y="3582888"/>
            <a:ext cx="1347019" cy="582561"/>
          </a:xfrm>
          <a:prstGeom prst="rightArrow">
            <a:avLst/>
          </a:prstGeom>
          <a:solidFill>
            <a:schemeClr val="accent2">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l"/>
            <a:endParaRPr lang="en-US" dirty="0">
              <a:solidFill>
                <a:schemeClr val="tx1"/>
              </a:solidFill>
            </a:endParaRPr>
          </a:p>
        </p:txBody>
      </p:sp>
    </p:spTree>
    <p:extLst>
      <p:ext uri="{BB962C8B-B14F-4D97-AF65-F5344CB8AC3E}">
        <p14:creationId xmlns:p14="http://schemas.microsoft.com/office/powerpoint/2010/main" val="33489678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68" name="Making lots of requests"/>
          <p:cNvSpPr txBox="1">
            <a:spLocks noGrp="1"/>
          </p:cNvSpPr>
          <p:nvPr>
            <p:ph type="title"/>
          </p:nvPr>
        </p:nvSpPr>
        <p:spPr>
          <a:prstGeom prst="rect">
            <a:avLst/>
          </a:prstGeom>
        </p:spPr>
        <p:txBody>
          <a:bodyPr/>
          <a:lstStyle/>
          <a:p>
            <a:r>
              <a:rPr lang="en-US" dirty="0"/>
              <a:t>Promises Enforce Ordering Through “Then”</a:t>
            </a:r>
            <a:endParaRPr dirty="0"/>
          </a:p>
        </p:txBody>
      </p:sp>
      <p:sp>
        <p:nvSpPr>
          <p:cNvPr id="4" name="Content Placeholder 3">
            <a:extLst>
              <a:ext uri="{FF2B5EF4-FFF2-40B4-BE49-F238E27FC236}">
                <a16:creationId xmlns:a16="http://schemas.microsoft.com/office/drawing/2014/main" id="{508E961F-D555-45D3-2A10-EE51F1D7A125}"/>
              </a:ext>
            </a:extLst>
          </p:cNvPr>
          <p:cNvSpPr>
            <a:spLocks noGrp="1"/>
          </p:cNvSpPr>
          <p:nvPr>
            <p:ph idx="1"/>
          </p:nvPr>
        </p:nvSpPr>
        <p:spPr/>
        <p:txBody>
          <a:bodyPr>
            <a:normAutofit/>
          </a:bodyPr>
          <a:lstStyle/>
          <a:p>
            <a:r>
              <a:rPr lang="en-US" sz="1600" b="1" dirty="0" err="1"/>
              <a:t>axios.get</a:t>
            </a:r>
            <a:r>
              <a:rPr lang="en-US" sz="1600" b="1" dirty="0"/>
              <a:t> </a:t>
            </a:r>
            <a:r>
              <a:rPr lang="en-US" sz="1600" dirty="0"/>
              <a:t>returns a promise.  </a:t>
            </a:r>
          </a:p>
          <a:p>
            <a:r>
              <a:rPr lang="en-US" sz="1600" b="1" dirty="0" err="1"/>
              <a:t>p.then</a:t>
            </a:r>
            <a:r>
              <a:rPr lang="en-US" sz="1600" b="1" dirty="0"/>
              <a:t> </a:t>
            </a:r>
            <a:r>
              <a:rPr lang="en-US" sz="1600" dirty="0"/>
              <a:t>mutates that promise so that the then block is not run until after the original promise returns.</a:t>
            </a:r>
          </a:p>
          <a:p>
            <a:r>
              <a:rPr lang="en-US" sz="1600" dirty="0"/>
              <a:t>The resulting promise isn’t completed until the then block finishes.</a:t>
            </a:r>
          </a:p>
          <a:p>
            <a:r>
              <a:rPr lang="en-US" sz="1600" dirty="0"/>
              <a:t>You can chain .</a:t>
            </a:r>
            <a:r>
              <a:rPr lang="en-US" sz="1600" b="1" dirty="0" err="1"/>
              <a:t>then</a:t>
            </a:r>
            <a:r>
              <a:rPr lang="en-US" sz="1600" dirty="0" err="1"/>
              <a:t>’s</a:t>
            </a:r>
            <a:r>
              <a:rPr lang="en-US" sz="1600" dirty="0"/>
              <a:t>, to get things that look like </a:t>
            </a:r>
            <a:r>
              <a:rPr lang="en-US" sz="1600" dirty="0" err="1"/>
              <a:t>p.then</a:t>
            </a:r>
            <a:r>
              <a:rPr lang="en-US" sz="1600" dirty="0"/>
              <a:t>().then().then()</a:t>
            </a:r>
          </a:p>
          <a:p>
            <a:r>
              <a:rPr lang="en-US" sz="1600" dirty="0"/>
              <a:t>Each </a:t>
            </a:r>
            <a:r>
              <a:rPr lang="en-US" sz="1600" b="1" dirty="0"/>
              <a:t>then</a:t>
            </a:r>
            <a:r>
              <a:rPr lang="en-US" sz="1600" dirty="0"/>
              <a:t> is a pause point.</a:t>
            </a:r>
          </a:p>
        </p:txBody>
      </p:sp>
      <p:sp>
        <p:nvSpPr>
          <p:cNvPr id="270" name="console.log('Making a requests');…"/>
          <p:cNvSpPr txBox="1"/>
          <p:nvPr/>
        </p:nvSpPr>
        <p:spPr>
          <a:xfrm>
            <a:off x="933370" y="1631794"/>
            <a:ext cx="6024716" cy="3744615"/>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square" lIns="25400" tIns="25400" rIns="25400" bIns="25400" anchor="ctr">
            <a:spAutoFit/>
          </a:bodyPr>
          <a:lstStyle/>
          <a:p>
            <a:pPr algn="l" defTabSz="228600">
              <a:defRPr sz="2600" b="1">
                <a:solidFill>
                  <a:srgbClr val="018001"/>
                </a:solidFill>
                <a:latin typeface="Courier"/>
                <a:ea typeface="Courier"/>
                <a:cs typeface="Courier"/>
                <a:sym typeface="Courier"/>
              </a:defRPr>
            </a:pPr>
            <a:r>
              <a:rPr lang="en-US" sz="1600" i="1" dirty="0">
                <a:solidFill>
                  <a:srgbClr val="66187A"/>
                </a:solidFill>
              </a:rPr>
              <a:t>1.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'Making requests'</a:t>
            </a:r>
            <a:r>
              <a:rPr sz="1600" dirty="0">
                <a:solidFill>
                  <a:srgbClr val="000000"/>
                </a:solidFill>
              </a:rPr>
              <a:t>);</a:t>
            </a:r>
          </a:p>
          <a:p>
            <a:pPr algn="l" defTabSz="228600">
              <a:defRPr sz="2600" b="1">
                <a:solidFill>
                  <a:srgbClr val="018001"/>
                </a:solidFill>
                <a:latin typeface="Courier"/>
                <a:ea typeface="Courier"/>
                <a:cs typeface="Courier"/>
                <a:sym typeface="Courier"/>
              </a:defRPr>
            </a:pPr>
            <a:r>
              <a:rPr lang="en-US" sz="1600" i="1" dirty="0">
                <a:solidFill>
                  <a:srgbClr val="66187A"/>
                </a:solidFill>
              </a:rPr>
              <a:t>2.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'https://rest-</a:t>
            </a:r>
            <a:r>
              <a:rPr sz="1600" dirty="0" err="1"/>
              <a:t>example.covey.town</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lang="en-US" sz="1600" dirty="0"/>
              <a:t>	</a:t>
            </a:r>
            <a:r>
              <a:rPr sz="1600" dirty="0"/>
              <a:t>  .</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server'</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b="1" i="1" dirty="0" err="1">
                <a:solidFill>
                  <a:srgbClr val="66187A"/>
                </a:solidFill>
              </a:rPr>
              <a:t>console</a:t>
            </a:r>
            <a:r>
              <a:rPr sz="1600" dirty="0" err="1"/>
              <a:t>.</a:t>
            </a:r>
            <a:r>
              <a:rPr sz="1600" dirty="0" err="1">
                <a:solidFill>
                  <a:srgbClr val="7A7A43"/>
                </a:solidFill>
              </a:rPr>
              <a:t>log</a:t>
            </a:r>
            <a:r>
              <a:rPr sz="1600" dirty="0"/>
              <a:t>(</a:t>
            </a:r>
            <a:r>
              <a:rPr sz="1600" dirty="0" err="1"/>
              <a:t>response.</a:t>
            </a:r>
            <a:r>
              <a:rPr sz="1600" b="1" dirty="0" err="1">
                <a:solidFill>
                  <a:srgbClr val="66187A"/>
                </a:solidFill>
              </a:rPr>
              <a:t>data</a:t>
            </a:r>
            <a:r>
              <a:rPr sz="1600" dirty="0"/>
              <a:t>);</a:t>
            </a:r>
          </a:p>
          <a:p>
            <a:pPr algn="l" defTabSz="228600">
              <a:defRPr sz="2600">
                <a:solidFill>
                  <a:srgbClr val="000000"/>
                </a:solidFill>
                <a:latin typeface="Courier"/>
                <a:ea typeface="Courier"/>
                <a:cs typeface="Courier"/>
                <a:sym typeface="Courier"/>
              </a:defRPr>
            </a:pP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3.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www.google.com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Google'</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4. </a:t>
            </a:r>
            <a:r>
              <a:rPr sz="1600" i="1" dirty="0" err="1">
                <a:solidFill>
                  <a:srgbClr val="66187A"/>
                </a:solidFill>
              </a:rPr>
              <a:t>axios</a:t>
            </a:r>
            <a:r>
              <a:rPr sz="1600" dirty="0" err="1">
                <a:solidFill>
                  <a:srgbClr val="000000"/>
                </a:solidFill>
              </a:rPr>
              <a:t>.</a:t>
            </a:r>
            <a:r>
              <a:rPr sz="1600" dirty="0" err="1">
                <a:solidFill>
                  <a:srgbClr val="7A7A43"/>
                </a:solidFill>
              </a:rPr>
              <a:t>get</a:t>
            </a:r>
            <a:r>
              <a:rPr sz="1600" dirty="0">
                <a:solidFill>
                  <a:srgbClr val="000000"/>
                </a:solidFill>
              </a:rPr>
              <a:t>(</a:t>
            </a:r>
            <a:r>
              <a:rPr sz="1600" dirty="0"/>
              <a:t>'https://</a:t>
            </a:r>
            <a:r>
              <a:rPr sz="1600" dirty="0" err="1"/>
              <a:t>www.facebook.com</a:t>
            </a:r>
            <a:r>
              <a:rPr sz="1600" dirty="0"/>
              <a:t>/'</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r>
              <a:rPr sz="1600" dirty="0">
                <a:solidFill>
                  <a:srgbClr val="7A7A43"/>
                </a:solidFill>
                <a:highlight>
                  <a:srgbClr val="FFFF00"/>
                </a:highlight>
              </a:rPr>
              <a:t>then</a:t>
            </a:r>
            <a:r>
              <a:rPr sz="1600" dirty="0"/>
              <a:t>((response) =&gt;{</a:t>
            </a:r>
          </a:p>
          <a:p>
            <a:pPr algn="l" defTabSz="228600">
              <a:defRPr sz="2600" b="1">
                <a:solidFill>
                  <a:srgbClr val="018001"/>
                </a:solidFill>
                <a:latin typeface="Courier"/>
                <a:ea typeface="Courier"/>
                <a:cs typeface="Courier"/>
                <a:sym typeface="Courier"/>
              </a:defRPr>
            </a:pPr>
            <a:r>
              <a:rPr sz="1600" dirty="0">
                <a:solidFill>
                  <a:srgbClr val="000000"/>
                </a:solidFill>
              </a:rPr>
              <a:t>    </a:t>
            </a:r>
            <a:r>
              <a:rPr lang="en-US" sz="1600" dirty="0">
                <a:solidFill>
                  <a:srgbClr val="000000"/>
                </a:solidFill>
              </a:rPr>
              <a:t>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'Heard back from Facebook'</a:t>
            </a:r>
            <a:r>
              <a:rPr sz="1600" dirty="0">
                <a:solidFill>
                  <a:srgbClr val="000000"/>
                </a:solidFill>
              </a:rPr>
              <a:t>);</a:t>
            </a:r>
          </a:p>
          <a:p>
            <a:pPr algn="l" defTabSz="228600">
              <a:defRPr sz="2600">
                <a:solidFill>
                  <a:srgbClr val="000000"/>
                </a:solidFill>
                <a:latin typeface="Courier"/>
                <a:ea typeface="Courier"/>
                <a:cs typeface="Courier"/>
                <a:sym typeface="Courier"/>
              </a:defRPr>
            </a:pPr>
            <a:r>
              <a:rPr sz="1600" dirty="0"/>
              <a:t>  </a:t>
            </a:r>
            <a:r>
              <a:rPr lang="en-US" sz="1600" dirty="0"/>
              <a:t>		</a:t>
            </a:r>
            <a:r>
              <a:rPr sz="1600" dirty="0"/>
              <a:t>});</a:t>
            </a:r>
          </a:p>
          <a:p>
            <a:pPr algn="l" defTabSz="228600">
              <a:defRPr sz="2600" b="1">
                <a:solidFill>
                  <a:srgbClr val="018001"/>
                </a:solidFill>
                <a:latin typeface="Courier"/>
                <a:ea typeface="Courier"/>
                <a:cs typeface="Courier"/>
                <a:sym typeface="Courier"/>
              </a:defRPr>
            </a:pPr>
            <a:r>
              <a:rPr lang="en-US" sz="1600" i="1" dirty="0">
                <a:solidFill>
                  <a:srgbClr val="66187A"/>
                </a:solidFill>
              </a:rPr>
              <a:t>5. </a:t>
            </a:r>
            <a:r>
              <a:rPr sz="1600" i="1" dirty="0" err="1">
                <a:solidFill>
                  <a:srgbClr val="66187A"/>
                </a:solidFill>
              </a:rPr>
              <a:t>console</a:t>
            </a:r>
            <a:r>
              <a:rPr sz="1600" dirty="0" err="1">
                <a:solidFill>
                  <a:srgbClr val="000000"/>
                </a:solidFill>
              </a:rPr>
              <a:t>.</a:t>
            </a:r>
            <a:r>
              <a:rPr sz="1600" dirty="0" err="1">
                <a:solidFill>
                  <a:srgbClr val="7A7A43"/>
                </a:solidFill>
              </a:rPr>
              <a:t>log</a:t>
            </a:r>
            <a:r>
              <a:rPr sz="1600" dirty="0">
                <a:solidFill>
                  <a:srgbClr val="000000"/>
                </a:solidFill>
              </a:rPr>
              <a:t>(</a:t>
            </a:r>
            <a:r>
              <a:rPr sz="1600" dirty="0"/>
              <a:t>'Requests sent!'</a:t>
            </a:r>
            <a:r>
              <a:rPr sz="1600" dirty="0">
                <a:solidFill>
                  <a:srgbClr val="000000"/>
                </a:solidFill>
              </a:rPr>
              <a:t>);</a:t>
            </a:r>
          </a:p>
        </p:txBody>
      </p:sp>
    </p:spTree>
    <p:extLst>
      <p:ext uri="{BB962C8B-B14F-4D97-AF65-F5344CB8AC3E}">
        <p14:creationId xmlns:p14="http://schemas.microsoft.com/office/powerpoint/2010/main" val="131562178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E27F2-3685-217F-F3EF-E022EB526D76}"/>
              </a:ext>
            </a:extLst>
          </p:cNvPr>
          <p:cNvSpPr>
            <a:spLocks noGrp="1"/>
          </p:cNvSpPr>
          <p:nvPr>
            <p:ph type="title"/>
          </p:nvPr>
        </p:nvSpPr>
        <p:spPr/>
        <p:txBody>
          <a:bodyPr/>
          <a:lstStyle/>
          <a:p>
            <a:r>
              <a:rPr lang="en-US" dirty="0"/>
              <a:t>async doesn't eliminate data races</a:t>
            </a:r>
          </a:p>
        </p:txBody>
      </p:sp>
      <p:sp>
        <p:nvSpPr>
          <p:cNvPr id="3" name="Slide Number Placeholder 2">
            <a:extLst>
              <a:ext uri="{FF2B5EF4-FFF2-40B4-BE49-F238E27FC236}">
                <a16:creationId xmlns:a16="http://schemas.microsoft.com/office/drawing/2014/main" id="{0DCBA99B-9B52-6B93-AA38-C5360F2244DE}"/>
              </a:ext>
            </a:extLst>
          </p:cNvPr>
          <p:cNvSpPr>
            <a:spLocks noGrp="1"/>
          </p:cNvSpPr>
          <p:nvPr>
            <p:ph type="sldNum" sz="quarter" idx="12"/>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20F37917-FD3A-4669-9018-DA04BCDD3D75}" type="slidenum">
              <a:rPr kumimoji="0" lang="en-US" sz="1200" b="0" i="0" u="none" strike="noStrike" kern="1200" cap="none" spc="0" normalizeH="0" baseline="0" noProof="0" smtClean="0">
                <a:ln>
                  <a:noFill/>
                </a:ln>
                <a:solidFill>
                  <a:prstClr val="black">
                    <a:tint val="75000"/>
                  </a:prstClr>
                </a:solidFill>
                <a:effectLst/>
                <a:uLnTx/>
                <a:uFillTx/>
                <a:latin typeface="Calibri" panose="020F0502020204030204"/>
                <a:ea typeface="+mn-ea"/>
                <a:cs typeface="+mn-cs"/>
                <a:sym typeface="Helvetica Neue"/>
              </a:rPr>
              <a:pPr marL="0" marR="0" lvl="0" indent="0" algn="r" defTabSz="914400" rtl="0" eaLnBrk="1" fontAlgn="auto" latinLnBrk="0" hangingPunct="1">
                <a:lnSpc>
                  <a:spcPct val="100000"/>
                </a:lnSpc>
                <a:spcBef>
                  <a:spcPts val="0"/>
                </a:spcBef>
                <a:spcAft>
                  <a:spcPts val="0"/>
                </a:spcAft>
                <a:buClrTx/>
                <a:buSzTx/>
                <a:buFontTx/>
                <a:buNone/>
                <a:tabLst/>
                <a:defRPr/>
              </a:pPr>
              <a:t>36</a:t>
            </a:fld>
            <a:endParaRPr kumimoji="0" lang="en-US" sz="1200" b="0" i="0" u="none" strike="noStrike" kern="1200" cap="none" spc="0" normalizeH="0" baseline="0" noProof="0">
              <a:ln>
                <a:noFill/>
              </a:ln>
              <a:solidFill>
                <a:prstClr val="black">
                  <a:tint val="75000"/>
                </a:prstClr>
              </a:solidFill>
              <a:effectLst/>
              <a:uLnTx/>
              <a:uFillTx/>
              <a:latin typeface="Calibri" panose="020F0502020204030204"/>
              <a:ea typeface="+mn-ea"/>
              <a:cs typeface="+mn-cs"/>
              <a:sym typeface="Helvetica Neue"/>
            </a:endParaRPr>
          </a:p>
        </p:txBody>
      </p:sp>
      <p:sp>
        <p:nvSpPr>
          <p:cNvPr id="7" name="TextBox 6">
            <a:extLst>
              <a:ext uri="{FF2B5EF4-FFF2-40B4-BE49-F238E27FC236}">
                <a16:creationId xmlns:a16="http://schemas.microsoft.com/office/drawing/2014/main" id="{CD50A8E0-85BE-235E-B3A1-9815DAFEE290}"/>
              </a:ext>
            </a:extLst>
          </p:cNvPr>
          <p:cNvSpPr txBox="1"/>
          <p:nvPr/>
        </p:nvSpPr>
        <p:spPr>
          <a:xfrm>
            <a:off x="668594" y="1513783"/>
            <a:ext cx="7942006" cy="5078313"/>
          </a:xfrm>
          <a:prstGeom prst="rect">
            <a:avLst/>
          </a:prstGeom>
          <a:noFill/>
          <a:ln w="12700" cap="flat" cmpd="sng" algn="ctr">
            <a:noFill/>
            <a:prstDash val="solid"/>
            <a:miter lim="800000"/>
          </a:ln>
          <a:effectLst/>
        </p:spPr>
        <p:style>
          <a:lnRef idx="2">
            <a:schemeClr val="accent1">
              <a:shade val="50000"/>
            </a:schemeClr>
          </a:lnRef>
          <a:fillRef idx="1">
            <a:schemeClr val="accent1"/>
          </a:fillRef>
          <a:effectRef idx="0">
            <a:schemeClr val="accent1"/>
          </a:effectRef>
          <a:fontRef idx="minor">
            <a:schemeClr val="lt1"/>
          </a:fontRef>
        </p:style>
        <p:txBody>
          <a:bodyPr wrap="square">
            <a:sp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import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from</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A31515"/>
                </a:solidFill>
                <a:effectLst/>
                <a:uLnTx/>
                <a:uFillTx/>
                <a:latin typeface="Consolas" panose="020B0609020204030204" pitchFamily="49" charset="0"/>
                <a:ea typeface="+mn-ea"/>
                <a:cs typeface="+mn-cs"/>
                <a:sym typeface="Helvetica Neue"/>
              </a:rPr>
              <a:t>fakeRequest.ts</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const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string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b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b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endPar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async</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function</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n</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267F99"/>
                </a:solidFill>
                <a:effectLst/>
                <a:uLnTx/>
                <a:uFillTx/>
                <a:latin typeface="Consolas" panose="020B0609020204030204" pitchFamily="49" charset="0"/>
                <a:ea typeface="+mn-ea"/>
                <a:cs typeface="+mn-cs"/>
                <a:sym typeface="Helvetica Neue"/>
              </a:rPr>
              <a:t>number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myFetch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for</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FF"/>
                </a:solidFill>
                <a:effectLst/>
                <a:uLnTx/>
                <a:uFillTx/>
                <a:latin typeface="Consolas" panose="020B0609020204030204" pitchFamily="49" charset="0"/>
                <a:ea typeface="+mn-ea"/>
                <a:cs typeface="+mn-cs"/>
                <a:sym typeface="Helvetica Neue"/>
              </a:rPr>
              <a:t>let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&lt;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4</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1080"/>
                </a:solidFill>
                <a:effectLst/>
                <a:uLnTx/>
                <a:uFillTx/>
                <a:latin typeface="Consolas" panose="020B0609020204030204" pitchFamily="49" charset="0"/>
                <a:ea typeface="+mn-ea"/>
                <a:cs typeface="+mn-cs"/>
                <a:sym typeface="Helvetica Neue"/>
              </a:rPr>
              <a:t>i</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00000"/>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push</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A31515"/>
                </a:solidFill>
                <a:effectLst/>
                <a:uLnTx/>
                <a:uFillTx/>
                <a:latin typeface="Consolas" panose="020B0609020204030204" pitchFamily="49" charset="0"/>
                <a:ea typeface="+mn-ea"/>
                <a:cs typeface="+mn-cs"/>
                <a:sym typeface="Helvetica Neue"/>
              </a:rPr>
              <a:t>'start'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AF00DB"/>
                </a:solidFill>
                <a:effectLst/>
                <a:uLnTx/>
                <a:uFillTx/>
                <a:latin typeface="Consolas" panose="020B0609020204030204" pitchFamily="49" charset="0"/>
                <a:ea typeface="+mn-ea"/>
                <a:cs typeface="+mn-cs"/>
                <a:sym typeface="Helvetica Neue"/>
              </a:rPr>
              <a:t>await</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err="1">
                <a:ln>
                  <a:noFill/>
                </a:ln>
                <a:solidFill>
                  <a:srgbClr val="267F99"/>
                </a:solidFill>
                <a:effectLst/>
                <a:uLnTx/>
                <a:uFillTx/>
                <a:latin typeface="Consolas" panose="020B0609020204030204" pitchFamily="49" charset="0"/>
                <a:ea typeface="+mn-ea"/>
                <a:cs typeface="+mn-cs"/>
                <a:sym typeface="Helvetica Neue"/>
              </a:rPr>
              <a:t>Promise</a:t>
            </a:r>
            <a:r>
              <a:rPr kumimoji="0" lang="en-US" sz="1800" b="0" i="0" u="none" strike="noStrike" kern="0" cap="none" spc="0" normalizeH="0" baseline="0" noProof="0" dirty="0" err="1">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err="1">
                <a:ln>
                  <a:noFill/>
                </a:ln>
                <a:solidFill>
                  <a:srgbClr val="795E26"/>
                </a:solidFill>
                <a:effectLst/>
                <a:uLnTx/>
                <a:uFillTx/>
                <a:latin typeface="Consolas" panose="020B0609020204030204" pitchFamily="49" charset="0"/>
                <a:ea typeface="+mn-ea"/>
                <a:cs typeface="+mn-cs"/>
                <a:sym typeface="Helvetica Neue"/>
              </a:rPr>
              <a:t>all</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X</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10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 </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Y</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98658"/>
                </a:solidFill>
                <a:effectLst/>
                <a:uLnTx/>
                <a:uFillTx/>
                <a:latin typeface="Consolas" panose="020B0609020204030204" pitchFamily="49" charset="0"/>
                <a:ea typeface="+mn-ea"/>
                <a:cs typeface="+mn-cs"/>
                <a:sym typeface="Helvetica Neue"/>
              </a:rPr>
              <a:t>20</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1800" b="0" i="0" u="none" strike="noStrike" kern="0" cap="none" spc="0" normalizeH="0" baseline="0" noProof="0" dirty="0">
                <a:ln>
                  <a:noFill/>
                </a:ln>
                <a:solidFill>
                  <a:srgbClr val="001080"/>
                </a:solidFill>
                <a:effectLst/>
                <a:uLnTx/>
                <a:uFillTx/>
                <a:latin typeface="Consolas" panose="020B0609020204030204" pitchFamily="49" charset="0"/>
                <a:ea typeface="+mn-ea"/>
                <a:cs typeface="+mn-cs"/>
                <a:sym typeface="Helvetica Neue"/>
              </a:rPr>
              <a:t>console</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795E26"/>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r>
              <a:rPr kumimoji="0" lang="en-US" sz="1800" b="0" i="0" u="none" strike="noStrike" kern="0" cap="none" spc="0" normalizeH="0" baseline="0" noProof="0" dirty="0">
                <a:ln>
                  <a:noFill/>
                </a:ln>
                <a:solidFill>
                  <a:srgbClr val="0070C1"/>
                </a:solidFill>
                <a:effectLst/>
                <a:uLnTx/>
                <a:uFillTx/>
                <a:latin typeface="Consolas" panose="020B0609020204030204" pitchFamily="49" charset="0"/>
                <a:ea typeface="+mn-ea"/>
                <a:cs typeface="+mn-cs"/>
                <a:sym typeface="Helvetica Neue"/>
              </a:rPr>
              <a:t>log</a:t>
            </a:r>
            <a:r>
              <a:rPr kumimoji="0" lang="en-US" sz="1800" b="0" i="0" u="none" strike="noStrike" kern="0" cap="none" spc="0" normalizeH="0" baseline="0" noProof="0" dirty="0">
                <a:ln>
                  <a:noFill/>
                </a:ln>
                <a:solidFill>
                  <a:srgbClr val="3B3B3B"/>
                </a:solidFill>
                <a:effectLst/>
                <a:uLnTx/>
                <a:uFillTx/>
                <a:latin typeface="Consolas" panose="020B0609020204030204" pitchFamily="49" charset="0"/>
                <a:ea typeface="+mn-ea"/>
                <a:cs typeface="+mn-cs"/>
                <a:sym typeface="Helvetica Neue"/>
              </a:rPr>
              <a:t>);</a:t>
            </a:r>
          </a:p>
        </p:txBody>
      </p:sp>
      <p:sp>
        <p:nvSpPr>
          <p:cNvPr id="4" name="Rectangle: Rounded Corners 3">
            <a:extLst>
              <a:ext uri="{FF2B5EF4-FFF2-40B4-BE49-F238E27FC236}">
                <a16:creationId xmlns:a16="http://schemas.microsoft.com/office/drawing/2014/main" id="{90893A03-77C1-8E5D-C309-E1363AFDE22D}"/>
              </a:ext>
            </a:extLst>
          </p:cNvPr>
          <p:cNvSpPr/>
          <p:nvPr/>
        </p:nvSpPr>
        <p:spPr>
          <a:xfrm>
            <a:off x="7514036" y="135057"/>
            <a:ext cx="4572000" cy="588626"/>
          </a:xfrm>
          <a:prstGeom prst="roundRect">
            <a:avLst/>
          </a:prstGeom>
          <a:solidFill>
            <a:schemeClr val="accent6">
              <a:lumMod val="20000"/>
              <a:lumOff val="80000"/>
            </a:schemeClr>
          </a:solidFill>
          <a:ln>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1219169" rtl="0" eaLnBrk="1" fontAlgn="auto" latinLnBrk="0" hangingPunct="0">
              <a:lnSpc>
                <a:spcPct val="100000"/>
              </a:lnSpc>
              <a:spcBef>
                <a:spcPts val="0"/>
              </a:spcBef>
              <a:spcAft>
                <a:spcPts val="0"/>
              </a:spcAft>
              <a:buClrTx/>
              <a:buSzTx/>
              <a:buFontTx/>
              <a:buNone/>
              <a:tabLst/>
              <a:defRPr/>
            </a:pP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src</a:t>
            </a:r>
            <a:r>
              <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rPr>
              <a:t>/Slides/</a:t>
            </a:r>
            <a:r>
              <a:rPr kumimoji="0" lang="en-US" sz="2400" b="0" i="0" u="none" strike="noStrike" kern="0" cap="none" spc="0" normalizeH="0" baseline="0" noProof="0" dirty="0" err="1">
                <a:ln>
                  <a:noFill/>
                </a:ln>
                <a:solidFill>
                  <a:prstClr val="black"/>
                </a:solidFill>
                <a:effectLst/>
                <a:uLnTx/>
                <a:uFillTx/>
                <a:latin typeface="Calibri" panose="020F0502020204030204"/>
                <a:ea typeface="+mn-ea"/>
                <a:cs typeface="+mn-cs"/>
                <a:sym typeface="Helvetica Neue"/>
              </a:rPr>
              <a:t>dataRace.ts</a:t>
            </a:r>
            <a:endParaRPr kumimoji="0" lang="en-US" sz="2400" b="0" i="0" u="none" strike="noStrike" kern="0" cap="none" spc="0" normalizeH="0" baseline="0" noProof="0" dirty="0">
              <a:ln>
                <a:noFill/>
              </a:ln>
              <a:solidFill>
                <a:prstClr val="black"/>
              </a:solidFill>
              <a:effectLst/>
              <a:uLnTx/>
              <a:uFillTx/>
              <a:latin typeface="Calibri" panose="020F0502020204030204"/>
              <a:ea typeface="+mn-ea"/>
              <a:cs typeface="+mn-cs"/>
              <a:sym typeface="Helvetica Neue"/>
            </a:endParaRPr>
          </a:p>
        </p:txBody>
      </p:sp>
      <p:sp>
        <p:nvSpPr>
          <p:cNvPr id="8" name="TextBox 7">
            <a:extLst>
              <a:ext uri="{FF2B5EF4-FFF2-40B4-BE49-F238E27FC236}">
                <a16:creationId xmlns:a16="http://schemas.microsoft.com/office/drawing/2014/main" id="{D7C3C704-F2A9-0804-4243-8724B00C475C}"/>
              </a:ext>
            </a:extLst>
          </p:cNvPr>
          <p:cNvSpPr txBox="1"/>
          <p:nvPr/>
        </p:nvSpPr>
        <p:spPr>
          <a:xfrm>
            <a:off x="7293935" y="1782311"/>
            <a:ext cx="3572539" cy="3572539"/>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t" anchorCtr="0" forceAA="0" compatLnSpc="1">
            <a:prstTxWarp prst="textNoShape">
              <a:avLst/>
            </a:prstTxWarp>
            <a:noAutofit/>
          </a:bodyPr>
          <a:lstStyle/>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node </a:t>
            </a:r>
            <a:r>
              <a:rPr kumimoji="0" lang="en-US" sz="2000" b="0" i="0" u="none" strike="noStrike" kern="0" cap="none" spc="0" normalizeH="0" baseline="0" noProof="0" dirty="0" err="1">
                <a:ln>
                  <a:noFill/>
                </a:ln>
                <a:solidFill>
                  <a:prstClr val="black"/>
                </a:solidFill>
                <a:effectLst/>
                <a:uLnTx/>
                <a:uFillTx/>
                <a:latin typeface="Verdana" panose="020B0604030504040204" pitchFamily="34" charset="0"/>
                <a:ea typeface="Verdana" panose="020B0604030504040204" pitchFamily="34" charset="0"/>
                <a:cs typeface="+mn-cs"/>
                <a:sym typeface="Helvetica Neue"/>
              </a:rPr>
              <a:t>dataRace.ts</a:t>
            </a:r>
            <a:endPar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endParaRP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1</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Promise created for 2</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'X', 'Y',</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  'start', 'Y', 'X'</a:t>
            </a:r>
          </a:p>
          <a:p>
            <a:pPr marL="0" marR="0" lvl="0" indent="0" algn="l" defTabSz="1219169" rtl="0" eaLnBrk="1" fontAlgn="auto" latinLnBrk="0" hangingPunct="0">
              <a:lnSpc>
                <a:spcPct val="100000"/>
              </a:lnSpc>
              <a:spcBef>
                <a:spcPts val="0"/>
              </a:spcBef>
              <a:spcAft>
                <a:spcPts val="0"/>
              </a:spcAft>
              <a:buClrTx/>
              <a:buSzTx/>
              <a:buFontTx/>
              <a:buNone/>
              <a:tabLst/>
              <a:defRPr/>
            </a:pPr>
            <a:r>
              <a:rPr kumimoji="0" lang="en-US" sz="2000" b="0" i="0" u="none" strike="noStrike" kern="0" cap="none" spc="0" normalizeH="0" baseline="0" noProof="0" dirty="0">
                <a:ln>
                  <a:noFill/>
                </a:ln>
                <a:solidFill>
                  <a:prstClr val="black"/>
                </a:solidFill>
                <a:effectLst/>
                <a:uLnTx/>
                <a:uFillTx/>
                <a:latin typeface="Verdana" panose="020B0604030504040204" pitchFamily="34" charset="0"/>
                <a:ea typeface="Verdana" panose="020B0604030504040204" pitchFamily="34" charset="0"/>
                <a:cs typeface="+mn-cs"/>
                <a:sym typeface="Helvetica Neue"/>
              </a:rPr>
              <a:t>]</a:t>
            </a:r>
          </a:p>
        </p:txBody>
      </p:sp>
    </p:spTree>
    <p:extLst>
      <p:ext uri="{BB962C8B-B14F-4D97-AF65-F5344CB8AC3E}">
        <p14:creationId xmlns:p14="http://schemas.microsoft.com/office/powerpoint/2010/main" val="2192128478"/>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43D407-5B53-49A7-9907-E801EA7FFD8E}"/>
              </a:ext>
            </a:extLst>
          </p:cNvPr>
          <p:cNvSpPr>
            <a:spLocks noGrp="1"/>
          </p:cNvSpPr>
          <p:nvPr>
            <p:ph type="title"/>
          </p:nvPr>
        </p:nvSpPr>
        <p:spPr/>
        <p:txBody>
          <a:bodyPr/>
          <a:lstStyle/>
          <a:p>
            <a:r>
              <a:rPr lang="en-US" dirty="0"/>
              <a:t>Review</a:t>
            </a:r>
          </a:p>
        </p:txBody>
      </p:sp>
      <p:sp>
        <p:nvSpPr>
          <p:cNvPr id="3" name="Content Placeholder 2">
            <a:extLst>
              <a:ext uri="{FF2B5EF4-FFF2-40B4-BE49-F238E27FC236}">
                <a16:creationId xmlns:a16="http://schemas.microsoft.com/office/drawing/2014/main" id="{AC300E2B-BFD0-4090-AFC5-FE82683F997F}"/>
              </a:ext>
            </a:extLst>
          </p:cNvPr>
          <p:cNvSpPr>
            <a:spLocks noGrp="1"/>
          </p:cNvSpPr>
          <p:nvPr>
            <p:ph idx="1"/>
          </p:nvPr>
        </p:nvSpPr>
        <p:spPr>
          <a:xfrm>
            <a:off x="838199" y="1500160"/>
            <a:ext cx="8434137" cy="4351338"/>
          </a:xfrm>
        </p:spPr>
        <p:txBody>
          <a:bodyPr>
            <a:normAutofit/>
          </a:bodyPr>
          <a:lstStyle/>
          <a:p>
            <a:r>
              <a:rPr lang="en-US" dirty="0"/>
              <a:t>You should now be prepared to:</a:t>
            </a:r>
          </a:p>
          <a:p>
            <a:pPr lvl="1"/>
            <a:r>
              <a:rPr lang="en-US" dirty="0"/>
              <a:t>Explain the difference between JS run-to-completion semantics and interrupt-based semantics.</a:t>
            </a:r>
          </a:p>
          <a:p>
            <a:pPr lvl="1"/>
            <a:r>
              <a:rPr lang="en-US" dirty="0"/>
              <a:t>Given a simple program using async/await, work out the possible orders in which the statements in the program will run.</a:t>
            </a:r>
          </a:p>
          <a:p>
            <a:pPr lvl="1"/>
            <a:r>
              <a:rPr lang="en-US" dirty="0"/>
              <a:t>Write simple programs that create and manage promises using async/await</a:t>
            </a:r>
          </a:p>
          <a:p>
            <a:pPr lvl="1"/>
            <a:r>
              <a:rPr lang="en-US" dirty="0"/>
              <a:t>Write simple programs to mask latency with concurrency by using non-blocking IO and </a:t>
            </a:r>
            <a:r>
              <a:rPr lang="en-US" dirty="0" err="1"/>
              <a:t>Promise.all</a:t>
            </a:r>
            <a:r>
              <a:rPr lang="en-US" dirty="0"/>
              <a:t> in TypeScript.</a:t>
            </a:r>
          </a:p>
        </p:txBody>
      </p:sp>
      <p:sp>
        <p:nvSpPr>
          <p:cNvPr id="4" name="Slide Number Placeholder 3">
            <a:extLst>
              <a:ext uri="{FF2B5EF4-FFF2-40B4-BE49-F238E27FC236}">
                <a16:creationId xmlns:a16="http://schemas.microsoft.com/office/drawing/2014/main" id="{B7BF3F82-6F96-41E0-9C15-23CE00076176}"/>
              </a:ext>
            </a:extLst>
          </p:cNvPr>
          <p:cNvSpPr>
            <a:spLocks noGrp="1"/>
          </p:cNvSpPr>
          <p:nvPr>
            <p:ph type="sldNum" sz="quarter" idx="12"/>
          </p:nvPr>
        </p:nvSpPr>
        <p:spPr/>
        <p:txBody>
          <a:bodyPr/>
          <a:lstStyle/>
          <a:p>
            <a:fld id="{20F37917-FD3A-4669-9018-DA04BCDD3D75}" type="slidenum">
              <a:rPr lang="en-US" smtClean="0"/>
              <a:t>37</a:t>
            </a:fld>
            <a:endParaRPr lang="en-US"/>
          </a:p>
        </p:txBody>
      </p:sp>
    </p:spTree>
    <p:extLst>
      <p:ext uri="{BB962C8B-B14F-4D97-AF65-F5344CB8AC3E}">
        <p14:creationId xmlns:p14="http://schemas.microsoft.com/office/powerpoint/2010/main" val="245741724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rgbClr val="FFFF00"/>
        </a:solidFill>
        <a:ln>
          <a:solidFill>
            <a:srgbClr val="0070C0"/>
          </a:solidFill>
        </a:ln>
      </a:spPr>
      <a:bodyPr rtlCol="0" anchor="ctr"/>
      <a:lstStyle>
        <a:defPPr algn="l">
          <a:defRPr sz="2800" dirty="0" err="1"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2700">
          <a:solidFill>
            <a:schemeClr val="tx1"/>
          </a:solidFill>
          <a:tailEnd type="arrow" w="lg" len="lg"/>
        </a:ln>
      </a:spPr>
      <a:bodyPr/>
      <a:lstStyle/>
      <a:style>
        <a:lnRef idx="1">
          <a:schemeClr val="accent1"/>
        </a:lnRef>
        <a:fillRef idx="0">
          <a:schemeClr val="accent1"/>
        </a:fillRef>
        <a:effectRef idx="0">
          <a:schemeClr val="accent1"/>
        </a:effectRef>
        <a:fontRef idx="minor">
          <a:schemeClr val="tx1"/>
        </a:fontRef>
      </a:style>
    </a:lnDef>
    <a:txDef>
      <a:spPr>
        <a:noFill/>
        <a:ln>
          <a:noFill/>
        </a:ln>
      </a:spPr>
      <a:bodyPr rot="0" spcFirstLastPara="0" vertOverflow="overflow" horzOverflow="overflow" vert="horz" wrap="none" lIns="91440" tIns="45720" rIns="91440" bIns="45720" numCol="1" spcCol="0" rtlCol="0" fromWordArt="0" anchor="ctr" anchorCtr="0" forceAA="0" compatLnSpc="1">
        <a:prstTxWarp prst="textNoShape">
          <a:avLst/>
        </a:prstTxWarp>
        <a:noAutofit/>
      </a:bodyPr>
      <a:lstStyle>
        <a:defPPr algn="l">
          <a:defRPr sz="2000" dirty="0" smtClean="0">
            <a:solidFill>
              <a:schemeClr val="tx1"/>
            </a:solidFill>
            <a:latin typeface="Verdana" panose="020B0604030504040204" pitchFamily="34" charset="0"/>
            <a:ea typeface="Verdana" panose="020B0604030504040204" pitchFamily="34" charset="0"/>
          </a:defRPr>
        </a:defPPr>
      </a:lstStyle>
      <a:style>
        <a:lnRef idx="2">
          <a:schemeClr val="accent1">
            <a:shade val="50000"/>
          </a:schemeClr>
        </a:lnRef>
        <a:fillRef idx="1">
          <a:schemeClr val="accent1"/>
        </a:fillRef>
        <a:effectRef idx="0">
          <a:schemeClr val="accent1"/>
        </a:effectRef>
        <a:fontRef idx="minor">
          <a:schemeClr val="lt1"/>
        </a:fontRef>
      </a: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1_BasicWhite">
  <a:themeElements>
    <a:clrScheme name="21_BasicWhite">
      <a:dk1>
        <a:srgbClr val="000000"/>
      </a:dk1>
      <a:lt1>
        <a:srgbClr val="FFFFFF"/>
      </a:lt1>
      <a:dk2>
        <a:srgbClr val="5E5E5E"/>
      </a:dk2>
      <a:lt2>
        <a:srgbClr val="D5D5D5"/>
      </a:lt2>
      <a:accent1>
        <a:srgbClr val="00A2FF"/>
      </a:accent1>
      <a:accent2>
        <a:srgbClr val="16E7CF"/>
      </a:accent2>
      <a:accent3>
        <a:srgbClr val="61D836"/>
      </a:accent3>
      <a:accent4>
        <a:srgbClr val="FFD932"/>
      </a:accent4>
      <a:accent5>
        <a:srgbClr val="FF644E"/>
      </a:accent5>
      <a:accent6>
        <a:srgbClr val="FF42A1"/>
      </a:accent6>
      <a:hlink>
        <a:srgbClr val="0000FF"/>
      </a:hlink>
      <a:folHlink>
        <a:srgbClr val="FF00FF"/>
      </a:folHlink>
    </a:clrScheme>
    <a:fontScheme name="21_BasicWhite">
      <a:majorFont>
        <a:latin typeface="Helvetica Neue"/>
        <a:ea typeface="Helvetica Neue"/>
        <a:cs typeface="Helvetica Neue"/>
      </a:majorFont>
      <a:minorFont>
        <a:latin typeface="Helvetica Neue"/>
        <a:ea typeface="Helvetica Neue"/>
        <a:cs typeface="Helvetica Neue"/>
      </a:minorFont>
    </a:fontScheme>
    <a:fmtScheme name="21_BasicWhi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29999"/>
              </a:schemeClr>
            </a:gs>
            <a:gs pos="100000">
              <a:schemeClr val="phClr">
                <a:tint val="50000"/>
                <a:shade val="100000"/>
                <a:satMod val="350000"/>
              </a:schemeClr>
            </a:gs>
          </a:gsLst>
          <a:lin ang="16200000" scaled="0"/>
        </a:gradFill>
      </a:fillStyleLst>
      <a:lnStyleLst>
        <a:ln w="9525" cap="flat" cmpd="sng" algn="ctr">
          <a:solidFill>
            <a:schemeClr val="phClr">
              <a:shade val="95000"/>
              <a:satMod val="104999"/>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effectStyle>
        <a:effectStyle>
          <a:effectLst/>
        </a:effectStyle>
        <a:effectStyle>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000000"/>
        </a:solid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825500" rtl="0" fontAlgn="auto" latinLnBrk="0" hangingPunct="0">
          <a:lnSpc>
            <a:spcPct val="100000"/>
          </a:lnSpc>
          <a:spcBef>
            <a:spcPts val="0"/>
          </a:spcBef>
          <a:spcAft>
            <a:spcPts val="0"/>
          </a:spcAft>
          <a:buClrTx/>
          <a:buSzTx/>
          <a:buFontTx/>
          <a:buNone/>
          <a:tabLst/>
          <a:defRPr kumimoji="0" sz="3200" b="0" i="0" u="none" strike="noStrike" cap="none" spc="0" normalizeH="0" baseline="0">
            <a:ln>
              <a:noFill/>
            </a:ln>
            <a:solidFill>
              <a:srgbClr val="FFFFFF"/>
            </a:solidFill>
            <a:effectLst/>
            <a:uFillTx/>
            <a:latin typeface="Helvetica Neue Medium"/>
            <a:ea typeface="Helvetica Neue Medium"/>
            <a:cs typeface="Helvetica Neue Medium"/>
            <a:sym typeface="Helvetica Neue Medium"/>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spDef>
    <a:lnDef>
      <a:spPr>
        <a:noFill/>
        <a:ln w="25400" cap="flat">
          <a:solidFill>
            <a:srgbClr val="000000"/>
          </a:solidFill>
          <a:prstDash val="solid"/>
          <a:miter lim="400000"/>
        </a:ln>
        <a:effectLst/>
        <a:sp3d/>
      </a:spPr>
      <a:bodyPr rot="0" spcFirstLastPara="1" vertOverflow="overflow" horzOverflow="overflow" vert="horz" wrap="square" lIns="91439" tIns="45719" rIns="91439" bIns="45719" numCol="1" spcCol="38100" rtlCol="0" anchor="t">
        <a:noAutofit/>
      </a:bodyPr>
      <a:lstStyle>
        <a:def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lnDef>
    <a:txDef>
      <a:spPr>
        <a:noFill/>
        <a:ln w="12700" cap="flat">
          <a:noFill/>
          <a:miter lim="400000"/>
        </a:ln>
        <a:effectLst/>
        <a:sp3d/>
      </a:spPr>
      <a:bodyPr rot="0" spcFirstLastPara="1" vertOverflow="overflow" horzOverflow="overflow" vert="horz" wrap="square" lIns="50800" tIns="50800" rIns="50800" bIns="50800" numCol="1" spcCol="38100" rtlCol="0" anchor="ctr">
        <a:spAutoFit/>
      </a:bodyPr>
      <a:lstStyle>
        <a:defPPr marL="0" marR="0" indent="0" algn="ctr" defTabSz="2438338" rtl="0" fontAlgn="auto" latinLnBrk="0" hangingPunct="0">
          <a:lnSpc>
            <a:spcPct val="100000"/>
          </a:lnSpc>
          <a:spcBef>
            <a:spcPts val="0"/>
          </a:spcBef>
          <a:spcAft>
            <a:spcPts val="0"/>
          </a:spcAft>
          <a:buClrTx/>
          <a:buSzTx/>
          <a:buFontTx/>
          <a:buNone/>
          <a:tabLst/>
          <a:defRPr kumimoji="0" sz="2400" b="0" i="0" u="none" strike="noStrike" cap="none" spc="0" normalizeH="0" baseline="0">
            <a:ln>
              <a:noFill/>
            </a:ln>
            <a:solidFill>
              <a:srgbClr val="5E5E5E"/>
            </a:solidFill>
            <a:effectLst/>
            <a:uFillTx/>
            <a:latin typeface="+mn-lt"/>
            <a:ea typeface="+mn-ea"/>
            <a:cs typeface="+mn-cs"/>
            <a:sym typeface="Helvetica Neue"/>
          </a:defRPr>
        </a:defPPr>
        <a:lvl1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1pPr>
        <a:lvl2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2pPr>
        <a:lvl3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3pPr>
        <a:lvl4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4pPr>
        <a:lvl5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5pPr>
        <a:lvl6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6pPr>
        <a:lvl7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7pPr>
        <a:lvl8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8pPr>
        <a:lvl9pPr marL="0" marR="0" indent="0" algn="l" defTabSz="914400" rtl="0" fontAlgn="auto" latinLnBrk="1" hangingPunct="0">
          <a:lnSpc>
            <a:spcPct val="100000"/>
          </a:lnSpc>
          <a:spcBef>
            <a:spcPts val="0"/>
          </a:spcBef>
          <a:spcAft>
            <a:spcPts val="0"/>
          </a:spcAft>
          <a:buClrTx/>
          <a:buSzTx/>
          <a:buFontTx/>
          <a:buNone/>
          <a:tabLst/>
          <a:defRPr kumimoji="0" sz="1800" b="0" i="0" u="none" strike="noStrike" cap="none" spc="0" normalizeH="0" baseline="0">
            <a:ln>
              <a:noFill/>
            </a:ln>
            <a:solidFill>
              <a:srgbClr val="000000"/>
            </a:solidFill>
            <a:effectLst/>
            <a:uFillTx/>
          </a:defRPr>
        </a:lvl9pPr>
      </a:lstStyle>
      <a:style>
        <a:lnRef idx="0">
          <a:scrgbClr r="0" g="0" b="0"/>
        </a:lnRef>
        <a:fillRef idx="0">
          <a:scrgbClr r="0" g="0" b="0"/>
        </a:fillRef>
        <a:effectRef idx="0">
          <a:scrgbClr r="0" g="0" b="0"/>
        </a:effectRef>
        <a:fontRef idx="none"/>
      </a:style>
    </a:txDef>
  </a:objectDefaults>
  <a:extraClrSchemeLst/>
</a:theme>
</file>

<file path=docMetadata/LabelInfo.xml><?xml version="1.0" encoding="utf-8"?>
<clbl:labelList xmlns:clbl="http://schemas.microsoft.com/office/2020/mipLabelMetadata">
  <clbl:label id="{7893ce20-a697-4fd6-a4da-14011f6a471d}" enabled="1" method="Standard" siteId="{a8eec281-aaa3-4dae-ac9b-9a398b9215e7}" contentBits="0" removed="0"/>
</clbl:labelList>
</file>

<file path=docProps/app.xml><?xml version="1.0" encoding="utf-8"?>
<Properties xmlns="http://schemas.openxmlformats.org/officeDocument/2006/extended-properties" xmlns:vt="http://schemas.openxmlformats.org/officeDocument/2006/docPropsVTypes">
  <Template/>
  <TotalTime>33886</TotalTime>
  <Words>5599</Words>
  <Application>Microsoft Office PowerPoint</Application>
  <PresentationFormat>Widescreen</PresentationFormat>
  <Paragraphs>583</Paragraphs>
  <Slides>37</Slides>
  <Notes>32</Notes>
  <HiddenSlides>2</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37</vt:i4>
      </vt:variant>
    </vt:vector>
  </HeadingPairs>
  <TitlesOfParts>
    <vt:vector size="45" baseType="lpstr">
      <vt:lpstr>Arial</vt:lpstr>
      <vt:lpstr>Calibri</vt:lpstr>
      <vt:lpstr>Consolas</vt:lpstr>
      <vt:lpstr>Courier</vt:lpstr>
      <vt:lpstr>Helvetica Neue</vt:lpstr>
      <vt:lpstr>Verdana</vt:lpstr>
      <vt:lpstr>Wingdings</vt:lpstr>
      <vt:lpstr>Office Theme</vt:lpstr>
      <vt:lpstr>CS 4530: Fundamentals of Software Engineering  Module 08: Concurrency Patterns in Typescript</vt:lpstr>
      <vt:lpstr>Learning Goals for this Lesson</vt:lpstr>
      <vt:lpstr>Why async matters</vt:lpstr>
      <vt:lpstr>Typescript/Javascript achieves this goal using two techniques:   1. non-blocking IO   2. cooperative multiprocessing </vt:lpstr>
      <vt:lpstr>Part 1: JS/TS in your browser has some primitives for doing non-blocking I/O</vt:lpstr>
      <vt:lpstr>Part 2: Javascript/Typescript uses cooperative multiprocessing</vt:lpstr>
      <vt:lpstr>async/await is a programming model for cooperative multiprocessing</vt:lpstr>
      <vt:lpstr>Quick Review of Promises (from M04)</vt:lpstr>
      <vt:lpstr>A promise can be in one of exactly 3 states</vt:lpstr>
      <vt:lpstr>Async functions return Promises</vt:lpstr>
      <vt:lpstr>This function returns a promise that will resolve with m.</vt:lpstr>
      <vt:lpstr>Run to Completion is a central concept</vt:lpstr>
      <vt:lpstr>This function can only be paused in certain places</vt:lpstr>
      <vt:lpstr>What happens at those pause points?</vt:lpstr>
      <vt:lpstr>What happens when you await?</vt:lpstr>
      <vt:lpstr>Promises come in two flavors: microtasks and macrotasks</vt:lpstr>
      <vt:lpstr>Macrotasks are API calls; Microtasks are what you do after the API call returns</vt:lpstr>
      <vt:lpstr>How does JS Event Loop make this happen?</vt:lpstr>
      <vt:lpstr>By contrast, most OS's use pre-emptive multiprocessing</vt:lpstr>
      <vt:lpstr>Java vs. JS/TS</vt:lpstr>
      <vt:lpstr>A simple request</vt:lpstr>
      <vt:lpstr>Pattern for starting a concurrent computation using non-blocking I/O</vt:lpstr>
      <vt:lpstr>Three Requests, sequentially</vt:lpstr>
      <vt:lpstr>Use Promise.all to execute several requests concurrently</vt:lpstr>
      <vt:lpstr>Use Promise.all to execute several requests concurrently</vt:lpstr>
      <vt:lpstr>Why is that?  Visualizing Promise.all</vt:lpstr>
      <vt:lpstr>Running 3 concurrent fetch requests (start)</vt:lpstr>
      <vt:lpstr>Running 3 concurrent fetch requests (end)</vt:lpstr>
      <vt:lpstr>Promises have priority (Micro over Macro)</vt:lpstr>
      <vt:lpstr>Recover from errors with try/catch</vt:lpstr>
      <vt:lpstr>try/catch, continued</vt:lpstr>
      <vt:lpstr>Pattern for testing an async function</vt:lpstr>
      <vt:lpstr>Other things you should know about async</vt:lpstr>
      <vt:lpstr>Async/await code is compiled into promise/then code. Using await is preferred</vt:lpstr>
      <vt:lpstr>Promises Enforce Ordering Through “Then”</vt:lpstr>
      <vt:lpstr>async doesn't eliminate data races</vt:lpstr>
      <vt:lpstr>Review</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CS 4350: Fundamentals of Software Engineering Lesson 4.1: Concurrent Programming Models</dc:title>
  <dc:creator>Mitchell Wand</dc:creator>
  <cp:lastModifiedBy>Mitchell Wand</cp:lastModifiedBy>
  <cp:revision>145</cp:revision>
  <dcterms:modified xsi:type="dcterms:W3CDTF">2026-08-13T01:41:03Z</dcterms:modified>
</cp:coreProperties>
</file>