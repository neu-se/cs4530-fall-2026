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42"/>
  </p:notesMasterIdLst>
  <p:sldIdLst>
    <p:sldId id="485" r:id="rId2"/>
    <p:sldId id="580" r:id="rId3"/>
    <p:sldId id="688" r:id="rId4"/>
    <p:sldId id="582" r:id="rId5"/>
    <p:sldId id="780" r:id="rId6"/>
    <p:sldId id="514" r:id="rId7"/>
    <p:sldId id="667" r:id="rId8"/>
    <p:sldId id="779" r:id="rId9"/>
    <p:sldId id="699" r:id="rId10"/>
    <p:sldId id="668" r:id="rId11"/>
    <p:sldId id="782" r:id="rId12"/>
    <p:sldId id="698" r:id="rId13"/>
    <p:sldId id="670" r:id="rId14"/>
    <p:sldId id="669" r:id="rId15"/>
    <p:sldId id="672" r:id="rId16"/>
    <p:sldId id="697" r:id="rId17"/>
    <p:sldId id="691" r:id="rId18"/>
    <p:sldId id="787" r:id="rId19"/>
    <p:sldId id="564" r:id="rId20"/>
    <p:sldId id="687" r:id="rId21"/>
    <p:sldId id="690" r:id="rId22"/>
    <p:sldId id="784" r:id="rId23"/>
    <p:sldId id="262" r:id="rId24"/>
    <p:sldId id="579" r:id="rId25"/>
    <p:sldId id="679" r:id="rId26"/>
    <p:sldId id="700" r:id="rId27"/>
    <p:sldId id="781" r:id="rId28"/>
    <p:sldId id="680" r:id="rId29"/>
    <p:sldId id="662" r:id="rId30"/>
    <p:sldId id="695" r:id="rId31"/>
    <p:sldId id="681" r:id="rId32"/>
    <p:sldId id="682" r:id="rId33"/>
    <p:sldId id="689" r:id="rId34"/>
    <p:sldId id="544" r:id="rId35"/>
    <p:sldId id="673" r:id="rId36"/>
    <p:sldId id="499" r:id="rId37"/>
    <p:sldId id="546" r:id="rId38"/>
    <p:sldId id="277" r:id="rId39"/>
    <p:sldId id="664" r:id="rId40"/>
    <p:sldId id="604" r:id="rId41"/>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688"/>
            <p14:sldId id="582"/>
            <p14:sldId id="780"/>
            <p14:sldId id="514"/>
            <p14:sldId id="667"/>
            <p14:sldId id="779"/>
            <p14:sldId id="699"/>
            <p14:sldId id="668"/>
            <p14:sldId id="782"/>
            <p14:sldId id="698"/>
            <p14:sldId id="670"/>
            <p14:sldId id="669"/>
            <p14:sldId id="672"/>
            <p14:sldId id="697"/>
            <p14:sldId id="691"/>
            <p14:sldId id="787"/>
            <p14:sldId id="564"/>
            <p14:sldId id="687"/>
            <p14:sldId id="690"/>
            <p14:sldId id="784"/>
            <p14:sldId id="262"/>
            <p14:sldId id="579"/>
            <p14:sldId id="679"/>
            <p14:sldId id="700"/>
            <p14:sldId id="781"/>
            <p14:sldId id="680"/>
            <p14:sldId id="662"/>
            <p14:sldId id="695"/>
            <p14:sldId id="681"/>
            <p14:sldId id="682"/>
            <p14:sldId id="689"/>
            <p14:sldId id="544"/>
            <p14:sldId id="673"/>
            <p14:sldId id="499"/>
            <p14:sldId id="546"/>
            <p14:sldId id="277"/>
            <p14:sldId id="664"/>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6DDEC03-6889-4853-94DE-DFA20764CB2B}" v="8" dt="2026-09-28T19:42:09.359"/>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431" autoAdjust="0"/>
    <p:restoredTop sz="85733" autoAdjust="0"/>
  </p:normalViewPr>
  <p:slideViewPr>
    <p:cSldViewPr snapToGrid="0" snapToObjects="1">
      <p:cViewPr varScale="1">
        <p:scale>
          <a:sx n="74" d="100"/>
          <a:sy n="74" d="100"/>
        </p:scale>
        <p:origin x="384" y="66"/>
      </p:cViewPr>
      <p:guideLst/>
    </p:cSldViewPr>
  </p:slideViewPr>
  <p:outlineViewPr>
    <p:cViewPr>
      <p:scale>
        <a:sx n="33" d="100"/>
        <a:sy n="33" d="100"/>
      </p:scale>
      <p:origin x="0" y="-9996"/>
    </p:cViewPr>
  </p:outlineViewPr>
  <p:notesTextViewPr>
    <p:cViewPr>
      <p:scale>
        <a:sx n="3" d="2"/>
        <a:sy n="3" d="2"/>
      </p:scale>
      <p:origin x="0" y="0"/>
    </p:cViewPr>
  </p:notesTextViewPr>
  <p:sorterViewPr>
    <p:cViewPr varScale="1">
      <p:scale>
        <a:sx n="1" d="1"/>
        <a:sy n="1" d="1"/>
      </p:scale>
      <p:origin x="0" y="-1233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48"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7A9D5940-B2CC-47DD-AF5E-71219F1A1E26}"/>
    <pc:docChg chg="undo redo custSel delSld modSld modSection">
      <pc:chgData name="Mitchell Wand" userId="de9b44c55c049659" providerId="LiveId" clId="{7A9D5940-B2CC-47DD-AF5E-71219F1A1E26}" dt="2026-09-28T19:55:16.999" v="1148" actId="20577"/>
      <pc:docMkLst>
        <pc:docMk/>
      </pc:docMkLst>
      <pc:sldChg chg="modSp mod">
        <pc:chgData name="Mitchell Wand" userId="de9b44c55c049659" providerId="LiveId" clId="{7A9D5940-B2CC-47DD-AF5E-71219F1A1E26}" dt="2026-09-28T19:42:42.546" v="1087" actId="113"/>
        <pc:sldMkLst>
          <pc:docMk/>
          <pc:sldMk cId="0" sldId="277"/>
        </pc:sldMkLst>
        <pc:spChg chg="mod">
          <ac:chgData name="Mitchell Wand" userId="de9b44c55c049659" providerId="LiveId" clId="{7A9D5940-B2CC-47DD-AF5E-71219F1A1E26}" dt="2026-09-28T19:41:59.547" v="1070" actId="6549"/>
          <ac:spMkLst>
            <pc:docMk/>
            <pc:sldMk cId="0" sldId="277"/>
            <ac:spMk id="515" creationId="{00000000-0000-0000-0000-000000000000}"/>
          </ac:spMkLst>
        </pc:spChg>
        <pc:spChg chg="mod">
          <ac:chgData name="Mitchell Wand" userId="de9b44c55c049659" providerId="LiveId" clId="{7A9D5940-B2CC-47DD-AF5E-71219F1A1E26}" dt="2026-09-28T19:42:42.546" v="1087" actId="113"/>
          <ac:spMkLst>
            <pc:docMk/>
            <pc:sldMk cId="0" sldId="277"/>
            <ac:spMk id="517" creationId="{00000000-0000-0000-0000-000000000000}"/>
          </ac:spMkLst>
        </pc:spChg>
      </pc:sldChg>
      <pc:sldChg chg="modNotesTx">
        <pc:chgData name="Mitchell Wand" userId="de9b44c55c049659" providerId="LiveId" clId="{7A9D5940-B2CC-47DD-AF5E-71219F1A1E26}" dt="2026-09-26T19:01:16.222" v="432" actId="20577"/>
        <pc:sldMkLst>
          <pc:docMk/>
          <pc:sldMk cId="334896783" sldId="499"/>
        </pc:sldMkLst>
      </pc:sldChg>
      <pc:sldChg chg="del">
        <pc:chgData name="Mitchell Wand" userId="de9b44c55c049659" providerId="LiveId" clId="{7A9D5940-B2CC-47DD-AF5E-71219F1A1E26}" dt="2026-09-28T19:46:31.637" v="1088" actId="2696"/>
        <pc:sldMkLst>
          <pc:docMk/>
          <pc:sldMk cId="1315621785" sldId="550"/>
        </pc:sldMkLst>
      </pc:sldChg>
      <pc:sldChg chg="modNotesTx">
        <pc:chgData name="Mitchell Wand" userId="de9b44c55c049659" providerId="LiveId" clId="{7A9D5940-B2CC-47DD-AF5E-71219F1A1E26}" dt="2026-09-28T18:39:47.054" v="930" actId="20577"/>
        <pc:sldMkLst>
          <pc:docMk/>
          <pc:sldMk cId="483219374" sldId="564"/>
        </pc:sldMkLst>
      </pc:sldChg>
      <pc:sldChg chg="delSp modSp mod modAnim">
        <pc:chgData name="Mitchell Wand" userId="de9b44c55c049659" providerId="LiveId" clId="{7A9D5940-B2CC-47DD-AF5E-71219F1A1E26}" dt="2026-09-26T15:54:44.172" v="242" actId="108"/>
        <pc:sldMkLst>
          <pc:docMk/>
          <pc:sldMk cId="831730851" sldId="579"/>
        </pc:sldMkLst>
        <pc:spChg chg="mod">
          <ac:chgData name="Mitchell Wand" userId="de9b44c55c049659" providerId="LiveId" clId="{7A9D5940-B2CC-47DD-AF5E-71219F1A1E26}" dt="2026-09-26T15:50:00.499" v="84" actId="20577"/>
          <ac:spMkLst>
            <pc:docMk/>
            <pc:sldMk cId="831730851" sldId="579"/>
            <ac:spMk id="4" creationId="{455689C7-7C27-5D24-90F6-149A2C5D118F}"/>
          </ac:spMkLst>
        </pc:spChg>
        <pc:spChg chg="mod">
          <ac:chgData name="Mitchell Wand" userId="de9b44c55c049659" providerId="LiveId" clId="{7A9D5940-B2CC-47DD-AF5E-71219F1A1E26}" dt="2026-09-26T15:53:55.109" v="227" actId="1076"/>
          <ac:spMkLst>
            <pc:docMk/>
            <pc:sldMk cId="831730851" sldId="579"/>
            <ac:spMk id="5" creationId="{A4D17C1B-9DC9-4F66-74C1-40955C2E2C8A}"/>
          </ac:spMkLst>
        </pc:spChg>
        <pc:spChg chg="mod">
          <ac:chgData name="Mitchell Wand" userId="de9b44c55c049659" providerId="LiveId" clId="{7A9D5940-B2CC-47DD-AF5E-71219F1A1E26}" dt="2026-09-26T15:54:44.172" v="242" actId="108"/>
          <ac:spMkLst>
            <pc:docMk/>
            <pc:sldMk cId="831730851" sldId="579"/>
            <ac:spMk id="7" creationId="{CD50A8E0-85BE-235E-B3A1-9815DAFEE290}"/>
          </ac:spMkLst>
        </pc:spChg>
      </pc:sldChg>
      <pc:sldChg chg="modSp mod modNotesTx">
        <pc:chgData name="Mitchell Wand" userId="de9b44c55c049659" providerId="LiveId" clId="{7A9D5940-B2CC-47DD-AF5E-71219F1A1E26}" dt="2026-09-28T18:14:54.667" v="725" actId="6549"/>
        <pc:sldMkLst>
          <pc:docMk/>
          <pc:sldMk cId="2478266078" sldId="672"/>
        </pc:sldMkLst>
        <pc:spChg chg="mod">
          <ac:chgData name="Mitchell Wand" userId="de9b44c55c049659" providerId="LiveId" clId="{7A9D5940-B2CC-47DD-AF5E-71219F1A1E26}" dt="2026-09-28T18:14:54.667" v="725" actId="6549"/>
          <ac:spMkLst>
            <pc:docMk/>
            <pc:sldMk cId="2478266078" sldId="672"/>
            <ac:spMk id="3" creationId="{923883D1-804C-2B0E-B307-7E10EB59752B}"/>
          </ac:spMkLst>
        </pc:spChg>
      </pc:sldChg>
      <pc:sldChg chg="addSp delSp modSp mod modAnim modNotesTx">
        <pc:chgData name="Mitchell Wand" userId="de9b44c55c049659" providerId="LiveId" clId="{7A9D5940-B2CC-47DD-AF5E-71219F1A1E26}" dt="2026-09-28T19:40:16.874" v="1059" actId="20577"/>
        <pc:sldMkLst>
          <pc:docMk/>
          <pc:sldMk cId="3282985616" sldId="673"/>
        </pc:sldMkLst>
        <pc:spChg chg="add del">
          <ac:chgData name="Mitchell Wand" userId="de9b44c55c049659" providerId="LiveId" clId="{7A9D5940-B2CC-47DD-AF5E-71219F1A1E26}" dt="2026-09-28T19:33:15.648" v="933" actId="478"/>
          <ac:spMkLst>
            <pc:docMk/>
            <pc:sldMk cId="3282985616" sldId="673"/>
            <ac:spMk id="6" creationId="{5720971E-F0F7-3450-4E7A-B5100A640C7E}"/>
          </ac:spMkLst>
        </pc:spChg>
        <pc:spChg chg="add mod">
          <ac:chgData name="Mitchell Wand" userId="de9b44c55c049659" providerId="LiveId" clId="{7A9D5940-B2CC-47DD-AF5E-71219F1A1E26}" dt="2026-09-28T19:39:10.551" v="979" actId="255"/>
          <ac:spMkLst>
            <pc:docMk/>
            <pc:sldMk cId="3282985616" sldId="673"/>
            <ac:spMk id="7" creationId="{82C92594-9535-2284-40FA-DD907B204E98}"/>
          </ac:spMkLst>
        </pc:spChg>
      </pc:sldChg>
      <pc:sldChg chg="modSp mod">
        <pc:chgData name="Mitchell Wand" userId="de9b44c55c049659" providerId="LiveId" clId="{7A9D5940-B2CC-47DD-AF5E-71219F1A1E26}" dt="2026-09-26T15:57:44.544" v="259" actId="108"/>
        <pc:sldMkLst>
          <pc:docMk/>
          <pc:sldMk cId="2643055736" sldId="679"/>
        </pc:sldMkLst>
        <pc:spChg chg="mod">
          <ac:chgData name="Mitchell Wand" userId="de9b44c55c049659" providerId="LiveId" clId="{7A9D5940-B2CC-47DD-AF5E-71219F1A1E26}" dt="2026-09-26T15:57:44.544" v="259" actId="108"/>
          <ac:spMkLst>
            <pc:docMk/>
            <pc:sldMk cId="2643055736" sldId="679"/>
            <ac:spMk id="5" creationId="{6108ED69-BEC0-E2B4-CE24-6547CAD27A48}"/>
          </ac:spMkLst>
        </pc:spChg>
      </pc:sldChg>
      <pc:sldChg chg="modSp">
        <pc:chgData name="Mitchell Wand" userId="de9b44c55c049659" providerId="LiveId" clId="{7A9D5940-B2CC-47DD-AF5E-71219F1A1E26}" dt="2026-09-26T15:58:13.841" v="260"/>
        <pc:sldMkLst>
          <pc:docMk/>
          <pc:sldMk cId="1692804628" sldId="680"/>
        </pc:sldMkLst>
        <pc:spChg chg="mod">
          <ac:chgData name="Mitchell Wand" userId="de9b44c55c049659" providerId="LiveId" clId="{7A9D5940-B2CC-47DD-AF5E-71219F1A1E26}" dt="2026-09-26T15:58:13.841" v="260"/>
          <ac:spMkLst>
            <pc:docMk/>
            <pc:sldMk cId="1692804628" sldId="680"/>
            <ac:spMk id="5" creationId="{61AE052D-2915-5AC4-85A2-7B9A3F13D352}"/>
          </ac:spMkLst>
        </pc:spChg>
      </pc:sldChg>
      <pc:sldChg chg="modSp mod">
        <pc:chgData name="Mitchell Wand" userId="de9b44c55c049659" providerId="LiveId" clId="{7A9D5940-B2CC-47DD-AF5E-71219F1A1E26}" dt="2026-09-26T15:55:53.195" v="252" actId="20577"/>
        <pc:sldMkLst>
          <pc:docMk/>
          <pc:sldMk cId="684796963" sldId="691"/>
        </pc:sldMkLst>
        <pc:spChg chg="mod">
          <ac:chgData name="Mitchell Wand" userId="de9b44c55c049659" providerId="LiveId" clId="{7A9D5940-B2CC-47DD-AF5E-71219F1A1E26}" dt="2026-09-26T15:55:53.195" v="252" actId="20577"/>
          <ac:spMkLst>
            <pc:docMk/>
            <pc:sldMk cId="684796963" sldId="691"/>
            <ac:spMk id="5" creationId="{7EEEED4A-F825-36DE-4D0D-71F249BADA7F}"/>
          </ac:spMkLst>
        </pc:spChg>
      </pc:sldChg>
      <pc:sldChg chg="delSp modSp mod modAnim modNotesTx">
        <pc:chgData name="Mitchell Wand" userId="de9b44c55c049659" providerId="LiveId" clId="{7A9D5940-B2CC-47DD-AF5E-71219F1A1E26}" dt="2026-09-28T19:15:58.557" v="931"/>
        <pc:sldMkLst>
          <pc:docMk/>
          <pc:sldMk cId="2008209886" sldId="695"/>
        </pc:sldMkLst>
        <pc:spChg chg="mod">
          <ac:chgData name="Mitchell Wand" userId="de9b44c55c049659" providerId="LiveId" clId="{7A9D5940-B2CC-47DD-AF5E-71219F1A1E26}" dt="2026-09-28T19:15:58.557" v="931"/>
          <ac:spMkLst>
            <pc:docMk/>
            <pc:sldMk cId="2008209886" sldId="695"/>
            <ac:spMk id="4" creationId="{0A9DC6B3-C52B-0E35-E5BE-5239B6039A57}"/>
          </ac:spMkLst>
        </pc:spChg>
        <pc:spChg chg="mod">
          <ac:chgData name="Mitchell Wand" userId="de9b44c55c049659" providerId="LiveId" clId="{7A9D5940-B2CC-47DD-AF5E-71219F1A1E26}" dt="2026-09-26T18:57:46.141" v="333" actId="1076"/>
          <ac:spMkLst>
            <pc:docMk/>
            <pc:sldMk cId="2008209886" sldId="695"/>
            <ac:spMk id="5" creationId="{7EEEED4A-F825-36DE-4D0D-71F249BADA7F}"/>
          </ac:spMkLst>
        </pc:spChg>
        <pc:spChg chg="mod">
          <ac:chgData name="Mitchell Wand" userId="de9b44c55c049659" providerId="LiveId" clId="{7A9D5940-B2CC-47DD-AF5E-71219F1A1E26}" dt="2026-09-26T16:02:37.119" v="297" actId="20577"/>
          <ac:spMkLst>
            <pc:docMk/>
            <pc:sldMk cId="2008209886" sldId="695"/>
            <ac:spMk id="11" creationId="{3A1A2B3D-50BE-3B83-D716-F6FF92A3781B}"/>
          </ac:spMkLst>
        </pc:spChg>
      </pc:sldChg>
      <pc:sldChg chg="modNotesTx">
        <pc:chgData name="Mitchell Wand" userId="de9b44c55c049659" providerId="LiveId" clId="{7A9D5940-B2CC-47DD-AF5E-71219F1A1E26}" dt="2026-09-28T18:20:25.432" v="835" actId="20577"/>
        <pc:sldMkLst>
          <pc:docMk/>
          <pc:sldMk cId="3052690777" sldId="697"/>
        </pc:sldMkLst>
      </pc:sldChg>
      <pc:sldChg chg="addSp modSp mod">
        <pc:chgData name="Mitchell Wand" userId="de9b44c55c049659" providerId="LiveId" clId="{7A9D5940-B2CC-47DD-AF5E-71219F1A1E26}" dt="2026-09-28T19:55:16.999" v="1148" actId="20577"/>
        <pc:sldMkLst>
          <pc:docMk/>
          <pc:sldMk cId="3887238032" sldId="700"/>
        </pc:sldMkLst>
        <pc:spChg chg="add mod">
          <ac:chgData name="Mitchell Wand" userId="de9b44c55c049659" providerId="LiveId" clId="{7A9D5940-B2CC-47DD-AF5E-71219F1A1E26}" dt="2026-09-28T19:55:16.999" v="1148" actId="20577"/>
          <ac:spMkLst>
            <pc:docMk/>
            <pc:sldMk cId="3887238032" sldId="700"/>
            <ac:spMk id="8" creationId="{91C55106-CEF7-6C47-022F-61E951C14183}"/>
          </ac:spMkLst>
        </pc:spChg>
      </pc:sldChg>
      <pc:sldChg chg="del">
        <pc:chgData name="Mitchell Wand" userId="de9b44c55c049659" providerId="LiveId" clId="{7A9D5940-B2CC-47DD-AF5E-71219F1A1E26}" dt="2026-09-28T19:48:56.106" v="1091" actId="2696"/>
        <pc:sldMkLst>
          <pc:docMk/>
          <pc:sldMk cId="1869021926" sldId="785"/>
        </pc:sldMkLst>
      </pc:sldChg>
      <pc:sldChg chg="del">
        <pc:chgData name="Mitchell Wand" userId="de9b44c55c049659" providerId="LiveId" clId="{7A9D5940-B2CC-47DD-AF5E-71219F1A1E26}" dt="2026-09-28T19:48:32.583" v="1090" actId="2696"/>
        <pc:sldMkLst>
          <pc:docMk/>
          <pc:sldMk cId="4177944203" sldId="786"/>
        </pc:sldMkLst>
      </pc:sldChg>
      <pc:sldChg chg="del">
        <pc:chgData name="Mitchell Wand" userId="de9b44c55c049659" providerId="LiveId" clId="{7A9D5940-B2CC-47DD-AF5E-71219F1A1E26}" dt="2026-09-28T19:48:10.240" v="1089" actId="2696"/>
        <pc:sldMkLst>
          <pc:docMk/>
          <pc:sldMk cId="3902281669" sldId="78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0BD43-9BC0-29FD-493A-6077183009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0C94BA-3C74-E424-8078-CF84994207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952A8-11F3-383D-47D8-B88983E5EE2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454612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key concepts that we want to understand today are:</a:t>
            </a:r>
          </a:p>
          <a:p>
            <a:r>
              <a:rPr lang="en-US" dirty="0"/>
              <a:t>-when you await for a promise to be completed, you pause your execution or yield</a:t>
            </a:r>
          </a:p>
          <a:p>
            <a:r>
              <a:rPr lang="en-US" dirty="0"/>
              <a:t>-when you yield, runtime can execute some other task.</a:t>
            </a:r>
          </a:p>
        </p:txBody>
      </p:sp>
    </p:spTree>
    <p:extLst>
      <p:ext uri="{BB962C8B-B14F-4D97-AF65-F5344CB8AC3E}">
        <p14:creationId xmlns:p14="http://schemas.microsoft.com/office/powerpoint/2010/main" val="17084200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21937914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Say something about success/failure?</a:t>
            </a:r>
          </a:p>
        </p:txBody>
      </p:sp>
    </p:spTree>
    <p:extLst>
      <p:ext uri="{BB962C8B-B14F-4D97-AF65-F5344CB8AC3E}">
        <p14:creationId xmlns:p14="http://schemas.microsoft.com/office/powerpoint/2010/main" val="13614023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typical async function.  It calls another async function, waits for that function to return, and then does something with the answer.  The "cooperative multiprocessing" means that while this function is waiting for the other function to return, the runtime can switch to some other task. </a:t>
            </a:r>
          </a:p>
        </p:txBody>
      </p:sp>
    </p:spTree>
    <p:extLst>
      <p:ext uri="{BB962C8B-B14F-4D97-AF65-F5344CB8AC3E}">
        <p14:creationId xmlns:p14="http://schemas.microsoft.com/office/powerpoint/2010/main" val="40084931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4FA44-3763-F9A5-E3C3-B513CBAE6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BC10B3-8E51-2173-57CB-CDB6B610D8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491798-6C89-E0AF-366F-EEE4403B6584}"/>
              </a:ext>
            </a:extLst>
          </p:cNvPr>
          <p:cNvSpPr>
            <a:spLocks noGrp="1"/>
          </p:cNvSpPr>
          <p:nvPr>
            <p:ph type="body" idx="1"/>
          </p:nvPr>
        </p:nvSpPr>
        <p:spPr/>
        <p:txBody>
          <a:bodyPr/>
          <a:lstStyle/>
          <a:p>
            <a:r>
              <a:rPr lang="en-US" dirty="0" err="1"/>
              <a:t>someFunction</a:t>
            </a:r>
            <a:r>
              <a:rPr lang="en-US" dirty="0"/>
              <a:t> returns a promise that will wait for </a:t>
            </a:r>
            <a:r>
              <a:rPr lang="en-US" dirty="0" err="1"/>
              <a:t>someOtherAsyncFunction</a:t>
            </a:r>
            <a:r>
              <a:rPr lang="en-US" dirty="0"/>
              <a:t> to resolve, call the result k, and then return m (= k+100).</a:t>
            </a:r>
          </a:p>
        </p:txBody>
      </p:sp>
    </p:spTree>
    <p:extLst>
      <p:ext uri="{BB962C8B-B14F-4D97-AF65-F5344CB8AC3E}">
        <p14:creationId xmlns:p14="http://schemas.microsoft.com/office/powerpoint/2010/main" val="12418354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9215E-43C6-C8DE-5E0E-5426985A0B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AD9904-FF40-79B0-EFF9-E88BBE8D16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4D406-3D5B-558F-1BF4-4CE1DB59F54D}"/>
              </a:ext>
            </a:extLst>
          </p:cNvPr>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159308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disallowing interrupts everywhere but at the pause points, we avoid almost all of the data races you may have learned about in your operating systems class.   Each green box is a critical section, and your program consists of a set of critical sections.  Each green box is uninterruptible!!</a:t>
            </a:r>
          </a:p>
          <a:p>
            <a:r>
              <a:rPr lang="en-US" dirty="0"/>
              <a:t>Everything </a:t>
            </a:r>
            <a:r>
              <a:rPr lang="en-US" i="1" dirty="0"/>
              <a:t>after </a:t>
            </a:r>
            <a:r>
              <a:rPr lang="en-US" dirty="0"/>
              <a:t>the await is the ‘awaited work’ that will be processed later!</a:t>
            </a:r>
          </a:p>
        </p:txBody>
      </p:sp>
    </p:spTree>
    <p:extLst>
      <p:ext uri="{BB962C8B-B14F-4D97-AF65-F5344CB8AC3E}">
        <p14:creationId xmlns:p14="http://schemas.microsoft.com/office/powerpoint/2010/main" val="32144726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function yields or pauses in exactly two places in its code.  What happens at those places?</a:t>
            </a:r>
          </a:p>
          <a:p>
            <a:endParaRPr lang="en-US" dirty="0"/>
          </a:p>
          <a:p>
            <a:r>
              <a:rPr lang="en-US" dirty="0"/>
              <a:t>When </a:t>
            </a:r>
            <a:r>
              <a:rPr lang="en-US" dirty="0" err="1"/>
              <a:t>someFunction</a:t>
            </a:r>
            <a:r>
              <a:rPr lang="en-US" dirty="0"/>
              <a:t> yields at the first location, it first informs the runtime that </a:t>
            </a:r>
            <a:r>
              <a:rPr lang="en-US" dirty="0" err="1"/>
              <a:t>someOtherAsyncFunction</a:t>
            </a:r>
            <a:r>
              <a:rPr lang="en-US" dirty="0"/>
              <a:t>(j) is ready to run, and that </a:t>
            </a:r>
            <a:r>
              <a:rPr lang="en-US" dirty="0" err="1"/>
              <a:t>someFunction</a:t>
            </a:r>
            <a:r>
              <a:rPr lang="en-US" dirty="0"/>
              <a:t> will be ready to resume its execution only when </a:t>
            </a:r>
            <a:r>
              <a:rPr lang="en-US" dirty="0" err="1"/>
              <a:t>someOtherAsyncFunction</a:t>
            </a:r>
            <a:r>
              <a:rPr lang="en-US" dirty="0"/>
              <a:t>(j) returns a value (i.e., it is returning to caller with a pending promise). The runtime can then switch to any process that is ready.</a:t>
            </a:r>
          </a:p>
          <a:p>
            <a:endParaRPr lang="en-US" dirty="0"/>
          </a:p>
          <a:p>
            <a:r>
              <a:rPr lang="en-US" dirty="0"/>
              <a:t>When </a:t>
            </a:r>
            <a:r>
              <a:rPr lang="en-US" dirty="0" err="1"/>
              <a:t>someFunction</a:t>
            </a:r>
            <a:r>
              <a:rPr lang="en-US" dirty="0"/>
              <a:t> yields at the second location, it informs the runtime that it is ready to return to its caller, and the runtime will switch to any process that is ready. It might be the caller of </a:t>
            </a:r>
            <a:r>
              <a:rPr lang="en-US" dirty="0" err="1"/>
              <a:t>someFunction</a:t>
            </a:r>
            <a:r>
              <a:rPr lang="en-US" dirty="0"/>
              <a:t>, or it might be something else.</a:t>
            </a:r>
          </a:p>
        </p:txBody>
      </p:sp>
    </p:spTree>
    <p:extLst>
      <p:ext uri="{BB962C8B-B14F-4D97-AF65-F5344CB8AC3E}">
        <p14:creationId xmlns:p14="http://schemas.microsoft.com/office/powerpoint/2010/main" val="17480661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key points to highlight</a:t>
            </a:r>
          </a:p>
          <a:p>
            <a:r>
              <a:rPr lang="en-US" dirty="0"/>
              <a:t>1.  When you await, you are in some async</a:t>
            </a:r>
          </a:p>
          <a:p>
            <a:pPr marL="228600" indent="-228600">
              <a:buAutoNum type="arabicPeriod"/>
            </a:pPr>
            <a:r>
              <a:rPr lang="en-US" dirty="0"/>
              <a:t>When you await on a task, you return to </a:t>
            </a:r>
            <a:r>
              <a:rPr lang="en-US" b="1" dirty="0"/>
              <a:t>the caller of the async procedure </a:t>
            </a:r>
            <a:r>
              <a:rPr lang="en-US" dirty="0"/>
              <a:t>with a pending promise</a:t>
            </a:r>
          </a:p>
          <a:p>
            <a:pPr marL="228600" indent="-228600">
              <a:buAutoNum type="arabicPeriod"/>
            </a:pPr>
            <a:r>
              <a:rPr lang="en-US" dirty="0"/>
              <a:t>The caller </a:t>
            </a:r>
            <a:r>
              <a:rPr lang="en-US" dirty="0" err="1"/>
              <a:t>Ican</a:t>
            </a:r>
            <a:r>
              <a:rPr lang="en-US" dirty="0"/>
              <a:t> continue its work</a:t>
            </a:r>
          </a:p>
        </p:txBody>
      </p:sp>
    </p:spTree>
    <p:extLst>
      <p:ext uri="{BB962C8B-B14F-4D97-AF65-F5344CB8AC3E}">
        <p14:creationId xmlns:p14="http://schemas.microsoft.com/office/powerpoint/2010/main" val="277606096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840575-AFF9-9F48-85E1-78753919E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E3054-0459-E7D4-82AD-DE91D73158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D3D3E2-859B-5DBE-27A4-36B21C0E50F0}"/>
              </a:ext>
            </a:extLst>
          </p:cNvPr>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pPr marL="171450" indent="-171450">
              <a:buFontTx/>
              <a:buChar char="-"/>
            </a:pPr>
            <a:r>
              <a:rPr lang="en-US" dirty="0"/>
              <a:t>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a:p>
            <a:pPr marL="171450" indent="-171450">
              <a:buFontTx/>
              <a:buChar char="-"/>
            </a:pPr>
            <a:endParaRPr lang="en-US" dirty="0"/>
          </a:p>
          <a:p>
            <a:pPr marL="171450" indent="-171450">
              <a:buFontTx/>
              <a:buChar char="-"/>
            </a:pPr>
            <a:r>
              <a:rPr lang="en-US" dirty="0"/>
              <a:t>We’ll talk about the “micro task queue” and “macro task queue” in a few minutes.</a:t>
            </a:r>
          </a:p>
        </p:txBody>
      </p:sp>
    </p:spTree>
    <p:extLst>
      <p:ext uri="{BB962C8B-B14F-4D97-AF65-F5344CB8AC3E}">
        <p14:creationId xmlns:p14="http://schemas.microsoft.com/office/powerpoint/2010/main" val="39832860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It is just a 1 second delay</a:t>
            </a:r>
            <a:br>
              <a:rPr lang="en-US" dirty="0"/>
            </a:br>
            <a:r>
              <a:rPr lang="en-US" dirty="0"/>
              <a:t>Awaiting allows us to wait for some task to complete first before we do something else.</a:t>
            </a:r>
          </a:p>
        </p:txBody>
      </p:sp>
    </p:spTree>
    <p:extLst>
      <p:ext uri="{BB962C8B-B14F-4D97-AF65-F5344CB8AC3E}">
        <p14:creationId xmlns:p14="http://schemas.microsoft.com/office/powerpoint/2010/main" val="27365880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BF0A1-B3BF-39AC-3BFF-F3C2D29199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3B6615-ABC2-0A83-1720-3EE5152173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354007-7695-31F6-E35A-6D646B90834A}"/>
              </a:ext>
            </a:extLst>
          </p:cNvPr>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This is a common pattern for async functions using live http request running as non-blocking IO.</a:t>
            </a:r>
          </a:p>
          <a:p>
            <a:endParaRPr lang="en-US" dirty="0"/>
          </a:p>
          <a:p>
            <a:r>
              <a:rPr lang="en-US" dirty="0" err="1"/>
              <a:t>makeOneRequest</a:t>
            </a:r>
            <a:r>
              <a:rPr lang="en-US" dirty="0"/>
              <a:t> calls </a:t>
            </a:r>
            <a:r>
              <a:rPr lang="en-US" b="1" dirty="0" err="1"/>
              <a:t>makeRequest</a:t>
            </a:r>
            <a:r>
              <a:rPr lang="en-US" dirty="0"/>
              <a:t> which makes an API call.</a:t>
            </a:r>
          </a:p>
          <a:p>
            <a:r>
              <a:rPr lang="en-US" dirty="0"/>
              <a:t>As you await for the fetch to respond, </a:t>
            </a:r>
            <a:r>
              <a:rPr lang="en-US" dirty="0" err="1"/>
              <a:t>makeOneRequest</a:t>
            </a:r>
            <a:r>
              <a:rPr lang="en-US" dirty="0"/>
              <a:t> function (the caller) can continue and finish.</a:t>
            </a:r>
          </a:p>
          <a:p>
            <a:r>
              <a:rPr lang="en-US" dirty="0"/>
              <a:t>When call stack is empty, response from fetch can be printed (Awaiting work).</a:t>
            </a:r>
          </a:p>
        </p:txBody>
      </p:sp>
    </p:spTree>
    <p:extLst>
      <p:ext uri="{BB962C8B-B14F-4D97-AF65-F5344CB8AC3E}">
        <p14:creationId xmlns:p14="http://schemas.microsoft.com/office/powerpoint/2010/main" val="11046387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go through this example again. (It’s important enough to repeat).</a:t>
            </a:r>
          </a:p>
        </p:txBody>
      </p:sp>
    </p:spTree>
    <p:extLst>
      <p:ext uri="{BB962C8B-B14F-4D97-AF65-F5344CB8AC3E}">
        <p14:creationId xmlns:p14="http://schemas.microsoft.com/office/powerpoint/2010/main" val="16592803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2DCA0-7665-BF41-EE6E-6EC73038D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D169D-4441-7E4A-9074-15DCC15CF4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1367F-3FE0-1391-F0DB-F1E87C3DADCF}"/>
              </a:ext>
            </a:extLst>
          </p:cNvPr>
          <p:cNvSpPr>
            <a:spLocks noGrp="1"/>
          </p:cNvSpPr>
          <p:nvPr>
            <p:ph type="body" idx="1"/>
          </p:nvPr>
        </p:nvSpPr>
        <p:spPr/>
        <p:txBody>
          <a:bodyPr/>
          <a:lstStyle/>
          <a:p>
            <a:r>
              <a:rPr lang="en-US" dirty="0"/>
              <a:t>It is important to note that you can call </a:t>
            </a:r>
            <a:r>
              <a:rPr lang="en-US" dirty="0" err="1"/>
              <a:t>makeRequest</a:t>
            </a:r>
            <a:r>
              <a:rPr lang="en-US" dirty="0"/>
              <a:t> but it will be awaiting a future response. That promise was returned immediately back to the caller (whichever promise called the </a:t>
            </a:r>
            <a:r>
              <a:rPr lang="en-US" dirty="0" err="1"/>
              <a:t>makeRequest</a:t>
            </a:r>
            <a:r>
              <a:rPr lang="en-US" dirty="0"/>
              <a:t>) and that the caller’s thread continues on while </a:t>
            </a:r>
            <a:r>
              <a:rPr lang="en-US" dirty="0" err="1"/>
              <a:t>makeRequest</a:t>
            </a:r>
            <a:r>
              <a:rPr lang="en-US" dirty="0"/>
              <a:t> is waiting for a response, just as in our previous examples.</a:t>
            </a:r>
          </a:p>
        </p:txBody>
      </p:sp>
    </p:spTree>
    <p:extLst>
      <p:ext uri="{BB962C8B-B14F-4D97-AF65-F5344CB8AC3E}">
        <p14:creationId xmlns:p14="http://schemas.microsoft.com/office/powerpoint/2010/main" val="19917182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126271473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6ECA1-6B4D-0F40-61F2-202A6BC28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7DFC42-DD20-C6B0-A702-949BBD86F3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D66412-DB27-2512-3DE4-CE7A92DA03CD}"/>
              </a:ext>
            </a:extLst>
          </p:cNvPr>
          <p:cNvSpPr>
            <a:spLocks noGrp="1"/>
          </p:cNvSpPr>
          <p:nvPr>
            <p:ph type="body" idx="1"/>
          </p:nvPr>
        </p:nvSpPr>
        <p:spPr/>
        <p:txBody>
          <a:bodyPr/>
          <a:lstStyle/>
          <a:p>
            <a:r>
              <a:rPr lang="en-US" sz="800" dirty="0"/>
              <a:t>Highlight “Awaiting Work” (promise) goes to </a:t>
            </a:r>
            <a:r>
              <a:rPr lang="en-US" sz="800" dirty="0" err="1"/>
              <a:t>MicroTask</a:t>
            </a:r>
            <a:r>
              <a:rPr lang="en-US" sz="800" dirty="0"/>
              <a:t> queue and has higher priority that microtask queue.</a:t>
            </a:r>
          </a:p>
        </p:txBody>
      </p:sp>
    </p:spTree>
    <p:extLst>
      <p:ext uri="{BB962C8B-B14F-4D97-AF65-F5344CB8AC3E}">
        <p14:creationId xmlns:p14="http://schemas.microsoft.com/office/powerpoint/2010/main" val="28929109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08000"/>
                </a:solidFill>
                <a:effectLst/>
                <a:latin typeface="Consolas" panose="020B0609020204030204" pitchFamily="49" charset="0"/>
              </a:rPr>
              <a:t>In an interrupt-based model, it is possible that statement the print A runs *between* the print B and the print C.  Not for us!</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(Don't worry about the </a:t>
            </a:r>
            <a:r>
              <a:rPr lang="en-US" b="0" dirty="0" err="1">
                <a:solidFill>
                  <a:srgbClr val="008000"/>
                </a:solidFill>
                <a:effectLst/>
                <a:latin typeface="Consolas" panose="020B0609020204030204" pitchFamily="49" charset="0"/>
              </a:rPr>
              <a:t>Promise.all</a:t>
            </a:r>
            <a:r>
              <a:rPr lang="en-US" b="0" dirty="0">
                <a:solidFill>
                  <a:srgbClr val="008000"/>
                </a:solidFill>
                <a:effectLst/>
                <a:latin typeface="Consolas" panose="020B0609020204030204" pitchFamily="49" charset="0"/>
              </a:rPr>
              <a:t>- we'll explain that soon).</a:t>
            </a:r>
          </a:p>
          <a:p>
            <a:endParaRPr lang="en-US" dirty="0"/>
          </a:p>
          <a:p>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dirty="0"/>
          </a:p>
          <a:p>
            <a:endParaRPr lang="en-US" dirty="0"/>
          </a:p>
        </p:txBody>
      </p:sp>
    </p:spTree>
    <p:extLst>
      <p:ext uri="{BB962C8B-B14F-4D97-AF65-F5344CB8AC3E}">
        <p14:creationId xmlns:p14="http://schemas.microsoft.com/office/powerpoint/2010/main" val="32827511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215770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DE49A-0FA4-3826-CB42-27EEC743F6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7F2E43-7D78-7E79-AF02-3A51EB3B14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7F9F58-74EF-6A03-03B1-5F01E9950ED0}"/>
              </a:ext>
            </a:extLst>
          </p:cNvPr>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205014773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41209867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Since </a:t>
            </a:r>
            <a:r>
              <a:rPr lang="en-US" dirty="0" err="1"/>
              <a:t>MicroTask</a:t>
            </a:r>
            <a:r>
              <a:rPr lang="en-US" dirty="0"/>
              <a:t> queue has priority over microtask queue, callbacks for promises will get executed first before callback for timer, after </a:t>
            </a:r>
            <a:r>
              <a:rPr lang="en-US" dirty="0" err="1"/>
              <a:t>callstack</a:t>
            </a:r>
            <a:r>
              <a:rPr lang="en-US" dirty="0"/>
              <a:t> is emptied out by finishing main.</a:t>
            </a:r>
          </a:p>
        </p:txBody>
      </p:sp>
    </p:spTree>
    <p:extLst>
      <p:ext uri="{BB962C8B-B14F-4D97-AF65-F5344CB8AC3E}">
        <p14:creationId xmlns:p14="http://schemas.microsoft.com/office/powerpoint/2010/main" val="22910083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EA572-721B-ECEB-6452-DCEA5F2D8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E4568-DD61-B9D6-0E98-291013369F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D51956-59BD-B808-92DA-B19BED4E7070}"/>
              </a:ext>
            </a:extLst>
          </p:cNvPr>
          <p:cNvSpPr>
            <a:spLocks noGrp="1"/>
          </p:cNvSpPr>
          <p:nvPr>
            <p:ph type="body" idx="1"/>
          </p:nvPr>
        </p:nvSpPr>
        <p:spPr/>
        <p:txBody>
          <a:bodyPr/>
          <a:lstStyle/>
          <a:p>
            <a:r>
              <a:rPr lang="en-US" dirty="0"/>
              <a:t>Common mistake is not to await on async task. This would mean that you are proceeding with some work without getting a valid response. Luckily, our standard lint setup has a rule for this. </a:t>
            </a:r>
            <a:br>
              <a:rPr lang="en-US" dirty="0"/>
            </a:br>
            <a:endParaRPr lang="en-US" dirty="0"/>
          </a:p>
        </p:txBody>
      </p:sp>
    </p:spTree>
    <p:extLst>
      <p:ext uri="{BB962C8B-B14F-4D97-AF65-F5344CB8AC3E}">
        <p14:creationId xmlns:p14="http://schemas.microsoft.com/office/powerpoint/2010/main" val="64787296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occasionally see code written in this style. The main request is a </a:t>
            </a:r>
            <a:r>
              <a:rPr lang="en-US" dirty="0" err="1"/>
              <a:t>macrotask</a:t>
            </a:r>
            <a:r>
              <a:rPr lang="en-US" dirty="0"/>
              <a:t>; the .then() blocks become microtasks</a:t>
            </a:r>
            <a:r>
              <a:rPr lang="en-US"/>
              <a:t>.  The </a:t>
            </a:r>
            <a:r>
              <a:rPr lang="en-US" dirty="0"/>
              <a:t>"return" in a microtask is also a pause point.</a:t>
            </a:r>
          </a:p>
        </p:txBody>
      </p:sp>
    </p:spTree>
    <p:extLst>
      <p:ext uri="{BB962C8B-B14F-4D97-AF65-F5344CB8AC3E}">
        <p14:creationId xmlns:p14="http://schemas.microsoft.com/office/powerpoint/2010/main" val="109699882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already seen non-deterministic behavior reflected in our console logs.  But that kind of behavior can easily become visible to our program.  All you need is some shared state across your promises. The activity explores this topic in more depth.</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2835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Javascript</a:t>
            </a:r>
            <a:r>
              <a:rPr lang="en-US" dirty="0"/>
              <a:t> is a single threaded language. This means it has one call stack and one memory heap. It uses </a:t>
            </a:r>
            <a:r>
              <a:rPr lang="en-US" dirty="0" err="1"/>
              <a:t>WebAPI</a:t>
            </a:r>
            <a:r>
              <a:rPr lang="en-US" dirty="0"/>
              <a:t> to work asynchronously.</a:t>
            </a:r>
          </a:p>
          <a:p>
            <a:endParaRPr lang="en-US" dirty="0"/>
          </a:p>
          <a:p>
            <a:r>
              <a:rPr lang="en-US" dirty="0"/>
              <a:t>How do we get asynchronous code with </a:t>
            </a:r>
            <a:r>
              <a:rPr lang="en-US" dirty="0" err="1"/>
              <a:t>Javascript</a:t>
            </a:r>
            <a:r>
              <a:rPr lang="en-US" dirty="0"/>
              <a:t> then?</a:t>
            </a:r>
          </a:p>
          <a:p>
            <a:r>
              <a:rPr lang="en-US" dirty="0"/>
              <a:t>Well, we can thank the </a:t>
            </a:r>
            <a:r>
              <a:rPr lang="en-US" dirty="0" err="1"/>
              <a:t>Javascript</a:t>
            </a:r>
            <a:r>
              <a:rPr lang="en-US" dirty="0"/>
              <a:t> engine (V8, </a:t>
            </a:r>
            <a:r>
              <a:rPr lang="en-US" dirty="0" err="1"/>
              <a:t>Spidermonkey</a:t>
            </a:r>
            <a:r>
              <a:rPr lang="en-US" dirty="0"/>
              <a:t>, </a:t>
            </a:r>
            <a:r>
              <a:rPr lang="en-US" dirty="0" err="1"/>
              <a:t>JavaScriptCore</a:t>
            </a:r>
            <a:r>
              <a:rPr lang="en-US" dirty="0"/>
              <a:t>, etc...) for that, which has Web API that handle these tasks in the background. The call stack recognizes functions of the Web API and hands them off to be handled by the browser. Once those tasks are finished by the browser, they return and are pushed into a queue (callbacks go in </a:t>
            </a:r>
            <a:r>
              <a:rPr lang="en-US" dirty="0" err="1"/>
              <a:t>Macrotask</a:t>
            </a:r>
            <a:r>
              <a:rPr lang="en-US" dirty="0"/>
              <a:t> queue and promises go into microtask queue)</a:t>
            </a:r>
          </a:p>
          <a:p>
            <a:r>
              <a:rPr lang="en-US" dirty="0"/>
              <a:t>Then they are picked up by the event loop one by one and added onto the call stack.</a:t>
            </a:r>
          </a:p>
          <a:p>
            <a:endParaRPr lang="en-US" dirty="0"/>
          </a:p>
          <a:p>
            <a:r>
              <a:rPr lang="en-US" dirty="0"/>
              <a:t>Try this http://latentflip.com/loupe </a:t>
            </a:r>
          </a:p>
        </p:txBody>
      </p:sp>
    </p:spTree>
    <p:extLst>
      <p:ext uri="{BB962C8B-B14F-4D97-AF65-F5344CB8AC3E}">
        <p14:creationId xmlns:p14="http://schemas.microsoft.com/office/powerpoint/2010/main" val="11690898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40</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08: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60"/>
            <a:ext cx="8750968" cy="4351338"/>
          </a:xfrm>
        </p:spPr>
        <p:txBody>
          <a:bodyPr>
            <a:normAutofit/>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389F-B6E3-33CA-1849-9E0676038AB2}"/>
              </a:ext>
            </a:extLst>
          </p:cNvPr>
          <p:cNvSpPr>
            <a:spLocks noGrp="1"/>
          </p:cNvSpPr>
          <p:nvPr>
            <p:ph type="title"/>
          </p:nvPr>
        </p:nvSpPr>
        <p:spPr/>
        <p:txBody>
          <a:bodyPr/>
          <a:lstStyle/>
          <a:p>
            <a:r>
              <a:rPr lang="en-US" dirty="0"/>
              <a:t>Why async matters</a:t>
            </a:r>
          </a:p>
        </p:txBody>
      </p:sp>
      <p:sp>
        <p:nvSpPr>
          <p:cNvPr id="3" name="Content Placeholder 2">
            <a:extLst>
              <a:ext uri="{FF2B5EF4-FFF2-40B4-BE49-F238E27FC236}">
                <a16:creationId xmlns:a16="http://schemas.microsoft.com/office/drawing/2014/main" id="{88070A1A-D5FB-DAA5-6568-5B1EA25A543D}"/>
              </a:ext>
            </a:extLst>
          </p:cNvPr>
          <p:cNvSpPr>
            <a:spLocks noGrp="1"/>
          </p:cNvSpPr>
          <p:nvPr>
            <p:ph idx="1"/>
          </p:nvPr>
        </p:nvSpPr>
        <p:spPr/>
        <p:txBody>
          <a:bodyPr/>
          <a:lstStyle/>
          <a:p>
            <a:r>
              <a:rPr lang="en-US" dirty="0"/>
              <a:t>Your browser probably spends 99% of its time waiting</a:t>
            </a:r>
          </a:p>
          <a:p>
            <a:pPr lvl="1"/>
            <a:r>
              <a:rPr lang="en-US" dirty="0"/>
              <a:t>for http requests to return</a:t>
            </a:r>
          </a:p>
          <a:p>
            <a:pPr lvl="1"/>
            <a:r>
              <a:rPr lang="en-US" dirty="0"/>
              <a:t>for database calls to return</a:t>
            </a:r>
          </a:p>
          <a:p>
            <a:r>
              <a:rPr lang="en-US" dirty="0"/>
              <a:t>Wouldn't it be nice if we could use that waiting time for something else?</a:t>
            </a:r>
          </a:p>
          <a:p>
            <a:pPr lvl="1"/>
            <a:r>
              <a:rPr lang="en-US" dirty="0"/>
              <a:t>maybe we have some other http request we could launch</a:t>
            </a:r>
          </a:p>
          <a:p>
            <a:pPr lvl="1"/>
            <a:r>
              <a:rPr lang="en-US" dirty="0"/>
              <a:t>maybe other things (throbbers??)</a:t>
            </a:r>
          </a:p>
        </p:txBody>
      </p:sp>
      <p:sp>
        <p:nvSpPr>
          <p:cNvPr id="4" name="Slide Number Placeholder 3">
            <a:extLst>
              <a:ext uri="{FF2B5EF4-FFF2-40B4-BE49-F238E27FC236}">
                <a16:creationId xmlns:a16="http://schemas.microsoft.com/office/drawing/2014/main" id="{D86D2662-16EA-5ECF-41AD-4C591CC22FC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00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616869" y="1465264"/>
            <a:ext cx="8958263" cy="3172998"/>
          </a:xfrm>
        </p:spPr>
        <p:txBody>
          <a:bodyPr>
            <a:normAutofit/>
          </a:bodyPr>
          <a:lstStyle/>
          <a:p>
            <a:r>
              <a:rPr lang="en-US" sz="3600" dirty="0"/>
              <a:t>Typescript/JavaScript achieves this goal using two techniques:</a:t>
            </a:r>
            <a:br>
              <a:rPr lang="en-US" sz="3600" dirty="0"/>
            </a:br>
            <a:r>
              <a:rPr lang="en-US" sz="3600" dirty="0"/>
              <a:t> </a:t>
            </a:r>
            <a:br>
              <a:rPr lang="en-US" sz="3600" dirty="0"/>
            </a:br>
            <a:r>
              <a:rPr lang="en-US" sz="3600" dirty="0"/>
              <a:t>1. non-blocking IO</a:t>
            </a:r>
            <a:br>
              <a:rPr lang="en-US" sz="3600" dirty="0"/>
            </a:br>
            <a:r>
              <a:rPr lang="en-US" sz="3600" dirty="0"/>
              <a:t> </a:t>
            </a:r>
            <a:br>
              <a:rPr lang="en-US" sz="3600" dirty="0"/>
            </a:br>
            <a:r>
              <a:rPr lang="en-US" sz="3600" dirty="0"/>
              <a:t>2. cooperative multiprocessing </a:t>
            </a:r>
          </a:p>
        </p:txBody>
      </p:sp>
    </p:spTree>
    <p:extLst>
      <p:ext uri="{BB962C8B-B14F-4D97-AF65-F5344CB8AC3E}">
        <p14:creationId xmlns:p14="http://schemas.microsoft.com/office/powerpoint/2010/main" val="2912001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2E42E-98F1-D6B5-BC7F-F9F426BC7C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31D3CA-B00D-7729-640E-7EAB79EC87B5}"/>
              </a:ext>
            </a:extLst>
          </p:cNvPr>
          <p:cNvSpPr>
            <a:spLocks noGrp="1"/>
          </p:cNvSpPr>
          <p:nvPr>
            <p:ph type="title"/>
          </p:nvPr>
        </p:nvSpPr>
        <p:spPr/>
        <p:txBody>
          <a:bodyPr/>
          <a:lstStyle/>
          <a:p>
            <a:r>
              <a:rPr lang="en-US" dirty="0"/>
              <a:t>Part 1: JS/TS in your browser has some primitives for doing non-blocking I/O</a:t>
            </a:r>
          </a:p>
        </p:txBody>
      </p:sp>
      <p:sp>
        <p:nvSpPr>
          <p:cNvPr id="3" name="Content Placeholder 2">
            <a:extLst>
              <a:ext uri="{FF2B5EF4-FFF2-40B4-BE49-F238E27FC236}">
                <a16:creationId xmlns:a16="http://schemas.microsoft.com/office/drawing/2014/main" id="{0CC90B46-1060-0F7A-5662-894A63ED3115}"/>
              </a:ext>
            </a:extLst>
          </p:cNvPr>
          <p:cNvSpPr>
            <a:spLocks noGrp="1"/>
          </p:cNvSpPr>
          <p:nvPr>
            <p:ph idx="1"/>
          </p:nvPr>
        </p:nvSpPr>
        <p:spPr>
          <a:xfrm>
            <a:off x="838200" y="1500160"/>
            <a:ext cx="7977810" cy="4403683"/>
          </a:xfrm>
        </p:spPr>
        <p:txBody>
          <a:bodyPr>
            <a:noAutofit/>
          </a:bodyPr>
          <a:lstStyle/>
          <a:p>
            <a:pPr>
              <a:lnSpc>
                <a:spcPct val="100000"/>
              </a:lnSpc>
            </a:pPr>
            <a:r>
              <a:rPr lang="en-US" sz="1800" dirty="0"/>
              <a:t>This is called the "Web API"</a:t>
            </a:r>
          </a:p>
          <a:p>
            <a:pPr>
              <a:lnSpc>
                <a:spcPct val="100000"/>
              </a:lnSpc>
            </a:pPr>
            <a:r>
              <a:rPr lang="en-US" sz="1800" dirty="0"/>
              <a:t>These are things like http requests, I/O operations, or timers.</a:t>
            </a:r>
          </a:p>
          <a:p>
            <a:pPr>
              <a:lnSpc>
                <a:spcPct val="100000"/>
              </a:lnSpc>
            </a:pPr>
            <a:r>
              <a:rPr lang="en-US" sz="1800" dirty="0"/>
              <a:t>Each of these returns a promise that you can </a:t>
            </a:r>
            <a:r>
              <a:rPr lang="en-US" sz="1800" b="1" dirty="0"/>
              <a:t>await</a:t>
            </a:r>
            <a:r>
              <a:rPr lang="en-US" sz="1800" dirty="0"/>
              <a:t>. The promise runs while it is pending, and produces the response from the http request, or the contents of the file, etc.</a:t>
            </a:r>
          </a:p>
          <a:p>
            <a:pPr>
              <a:lnSpc>
                <a:spcPct val="100000"/>
              </a:lnSpc>
            </a:pPr>
            <a:r>
              <a:rPr lang="en-US" sz="1800" dirty="0"/>
              <a:t>You may use some of these directly, like </a:t>
            </a:r>
            <a:r>
              <a:rPr lang="en-US" sz="1800" b="1" dirty="0"/>
              <a:t>fetch</a:t>
            </a:r>
            <a:r>
              <a:rPr lang="en-US" sz="1800" dirty="0"/>
              <a:t> or </a:t>
            </a:r>
            <a:r>
              <a:rPr lang="en-US" sz="1800" b="1" dirty="0" err="1"/>
              <a:t>setTimeout</a:t>
            </a:r>
            <a:r>
              <a:rPr lang="en-US" sz="1800" dirty="0"/>
              <a:t>.</a:t>
            </a:r>
            <a:endParaRPr lang="en-US" sz="1800" b="1" dirty="0"/>
          </a:p>
          <a:p>
            <a:pPr>
              <a:lnSpc>
                <a:spcPct val="100000"/>
              </a:lnSpc>
            </a:pPr>
            <a:r>
              <a:rPr lang="en-US" sz="1800" dirty="0"/>
              <a:t>More frequently, you will invoke these using a convenient library, like</a:t>
            </a:r>
          </a:p>
          <a:p>
            <a:pPr marL="0" indent="0">
              <a:lnSpc>
                <a:spcPct val="100000"/>
              </a:lnSpc>
              <a:buNone/>
            </a:pPr>
            <a:r>
              <a:rPr lang="en-US" sz="1800" b="0" dirty="0">
                <a:solidFill>
                  <a:srgbClr val="0070C1"/>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axios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b="0" dirty="0">
                <a:solidFill>
                  <a:srgbClr val="000000"/>
                </a:solidFill>
                <a:effectLst/>
                <a:latin typeface="Consolas" panose="020B0609020204030204" pitchFamily="49" charset="0"/>
              </a:rPr>
              <a:t>)</a:t>
            </a:r>
          </a:p>
          <a:p>
            <a:pPr marL="0" indent="0">
              <a:lnSpc>
                <a:spcPct val="100000"/>
              </a:lnSpc>
              <a:buNone/>
            </a:pPr>
            <a:r>
              <a:rPr lang="en-US" sz="1800" dirty="0"/>
              <a:t>  to make an http request, or </a:t>
            </a:r>
          </a:p>
          <a:p>
            <a:pPr marL="0" indent="0">
              <a:lnSpc>
                <a:spcPct val="100000"/>
              </a:lnSpc>
              <a:buNone/>
            </a:pPr>
            <a:r>
              <a:rPr lang="en-US" sz="1800" b="0" dirty="0">
                <a:solidFill>
                  <a:srgbClr val="267F99"/>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fs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readFile</a:t>
            </a:r>
            <a:r>
              <a:rPr lang="en-US" sz="1800" b="0" dirty="0">
                <a:solidFill>
                  <a:srgbClr val="000000"/>
                </a:solidFill>
                <a:effectLst/>
                <a:latin typeface="Consolas" panose="020B0609020204030204" pitchFamily="49" charset="0"/>
              </a:rPr>
              <a:t>(</a:t>
            </a:r>
            <a:r>
              <a:rPr lang="en-US" sz="1800" b="0" dirty="0">
                <a:solidFill>
                  <a:srgbClr val="001080"/>
                </a:solidFill>
                <a:effectLst/>
                <a:latin typeface="Consolas" panose="020B0609020204030204" pitchFamily="49" charset="0"/>
              </a:rPr>
              <a:t>filename)</a:t>
            </a:r>
          </a:p>
          <a:p>
            <a:pPr marL="0" indent="0">
              <a:lnSpc>
                <a:spcPct val="100000"/>
              </a:lnSpc>
              <a:buNone/>
            </a:pPr>
            <a:r>
              <a:rPr lang="en-US" sz="1800" dirty="0"/>
              <a:t>  to read the contents of a file.</a:t>
            </a:r>
          </a:p>
        </p:txBody>
      </p:sp>
      <p:sp>
        <p:nvSpPr>
          <p:cNvPr id="4" name="Slide Number Placeholder 3">
            <a:extLst>
              <a:ext uri="{FF2B5EF4-FFF2-40B4-BE49-F238E27FC236}">
                <a16:creationId xmlns:a16="http://schemas.microsoft.com/office/drawing/2014/main" id="{D801E7F0-7C11-0EF3-099E-55E060E7561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68A5FA98-9E8A-911A-D80F-02212ED403EA}"/>
              </a:ext>
            </a:extLst>
          </p:cNvPr>
          <p:cNvPicPr>
            <a:picLocks noChangeAspect="1"/>
          </p:cNvPicPr>
          <p:nvPr/>
        </p:nvPicPr>
        <p:blipFill>
          <a:blip r:embed="rId3"/>
          <a:stretch>
            <a:fillRect/>
          </a:stretch>
        </p:blipFill>
        <p:spPr>
          <a:xfrm>
            <a:off x="8610600" y="3879850"/>
            <a:ext cx="2876117" cy="2476500"/>
          </a:xfrm>
          <a:prstGeom prst="rect">
            <a:avLst/>
          </a:prstGeom>
        </p:spPr>
      </p:pic>
    </p:spTree>
    <p:extLst>
      <p:ext uri="{BB962C8B-B14F-4D97-AF65-F5344CB8AC3E}">
        <p14:creationId xmlns:p14="http://schemas.microsoft.com/office/powerpoint/2010/main" val="22362457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a:t>Part 2: </a:t>
            </a:r>
            <a:r>
              <a:rPr lang="en-US" dirty="0" err="1"/>
              <a:t>Javascript</a:t>
            </a:r>
            <a:r>
              <a:rPr lang="en-US" dirty="0"/>
              <a:t>/Typescript uses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 Pause also means ‘yield’</a:t>
            </a:r>
          </a:p>
          <a:p>
            <a:r>
              <a:rPr lang="en-US" dirty="0"/>
              <a:t>To make this practical (and avoid cheating!), we need a programming model that encourages this behavior</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C1908-58CA-47C6-5C4A-CE7041555344}"/>
              </a:ext>
            </a:extLst>
          </p:cNvPr>
          <p:cNvSpPr>
            <a:spLocks noGrp="1"/>
          </p:cNvSpPr>
          <p:nvPr>
            <p:ph type="title"/>
          </p:nvPr>
        </p:nvSpPr>
        <p:spPr/>
        <p:txBody>
          <a:bodyPr/>
          <a:lstStyle/>
          <a:p>
            <a:r>
              <a:rPr lang="en-US" b="1" dirty="0"/>
              <a:t>async/await</a:t>
            </a:r>
            <a:r>
              <a:rPr lang="en-US" dirty="0"/>
              <a:t> is a programming model for cooperative multiprocessing</a:t>
            </a:r>
          </a:p>
        </p:txBody>
      </p:sp>
      <p:sp>
        <p:nvSpPr>
          <p:cNvPr id="3" name="Content Placeholder 2">
            <a:extLst>
              <a:ext uri="{FF2B5EF4-FFF2-40B4-BE49-F238E27FC236}">
                <a16:creationId xmlns:a16="http://schemas.microsoft.com/office/drawing/2014/main" id="{C5A2B572-0791-29A3-3ABE-73504FAE7FC9}"/>
              </a:ext>
            </a:extLst>
          </p:cNvPr>
          <p:cNvSpPr>
            <a:spLocks noGrp="1"/>
          </p:cNvSpPr>
          <p:nvPr>
            <p:ph idx="1"/>
          </p:nvPr>
        </p:nvSpPr>
        <p:spPr/>
        <p:txBody>
          <a:bodyPr>
            <a:normAutofit/>
          </a:bodyPr>
          <a:lstStyle/>
          <a:p>
            <a:r>
              <a:rPr lang="en-US" dirty="0"/>
              <a:t>In async/await, the program is organized into a set of "async functions“</a:t>
            </a:r>
          </a:p>
          <a:p>
            <a:r>
              <a:rPr lang="en-US" dirty="0"/>
              <a:t>An async function </a:t>
            </a:r>
            <a:r>
              <a:rPr lang="en-US" u="sng" dirty="0"/>
              <a:t>always</a:t>
            </a:r>
            <a:r>
              <a:rPr lang="en-US" dirty="0"/>
              <a:t> returns a promise.</a:t>
            </a:r>
          </a:p>
          <a:p>
            <a:r>
              <a:rPr lang="en-US" dirty="0"/>
              <a:t>If you </a:t>
            </a:r>
            <a:r>
              <a:rPr lang="en-US" b="1" dirty="0"/>
              <a:t>await</a:t>
            </a:r>
            <a:r>
              <a:rPr lang="en-US" dirty="0"/>
              <a:t> on a promise, your program </a:t>
            </a:r>
            <a:r>
              <a:rPr lang="en-US" dirty="0">
                <a:solidFill>
                  <a:srgbClr val="FF0000"/>
                </a:solidFill>
              </a:rPr>
              <a:t>pauses</a:t>
            </a:r>
            <a:r>
              <a:rPr lang="en-US" dirty="0"/>
              <a:t> its execution until async function is completed. </a:t>
            </a:r>
          </a:p>
          <a:p>
            <a:r>
              <a:rPr lang="en-US" dirty="0"/>
              <a:t>When one program pauses, the runtime can choose to resume executing </a:t>
            </a:r>
            <a:r>
              <a:rPr lang="en-US" dirty="0">
                <a:solidFill>
                  <a:srgbClr val="FF0000"/>
                </a:solidFill>
              </a:rPr>
              <a:t>any </a:t>
            </a:r>
            <a:r>
              <a:rPr lang="en-US" dirty="0"/>
              <a:t>process that is ready to run. </a:t>
            </a:r>
          </a:p>
        </p:txBody>
      </p:sp>
      <p:sp>
        <p:nvSpPr>
          <p:cNvPr id="4" name="Slide Number Placeholder 3">
            <a:extLst>
              <a:ext uri="{FF2B5EF4-FFF2-40B4-BE49-F238E27FC236}">
                <a16:creationId xmlns:a16="http://schemas.microsoft.com/office/drawing/2014/main" id="{39BC67CE-EBDD-3E49-7B69-2C19B45AC4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62121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602ED-9C71-A28B-2EB4-8DF6A1D7BECD}"/>
              </a:ext>
            </a:extLst>
          </p:cNvPr>
          <p:cNvSpPr>
            <a:spLocks noGrp="1"/>
          </p:cNvSpPr>
          <p:nvPr>
            <p:ph type="title"/>
          </p:nvPr>
        </p:nvSpPr>
        <p:spPr/>
        <p:txBody>
          <a:bodyPr/>
          <a:lstStyle/>
          <a:p>
            <a:r>
              <a:rPr lang="en-US" dirty="0"/>
              <a:t>Quick Review of Promises (from M04)</a:t>
            </a:r>
          </a:p>
        </p:txBody>
      </p:sp>
      <p:sp>
        <p:nvSpPr>
          <p:cNvPr id="3" name="Content Placeholder 2">
            <a:extLst>
              <a:ext uri="{FF2B5EF4-FFF2-40B4-BE49-F238E27FC236}">
                <a16:creationId xmlns:a16="http://schemas.microsoft.com/office/drawing/2014/main" id="{C43FABA4-17FE-363F-4E1D-B0B627CC9D3D}"/>
              </a:ext>
            </a:extLst>
          </p:cNvPr>
          <p:cNvSpPr>
            <a:spLocks noGrp="1"/>
          </p:cNvSpPr>
          <p:nvPr>
            <p:ph idx="1"/>
          </p:nvPr>
        </p:nvSpPr>
        <p:spPr>
          <a:xfrm>
            <a:off x="838200" y="1500160"/>
            <a:ext cx="9437016" cy="4351338"/>
          </a:xfrm>
        </p:spPr>
        <p:txBody>
          <a:bodyPr>
            <a:normAutofit/>
          </a:bodyPr>
          <a:lstStyle/>
          <a:p>
            <a:r>
              <a:rPr lang="en-US" dirty="0"/>
              <a:t>Typescript uses the type system to distinguish long-running computations</a:t>
            </a:r>
          </a:p>
          <a:p>
            <a:r>
              <a:rPr lang="en-US" dirty="0"/>
              <a:t>A long-running (IO-bound) computation gets type </a:t>
            </a:r>
            <a:r>
              <a:rPr lang="en-US" b="1" dirty="0"/>
              <a:t>Promise&lt;DataRecord&gt;</a:t>
            </a:r>
            <a:r>
              <a:rPr lang="en-US" dirty="0"/>
              <a:t>, rather than </a:t>
            </a:r>
            <a:r>
              <a:rPr lang="en-US" b="1" dirty="0"/>
              <a:t>DataRecord.</a:t>
            </a:r>
          </a:p>
          <a:p>
            <a:r>
              <a:rPr lang="en-US" b="1" dirty="0"/>
              <a:t>async</a:t>
            </a:r>
            <a:r>
              <a:rPr lang="en-US" dirty="0"/>
              <a:t> functions return Promises</a:t>
            </a:r>
          </a:p>
          <a:p>
            <a:r>
              <a:rPr lang="en-US" dirty="0"/>
              <a:t>Use </a:t>
            </a:r>
            <a:r>
              <a:rPr lang="en-US" b="1" dirty="0"/>
              <a:t>await</a:t>
            </a:r>
            <a:r>
              <a:rPr lang="en-US" dirty="0"/>
              <a:t> to get the result of a promise</a:t>
            </a:r>
          </a:p>
          <a:p>
            <a:r>
              <a:rPr lang="en-US" dirty="0"/>
              <a:t>Every occurrence of </a:t>
            </a:r>
            <a:r>
              <a:rPr lang="en-US" b="1" dirty="0"/>
              <a:t>await </a:t>
            </a:r>
            <a:r>
              <a:rPr lang="en-US" dirty="0"/>
              <a:t>must be in an async function</a:t>
            </a:r>
          </a:p>
          <a:p>
            <a:r>
              <a:rPr lang="en-US" dirty="0"/>
              <a:t>A </a:t>
            </a:r>
            <a:r>
              <a:rPr lang="en-US" b="1" dirty="0"/>
              <a:t>Promise&lt;void&gt;</a:t>
            </a:r>
            <a:r>
              <a:rPr lang="en-US" dirty="0"/>
              <a:t> is executed for effect, so it doesn't make sense to </a:t>
            </a:r>
            <a:r>
              <a:rPr lang="en-US" b="1" dirty="0"/>
              <a:t>await</a:t>
            </a:r>
            <a:r>
              <a:rPr lang="en-US" dirty="0"/>
              <a:t> its result.</a:t>
            </a:r>
          </a:p>
          <a:p>
            <a:endParaRPr lang="en-US" dirty="0"/>
          </a:p>
          <a:p>
            <a:endParaRPr lang="en-US" dirty="0"/>
          </a:p>
          <a:p>
            <a:pPr>
              <a:lnSpc>
                <a:spcPts val="1425"/>
              </a:lnSpc>
            </a:pPr>
            <a:endParaRPr lang="en-US" dirty="0"/>
          </a:p>
        </p:txBody>
      </p:sp>
      <p:sp>
        <p:nvSpPr>
          <p:cNvPr id="4" name="Slide Number Placeholder 3">
            <a:extLst>
              <a:ext uri="{FF2B5EF4-FFF2-40B4-BE49-F238E27FC236}">
                <a16:creationId xmlns:a16="http://schemas.microsoft.com/office/drawing/2014/main" id="{64598B87-B13D-A4E1-B0D5-758F26D4CC1D}"/>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15710574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A promise can be in one of exactly 3 states</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Content Placeholder 7">
            <a:extLst>
              <a:ext uri="{FF2B5EF4-FFF2-40B4-BE49-F238E27FC236}">
                <a16:creationId xmlns:a16="http://schemas.microsoft.com/office/drawing/2014/main" id="{D5C85CCA-136C-08C1-FA65-98C61B06999D}"/>
              </a:ext>
            </a:extLst>
          </p:cNvPr>
          <p:cNvSpPr>
            <a:spLocks noGrp="1"/>
          </p:cNvSpPr>
          <p:nvPr>
            <p:ph idx="1"/>
          </p:nvPr>
        </p:nvSpPr>
        <p:spPr>
          <a:xfrm>
            <a:off x="838199" y="1500160"/>
            <a:ext cx="9386455" cy="4663134"/>
          </a:xfrm>
        </p:spPr>
        <p:txBody>
          <a:bodyPr>
            <a:normAutofit/>
          </a:bodyPr>
          <a:lstStyle/>
          <a:p>
            <a:pPr>
              <a:lnSpc>
                <a:spcPct val="120000"/>
              </a:lnSpc>
            </a:pPr>
            <a:r>
              <a:rPr lang="en-US" sz="2400" b="0" i="0" dirty="0">
                <a:solidFill>
                  <a:srgbClr val="222222"/>
                </a:solidFill>
                <a:effectLst/>
                <a:latin typeface="Verdana" panose="020B0604030504040204" pitchFamily="34" charset="0"/>
                <a:ea typeface="Verdana" panose="020B0604030504040204" pitchFamily="34" charset="0"/>
              </a:rPr>
              <a:t>A JavaScript promise can be in one of three states: </a:t>
            </a: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a:t>
            </a:r>
            <a:r>
              <a:rPr lang="en-US" sz="2400" b="0" i="0" dirty="0">
                <a:solidFill>
                  <a:srgbClr val="FF0000"/>
                </a:solidFill>
                <a:effectLst/>
                <a:latin typeface="Verdana" panose="020B0604030504040204" pitchFamily="34" charset="0"/>
                <a:ea typeface="Verdana" panose="020B0604030504040204" pitchFamily="34" charset="0"/>
              </a:rPr>
              <a:t>fulfilled</a:t>
            </a:r>
            <a:r>
              <a:rPr lang="en-US" sz="2400" b="0" i="0" dirty="0">
                <a:solidFill>
                  <a:srgbClr val="222222"/>
                </a:solidFill>
                <a:effectLst/>
                <a:latin typeface="Verdana" panose="020B0604030504040204" pitchFamily="34" charset="0"/>
                <a:ea typeface="Verdana" panose="020B0604030504040204" pitchFamily="34" charset="0"/>
              </a:rPr>
              <a:t>, or </a:t>
            </a:r>
            <a:r>
              <a:rPr lang="en-US" sz="2400" b="0" i="0" dirty="0">
                <a:solidFill>
                  <a:srgbClr val="FF0000"/>
                </a:solidFill>
                <a:effectLst/>
                <a:latin typeface="Verdana" panose="020B0604030504040204" pitchFamily="34" charset="0"/>
                <a:ea typeface="Verdana" panose="020B0604030504040204" pitchFamily="34" charset="0"/>
              </a:rPr>
              <a:t>rejected</a:t>
            </a:r>
            <a:r>
              <a:rPr lang="en-US" sz="2400" b="0" i="0" dirty="0">
                <a:solidFill>
                  <a:srgbClr val="222222"/>
                </a:solidFill>
                <a:effectLst/>
                <a:latin typeface="Verdana" panose="020B0604030504040204" pitchFamily="34" charset="0"/>
                <a:ea typeface="Verdana" panose="020B0604030504040204" pitchFamily="34" charset="0"/>
              </a:rPr>
              <a:t>. </a:t>
            </a: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is the initial state where the promise is </a:t>
            </a:r>
            <a:r>
              <a:rPr lang="en-US" sz="2400" b="1" i="1" dirty="0">
                <a:solidFill>
                  <a:srgbClr val="222222"/>
                </a:solidFill>
                <a:effectLst/>
                <a:latin typeface="Verdana" panose="020B0604030504040204" pitchFamily="34" charset="0"/>
                <a:ea typeface="Verdana" panose="020B0604030504040204" pitchFamily="34" charset="0"/>
              </a:rPr>
              <a:t>waiting</a:t>
            </a:r>
            <a:r>
              <a:rPr lang="en-US" sz="2400" b="0" i="0" dirty="0">
                <a:solidFill>
                  <a:srgbClr val="222222"/>
                </a:solidFill>
                <a:effectLst/>
                <a:latin typeface="Verdana" panose="020B0604030504040204" pitchFamily="34" charset="0"/>
                <a:ea typeface="Verdana" panose="020B0604030504040204" pitchFamily="34" charset="0"/>
              </a:rPr>
              <a:t> for an operation to complete; Then it becomes </a:t>
            </a:r>
            <a:r>
              <a:rPr lang="en-US" dirty="0">
                <a:solidFill>
                  <a:srgbClr val="FF0000"/>
                </a:solidFill>
              </a:rPr>
              <a:t>Ready</a:t>
            </a:r>
            <a:r>
              <a:rPr lang="en-US" dirty="0"/>
              <a:t> for Execution; and eventually it is </a:t>
            </a:r>
            <a:r>
              <a:rPr lang="en-US" dirty="0">
                <a:solidFill>
                  <a:srgbClr val="FF0000"/>
                </a:solidFill>
              </a:rPr>
              <a:t>Executing </a:t>
            </a:r>
            <a:r>
              <a:rPr lang="en-US" dirty="0"/>
              <a:t>before being resolved</a:t>
            </a:r>
            <a:endParaRPr lang="en-US" sz="2400" b="0" i="0" dirty="0">
              <a:effectLst/>
              <a:latin typeface="Verdana" panose="020B0604030504040204" pitchFamily="34" charset="0"/>
              <a:ea typeface="Verdana" panose="020B0604030504040204" pitchFamily="34" charset="0"/>
            </a:endParaRP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Resolved</a:t>
            </a:r>
            <a:r>
              <a:rPr lang="en-US" sz="2400" b="0" i="0" dirty="0">
                <a:solidFill>
                  <a:srgbClr val="222222"/>
                </a:solidFill>
                <a:effectLst/>
                <a:latin typeface="Verdana" panose="020B0604030504040204" pitchFamily="34" charset="0"/>
                <a:ea typeface="Verdana" panose="020B0604030504040204" pitchFamily="34" charset="0"/>
              </a:rPr>
              <a:t>: either fulfilled or rejected. </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fulfilled</a:t>
            </a:r>
            <a:r>
              <a:rPr lang="en-US" b="0" i="0" dirty="0">
                <a:solidFill>
                  <a:srgbClr val="222222"/>
                </a:solidFill>
                <a:effectLst/>
                <a:latin typeface="Verdana" panose="020B0604030504040204" pitchFamily="34" charset="0"/>
                <a:ea typeface="Verdana" panose="020B0604030504040204" pitchFamily="34" charset="0"/>
              </a:rPr>
              <a:t> means the operation was successful,</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rejected</a:t>
            </a:r>
            <a:r>
              <a:rPr lang="en-US" b="0" i="0" dirty="0">
                <a:solidFill>
                  <a:srgbClr val="222222"/>
                </a:solidFill>
                <a:effectLst/>
                <a:latin typeface="Verdana" panose="020B0604030504040204" pitchFamily="34" charset="0"/>
                <a:ea typeface="Verdana" panose="020B0604030504040204" pitchFamily="34" charset="0"/>
              </a:rPr>
              <a:t> indicates that the operation failed.</a:t>
            </a:r>
            <a:endParaRPr lang="en-US" sz="2400" dirty="0">
              <a:latin typeface="Verdana" panose="020B0604030504040204" pitchFamily="34" charset="0"/>
              <a:ea typeface="Verdana" panose="020B0604030504040204" pitchFamily="34" charset="0"/>
            </a:endParaRPr>
          </a:p>
          <a:p>
            <a:endParaRPr lang="en-US" dirty="0"/>
          </a:p>
        </p:txBody>
      </p:sp>
    </p:spTree>
    <p:extLst>
      <p:ext uri="{BB962C8B-B14F-4D97-AF65-F5344CB8AC3E}">
        <p14:creationId xmlns:p14="http://schemas.microsoft.com/office/powerpoint/2010/main" val="6886642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6BC9-D17A-04C0-6494-8EC9E3BDD202}"/>
              </a:ext>
            </a:extLst>
          </p:cNvPr>
          <p:cNvSpPr>
            <a:spLocks noGrp="1"/>
          </p:cNvSpPr>
          <p:nvPr>
            <p:ph type="title"/>
          </p:nvPr>
        </p:nvSpPr>
        <p:spPr/>
        <p:txBody>
          <a:bodyPr/>
          <a:lstStyle/>
          <a:p>
            <a:r>
              <a:rPr lang="en-US" dirty="0"/>
              <a:t>Async functions return Promises</a:t>
            </a:r>
          </a:p>
        </p:txBody>
      </p:sp>
      <p:sp>
        <p:nvSpPr>
          <p:cNvPr id="4" name="Slide Number Placeholder 3">
            <a:extLst>
              <a:ext uri="{FF2B5EF4-FFF2-40B4-BE49-F238E27FC236}">
                <a16:creationId xmlns:a16="http://schemas.microsoft.com/office/drawing/2014/main" id="{B547F1A3-4AF0-248D-8B15-63E6DEE8CE1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A9CEBD37-F784-A140-E148-C38031ACAC3B}"/>
              </a:ext>
            </a:extLst>
          </p:cNvPr>
          <p:cNvSpPr txBox="1"/>
          <p:nvPr/>
        </p:nvSpPr>
        <p:spPr>
          <a:xfrm>
            <a:off x="838201" y="1828800"/>
            <a:ext cx="9808674"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5611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40E55-49F5-0E5A-0607-FDC32372F7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60A510-527B-E388-A3FD-221E654691CD}"/>
              </a:ext>
            </a:extLst>
          </p:cNvPr>
          <p:cNvSpPr>
            <a:spLocks noGrp="1"/>
          </p:cNvSpPr>
          <p:nvPr>
            <p:ph type="title"/>
          </p:nvPr>
        </p:nvSpPr>
        <p:spPr/>
        <p:txBody>
          <a:bodyPr/>
          <a:lstStyle/>
          <a:p>
            <a:r>
              <a:rPr lang="en-US" dirty="0"/>
              <a:t>This function returns a promise that will resolve with </a:t>
            </a:r>
            <a:r>
              <a:rPr lang="en-US" b="1" dirty="0"/>
              <a:t>m</a:t>
            </a:r>
            <a:r>
              <a:rPr lang="en-US" dirty="0"/>
              <a:t>.</a:t>
            </a:r>
          </a:p>
        </p:txBody>
      </p:sp>
      <p:sp>
        <p:nvSpPr>
          <p:cNvPr id="4" name="Slide Number Placeholder 3">
            <a:extLst>
              <a:ext uri="{FF2B5EF4-FFF2-40B4-BE49-F238E27FC236}">
                <a16:creationId xmlns:a16="http://schemas.microsoft.com/office/drawing/2014/main" id="{9110C2FF-4083-C210-1180-C0E4C6741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28F50AC3-424F-A8DF-43A6-6FE8D115820F}"/>
              </a:ext>
            </a:extLst>
          </p:cNvPr>
          <p:cNvGrpSpPr/>
          <p:nvPr/>
        </p:nvGrpSpPr>
        <p:grpSpPr>
          <a:xfrm>
            <a:off x="1050851" y="1807463"/>
            <a:ext cx="9632237" cy="3416320"/>
            <a:chOff x="838201" y="1828800"/>
            <a:chExt cx="8308888" cy="3416320"/>
          </a:xfrm>
        </p:grpSpPr>
        <p:sp>
          <p:nvSpPr>
            <p:cNvPr id="13" name="TextBox 12">
              <a:extLst>
                <a:ext uri="{FF2B5EF4-FFF2-40B4-BE49-F238E27FC236}">
                  <a16:creationId xmlns:a16="http://schemas.microsoft.com/office/drawing/2014/main" id="{56A4A78B-FD5E-79E1-BFB0-FECECE42CF94}"/>
                </a:ext>
              </a:extLst>
            </p:cNvPr>
            <p:cNvSpPr txBox="1"/>
            <p:nvPr/>
          </p:nvSpPr>
          <p:spPr>
            <a:xfrm>
              <a:off x="838201" y="1828800"/>
              <a:ext cx="8308888"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5" name="Rectangle 14">
              <a:extLst>
                <a:ext uri="{FF2B5EF4-FFF2-40B4-BE49-F238E27FC236}">
                  <a16:creationId xmlns:a16="http://schemas.microsoft.com/office/drawing/2014/main" id="{9D4EB059-0955-B92A-AC3F-3F10FA7D1220}"/>
                </a:ext>
              </a:extLst>
            </p:cNvPr>
            <p:cNvSpPr/>
            <p:nvPr/>
          </p:nvSpPr>
          <p:spPr>
            <a:xfrm>
              <a:off x="1454602" y="3373889"/>
              <a:ext cx="6200848" cy="1054273"/>
            </a:xfrm>
            <a:prstGeom prst="rect">
              <a:avLst/>
            </a:prstGeom>
            <a:solidFill>
              <a:srgbClr val="92D050">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Tree>
    <p:extLst>
      <p:ext uri="{BB962C8B-B14F-4D97-AF65-F5344CB8AC3E}">
        <p14:creationId xmlns:p14="http://schemas.microsoft.com/office/powerpoint/2010/main" val="36231043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95FEC-6821-6977-2431-C067695AC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6CF76-DB57-9E39-882E-43FBB293B9AB}"/>
              </a:ext>
            </a:extLst>
          </p:cNvPr>
          <p:cNvSpPr>
            <a:spLocks noGrp="1"/>
          </p:cNvSpPr>
          <p:nvPr>
            <p:ph type="title"/>
          </p:nvPr>
        </p:nvSpPr>
        <p:spPr/>
        <p:txBody>
          <a:bodyPr/>
          <a:lstStyle/>
          <a:p>
            <a:r>
              <a:rPr lang="en-US" b="1" dirty="0"/>
              <a:t>Run to Completion </a:t>
            </a:r>
            <a:r>
              <a:rPr lang="en-US" dirty="0"/>
              <a:t>is a central concept</a:t>
            </a:r>
          </a:p>
        </p:txBody>
      </p:sp>
      <p:sp>
        <p:nvSpPr>
          <p:cNvPr id="3" name="Content Placeholder 2">
            <a:extLst>
              <a:ext uri="{FF2B5EF4-FFF2-40B4-BE49-F238E27FC236}">
                <a16:creationId xmlns:a16="http://schemas.microsoft.com/office/drawing/2014/main" id="{3538D3B6-EF06-E264-4B6F-5ECA254C9BD9}"/>
              </a:ext>
            </a:extLst>
          </p:cNvPr>
          <p:cNvSpPr>
            <a:spLocks noGrp="1"/>
          </p:cNvSpPr>
          <p:nvPr>
            <p:ph idx="1"/>
          </p:nvPr>
        </p:nvSpPr>
        <p:spPr/>
        <p:txBody>
          <a:bodyPr>
            <a:normAutofit/>
          </a:bodyPr>
          <a:lstStyle/>
          <a:p>
            <a:r>
              <a:rPr lang="en-US" dirty="0"/>
              <a:t>In JS, you work on one and one task only (i.e., event loop has a single call stack)</a:t>
            </a:r>
          </a:p>
          <a:p>
            <a:r>
              <a:rPr lang="en-US" dirty="0"/>
              <a:t>Also, if you start a task, you must finish it (i.e., call stack must be emptied) before you start another task. This pattern is called "run-to-completion" semantics</a:t>
            </a:r>
          </a:p>
          <a:p>
            <a:r>
              <a:rPr lang="en-US" dirty="0"/>
              <a:t>A task can be paused in exactly two places:</a:t>
            </a:r>
          </a:p>
          <a:p>
            <a:pPr lvl="1"/>
            <a:r>
              <a:rPr lang="en-US" dirty="0"/>
              <a:t>when it reaches an await</a:t>
            </a:r>
          </a:p>
          <a:p>
            <a:pPr lvl="1"/>
            <a:r>
              <a:rPr lang="en-US" dirty="0"/>
              <a:t>when it reaches a return</a:t>
            </a:r>
          </a:p>
        </p:txBody>
      </p:sp>
      <p:sp>
        <p:nvSpPr>
          <p:cNvPr id="4" name="Slide Number Placeholder 3">
            <a:extLst>
              <a:ext uri="{FF2B5EF4-FFF2-40B4-BE49-F238E27FC236}">
                <a16:creationId xmlns:a16="http://schemas.microsoft.com/office/drawing/2014/main" id="{B94B5527-A2AF-C396-DB8A-CD99C811F1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25112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4E37-B77C-9C4E-D129-5600BEF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C7B646-E7C9-1ECF-A13D-7C617B073950}"/>
              </a:ext>
            </a:extLst>
          </p:cNvPr>
          <p:cNvSpPr>
            <a:spLocks noGrp="1"/>
          </p:cNvSpPr>
          <p:nvPr>
            <p:ph type="title"/>
          </p:nvPr>
        </p:nvSpPr>
        <p:spPr/>
        <p:txBody>
          <a:bodyPr/>
          <a:lstStyle/>
          <a:p>
            <a:r>
              <a:rPr lang="en-US" dirty="0"/>
              <a:t>This function can only be paused in certain places</a:t>
            </a:r>
          </a:p>
        </p:txBody>
      </p:sp>
      <p:sp>
        <p:nvSpPr>
          <p:cNvPr id="4" name="Slide Number Placeholder 3">
            <a:extLst>
              <a:ext uri="{FF2B5EF4-FFF2-40B4-BE49-F238E27FC236}">
                <a16:creationId xmlns:a16="http://schemas.microsoft.com/office/drawing/2014/main" id="{00BB5638-3499-FC92-7DE1-50A479596E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480AB355-7D55-D6A3-81E9-2B286F62CD44}"/>
              </a:ext>
            </a:extLst>
          </p:cNvPr>
          <p:cNvGrpSpPr/>
          <p:nvPr/>
        </p:nvGrpSpPr>
        <p:grpSpPr>
          <a:xfrm>
            <a:off x="838200" y="1828800"/>
            <a:ext cx="10222063" cy="3046988"/>
            <a:chOff x="838200" y="1828800"/>
            <a:chExt cx="10222063" cy="3046988"/>
          </a:xfrm>
        </p:grpSpPr>
        <p:sp>
          <p:nvSpPr>
            <p:cNvPr id="6" name="TextBox 5">
              <a:extLst>
                <a:ext uri="{FF2B5EF4-FFF2-40B4-BE49-F238E27FC236}">
                  <a16:creationId xmlns:a16="http://schemas.microsoft.com/office/drawing/2014/main" id="{8E901E3E-3BD3-D61C-AF10-3804D308DE16}"/>
                </a:ext>
              </a:extLst>
            </p:cNvPr>
            <p:cNvSpPr txBox="1"/>
            <p:nvPr/>
          </p:nvSpPr>
          <p:spPr>
            <a:xfrm>
              <a:off x="838200" y="1828800"/>
              <a:ext cx="10222063"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3" name="Rectangle 2">
              <a:extLst>
                <a:ext uri="{FF2B5EF4-FFF2-40B4-BE49-F238E27FC236}">
                  <a16:creationId xmlns:a16="http://schemas.microsoft.com/office/drawing/2014/main" id="{AD72C626-B5CD-E8CD-D7D3-DB3B71C929C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5" name="Rectangle 4">
              <a:extLst>
                <a:ext uri="{FF2B5EF4-FFF2-40B4-BE49-F238E27FC236}">
                  <a16:creationId xmlns:a16="http://schemas.microsoft.com/office/drawing/2014/main" id="{FBBEA780-06CD-240A-2352-06148FFFCBDB}"/>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7" name="TextBox 6">
            <a:extLst>
              <a:ext uri="{FF2B5EF4-FFF2-40B4-BE49-F238E27FC236}">
                <a16:creationId xmlns:a16="http://schemas.microsoft.com/office/drawing/2014/main" id="{A7054B68-E3A5-6C34-34E3-FEFB197B43B6}"/>
              </a:ext>
            </a:extLst>
          </p:cNvPr>
          <p:cNvSpPr txBox="1"/>
          <p:nvPr/>
        </p:nvSpPr>
        <p:spPr>
          <a:xfrm>
            <a:off x="8923282" y="2306829"/>
            <a:ext cx="2974427" cy="10729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It will never pause in </a:t>
            </a:r>
          </a:p>
          <a:p>
            <a:pPr algn="l"/>
            <a:r>
              <a:rPr lang="en-US" sz="2000" dirty="0">
                <a:solidFill>
                  <a:schemeClr val="tx1"/>
                </a:solidFill>
                <a:latin typeface="Verdana" panose="020B0604030504040204" pitchFamily="34" charset="0"/>
                <a:ea typeface="Verdana" panose="020B0604030504040204" pitchFamily="34" charset="0"/>
              </a:rPr>
              <a:t>here. This is called a </a:t>
            </a:r>
          </a:p>
          <a:p>
            <a:pPr algn="l"/>
            <a:r>
              <a:rPr lang="en-US" sz="2000" dirty="0">
                <a:solidFill>
                  <a:schemeClr val="tx1"/>
                </a:solidFill>
                <a:latin typeface="Verdana" panose="020B0604030504040204" pitchFamily="34" charset="0"/>
                <a:ea typeface="Verdana" panose="020B0604030504040204" pitchFamily="34" charset="0"/>
              </a:rPr>
              <a:t>Critical Section</a:t>
            </a:r>
          </a:p>
        </p:txBody>
      </p:sp>
      <p:cxnSp>
        <p:nvCxnSpPr>
          <p:cNvPr id="8" name="Straight Arrow Connector 7">
            <a:extLst>
              <a:ext uri="{FF2B5EF4-FFF2-40B4-BE49-F238E27FC236}">
                <a16:creationId xmlns:a16="http://schemas.microsoft.com/office/drawing/2014/main" id="{83030F62-7303-04CB-DF87-217370AD0FA9}"/>
              </a:ext>
            </a:extLst>
          </p:cNvPr>
          <p:cNvCxnSpPr>
            <a:cxnSpLocks/>
          </p:cNvCxnSpPr>
          <p:nvPr/>
        </p:nvCxnSpPr>
        <p:spPr>
          <a:xfrm flipH="1">
            <a:off x="4407614" y="2706069"/>
            <a:ext cx="4515668" cy="0"/>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92DF861A-00B0-115D-46D2-C2FE0E83C985}"/>
              </a:ext>
            </a:extLst>
          </p:cNvPr>
          <p:cNvSpPr txBox="1"/>
          <p:nvPr/>
        </p:nvSpPr>
        <p:spPr>
          <a:xfrm>
            <a:off x="8610600" y="3632831"/>
            <a:ext cx="3287110" cy="84216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Or in here (this is </a:t>
            </a:r>
          </a:p>
          <a:p>
            <a:pPr algn="l"/>
            <a:r>
              <a:rPr lang="en-US" sz="2000" dirty="0">
                <a:solidFill>
                  <a:schemeClr val="tx1"/>
                </a:solidFill>
                <a:latin typeface="Verdana" panose="020B0604030504040204" pitchFamily="34" charset="0"/>
                <a:ea typeface="Verdana" panose="020B0604030504040204" pitchFamily="34" charset="0"/>
              </a:rPr>
              <a:t>another Critical Section)</a:t>
            </a:r>
          </a:p>
        </p:txBody>
      </p:sp>
      <p:cxnSp>
        <p:nvCxnSpPr>
          <p:cNvPr id="14" name="Straight Arrow Connector 13">
            <a:extLst>
              <a:ext uri="{FF2B5EF4-FFF2-40B4-BE49-F238E27FC236}">
                <a16:creationId xmlns:a16="http://schemas.microsoft.com/office/drawing/2014/main" id="{D50DDC1E-F961-9AFF-F97B-74EDC8E77DF4}"/>
              </a:ext>
            </a:extLst>
          </p:cNvPr>
          <p:cNvCxnSpPr>
            <a:cxnSpLocks/>
            <a:stCxn id="13" idx="1"/>
            <a:endCxn id="5" idx="3"/>
          </p:cNvCxnSpPr>
          <p:nvPr/>
        </p:nvCxnSpPr>
        <p:spPr>
          <a:xfrm flipH="1" flipV="1">
            <a:off x="4407612" y="3901026"/>
            <a:ext cx="4202988" cy="152888"/>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2" name="Oval 11">
            <a:extLst>
              <a:ext uri="{FF2B5EF4-FFF2-40B4-BE49-F238E27FC236}">
                <a16:creationId xmlns:a16="http://schemas.microsoft.com/office/drawing/2014/main" id="{FCD4A80A-3EFB-2B1F-4760-0ABED53AA03F}"/>
              </a:ext>
            </a:extLst>
          </p:cNvPr>
          <p:cNvSpPr/>
          <p:nvPr/>
        </p:nvSpPr>
        <p:spPr>
          <a:xfrm>
            <a:off x="5000741" y="5366174"/>
            <a:ext cx="2298032" cy="671177"/>
          </a:xfrm>
          <a:prstGeom prst="ellipse">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000" dirty="0">
                <a:ln w="0"/>
                <a:solidFill>
                  <a:schemeClr val="tx1"/>
                </a:solidFill>
                <a:effectLst>
                  <a:outerShdw blurRad="38100" dist="19050" dir="2700000" algn="tl" rotWithShape="0">
                    <a:schemeClr val="dk1">
                      <a:alpha val="40000"/>
                    </a:schemeClr>
                  </a:outerShdw>
                </a:effectLst>
              </a:rPr>
              <a:t>Awaited work</a:t>
            </a:r>
          </a:p>
        </p:txBody>
      </p:sp>
      <p:cxnSp>
        <p:nvCxnSpPr>
          <p:cNvPr id="17" name="Straight Arrow Connector 16">
            <a:extLst>
              <a:ext uri="{FF2B5EF4-FFF2-40B4-BE49-F238E27FC236}">
                <a16:creationId xmlns:a16="http://schemas.microsoft.com/office/drawing/2014/main" id="{F643AC10-1F9E-8DD3-E559-9C0F70C1BB23}"/>
              </a:ext>
            </a:extLst>
          </p:cNvPr>
          <p:cNvCxnSpPr/>
          <p:nvPr/>
        </p:nvCxnSpPr>
        <p:spPr>
          <a:xfrm flipH="1" flipV="1">
            <a:off x="4283242" y="4474997"/>
            <a:ext cx="870328" cy="99937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619310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C6A7-42E5-92A7-A388-5D39A22C6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0E2B-EA5B-E5E3-4734-1DD582E88390}"/>
              </a:ext>
            </a:extLst>
          </p:cNvPr>
          <p:cNvSpPr>
            <a:spLocks noGrp="1"/>
          </p:cNvSpPr>
          <p:nvPr>
            <p:ph type="title"/>
          </p:nvPr>
        </p:nvSpPr>
        <p:spPr/>
        <p:txBody>
          <a:bodyPr/>
          <a:lstStyle/>
          <a:p>
            <a:r>
              <a:rPr lang="en-US" dirty="0"/>
              <a:t>What happens at those pause points?</a:t>
            </a:r>
          </a:p>
        </p:txBody>
      </p:sp>
      <p:sp>
        <p:nvSpPr>
          <p:cNvPr id="4" name="Slide Number Placeholder 3">
            <a:extLst>
              <a:ext uri="{FF2B5EF4-FFF2-40B4-BE49-F238E27FC236}">
                <a16:creationId xmlns:a16="http://schemas.microsoft.com/office/drawing/2014/main" id="{098AE61C-7625-0DB4-C960-56F5656312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4D01E542-52F2-E8A8-9707-37515E355D5C}"/>
              </a:ext>
            </a:extLst>
          </p:cNvPr>
          <p:cNvGrpSpPr/>
          <p:nvPr/>
        </p:nvGrpSpPr>
        <p:grpSpPr>
          <a:xfrm>
            <a:off x="1050852" y="1807463"/>
            <a:ext cx="8308888" cy="3046988"/>
            <a:chOff x="838201" y="1828800"/>
            <a:chExt cx="8308888" cy="3046988"/>
          </a:xfrm>
        </p:grpSpPr>
        <p:sp>
          <p:nvSpPr>
            <p:cNvPr id="13" name="TextBox 12">
              <a:extLst>
                <a:ext uri="{FF2B5EF4-FFF2-40B4-BE49-F238E27FC236}">
                  <a16:creationId xmlns:a16="http://schemas.microsoft.com/office/drawing/2014/main" id="{524B25CF-BEFF-046A-98F7-748F614143FC}"/>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4" name="Rectangle 13">
              <a:extLst>
                <a:ext uri="{FF2B5EF4-FFF2-40B4-BE49-F238E27FC236}">
                  <a16:creationId xmlns:a16="http://schemas.microsoft.com/office/drawing/2014/main" id="{8FCB9E41-85AC-1023-B08A-8B59385C742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5" name="Rectangle 14">
              <a:extLst>
                <a:ext uri="{FF2B5EF4-FFF2-40B4-BE49-F238E27FC236}">
                  <a16:creationId xmlns:a16="http://schemas.microsoft.com/office/drawing/2014/main" id="{C15C1478-8464-EE6D-2843-95C0DBFF2C95}"/>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pic>
        <p:nvPicPr>
          <p:cNvPr id="20" name="Picture 19" descr="A yellow triangle sign on a pole&#10;&#10;AI-generated content may be incorrect.">
            <a:extLst>
              <a:ext uri="{FF2B5EF4-FFF2-40B4-BE49-F238E27FC236}">
                <a16:creationId xmlns:a16="http://schemas.microsoft.com/office/drawing/2014/main" id="{C3898ABD-47E4-1D05-62BB-461544070F4D}"/>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6" y="2532393"/>
            <a:ext cx="565449" cy="713028"/>
          </a:xfrm>
          <a:prstGeom prst="rect">
            <a:avLst/>
          </a:prstGeom>
        </p:spPr>
      </p:pic>
      <p:pic>
        <p:nvPicPr>
          <p:cNvPr id="21" name="Picture 20" descr="A yellow triangle sign on a pole&#10;&#10;AI-generated content may be incorrect.">
            <a:extLst>
              <a:ext uri="{FF2B5EF4-FFF2-40B4-BE49-F238E27FC236}">
                <a16:creationId xmlns:a16="http://schemas.microsoft.com/office/drawing/2014/main" id="{F18DA810-04C3-45CC-D75C-6FCD09FD2EE9}"/>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5" y="3879688"/>
            <a:ext cx="565449" cy="713028"/>
          </a:xfrm>
          <a:prstGeom prst="rect">
            <a:avLst/>
          </a:prstGeom>
        </p:spPr>
      </p:pic>
      <p:sp>
        <p:nvSpPr>
          <p:cNvPr id="22" name="TextBox 21">
            <a:extLst>
              <a:ext uri="{FF2B5EF4-FFF2-40B4-BE49-F238E27FC236}">
                <a16:creationId xmlns:a16="http://schemas.microsoft.com/office/drawing/2014/main" id="{F7501E0E-3098-D85A-EE3B-7B7C3DD3BA87}"/>
              </a:ext>
            </a:extLst>
          </p:cNvPr>
          <p:cNvSpPr txBox="1"/>
          <p:nvPr/>
        </p:nvSpPr>
        <p:spPr>
          <a:xfrm>
            <a:off x="8220172" y="3996370"/>
            <a:ext cx="1979629" cy="596188"/>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Pause points</a:t>
            </a:r>
          </a:p>
        </p:txBody>
      </p:sp>
      <p:cxnSp>
        <p:nvCxnSpPr>
          <p:cNvPr id="24" name="Straight Arrow Connector 23">
            <a:extLst>
              <a:ext uri="{FF2B5EF4-FFF2-40B4-BE49-F238E27FC236}">
                <a16:creationId xmlns:a16="http://schemas.microsoft.com/office/drawing/2014/main" id="{A45A24AF-25E9-0D54-9223-CEB9EBCDAD1B}"/>
              </a:ext>
            </a:extLst>
          </p:cNvPr>
          <p:cNvCxnSpPr>
            <a:cxnSpLocks/>
            <a:stCxn id="22" idx="1"/>
            <a:endCxn id="20" idx="3"/>
          </p:cNvCxnSpPr>
          <p:nvPr/>
        </p:nvCxnSpPr>
        <p:spPr>
          <a:xfrm flipH="1" flipV="1">
            <a:off x="3683755" y="2888907"/>
            <a:ext cx="4536417" cy="14055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E1E3DBE-FA26-3DF1-DB47-7EE45163FEEE}"/>
              </a:ext>
            </a:extLst>
          </p:cNvPr>
          <p:cNvCxnSpPr>
            <a:cxnSpLocks/>
            <a:stCxn id="22" idx="1"/>
          </p:cNvCxnSpPr>
          <p:nvPr/>
        </p:nvCxnSpPr>
        <p:spPr>
          <a:xfrm flipH="1" flipV="1">
            <a:off x="3401029" y="4117002"/>
            <a:ext cx="4819143" cy="17746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9436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0D74F-37D9-58E0-28AE-F4FE65F1E4AA}"/>
              </a:ext>
            </a:extLst>
          </p:cNvPr>
          <p:cNvSpPr>
            <a:spLocks noGrp="1"/>
          </p:cNvSpPr>
          <p:nvPr>
            <p:ph type="title"/>
          </p:nvPr>
        </p:nvSpPr>
        <p:spPr/>
        <p:txBody>
          <a:bodyPr/>
          <a:lstStyle/>
          <a:p>
            <a:r>
              <a:rPr lang="en-US" dirty="0"/>
              <a:t>What happens when you await?</a:t>
            </a:r>
          </a:p>
        </p:txBody>
      </p:sp>
      <p:sp>
        <p:nvSpPr>
          <p:cNvPr id="3" name="Content Placeholder 2">
            <a:extLst>
              <a:ext uri="{FF2B5EF4-FFF2-40B4-BE49-F238E27FC236}">
                <a16:creationId xmlns:a16="http://schemas.microsoft.com/office/drawing/2014/main" id="{923883D1-804C-2B0E-B307-7E10EB59752B}"/>
              </a:ext>
            </a:extLst>
          </p:cNvPr>
          <p:cNvSpPr>
            <a:spLocks noGrp="1"/>
          </p:cNvSpPr>
          <p:nvPr>
            <p:ph idx="1"/>
          </p:nvPr>
        </p:nvSpPr>
        <p:spPr>
          <a:xfrm>
            <a:off x="838200" y="1500160"/>
            <a:ext cx="9240078" cy="4351338"/>
          </a:xfrm>
        </p:spPr>
        <p:txBody>
          <a:bodyPr>
            <a:normAutofit fontScale="92500"/>
          </a:bodyPr>
          <a:lstStyle/>
          <a:p>
            <a:r>
              <a:rPr lang="en-US" dirty="0"/>
              <a:t>When you ‘await’ you are inside some async procedure.</a:t>
            </a:r>
          </a:p>
          <a:p>
            <a:r>
              <a:rPr lang="en-US" dirty="0"/>
              <a:t>In the body of that procedure, if you await on some task, you are cooperating with the event loop by allowing it to work on something else.</a:t>
            </a:r>
          </a:p>
          <a:p>
            <a:r>
              <a:rPr lang="en-US" dirty="0"/>
              <a:t>In technical terms, you are </a:t>
            </a:r>
            <a:r>
              <a:rPr lang="en-US" dirty="0">
                <a:solidFill>
                  <a:srgbClr val="FF0000"/>
                </a:solidFill>
              </a:rPr>
              <a:t>returning</a:t>
            </a:r>
            <a:r>
              <a:rPr lang="en-US" dirty="0"/>
              <a:t> (to the </a:t>
            </a:r>
            <a:r>
              <a:rPr lang="en-US" dirty="0">
                <a:highlight>
                  <a:srgbClr val="FFFF00"/>
                </a:highlight>
              </a:rPr>
              <a:t>caller of the original async procedure</a:t>
            </a:r>
            <a:r>
              <a:rPr lang="en-US" dirty="0"/>
              <a:t>) with a </a:t>
            </a:r>
            <a:r>
              <a:rPr lang="en-US" b="1" i="1" dirty="0"/>
              <a:t>pending</a:t>
            </a:r>
            <a:r>
              <a:rPr lang="en-US" i="1" dirty="0"/>
              <a:t> </a:t>
            </a:r>
            <a:r>
              <a:rPr lang="en-US" dirty="0"/>
              <a:t>promise which means that some work will be completed in the future.</a:t>
            </a:r>
          </a:p>
          <a:p>
            <a:r>
              <a:rPr lang="en-US" dirty="0"/>
              <a:t>While you are waiting for that future, event loop will </a:t>
            </a:r>
            <a:r>
              <a:rPr lang="en-US" dirty="0">
                <a:solidFill>
                  <a:srgbClr val="FF0000"/>
                </a:solidFill>
              </a:rPr>
              <a:t>continue finishing</a:t>
            </a:r>
            <a:r>
              <a:rPr lang="en-US" dirty="0"/>
              <a:t> its current task (whatever is in call stack) and then other tasks (whatever is in callback queue).</a:t>
            </a:r>
          </a:p>
          <a:p>
            <a:r>
              <a:rPr lang="en-US" dirty="0"/>
              <a:t>Eventually the event loop will complete the </a:t>
            </a:r>
            <a:r>
              <a:rPr lang="en-US" b="1" i="1" dirty="0"/>
              <a:t>awaited</a:t>
            </a:r>
            <a:r>
              <a:rPr lang="en-US" i="1" dirty="0"/>
              <a:t> </a:t>
            </a:r>
            <a:r>
              <a:rPr lang="en-US" dirty="0"/>
              <a:t>work.</a:t>
            </a:r>
          </a:p>
        </p:txBody>
      </p:sp>
      <p:sp>
        <p:nvSpPr>
          <p:cNvPr id="4" name="Slide Number Placeholder 3">
            <a:extLst>
              <a:ext uri="{FF2B5EF4-FFF2-40B4-BE49-F238E27FC236}">
                <a16:creationId xmlns:a16="http://schemas.microsoft.com/office/drawing/2014/main" id="{5D0C82EA-6AFA-0238-FD72-B79658B367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82660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B6FF2-D7E9-5798-4A7B-8CC815E92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B1FB9-6229-BC24-7548-3E614A7B2BE7}"/>
              </a:ext>
            </a:extLst>
          </p:cNvPr>
          <p:cNvSpPr>
            <a:spLocks noGrp="1"/>
          </p:cNvSpPr>
          <p:nvPr>
            <p:ph type="title"/>
          </p:nvPr>
        </p:nvSpPr>
        <p:spPr/>
        <p:txBody>
          <a:bodyPr/>
          <a:lstStyle/>
          <a:p>
            <a:r>
              <a:rPr lang="en-US" dirty="0"/>
              <a:t>How does JS Event Loop make this happen?</a:t>
            </a:r>
          </a:p>
        </p:txBody>
      </p:sp>
      <p:sp>
        <p:nvSpPr>
          <p:cNvPr id="4" name="Slide Number Placeholder 3">
            <a:extLst>
              <a:ext uri="{FF2B5EF4-FFF2-40B4-BE49-F238E27FC236}">
                <a16:creationId xmlns:a16="http://schemas.microsoft.com/office/drawing/2014/main" id="{EA3A904D-F20A-D34F-4524-7477EE34E62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2B28A1BC-D08D-6A8C-D1F1-3D3620D33AC2}"/>
              </a:ext>
            </a:extLst>
          </p:cNvPr>
          <p:cNvSpPr txBox="1">
            <a:spLocks/>
          </p:cNvSpPr>
          <p:nvPr/>
        </p:nvSpPr>
        <p:spPr>
          <a:xfrm>
            <a:off x="838200" y="1691622"/>
            <a:ext cx="4659086" cy="480061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a:t>The </a:t>
            </a:r>
            <a:r>
              <a:rPr lang="en-US" dirty="0" err="1"/>
              <a:t>WebAPI</a:t>
            </a:r>
            <a:r>
              <a:rPr lang="en-US" dirty="0"/>
              <a:t> is used for asynchronous tasks</a:t>
            </a:r>
          </a:p>
          <a:p>
            <a:r>
              <a:rPr lang="en-US" dirty="0"/>
              <a:t>Queues are used for “await”-ed tasks</a:t>
            </a:r>
          </a:p>
          <a:p>
            <a:r>
              <a:rPr lang="en-US" dirty="0"/>
              <a:t>When call stack becomes </a:t>
            </a:r>
            <a:r>
              <a:rPr lang="en-US" dirty="0">
                <a:solidFill>
                  <a:srgbClr val="FF0000"/>
                </a:solidFill>
              </a:rPr>
              <a:t>empty</a:t>
            </a:r>
            <a:r>
              <a:rPr lang="en-US" dirty="0"/>
              <a:t>, the event loop picks up tasks from Callback Queues</a:t>
            </a:r>
          </a:p>
        </p:txBody>
      </p:sp>
      <p:pic>
        <p:nvPicPr>
          <p:cNvPr id="1030" name="Picture 6">
            <a:extLst>
              <a:ext uri="{FF2B5EF4-FFF2-40B4-BE49-F238E27FC236}">
                <a16:creationId xmlns:a16="http://schemas.microsoft.com/office/drawing/2014/main" id="{BD18DA11-1A64-B2DC-B906-FF4A98FDE87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3386" y="1892300"/>
            <a:ext cx="6094427" cy="307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26907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Let’s start with a simple request</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40120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(32);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2212691"/>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1015.98 msec</a:t>
            </a:r>
          </a:p>
        </p:txBody>
      </p:sp>
      <p:sp>
        <p:nvSpPr>
          <p:cNvPr id="6" name="TextBox 5">
            <a:extLst>
              <a:ext uri="{FF2B5EF4-FFF2-40B4-BE49-F238E27FC236}">
                <a16:creationId xmlns:a16="http://schemas.microsoft.com/office/drawing/2014/main" id="{10F73DF1-E385-26F3-57AF-14F63A03A54D}"/>
              </a:ext>
            </a:extLst>
          </p:cNvPr>
          <p:cNvSpPr txBox="1"/>
          <p:nvPr/>
        </p:nvSpPr>
        <p:spPr>
          <a:xfrm>
            <a:off x="7234474" y="1924411"/>
            <a:ext cx="4745491" cy="1800325"/>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55000" lnSpcReduction="20000"/>
          </a:bodyPr>
          <a:lstStyle/>
          <a:p>
            <a:pPr algn="l">
              <a:lnSpc>
                <a:spcPct val="120000"/>
              </a:lnSpc>
            </a:pPr>
            <a:r>
              <a:rPr lang="en-US" sz="2000" dirty="0">
                <a:solidFill>
                  <a:srgbClr val="0A52B1"/>
                </a:solidFill>
                <a:latin typeface="Verdana" panose="020B0604030504040204" pitchFamily="34" charset="0"/>
                <a:ea typeface="Verdana" panose="020B0604030504040204" pitchFamily="34" charset="0"/>
              </a:rPr>
              <a:t>export function </a:t>
            </a:r>
            <a:r>
              <a:rPr lang="en-US" sz="2000" b="1"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(n: number): Promise&lt;number&gt;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a:solidFill>
                  <a:srgbClr val="0A52B1"/>
                </a:solidFill>
                <a:latin typeface="Verdana" panose="020B0604030504040204" pitchFamily="34" charset="0"/>
                <a:ea typeface="Verdana" panose="020B0604030504040204" pitchFamily="34" charset="0"/>
              </a:rPr>
              <a:t>return new </a:t>
            </a:r>
            <a:r>
              <a:rPr lang="en-US" sz="2000" dirty="0">
                <a:solidFill>
                  <a:schemeClr val="tx1"/>
                </a:solidFill>
                <a:latin typeface="Verdana" panose="020B0604030504040204" pitchFamily="34" charset="0"/>
                <a:ea typeface="Verdana" panose="020B0604030504040204" pitchFamily="34" charset="0"/>
              </a:rPr>
              <a:t>Promise((resolve, reject)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a:t>
            </a:r>
            <a:r>
              <a:rPr lang="en-US" sz="2000" dirty="0" err="1">
                <a:solidFill>
                  <a:srgbClr val="C00000"/>
                </a:solidFill>
                <a:latin typeface="Verdana" panose="020B0604030504040204" pitchFamily="34" charset="0"/>
                <a:ea typeface="Verdana" panose="020B0604030504040204" pitchFamily="34" charset="0"/>
              </a:rPr>
              <a:t>fakeRequest</a:t>
            </a:r>
            <a:r>
              <a:rPr lang="en-US" sz="2000" dirty="0">
                <a:solidFill>
                  <a:srgbClr val="C00000"/>
                </a:solidFill>
                <a:latin typeface="Verdana" panose="020B0604030504040204" pitchFamily="34" charset="0"/>
                <a:ea typeface="Verdana" panose="020B0604030504040204" pitchFamily="34" charset="0"/>
              </a:rPr>
              <a:t> received request:'</a:t>
            </a:r>
            <a:r>
              <a:rPr lang="en-US" sz="2000" dirty="0">
                <a:solidFill>
                  <a:schemeClr val="tx1"/>
                </a:solidFill>
                <a:latin typeface="Verdana" panose="020B0604030504040204" pitchFamily="34" charset="0"/>
                <a:ea typeface="Verdana" panose="020B0604030504040204" pitchFamily="34" charset="0"/>
              </a:rPr>
              <a:t>, n);</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setTimeout</a:t>
            </a:r>
            <a:r>
              <a:rPr lang="en-US" sz="2000" dirty="0">
                <a:solidFill>
                  <a:schemeClr val="tx1"/>
                </a:solidFill>
                <a:latin typeface="Verdana" panose="020B0604030504040204" pitchFamily="34" charset="0"/>
                <a:ea typeface="Verdana" panose="020B0604030504040204" pitchFamily="34" charset="0"/>
              </a:rPr>
              <a: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'time passes....'</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resolve(n + </a:t>
            </a:r>
            <a:r>
              <a:rPr lang="en-US" sz="2000" dirty="0">
                <a:solidFill>
                  <a:schemeClr val="accent6">
                    <a:lumMod val="75000"/>
                  </a:schemeClr>
                </a:solidFill>
                <a:latin typeface="Verdana" panose="020B0604030504040204" pitchFamily="34" charset="0"/>
                <a:ea typeface="Verdana" panose="020B0604030504040204" pitchFamily="34" charset="0"/>
              </a:rPr>
              <a:t>10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 </a:t>
            </a:r>
            <a:r>
              <a:rPr lang="en-US" sz="2000" dirty="0">
                <a:solidFill>
                  <a:schemeClr val="accent6">
                    <a:lumMod val="75000"/>
                  </a:schemeClr>
                </a:solidFill>
                <a:latin typeface="Verdana" panose="020B0604030504040204" pitchFamily="34" charset="0"/>
                <a:ea typeface="Verdana" panose="020B0604030504040204" pitchFamily="34" charset="0"/>
              </a:rPr>
              <a:t>1000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a:t>
            </a:r>
          </a:p>
        </p:txBody>
      </p:sp>
    </p:spTree>
    <p:extLst>
      <p:ext uri="{BB962C8B-B14F-4D97-AF65-F5344CB8AC3E}">
        <p14:creationId xmlns:p14="http://schemas.microsoft.com/office/powerpoint/2010/main" val="684796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ABDB4-C95D-747A-108A-C4968AAEEF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34B6A07-2A12-D8A4-1835-601899BB1695}"/>
              </a:ext>
            </a:extLst>
          </p:cNvPr>
          <p:cNvSpPr txBox="1"/>
          <p:nvPr/>
        </p:nvSpPr>
        <p:spPr>
          <a:xfrm>
            <a:off x="736600" y="1350065"/>
            <a:ext cx="6038773" cy="2308324"/>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axios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axios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requestNumber:number</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makeRequest</a:t>
            </a:r>
            <a:r>
              <a:rPr lang="en-US" b="0" dirty="0">
                <a:solidFill>
                  <a:srgbClr val="A31515"/>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response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dirty="0">
                <a:solidFill>
                  <a:srgbClr val="000000"/>
                </a:solidFill>
                <a:latin typeface="Consolas" panose="020B0609020204030204" pitchFamily="49" charset="0"/>
              </a:rPr>
              <a:t>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`request: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returned`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makeOneRequest</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makeOneRequest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makeOneRequest</a:t>
            </a:r>
            <a:r>
              <a:rPr lang="en-US" b="0" dirty="0">
                <a:solidFill>
                  <a:srgbClr val="A31515"/>
                </a:solidFill>
                <a:effectLst/>
                <a:latin typeface="Consolas" panose="020B0609020204030204" pitchFamily="49" charset="0"/>
              </a:rPr>
              <a:t> finished'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makeOneRequest</a:t>
            </a:r>
            <a:r>
              <a:rPr lang="en-US"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3141DFE-EF50-9472-513F-7D041907034B}"/>
              </a:ext>
            </a:extLst>
          </p:cNvPr>
          <p:cNvSpPr>
            <a:spLocks noGrp="1"/>
          </p:cNvSpPr>
          <p:nvPr>
            <p:ph type="title"/>
          </p:nvPr>
        </p:nvSpPr>
        <p:spPr/>
        <p:txBody>
          <a:bodyPr/>
          <a:lstStyle/>
          <a:p>
            <a:r>
              <a:rPr lang="en-US" dirty="0"/>
              <a:t>Pattern for starting a concurrent computation using non-blocking I/O</a:t>
            </a:r>
          </a:p>
        </p:txBody>
      </p:sp>
      <p:sp>
        <p:nvSpPr>
          <p:cNvPr id="3" name="Slide Number Placeholder 2">
            <a:extLst>
              <a:ext uri="{FF2B5EF4-FFF2-40B4-BE49-F238E27FC236}">
                <a16:creationId xmlns:a16="http://schemas.microsoft.com/office/drawing/2014/main" id="{54863DDB-0777-B484-F419-ABCACFFAF7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pic>
        <p:nvPicPr>
          <p:cNvPr id="6" name="Picture 6">
            <a:extLst>
              <a:ext uri="{FF2B5EF4-FFF2-40B4-BE49-F238E27FC236}">
                <a16:creationId xmlns:a16="http://schemas.microsoft.com/office/drawing/2014/main" id="{F4380E14-CBDF-769D-49D8-47F3766414C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5760D379-A385-4D52-A8EB-4A6BA1A07CC7}"/>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makeOneRequest</a:t>
            </a:r>
            <a:endParaRPr lang="en-US" sz="1000" b="1" dirty="0">
              <a:solidFill>
                <a:schemeClr val="tx1"/>
              </a:solidFill>
            </a:endParaRPr>
          </a:p>
        </p:txBody>
      </p:sp>
      <p:sp>
        <p:nvSpPr>
          <p:cNvPr id="9" name="Rectangle: Rounded Corners 8">
            <a:extLst>
              <a:ext uri="{FF2B5EF4-FFF2-40B4-BE49-F238E27FC236}">
                <a16:creationId xmlns:a16="http://schemas.microsoft.com/office/drawing/2014/main" id="{3F3533D5-E97B-B272-3AC3-923CE07CBD77}"/>
              </a:ext>
            </a:extLst>
          </p:cNvPr>
          <p:cNvSpPr/>
          <p:nvPr/>
        </p:nvSpPr>
        <p:spPr>
          <a:xfrm>
            <a:off x="4649569" y="3900585"/>
            <a:ext cx="1910080" cy="198973"/>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console.log(‘starting </a:t>
            </a:r>
            <a:r>
              <a:rPr lang="en-US" sz="1000" b="1" dirty="0" err="1">
                <a:solidFill>
                  <a:schemeClr val="tx1"/>
                </a:solidFill>
              </a:rPr>
              <a:t>makeO</a:t>
            </a:r>
            <a:r>
              <a:rPr lang="en-US" sz="1000" b="1" dirty="0">
                <a:solidFill>
                  <a:schemeClr val="tx1"/>
                </a:solidFill>
              </a:rPr>
              <a:t> …’);</a:t>
            </a:r>
          </a:p>
        </p:txBody>
      </p:sp>
      <p:sp>
        <p:nvSpPr>
          <p:cNvPr id="10" name="Rectangle: Rounded Corners 9">
            <a:extLst>
              <a:ext uri="{FF2B5EF4-FFF2-40B4-BE49-F238E27FC236}">
                <a16:creationId xmlns:a16="http://schemas.microsoft.com/office/drawing/2014/main" id="{C164A038-E026-7100-D602-3B556B734A35}"/>
              </a:ext>
            </a:extLst>
          </p:cNvPr>
          <p:cNvSpPr/>
          <p:nvPr/>
        </p:nvSpPr>
        <p:spPr>
          <a:xfrm>
            <a:off x="4708972" y="3899151"/>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makeRequest</a:t>
            </a:r>
            <a:r>
              <a:rPr lang="en-US" sz="1000" b="1" dirty="0">
                <a:solidFill>
                  <a:schemeClr val="tx1"/>
                </a:solidFill>
              </a:rPr>
              <a:t> (100)</a:t>
            </a:r>
          </a:p>
        </p:txBody>
      </p:sp>
      <p:sp>
        <p:nvSpPr>
          <p:cNvPr id="11" name="Rectangle: Rounded Corners 10">
            <a:extLst>
              <a:ext uri="{FF2B5EF4-FFF2-40B4-BE49-F238E27FC236}">
                <a16:creationId xmlns:a16="http://schemas.microsoft.com/office/drawing/2014/main" id="{CB491174-BD18-54EA-3F12-C6FA733B5B3F}"/>
              </a:ext>
            </a:extLst>
          </p:cNvPr>
          <p:cNvSpPr/>
          <p:nvPr/>
        </p:nvSpPr>
        <p:spPr>
          <a:xfrm>
            <a:off x="4649570" y="3352716"/>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 (‘starting </a:t>
            </a:r>
            <a:r>
              <a:rPr lang="en-US" sz="1000" b="1" dirty="0" err="1">
                <a:solidFill>
                  <a:schemeClr val="tx1"/>
                </a:solidFill>
              </a:rPr>
              <a:t>makeR</a:t>
            </a:r>
            <a:r>
              <a:rPr lang="en-US" sz="1000" b="1" dirty="0">
                <a:solidFill>
                  <a:schemeClr val="tx1"/>
                </a:solidFill>
              </a:rPr>
              <a:t>…’)</a:t>
            </a:r>
          </a:p>
        </p:txBody>
      </p:sp>
      <p:sp>
        <p:nvSpPr>
          <p:cNvPr id="12" name="Rectangle: Rounded Corners 11">
            <a:extLst>
              <a:ext uri="{FF2B5EF4-FFF2-40B4-BE49-F238E27FC236}">
                <a16:creationId xmlns:a16="http://schemas.microsoft.com/office/drawing/2014/main" id="{9F981C7D-3A9A-EF8A-C287-5B2922A612F5}"/>
              </a:ext>
            </a:extLst>
          </p:cNvPr>
          <p:cNvSpPr/>
          <p:nvPr/>
        </p:nvSpPr>
        <p:spPr>
          <a:xfrm>
            <a:off x="9704965" y="3391944"/>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rgbClr val="000000"/>
                </a:solidFill>
                <a:latin typeface="Consolas" panose="020B0609020204030204" pitchFamily="49" charset="0"/>
              </a:rPr>
              <a:t>fetch(</a:t>
            </a:r>
            <a:r>
              <a:rPr lang="en-US" sz="1000" dirty="0">
                <a:solidFill>
                  <a:srgbClr val="A31515"/>
                </a:solidFill>
                <a:latin typeface="Consolas" panose="020B0609020204030204" pitchFamily="49" charset="0"/>
              </a:rPr>
              <a:t>'https://rest…'</a:t>
            </a:r>
            <a:r>
              <a:rPr lang="en-US" sz="1000" dirty="0">
                <a:solidFill>
                  <a:srgbClr val="000000"/>
                </a:solidFill>
                <a:latin typeface="Consolas" panose="020B0609020204030204" pitchFamily="49" charset="0"/>
              </a:rPr>
              <a:t>);</a:t>
            </a:r>
            <a:endParaRPr lang="en-US" sz="1000" b="1" dirty="0">
              <a:solidFill>
                <a:schemeClr val="tx1"/>
              </a:solidFill>
            </a:endParaRPr>
          </a:p>
        </p:txBody>
      </p:sp>
      <p:sp>
        <p:nvSpPr>
          <p:cNvPr id="14" name="Rectangle: Rounded Corners 13">
            <a:extLst>
              <a:ext uri="{FF2B5EF4-FFF2-40B4-BE49-F238E27FC236}">
                <a16:creationId xmlns:a16="http://schemas.microsoft.com/office/drawing/2014/main" id="{5309F37F-DA2B-749A-E0E9-CA6459915522}"/>
              </a:ext>
            </a:extLst>
          </p:cNvPr>
          <p:cNvSpPr/>
          <p:nvPr/>
        </p:nvSpPr>
        <p:spPr>
          <a:xfrm>
            <a:off x="7752863" y="6149245"/>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 from fetch</a:t>
            </a:r>
          </a:p>
        </p:txBody>
      </p:sp>
      <p:sp>
        <p:nvSpPr>
          <p:cNvPr id="15" name="Rectangle: Rounded Corners 14">
            <a:extLst>
              <a:ext uri="{FF2B5EF4-FFF2-40B4-BE49-F238E27FC236}">
                <a16:creationId xmlns:a16="http://schemas.microsoft.com/office/drawing/2014/main" id="{BF63D65E-B8FF-3D04-667F-F9FEC36B26FC}"/>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7" name="Rectangle: Rounded Corners 6">
            <a:extLst>
              <a:ext uri="{FF2B5EF4-FFF2-40B4-BE49-F238E27FC236}">
                <a16:creationId xmlns:a16="http://schemas.microsoft.com/office/drawing/2014/main" id="{450FBC82-74B9-EDE2-694A-24D730DE5507}"/>
              </a:ext>
            </a:extLst>
          </p:cNvPr>
          <p:cNvSpPr/>
          <p:nvPr/>
        </p:nvSpPr>
        <p:spPr>
          <a:xfrm>
            <a:off x="4645541" y="3884537"/>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a:t>
            </a:r>
            <a:r>
              <a:rPr lang="en-US" sz="1000" b="1" dirty="0" err="1">
                <a:solidFill>
                  <a:schemeClr val="tx1"/>
                </a:solidFill>
              </a:rPr>
              <a:t>makeO</a:t>
            </a:r>
            <a:r>
              <a:rPr lang="en-US" sz="1000" b="1" dirty="0">
                <a:solidFill>
                  <a:schemeClr val="tx1"/>
                </a:solidFill>
              </a:rPr>
              <a:t>… finished’);</a:t>
            </a:r>
          </a:p>
        </p:txBody>
      </p:sp>
      <p:sp>
        <p:nvSpPr>
          <p:cNvPr id="13" name="Content Placeholder 1">
            <a:extLst>
              <a:ext uri="{FF2B5EF4-FFF2-40B4-BE49-F238E27FC236}">
                <a16:creationId xmlns:a16="http://schemas.microsoft.com/office/drawing/2014/main" id="{EBD0F245-EA61-332C-61DE-BBC2350232AC}"/>
              </a:ext>
            </a:extLst>
          </p:cNvPr>
          <p:cNvSpPr txBox="1">
            <a:spLocks/>
          </p:cNvSpPr>
          <p:nvPr/>
        </p:nvSpPr>
        <p:spPr>
          <a:xfrm>
            <a:off x="518711" y="4946212"/>
            <a:ext cx="3744982" cy="1574903"/>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Now, call stack can complete the awaiting work (console.log)</a:t>
            </a:r>
          </a:p>
        </p:txBody>
      </p:sp>
    </p:spTree>
    <p:extLst>
      <p:ext uri="{BB962C8B-B14F-4D97-AF65-F5344CB8AC3E}">
        <p14:creationId xmlns:p14="http://schemas.microsoft.com/office/powerpoint/2010/main" val="2645889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xit" presetSubtype="1" fill="hold" grpId="1" nodeType="clickEffect">
                                  <p:stCondLst>
                                    <p:cond delay="0"/>
                                  </p:stCondLst>
                                  <p:childTnLst>
                                    <p:anim calcmode="lin" valueType="num">
                                      <p:cBhvr additive="base">
                                        <p:cTn id="18" dur="500"/>
                                        <p:tgtEl>
                                          <p:spTgt spid="9"/>
                                        </p:tgtEl>
                                        <p:attrNameLst>
                                          <p:attrName>ppt_x</p:attrName>
                                        </p:attrNameLst>
                                      </p:cBhvr>
                                      <p:tavLst>
                                        <p:tav tm="0">
                                          <p:val>
                                            <p:strVal val="ppt_x"/>
                                          </p:val>
                                        </p:tav>
                                        <p:tav tm="100000">
                                          <p:val>
                                            <p:strVal val="ppt_x"/>
                                          </p:val>
                                        </p:tav>
                                      </p:tavLst>
                                    </p:anim>
                                    <p:anim calcmode="lin" valueType="num">
                                      <p:cBhvr additive="base">
                                        <p:cTn id="19" dur="500"/>
                                        <p:tgtEl>
                                          <p:spTgt spid="9"/>
                                        </p:tgtEl>
                                        <p:attrNameLst>
                                          <p:attrName>ppt_y</p:attrName>
                                        </p:attrNameLst>
                                      </p:cBhvr>
                                      <p:tavLst>
                                        <p:tav tm="0">
                                          <p:val>
                                            <p:strVal val="ppt_y"/>
                                          </p:val>
                                        </p:tav>
                                        <p:tav tm="100000">
                                          <p:val>
                                            <p:strVal val="0-ppt_h/2"/>
                                          </p:val>
                                        </p:tav>
                                      </p:tavLst>
                                    </p:anim>
                                    <p:set>
                                      <p:cBhvr>
                                        <p:cTn id="20" dur="1" fill="hold">
                                          <p:stCondLst>
                                            <p:cond delay="499"/>
                                          </p:stCondLst>
                                        </p:cTn>
                                        <p:tgtEl>
                                          <p:spTgt spid="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1" fill="hold" grpId="1" nodeType="clickEffect">
                                  <p:stCondLst>
                                    <p:cond delay="0"/>
                                  </p:stCondLst>
                                  <p:childTnLst>
                                    <p:anim calcmode="lin" valueType="num">
                                      <p:cBhvr additive="base">
                                        <p:cTn id="36" dur="500"/>
                                        <p:tgtEl>
                                          <p:spTgt spid="11"/>
                                        </p:tgtEl>
                                        <p:attrNameLst>
                                          <p:attrName>ppt_x</p:attrName>
                                        </p:attrNameLst>
                                      </p:cBhvr>
                                      <p:tavLst>
                                        <p:tav tm="0">
                                          <p:val>
                                            <p:strVal val="ppt_x"/>
                                          </p:val>
                                        </p:tav>
                                        <p:tav tm="100000">
                                          <p:val>
                                            <p:strVal val="ppt_x"/>
                                          </p:val>
                                        </p:tav>
                                      </p:tavLst>
                                    </p:anim>
                                    <p:anim calcmode="lin" valueType="num">
                                      <p:cBhvr additive="base">
                                        <p:cTn id="37" dur="500"/>
                                        <p:tgtEl>
                                          <p:spTgt spid="11"/>
                                        </p:tgtEl>
                                        <p:attrNameLst>
                                          <p:attrName>ppt_y</p:attrName>
                                        </p:attrNameLst>
                                      </p:cBhvr>
                                      <p:tavLst>
                                        <p:tav tm="0">
                                          <p:val>
                                            <p:strVal val="ppt_y"/>
                                          </p:val>
                                        </p:tav>
                                        <p:tav tm="100000">
                                          <p:val>
                                            <p:strVal val="0-ppt_h/2"/>
                                          </p:val>
                                        </p:tav>
                                      </p:tavLst>
                                    </p:anim>
                                    <p:set>
                                      <p:cBhvr>
                                        <p:cTn id="38" dur="1" fill="hold">
                                          <p:stCondLst>
                                            <p:cond delay="499"/>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1" nodeType="click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500" fill="hold"/>
                                        <p:tgtEl>
                                          <p:spTgt spid="12"/>
                                        </p:tgtEl>
                                        <p:attrNameLst>
                                          <p:attrName>ppt_x</p:attrName>
                                        </p:attrNameLst>
                                      </p:cBhvr>
                                      <p:tavLst>
                                        <p:tav tm="0">
                                          <p:val>
                                            <p:strVal val="0-#ppt_w/2"/>
                                          </p:val>
                                        </p:tav>
                                        <p:tav tm="100000">
                                          <p:val>
                                            <p:strVal val="#ppt_x"/>
                                          </p:val>
                                        </p:tav>
                                      </p:tavLst>
                                    </p:anim>
                                    <p:anim calcmode="lin" valueType="num">
                                      <p:cBhvr additive="base">
                                        <p:cTn id="44"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500" fill="hold"/>
                                        <p:tgtEl>
                                          <p:spTgt spid="15"/>
                                        </p:tgtEl>
                                        <p:attrNameLst>
                                          <p:attrName>ppt_x</p:attrName>
                                        </p:attrNameLst>
                                      </p:cBhvr>
                                      <p:tavLst>
                                        <p:tav tm="0">
                                          <p:val>
                                            <p:strVal val="1+#ppt_w/2"/>
                                          </p:val>
                                        </p:tav>
                                        <p:tav tm="100000">
                                          <p:val>
                                            <p:strVal val="#ppt_x"/>
                                          </p:val>
                                        </p:tav>
                                      </p:tavLst>
                                    </p:anim>
                                    <p:anim calcmode="lin" valueType="num">
                                      <p:cBhvr additive="base">
                                        <p:cTn id="50"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xit" presetSubtype="1" fill="hold" grpId="1" nodeType="clickEffect">
                                  <p:stCondLst>
                                    <p:cond delay="0"/>
                                  </p:stCondLst>
                                  <p:childTnLst>
                                    <p:anim calcmode="lin" valueType="num">
                                      <p:cBhvr additive="base">
                                        <p:cTn id="54" dur="1000"/>
                                        <p:tgtEl>
                                          <p:spTgt spid="10"/>
                                        </p:tgtEl>
                                        <p:attrNameLst>
                                          <p:attrName>ppt_x</p:attrName>
                                        </p:attrNameLst>
                                      </p:cBhvr>
                                      <p:tavLst>
                                        <p:tav tm="0">
                                          <p:val>
                                            <p:strVal val="ppt_x"/>
                                          </p:val>
                                        </p:tav>
                                        <p:tav tm="100000">
                                          <p:val>
                                            <p:strVal val="ppt_x"/>
                                          </p:val>
                                        </p:tav>
                                      </p:tavLst>
                                    </p:anim>
                                    <p:anim calcmode="lin" valueType="num">
                                      <p:cBhvr additive="base">
                                        <p:cTn id="55" dur="1000"/>
                                        <p:tgtEl>
                                          <p:spTgt spid="10"/>
                                        </p:tgtEl>
                                        <p:attrNameLst>
                                          <p:attrName>ppt_y</p:attrName>
                                        </p:attrNameLst>
                                      </p:cBhvr>
                                      <p:tavLst>
                                        <p:tav tm="0">
                                          <p:val>
                                            <p:strVal val="ppt_y"/>
                                          </p:val>
                                        </p:tav>
                                        <p:tav tm="100000">
                                          <p:val>
                                            <p:strVal val="0-ppt_h/2"/>
                                          </p:val>
                                        </p:tav>
                                      </p:tavLst>
                                    </p:anim>
                                    <p:set>
                                      <p:cBhvr>
                                        <p:cTn id="56" dur="1" fill="hold">
                                          <p:stCondLst>
                                            <p:cond delay="999"/>
                                          </p:stCondLst>
                                        </p:cTn>
                                        <p:tgtEl>
                                          <p:spTgt spid="10"/>
                                        </p:tgtEl>
                                        <p:attrNameLst>
                                          <p:attrName>style.visibility</p:attrName>
                                        </p:attrNameLst>
                                      </p:cBhvr>
                                      <p:to>
                                        <p:strVal val="hidden"/>
                                      </p:to>
                                    </p:se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0" nodeType="clickEffect">
                                  <p:stCondLst>
                                    <p:cond delay="0"/>
                                  </p:stCondLst>
                                  <p:childTnLst>
                                    <p:animEffect transition="out" filter="fade">
                                      <p:cBhvr>
                                        <p:cTn id="60" dur="500"/>
                                        <p:tgtEl>
                                          <p:spTgt spid="12"/>
                                        </p:tgtEl>
                                      </p:cBhvr>
                                    </p:animEffect>
                                    <p:set>
                                      <p:cBhvr>
                                        <p:cTn id="61" dur="1" fill="hold">
                                          <p:stCondLst>
                                            <p:cond delay="499"/>
                                          </p:stCondLst>
                                        </p:cTn>
                                        <p:tgtEl>
                                          <p:spTgt spid="12"/>
                                        </p:tgtEl>
                                        <p:attrNameLst>
                                          <p:attrName>style.visibility</p:attrName>
                                        </p:attrNameLst>
                                      </p:cBhvr>
                                      <p:to>
                                        <p:strVal val="hidden"/>
                                      </p:to>
                                    </p:set>
                                  </p:childTnLst>
                                </p:cTn>
                              </p:par>
                              <p:par>
                                <p:cTn id="62" presetID="1"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2" presetClass="entr" presetSubtype="1" fill="hold" grpId="0" nodeType="clickEffect">
                                  <p:stCondLst>
                                    <p:cond delay="0"/>
                                  </p:stCondLst>
                                  <p:childTnLst>
                                    <p:set>
                                      <p:cBhvr>
                                        <p:cTn id="67" dur="1" fill="hold">
                                          <p:stCondLst>
                                            <p:cond delay="0"/>
                                          </p:stCondLst>
                                        </p:cTn>
                                        <p:tgtEl>
                                          <p:spTgt spid="7"/>
                                        </p:tgtEl>
                                        <p:attrNameLst>
                                          <p:attrName>style.visibility</p:attrName>
                                        </p:attrNameLst>
                                      </p:cBhvr>
                                      <p:to>
                                        <p:strVal val="visible"/>
                                      </p:to>
                                    </p:set>
                                    <p:anim calcmode="lin" valueType="num">
                                      <p:cBhvr additive="base">
                                        <p:cTn id="68" dur="500" fill="hold"/>
                                        <p:tgtEl>
                                          <p:spTgt spid="7"/>
                                        </p:tgtEl>
                                        <p:attrNameLst>
                                          <p:attrName>ppt_x</p:attrName>
                                        </p:attrNameLst>
                                      </p:cBhvr>
                                      <p:tavLst>
                                        <p:tav tm="0">
                                          <p:val>
                                            <p:strVal val="#ppt_x"/>
                                          </p:val>
                                        </p:tav>
                                        <p:tav tm="100000">
                                          <p:val>
                                            <p:strVal val="#ppt_x"/>
                                          </p:val>
                                        </p:tav>
                                      </p:tavLst>
                                    </p:anim>
                                    <p:anim calcmode="lin" valueType="num">
                                      <p:cBhvr additive="base">
                                        <p:cTn id="69" dur="500" fill="hold"/>
                                        <p:tgtEl>
                                          <p:spTgt spid="7"/>
                                        </p:tgtEl>
                                        <p:attrNameLst>
                                          <p:attrName>ppt_y</p:attrName>
                                        </p:attrNameLst>
                                      </p:cBhvr>
                                      <p:tavLst>
                                        <p:tav tm="0">
                                          <p:val>
                                            <p:strVal val="0-#ppt_h/2"/>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72" presetID="2" presetClass="exit" presetSubtype="1" fill="hold" grpId="1" nodeType="clickEffect">
                                  <p:stCondLst>
                                    <p:cond delay="0"/>
                                  </p:stCondLst>
                                  <p:childTnLst>
                                    <p:anim calcmode="lin" valueType="num">
                                      <p:cBhvr additive="base">
                                        <p:cTn id="73" dur="500"/>
                                        <p:tgtEl>
                                          <p:spTgt spid="7"/>
                                        </p:tgtEl>
                                        <p:attrNameLst>
                                          <p:attrName>ppt_x</p:attrName>
                                        </p:attrNameLst>
                                      </p:cBhvr>
                                      <p:tavLst>
                                        <p:tav tm="0">
                                          <p:val>
                                            <p:strVal val="ppt_x"/>
                                          </p:val>
                                        </p:tav>
                                        <p:tav tm="100000">
                                          <p:val>
                                            <p:strVal val="ppt_x"/>
                                          </p:val>
                                        </p:tav>
                                      </p:tavLst>
                                    </p:anim>
                                    <p:anim calcmode="lin" valueType="num">
                                      <p:cBhvr additive="base">
                                        <p:cTn id="74" dur="500"/>
                                        <p:tgtEl>
                                          <p:spTgt spid="7"/>
                                        </p:tgtEl>
                                        <p:attrNameLst>
                                          <p:attrName>ppt_y</p:attrName>
                                        </p:attrNameLst>
                                      </p:cBhvr>
                                      <p:tavLst>
                                        <p:tav tm="0">
                                          <p:val>
                                            <p:strVal val="ppt_y"/>
                                          </p:val>
                                        </p:tav>
                                        <p:tav tm="100000">
                                          <p:val>
                                            <p:strVal val="0-ppt_h/2"/>
                                          </p:val>
                                        </p:tav>
                                      </p:tavLst>
                                    </p:anim>
                                    <p:set>
                                      <p:cBhvr>
                                        <p:cTn id="75" dur="1" fill="hold">
                                          <p:stCondLst>
                                            <p:cond delay="499"/>
                                          </p:stCondLst>
                                        </p:cTn>
                                        <p:tgtEl>
                                          <p:spTgt spid="7"/>
                                        </p:tgtEl>
                                        <p:attrNameLst>
                                          <p:attrName>style.visibility</p:attrName>
                                        </p:attrNameLst>
                                      </p:cBhvr>
                                      <p:to>
                                        <p:strVal val="hidden"/>
                                      </p:to>
                                    </p:set>
                                  </p:childTnLst>
                                </p:cTn>
                              </p:par>
                            </p:childTnLst>
                          </p:cTn>
                        </p:par>
                      </p:childTnLst>
                    </p:cTn>
                  </p:par>
                  <p:par>
                    <p:cTn id="76" fill="hold">
                      <p:stCondLst>
                        <p:cond delay="indefinite"/>
                      </p:stCondLst>
                      <p:childTnLst>
                        <p:par>
                          <p:cTn id="77" fill="hold">
                            <p:stCondLst>
                              <p:cond delay="0"/>
                            </p:stCondLst>
                            <p:childTnLst>
                              <p:par>
                                <p:cTn id="78" presetID="1" presetClass="exit" presetSubtype="0" fill="hold" grpId="1" nodeType="clickEffect">
                                  <p:stCondLst>
                                    <p:cond delay="0"/>
                                  </p:stCondLst>
                                  <p:childTnLst>
                                    <p:set>
                                      <p:cBhvr>
                                        <p:cTn id="79" dur="1" fill="hold">
                                          <p:stCondLst>
                                            <p:cond delay="0"/>
                                          </p:stCondLst>
                                        </p:cTn>
                                        <p:tgtEl>
                                          <p:spTgt spid="8"/>
                                        </p:tgtEl>
                                        <p:attrNameLst>
                                          <p:attrName>style.visibility</p:attrName>
                                        </p:attrNameLst>
                                      </p:cBhvr>
                                      <p:to>
                                        <p:strVal val="hidden"/>
                                      </p:to>
                                    </p:se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4" grpId="0" animBg="1"/>
      <p:bldP spid="15" grpId="0" animBg="1"/>
      <p:bldP spid="7" grpId="0" animBg="1"/>
      <p:bldP spid="7" grpId="1" animBg="1"/>
      <p:bldP spid="13" grpId="0"/>
    </p:bld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80F26-3D05-9516-9072-90A0156F747B}"/>
              </a:ext>
            </a:extLst>
          </p:cNvPr>
          <p:cNvSpPr>
            <a:spLocks noGrp="1"/>
          </p:cNvSpPr>
          <p:nvPr>
            <p:ph type="title"/>
          </p:nvPr>
        </p:nvSpPr>
        <p:spPr/>
        <p:txBody>
          <a:bodyPr/>
          <a:lstStyle/>
          <a:p>
            <a:r>
              <a:rPr lang="en-US" dirty="0"/>
              <a:t>Pattern for starting a concurrent computation using non-blocking I/O</a:t>
            </a:r>
          </a:p>
        </p:txBody>
      </p:sp>
      <p:sp>
        <p:nvSpPr>
          <p:cNvPr id="4" name="Slide Number Placeholder 3">
            <a:extLst>
              <a:ext uri="{FF2B5EF4-FFF2-40B4-BE49-F238E27FC236}">
                <a16:creationId xmlns:a16="http://schemas.microsoft.com/office/drawing/2014/main" id="{657C8D98-764A-9D99-09D4-3EA7558FD28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6223A7A7-ED26-72B8-818A-2A0C5066AAAD}"/>
              </a:ext>
            </a:extLst>
          </p:cNvPr>
          <p:cNvSpPr txBox="1"/>
          <p:nvPr/>
        </p:nvSpPr>
        <p:spPr>
          <a:xfrm>
            <a:off x="838200" y="1492946"/>
            <a:ext cx="11040291" cy="2554545"/>
          </a:xfrm>
          <a:prstGeom prst="rect">
            <a:avLst/>
          </a:prstGeom>
          <a:noFill/>
          <a:ln w="12700" cap="flat" cmpd="sng" algn="ctr">
            <a:solidFill>
              <a:schemeClr val="accent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1600" b="0" dirty="0">
                <a:solidFill>
                  <a:srgbClr val="AF00DB"/>
                </a:solidFill>
                <a:effectLst/>
                <a:latin typeface="Consolas" panose="020B0609020204030204" pitchFamily="49" charset="0"/>
              </a:rPr>
              <a:t>export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async</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makeRequest</a:t>
            </a:r>
            <a:r>
              <a:rPr lang="en-US" sz="1600" b="0" dirty="0">
                <a:solidFill>
                  <a:srgbClr val="000000"/>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requestNumber</a:t>
            </a:r>
            <a:r>
              <a:rPr lang="en-US" sz="1600" b="0" dirty="0" err="1">
                <a:solidFill>
                  <a:srgbClr val="000000"/>
                </a:solidFill>
                <a:effectLst/>
                <a:latin typeface="Consolas" panose="020B0609020204030204" pitchFamily="49" charset="0"/>
              </a:rPr>
              <a:t>:</a:t>
            </a:r>
            <a:r>
              <a:rPr lang="en-US" sz="1600" b="0" dirty="0" err="1">
                <a:solidFill>
                  <a:srgbClr val="267F99"/>
                </a:solidFill>
                <a:effectLst/>
                <a:latin typeface="Consolas" panose="020B0609020204030204" pitchFamily="49" charset="0"/>
              </a:rPr>
              <a:t>number</a:t>
            </a:r>
            <a:r>
              <a:rPr lang="en-US" sz="1600" b="0" dirty="0">
                <a:solidFill>
                  <a:srgbClr val="000000"/>
                </a:solidFill>
                <a:effectLst/>
                <a:latin typeface="Consolas" panose="020B0609020204030204" pitchFamily="49" charset="0"/>
              </a:rPr>
              <a:t>) {</a:t>
            </a:r>
          </a:p>
          <a:p>
            <a:pPr algn="l"/>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`starting </a:t>
            </a:r>
            <a:r>
              <a:rPr lang="en-US" sz="1600" b="0" dirty="0" err="1">
                <a:solidFill>
                  <a:srgbClr val="A31515"/>
                </a:solidFill>
                <a:effectLst/>
                <a:latin typeface="Consolas" panose="020B0609020204030204" pitchFamily="49" charset="0"/>
              </a:rPr>
              <a:t>makeRequest</a:t>
            </a:r>
            <a:r>
              <a:rPr lang="en-US" sz="1600" b="0" dirty="0">
                <a:solidFill>
                  <a:srgbClr val="A31515"/>
                </a:solidFill>
                <a:effectLst/>
                <a:latin typeface="Consolas" panose="020B0609020204030204" pitchFamily="49" charset="0"/>
              </a:rPr>
              <a:t> </a:t>
            </a:r>
            <a:r>
              <a:rPr lang="en-US" sz="1600" b="0" dirty="0">
                <a:solidFill>
                  <a:srgbClr val="0000FF"/>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requestNumber</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lgn="l"/>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a:solidFill>
                  <a:srgbClr val="0070C1"/>
                </a:solidFill>
                <a:effectLst/>
                <a:latin typeface="Consolas" panose="020B0609020204030204" pitchFamily="49" charset="0"/>
              </a:rPr>
              <a:t>response</a:t>
            </a:r>
            <a:r>
              <a:rPr lang="en-US" sz="1600" b="0" dirty="0">
                <a:solidFill>
                  <a:srgbClr val="000000"/>
                </a:solidFill>
                <a:effectLst/>
                <a:latin typeface="Consolas" panose="020B0609020204030204" pitchFamily="49" charset="0"/>
              </a:rPr>
              <a:t> = </a:t>
            </a:r>
            <a:r>
              <a:rPr lang="en-US" sz="1600" b="0" dirty="0">
                <a:solidFill>
                  <a:srgbClr val="AF00DB"/>
                </a:solidFill>
                <a:effectLst/>
                <a:latin typeface="Consolas" panose="020B0609020204030204" pitchFamily="49" charset="0"/>
              </a:rPr>
              <a:t>await</a:t>
            </a:r>
            <a:r>
              <a:rPr lang="en-US" sz="1600" b="0" dirty="0">
                <a:solidFill>
                  <a:srgbClr val="000000"/>
                </a:solidFill>
                <a:effectLst/>
                <a:latin typeface="Consolas" panose="020B0609020204030204" pitchFamily="49" charset="0"/>
              </a:rPr>
              <a:t> </a:t>
            </a:r>
            <a:r>
              <a:rPr lang="en-US" sz="1600" b="0" dirty="0">
                <a:solidFill>
                  <a:srgbClr val="795E26"/>
                </a:solidFill>
                <a:effectLst/>
                <a:latin typeface="Consolas" panose="020B0609020204030204" pitchFamily="49" charset="0"/>
              </a:rPr>
              <a:t>fetch</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'https://rest-</a:t>
            </a:r>
            <a:r>
              <a:rPr lang="en-US" sz="1600" b="0" dirty="0" err="1">
                <a:solidFill>
                  <a:srgbClr val="A31515"/>
                </a:solidFill>
                <a:effectLst/>
                <a:latin typeface="Consolas" panose="020B0609020204030204" pitchFamily="49" charset="0"/>
              </a:rPr>
              <a:t>example.covey.town</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lgn="l"/>
            <a:r>
              <a:rPr lang="en-US" sz="1600" b="0" dirty="0">
                <a:solidFill>
                  <a:srgbClr val="000000"/>
                </a:solidFill>
                <a:effectLst/>
                <a:latin typeface="Consolas" panose="020B0609020204030204" pitchFamily="49" charset="0"/>
              </a:rPr>
              <a:t>    </a:t>
            </a:r>
            <a:r>
              <a:rPr lang="en-US" sz="1600" dirty="0">
                <a:solidFill>
                  <a:srgbClr val="000000"/>
                </a:solidFill>
                <a:latin typeface="Consolas" panose="020B0609020204030204" pitchFamily="49" charset="0"/>
              </a:rPr>
              <a:t>console.log(</a:t>
            </a:r>
            <a:r>
              <a:rPr lang="en-US" sz="1600" dirty="0">
                <a:solidFill>
                  <a:srgbClr val="A31515"/>
                </a:solidFill>
                <a:latin typeface="Consolas" panose="020B0609020204030204" pitchFamily="49" charset="0"/>
              </a:rPr>
              <a:t>'request:'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requestNumber</a:t>
            </a:r>
            <a:r>
              <a:rPr lang="en-US" sz="1600" dirty="0">
                <a:solidFill>
                  <a:srgbClr val="000000"/>
                </a:solidFill>
                <a:latin typeface="Consolas" panose="020B0609020204030204" pitchFamily="49" charset="0"/>
              </a:rPr>
              <a:t>, </a:t>
            </a:r>
            <a:r>
              <a:rPr lang="en-US" sz="1600" dirty="0">
                <a:solidFill>
                  <a:srgbClr val="A31515"/>
                </a:solidFill>
                <a:latin typeface="Consolas" panose="020B0609020204030204" pitchFamily="49" charset="0"/>
              </a:rPr>
              <a:t>'; response:'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response.data</a:t>
            </a:r>
            <a:r>
              <a:rPr lang="en-US" sz="1600" dirty="0">
                <a:solidFill>
                  <a:srgbClr val="000000"/>
                </a:solidFill>
                <a:latin typeface="Consolas" panose="020B0609020204030204" pitchFamily="49" charset="0"/>
              </a:rPr>
              <a:t>);</a:t>
            </a:r>
          </a:p>
          <a:p>
            <a:pPr algn="l"/>
            <a:r>
              <a:rPr lang="en-US" sz="1600" b="0" dirty="0">
                <a:solidFill>
                  <a:srgbClr val="000000"/>
                </a:solidFill>
                <a:effectLst/>
                <a:latin typeface="Consolas" panose="020B0609020204030204" pitchFamily="49" charset="0"/>
              </a:rPr>
              <a:t>}</a:t>
            </a:r>
          </a:p>
          <a:p>
            <a:pPr algn="l"/>
            <a:br>
              <a:rPr lang="en-US" sz="1600" b="0" dirty="0">
                <a:solidFill>
                  <a:srgbClr val="000000"/>
                </a:solidFill>
                <a:effectLst/>
                <a:latin typeface="Consolas" panose="020B0609020204030204" pitchFamily="49" charset="0"/>
              </a:rPr>
            </a:br>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"main thread is about to call </a:t>
            </a:r>
            <a:r>
              <a:rPr lang="en-US" sz="1600" b="0" dirty="0" err="1">
                <a:solidFill>
                  <a:srgbClr val="A31515"/>
                </a:solidFill>
                <a:effectLst/>
                <a:latin typeface="Consolas" panose="020B0609020204030204" pitchFamily="49" charset="0"/>
              </a:rPr>
              <a:t>makeRequest</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lgn="l"/>
            <a:r>
              <a:rPr lang="en-US" sz="1600" b="0" dirty="0" err="1">
                <a:solidFill>
                  <a:srgbClr val="795E26"/>
                </a:solidFill>
                <a:effectLst/>
                <a:latin typeface="Consolas" panose="020B0609020204030204" pitchFamily="49" charset="0"/>
              </a:rPr>
              <a:t>makeRequest</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1000</a:t>
            </a:r>
            <a:r>
              <a:rPr lang="en-US" sz="1600" b="0" dirty="0">
                <a:solidFill>
                  <a:srgbClr val="000000"/>
                </a:solidFill>
                <a:effectLst/>
                <a:latin typeface="Consolas" panose="020B0609020204030204" pitchFamily="49" charset="0"/>
              </a:rPr>
              <a:t>);</a:t>
            </a:r>
          </a:p>
          <a:p>
            <a:pPr algn="l"/>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"main thread continues after </a:t>
            </a:r>
            <a:r>
              <a:rPr lang="en-US" sz="1600" b="0" dirty="0" err="1">
                <a:solidFill>
                  <a:srgbClr val="A31515"/>
                </a:solidFill>
                <a:effectLst/>
                <a:latin typeface="Consolas" panose="020B0609020204030204" pitchFamily="49" charset="0"/>
              </a:rPr>
              <a:t>makeRequest</a:t>
            </a:r>
            <a:r>
              <a:rPr lang="en-US" sz="1600" b="0" dirty="0">
                <a:solidFill>
                  <a:srgbClr val="A31515"/>
                </a:solidFill>
                <a:effectLst/>
                <a:latin typeface="Consolas" panose="020B0609020204030204" pitchFamily="49" charset="0"/>
              </a:rPr>
              <a:t> returns"</a:t>
            </a:r>
            <a:r>
              <a:rPr lang="en-US" sz="1600" b="0" dirty="0">
                <a:solidFill>
                  <a:srgbClr val="000000"/>
                </a:solidFill>
                <a:effectLst/>
                <a:latin typeface="Consolas" panose="020B0609020204030204" pitchFamily="49" charset="0"/>
              </a:rPr>
              <a:t>);</a:t>
            </a:r>
          </a:p>
          <a:p>
            <a:pPr algn="l"/>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"end of main thread"</a:t>
            </a:r>
            <a:r>
              <a:rPr lang="en-US" sz="1600" b="0" dirty="0">
                <a:solidFill>
                  <a:srgbClr val="000000"/>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FAFF8F41-3560-E45C-BD4F-631ADBAAD165}"/>
              </a:ext>
            </a:extLst>
          </p:cNvPr>
          <p:cNvSpPr txBox="1"/>
          <p:nvPr/>
        </p:nvSpPr>
        <p:spPr>
          <a:xfrm>
            <a:off x="838199" y="4580224"/>
            <a:ext cx="9804991" cy="1754326"/>
          </a:xfrm>
          <a:prstGeom prst="rect">
            <a:avLst/>
          </a:prstGeom>
          <a:noFill/>
          <a:ln w="12700" cap="flat" cmpd="sng" algn="ctr">
            <a:solidFill>
              <a:srgbClr val="0A52B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1800" dirty="0">
                <a:solidFill>
                  <a:schemeClr val="tx1"/>
                </a:solidFill>
              </a:rPr>
              <a:t>$ node </a:t>
            </a:r>
            <a:r>
              <a:rPr lang="en-US" sz="1800" dirty="0" err="1">
                <a:solidFill>
                  <a:schemeClr val="tx1"/>
                </a:solidFill>
              </a:rPr>
              <a:t>makeOneRequest.ts</a:t>
            </a:r>
            <a:endParaRPr lang="en-US" sz="1800" dirty="0">
              <a:solidFill>
                <a:schemeClr val="tx1"/>
              </a:solidFill>
            </a:endParaRPr>
          </a:p>
          <a:p>
            <a:pPr algn="l"/>
            <a:r>
              <a:rPr lang="en-US" sz="1800" dirty="0">
                <a:solidFill>
                  <a:schemeClr val="tx1"/>
                </a:solidFill>
              </a:rPr>
              <a:t>main thread is about to call </a:t>
            </a:r>
            <a:r>
              <a:rPr lang="en-US" sz="1800" dirty="0" err="1">
                <a:solidFill>
                  <a:schemeClr val="tx1"/>
                </a:solidFill>
              </a:rPr>
              <a:t>makeRequest</a:t>
            </a:r>
            <a:endParaRPr lang="en-US" sz="1800" dirty="0">
              <a:solidFill>
                <a:schemeClr val="tx1"/>
              </a:solidFill>
            </a:endParaRPr>
          </a:p>
          <a:p>
            <a:pPr algn="l"/>
            <a:r>
              <a:rPr lang="en-US" sz="1800" dirty="0">
                <a:solidFill>
                  <a:schemeClr val="tx1"/>
                </a:solidFill>
              </a:rPr>
              <a:t>starting </a:t>
            </a:r>
            <a:r>
              <a:rPr lang="en-US" sz="1800" dirty="0" err="1">
                <a:solidFill>
                  <a:schemeClr val="tx1"/>
                </a:solidFill>
              </a:rPr>
              <a:t>makeRequest</a:t>
            </a:r>
            <a:r>
              <a:rPr lang="en-US" sz="1800" dirty="0">
                <a:solidFill>
                  <a:schemeClr val="tx1"/>
                </a:solidFill>
              </a:rPr>
              <a:t> 1000</a:t>
            </a:r>
          </a:p>
          <a:p>
            <a:pPr algn="l"/>
            <a:r>
              <a:rPr lang="en-US" sz="1800" dirty="0">
                <a:solidFill>
                  <a:schemeClr val="tx1"/>
                </a:solidFill>
              </a:rPr>
              <a:t>main thread continues after </a:t>
            </a:r>
            <a:r>
              <a:rPr lang="en-US" sz="1800" dirty="0" err="1">
                <a:solidFill>
                  <a:schemeClr val="tx1"/>
                </a:solidFill>
              </a:rPr>
              <a:t>makeRequest</a:t>
            </a:r>
            <a:r>
              <a:rPr lang="en-US" sz="1800" dirty="0">
                <a:solidFill>
                  <a:schemeClr val="tx1"/>
                </a:solidFill>
              </a:rPr>
              <a:t> returns</a:t>
            </a:r>
          </a:p>
          <a:p>
            <a:pPr algn="l"/>
            <a:r>
              <a:rPr lang="en-US" sz="1800" dirty="0">
                <a:solidFill>
                  <a:schemeClr val="tx1"/>
                </a:solidFill>
              </a:rPr>
              <a:t>end of main thread</a:t>
            </a:r>
          </a:p>
          <a:p>
            <a:pPr algn="l"/>
            <a:r>
              <a:rPr lang="en-US" sz="1800" dirty="0">
                <a:solidFill>
                  <a:schemeClr val="tx1"/>
                </a:solidFill>
              </a:rPr>
              <a:t>Request: 1000; response: 200</a:t>
            </a:r>
          </a:p>
        </p:txBody>
      </p:sp>
      <p:grpSp>
        <p:nvGrpSpPr>
          <p:cNvPr id="26" name="Group 25">
            <a:extLst>
              <a:ext uri="{FF2B5EF4-FFF2-40B4-BE49-F238E27FC236}">
                <a16:creationId xmlns:a16="http://schemas.microsoft.com/office/drawing/2014/main" id="{03B46C80-7780-3757-1A12-25C3F40C8572}"/>
              </a:ext>
            </a:extLst>
          </p:cNvPr>
          <p:cNvGrpSpPr/>
          <p:nvPr/>
        </p:nvGrpSpPr>
        <p:grpSpPr>
          <a:xfrm>
            <a:off x="4373768" y="1492947"/>
            <a:ext cx="7504723" cy="2893174"/>
            <a:chOff x="4293618" y="2723656"/>
            <a:chExt cx="7504723" cy="2893174"/>
          </a:xfrm>
        </p:grpSpPr>
        <p:sp>
          <p:nvSpPr>
            <p:cNvPr id="13" name="TextBox 12">
              <a:extLst>
                <a:ext uri="{FF2B5EF4-FFF2-40B4-BE49-F238E27FC236}">
                  <a16:creationId xmlns:a16="http://schemas.microsoft.com/office/drawing/2014/main" id="{6DB8828A-708E-C2C1-AEF6-D09FAA35D1EF}"/>
                </a:ext>
              </a:extLst>
            </p:cNvPr>
            <p:cNvSpPr txBox="1"/>
            <p:nvPr/>
          </p:nvSpPr>
          <p:spPr>
            <a:xfrm>
              <a:off x="6681597" y="2723656"/>
              <a:ext cx="5116744" cy="2893174"/>
            </a:xfrm>
            <a:prstGeom prst="rect">
              <a:avLst/>
            </a:prstGeom>
            <a:solidFill>
              <a:schemeClr val="accent2">
                <a:lumMod val="20000"/>
                <a:lumOff val="80000"/>
              </a:schemeClr>
            </a:solid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457200" indent="-457200" algn="l">
                <a:buAutoNum type="arabicPeriod"/>
              </a:pPr>
              <a:r>
                <a:rPr lang="en-US" sz="2400" b="1" dirty="0">
                  <a:solidFill>
                    <a:schemeClr val="tx1"/>
                  </a:solidFill>
                  <a:latin typeface="Ink Free" panose="03080402000500000000" pitchFamily="66" charset="0"/>
                </a:rPr>
                <a:t>First console is printed</a:t>
              </a:r>
            </a:p>
            <a:p>
              <a:pPr marL="457200" indent="-457200" algn="l">
                <a:buAutoNum type="arabicPeriod"/>
              </a:pPr>
              <a:r>
                <a:rPr lang="en-US" sz="2400" b="1" dirty="0">
                  <a:solidFill>
                    <a:schemeClr val="tx1"/>
                  </a:solidFill>
                  <a:latin typeface="Ink Free" panose="03080402000500000000" pitchFamily="66" charset="0"/>
                </a:rPr>
                <a:t>fetch starts the http request immediately in the background using non-blocking IO, and creates a promise to do the code after the await.</a:t>
              </a:r>
            </a:p>
            <a:p>
              <a:pPr algn="l"/>
              <a:r>
                <a:rPr lang="en-US" sz="2400" b="1" dirty="0">
                  <a:solidFill>
                    <a:schemeClr val="tx1"/>
                  </a:solidFill>
                  <a:latin typeface="Ink Free" panose="03080402000500000000" pitchFamily="66" charset="0"/>
                </a:rPr>
                <a:t>3.  The call to </a:t>
              </a:r>
              <a:r>
                <a:rPr lang="en-US" sz="2400" b="1" dirty="0" err="1">
                  <a:solidFill>
                    <a:schemeClr val="tx1"/>
                  </a:solidFill>
                  <a:latin typeface="Ink Free" panose="03080402000500000000" pitchFamily="66" charset="0"/>
                </a:rPr>
                <a:t>makeRequest</a:t>
              </a:r>
              <a:r>
                <a:rPr lang="en-US" sz="2400" b="1" dirty="0">
                  <a:solidFill>
                    <a:schemeClr val="tx1"/>
                  </a:solidFill>
                  <a:latin typeface="Ink Free" panose="03080402000500000000" pitchFamily="66" charset="0"/>
                </a:rPr>
                <a:t> returns with this pending promise</a:t>
              </a:r>
            </a:p>
          </p:txBody>
        </p:sp>
        <p:cxnSp>
          <p:nvCxnSpPr>
            <p:cNvPr id="15" name="Straight Arrow Connector 14">
              <a:extLst>
                <a:ext uri="{FF2B5EF4-FFF2-40B4-BE49-F238E27FC236}">
                  <a16:creationId xmlns:a16="http://schemas.microsoft.com/office/drawing/2014/main" id="{F6642CE7-DCB4-E082-7E9F-089DEB441CFD}"/>
                </a:ext>
              </a:extLst>
            </p:cNvPr>
            <p:cNvCxnSpPr>
              <a:cxnSpLocks/>
              <a:stCxn id="13" idx="1"/>
            </p:cNvCxnSpPr>
            <p:nvPr/>
          </p:nvCxnSpPr>
          <p:spPr>
            <a:xfrm flipH="1" flipV="1">
              <a:off x="4293618" y="3552047"/>
              <a:ext cx="2387979" cy="618196"/>
            </a:xfrm>
            <a:prstGeom prst="straightConnector1">
              <a:avLst/>
            </a:prstGeom>
            <a:ln w="12700">
              <a:solidFill>
                <a:srgbClr val="0A52B1"/>
              </a:solidFill>
              <a:tailEnd type="stealth" w="lg" len="lg"/>
            </a:ln>
          </p:spPr>
          <p:style>
            <a:lnRef idx="1">
              <a:schemeClr val="accent1"/>
            </a:lnRef>
            <a:fillRef idx="0">
              <a:schemeClr val="accent1"/>
            </a:fillRef>
            <a:effectRef idx="0">
              <a:schemeClr val="accent1"/>
            </a:effectRef>
            <a:fontRef idx="minor">
              <a:schemeClr val="tx1"/>
            </a:fontRef>
          </p:style>
        </p:cxnSp>
      </p:grpSp>
      <p:grpSp>
        <p:nvGrpSpPr>
          <p:cNvPr id="27" name="Group 26">
            <a:extLst>
              <a:ext uri="{FF2B5EF4-FFF2-40B4-BE49-F238E27FC236}">
                <a16:creationId xmlns:a16="http://schemas.microsoft.com/office/drawing/2014/main" id="{F329FD96-BE25-7CBD-1B4B-C85CD13607A4}"/>
              </a:ext>
            </a:extLst>
          </p:cNvPr>
          <p:cNvGrpSpPr/>
          <p:nvPr/>
        </p:nvGrpSpPr>
        <p:grpSpPr>
          <a:xfrm>
            <a:off x="3093057" y="4469812"/>
            <a:ext cx="8932260" cy="1424492"/>
            <a:chOff x="1512047" y="3849498"/>
            <a:chExt cx="8932260" cy="1424492"/>
          </a:xfrm>
        </p:grpSpPr>
        <p:sp>
          <p:nvSpPr>
            <p:cNvPr id="21" name="TextBox 20">
              <a:extLst>
                <a:ext uri="{FF2B5EF4-FFF2-40B4-BE49-F238E27FC236}">
                  <a16:creationId xmlns:a16="http://schemas.microsoft.com/office/drawing/2014/main" id="{2A8D85B0-07E0-E42D-7D9D-0B78BDCEEC94}"/>
                </a:ext>
              </a:extLst>
            </p:cNvPr>
            <p:cNvSpPr txBox="1"/>
            <p:nvPr/>
          </p:nvSpPr>
          <p:spPr>
            <a:xfrm>
              <a:off x="5534619" y="3849498"/>
              <a:ext cx="4909688" cy="1195579"/>
            </a:xfrm>
            <a:prstGeom prst="rect">
              <a:avLst/>
            </a:prstGeom>
            <a:solidFill>
              <a:schemeClr val="accent2">
                <a:lumMod val="20000"/>
                <a:lumOff val="80000"/>
              </a:schemeClr>
            </a:solid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latin typeface="Ink Free" panose="03080402000500000000" pitchFamily="66" charset="0"/>
                </a:rPr>
                <a:t>4. The main thread finishes. </a:t>
              </a:r>
            </a:p>
            <a:p>
              <a:pPr algn="l"/>
              <a:r>
                <a:rPr lang="en-US" sz="2400" b="1" dirty="0">
                  <a:solidFill>
                    <a:schemeClr val="tx1"/>
                  </a:solidFill>
                  <a:latin typeface="Ink Free" panose="03080402000500000000" pitchFamily="66" charset="0"/>
                </a:rPr>
                <a:t>5. Sometime later, the computation resumes the promise</a:t>
              </a:r>
            </a:p>
          </p:txBody>
        </p:sp>
        <p:cxnSp>
          <p:nvCxnSpPr>
            <p:cNvPr id="23" name="Straight Arrow Connector 22">
              <a:extLst>
                <a:ext uri="{FF2B5EF4-FFF2-40B4-BE49-F238E27FC236}">
                  <a16:creationId xmlns:a16="http://schemas.microsoft.com/office/drawing/2014/main" id="{F2D4B224-9341-5812-B136-61B981731CA0}"/>
                </a:ext>
              </a:extLst>
            </p:cNvPr>
            <p:cNvCxnSpPr>
              <a:cxnSpLocks/>
              <a:stCxn id="21" idx="1"/>
            </p:cNvCxnSpPr>
            <p:nvPr/>
          </p:nvCxnSpPr>
          <p:spPr>
            <a:xfrm flipH="1">
              <a:off x="1512047" y="4447288"/>
              <a:ext cx="4022572" cy="826702"/>
            </a:xfrm>
            <a:prstGeom prst="straightConnector1">
              <a:avLst/>
            </a:prstGeom>
            <a:ln w="12700">
              <a:solidFill>
                <a:srgbClr val="0A52B1"/>
              </a:solidFill>
              <a:tailEnd type="stealth" w="lg" len="lg"/>
            </a:ln>
          </p:spPr>
          <p:style>
            <a:lnRef idx="1">
              <a:schemeClr val="accent1"/>
            </a:lnRef>
            <a:fillRef idx="0">
              <a:schemeClr val="accent1"/>
            </a:fillRef>
            <a:effectRef idx="0">
              <a:schemeClr val="accent1"/>
            </a:effectRef>
            <a:fontRef idx="minor">
              <a:schemeClr val="tx1"/>
            </a:fontRef>
          </p:style>
        </p:cxnSp>
      </p:grpSp>
      <p:sp>
        <p:nvSpPr>
          <p:cNvPr id="29" name="Arrow: Down 28">
            <a:extLst>
              <a:ext uri="{FF2B5EF4-FFF2-40B4-BE49-F238E27FC236}">
                <a16:creationId xmlns:a16="http://schemas.microsoft.com/office/drawing/2014/main" id="{094A7B22-C634-4C28-1D51-003012C40FD4}"/>
              </a:ext>
            </a:extLst>
          </p:cNvPr>
          <p:cNvSpPr/>
          <p:nvPr/>
        </p:nvSpPr>
        <p:spPr>
          <a:xfrm>
            <a:off x="5438142" y="4053802"/>
            <a:ext cx="710588" cy="578461"/>
          </a:xfrm>
          <a:prstGeom prst="down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31" name="Rectangle: Rounded Corners 30">
            <a:extLst>
              <a:ext uri="{FF2B5EF4-FFF2-40B4-BE49-F238E27FC236}">
                <a16:creationId xmlns:a16="http://schemas.microsoft.com/office/drawing/2014/main" id="{85AFD483-C273-062C-5DCA-1639D10BF494}"/>
              </a:ext>
            </a:extLst>
          </p:cNvPr>
          <p:cNvSpPr/>
          <p:nvPr/>
        </p:nvSpPr>
        <p:spPr>
          <a:xfrm>
            <a:off x="654820" y="5689455"/>
            <a:ext cx="2358346" cy="338367"/>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3" name="Star: 5 Points 2">
            <a:extLst>
              <a:ext uri="{FF2B5EF4-FFF2-40B4-BE49-F238E27FC236}">
                <a16:creationId xmlns:a16="http://schemas.microsoft.com/office/drawing/2014/main" id="{6B6B87F5-1DC0-A19D-8B9B-B87909D4915B}"/>
              </a:ext>
            </a:extLst>
          </p:cNvPr>
          <p:cNvSpPr/>
          <p:nvPr/>
        </p:nvSpPr>
        <p:spPr>
          <a:xfrm>
            <a:off x="166684" y="5436296"/>
            <a:ext cx="456205" cy="458008"/>
          </a:xfrm>
          <a:prstGeom prst="star5">
            <a:avLst/>
          </a:prstGeom>
          <a:solidFill>
            <a:srgbClr val="C0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483219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nodeType="clickEffect">
                                  <p:stCondLst>
                                    <p:cond delay="0"/>
                                  </p:stCondLst>
                                  <p:childTnLst>
                                    <p:animEffect transition="out" filter="fade">
                                      <p:cBhvr>
                                        <p:cTn id="28" dur="500"/>
                                        <p:tgtEl>
                                          <p:spTgt spid="26"/>
                                        </p:tgtEl>
                                      </p:cBhvr>
                                    </p:animEffect>
                                    <p:set>
                                      <p:cBhvr>
                                        <p:cTn id="29" dur="1" fill="hold">
                                          <p:stCondLst>
                                            <p:cond delay="499"/>
                                          </p:stCondLst>
                                        </p:cTn>
                                        <p:tgtEl>
                                          <p:spTgt spid="26"/>
                                        </p:tgtEl>
                                        <p:attrNameLst>
                                          <p:attrName>style.visibility</p:attrName>
                                        </p:attrNameLst>
                                      </p:cBhvr>
                                      <p:to>
                                        <p:strVal val="hidden"/>
                                      </p:to>
                                    </p:set>
                                  </p:childTnLst>
                                </p:cTn>
                              </p:par>
                            </p:childTnLst>
                          </p:cTn>
                        </p:par>
                        <p:par>
                          <p:cTn id="30" fill="hold">
                            <p:stCondLst>
                              <p:cond delay="500"/>
                            </p:stCondLst>
                            <p:childTnLst>
                              <p:par>
                                <p:cTn id="31" presetID="1" presetClass="entr" presetSubtype="0" fill="hold" grpId="0" nodeType="after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29" grpId="0" animBg="1"/>
      <p:bldP spid="31" grpId="0" animBg="1"/>
      <p:bldP spid="3"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3FA627C-81B3-2732-376C-3DF84021D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91CA-470E-0255-51F4-CC8BF4993552}"/>
              </a:ext>
            </a:extLst>
          </p:cNvPr>
          <p:cNvSpPr>
            <a:spLocks noGrp="1"/>
          </p:cNvSpPr>
          <p:nvPr>
            <p:ph type="title"/>
          </p:nvPr>
        </p:nvSpPr>
        <p:spPr/>
        <p:txBody>
          <a:bodyPr/>
          <a:lstStyle/>
          <a:p>
            <a:r>
              <a:rPr lang="en-US" dirty="0"/>
              <a:t>Pattern for starting a concurrent computation using non-blocking I/O</a:t>
            </a:r>
          </a:p>
        </p:txBody>
      </p:sp>
      <p:sp>
        <p:nvSpPr>
          <p:cNvPr id="3" name="Content Placeholder 2">
            <a:extLst>
              <a:ext uri="{FF2B5EF4-FFF2-40B4-BE49-F238E27FC236}">
                <a16:creationId xmlns:a16="http://schemas.microsoft.com/office/drawing/2014/main" id="{9D42814D-9EF7-9483-CDB5-0247C4D40674}"/>
              </a:ext>
            </a:extLst>
          </p:cNvPr>
          <p:cNvSpPr>
            <a:spLocks noGrp="1"/>
          </p:cNvSpPr>
          <p:nvPr>
            <p:ph idx="1"/>
          </p:nvPr>
        </p:nvSpPr>
        <p:spPr>
          <a:xfrm>
            <a:off x="733302" y="3254361"/>
            <a:ext cx="11155326" cy="2755213"/>
          </a:xfrm>
        </p:spPr>
        <p:txBody>
          <a:bodyPr>
            <a:normAutofit fontScale="85000" lnSpcReduction="10000"/>
          </a:bodyPr>
          <a:lstStyle/>
          <a:p>
            <a:pPr marL="457200" indent="-457200">
              <a:buFont typeface="+mj-lt"/>
              <a:buAutoNum type="arabicPeriod"/>
            </a:pPr>
            <a:r>
              <a:rPr lang="en-US" dirty="0"/>
              <a:t>The first console.log is printed</a:t>
            </a:r>
          </a:p>
          <a:p>
            <a:pPr marL="457200" indent="-457200">
              <a:buFont typeface="+mj-lt"/>
              <a:buAutoNum type="arabicPeriod"/>
            </a:pPr>
            <a:r>
              <a:rPr lang="en-US" dirty="0"/>
              <a:t>The http request is </a:t>
            </a:r>
            <a:r>
              <a:rPr lang="en-US" i="1" dirty="0"/>
              <a:t>immediately</a:t>
            </a:r>
            <a:r>
              <a:rPr lang="en-US" dirty="0"/>
              <a:t> sent, using non-blocking i/o. </a:t>
            </a:r>
          </a:p>
          <a:p>
            <a:pPr marL="457200" indent="-457200">
              <a:buFont typeface="+mj-lt"/>
              <a:buAutoNum type="arabicPeriod"/>
            </a:pPr>
            <a:r>
              <a:rPr lang="en-US" dirty="0"/>
              <a:t>A pending promise is returned to the caller. Caller can continue its other business.</a:t>
            </a:r>
          </a:p>
          <a:p>
            <a:pPr marL="457200" indent="-457200">
              <a:buFont typeface="+mj-lt"/>
              <a:buAutoNum type="arabicPeriod"/>
            </a:pPr>
            <a:r>
              <a:rPr lang="en-US" dirty="0"/>
              <a:t>Eventually, the fetch returns.</a:t>
            </a:r>
          </a:p>
          <a:p>
            <a:pPr marL="457200" indent="-457200">
              <a:buFont typeface="+mj-lt"/>
              <a:buAutoNum type="arabicPeriod"/>
            </a:pPr>
            <a:r>
              <a:rPr lang="en-US" dirty="0"/>
              <a:t>Some time after that, the console.log is printed and the </a:t>
            </a:r>
            <a:r>
              <a:rPr lang="en-US" dirty="0" err="1"/>
              <a:t>makeRequest</a:t>
            </a:r>
            <a:r>
              <a:rPr lang="en-US" dirty="0"/>
              <a:t> concludes.</a:t>
            </a:r>
          </a:p>
          <a:p>
            <a:pPr marL="457200" indent="-457200">
              <a:buFont typeface="+mj-lt"/>
              <a:buAutoNum type="arabicPeriod"/>
            </a:pPr>
            <a:r>
              <a:rPr lang="en-US" dirty="0"/>
              <a:t>Any promises that are waiting for the result of this </a:t>
            </a:r>
            <a:r>
              <a:rPr lang="en-US" dirty="0" err="1"/>
              <a:t>makeRequest</a:t>
            </a:r>
            <a:r>
              <a:rPr lang="en-US" dirty="0"/>
              <a:t> become eligible for execution.</a:t>
            </a:r>
          </a:p>
          <a:p>
            <a:pPr marL="0" indent="0">
              <a:buNone/>
            </a:pPr>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3B8A6EB-75B7-BE7A-9873-3855350241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4625BB71-7766-8C90-ECB1-1D83B8007F99}"/>
              </a:ext>
            </a:extLst>
          </p:cNvPr>
          <p:cNvSpPr txBox="1"/>
          <p:nvPr/>
        </p:nvSpPr>
        <p:spPr>
          <a:xfrm>
            <a:off x="733302" y="1611457"/>
            <a:ext cx="10620498" cy="163121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00FF"/>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highlight>
                  <a:srgbClr val="FFFF00"/>
                </a:highligh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requestNumber:number</a:t>
            </a:r>
            <a:r>
              <a:rPr lang="en-US" sz="2000" b="0" dirty="0">
                <a:solidFill>
                  <a:srgbClr val="000000"/>
                </a:solidFill>
                <a:effectLst/>
                <a:latin typeface="Consolas" panose="020B0609020204030204" pitchFamily="49" charset="0"/>
              </a:rPr>
              <a:t>) {</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a:t>
            </a:r>
            <a:r>
              <a:rPr lang="en-US" sz="2000" b="0" dirty="0" err="1">
                <a:solidFill>
                  <a:srgbClr val="A31515"/>
                </a:solidFill>
                <a:effectLst/>
                <a:latin typeface="Consolas" panose="020B0609020204030204" pitchFamily="49" charset="0"/>
              </a:rPr>
              <a:t>makeRequest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response = </a:t>
            </a:r>
            <a:r>
              <a:rPr lang="en-US" sz="2000" b="0" dirty="0">
                <a:solidFill>
                  <a:srgbClr val="0000FF"/>
                </a:solidFill>
                <a:effectLst/>
                <a:highlight>
                  <a:srgbClr val="FFFF00"/>
                </a:highligh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fetch</a:t>
            </a:r>
            <a:r>
              <a:rPr lang="en-US" sz="2000" b="0" dirty="0">
                <a:solidFill>
                  <a:srgbClr val="000000"/>
                </a:solidFill>
                <a:effectLst/>
                <a:latin typeface="Consolas" panose="020B0609020204030204" pitchFamily="49" charset="0"/>
              </a:rPr>
              <a:t>(</a:t>
            </a:r>
            <a:r>
              <a:rPr lang="en-US" sz="2000" b="0" dirty="0">
                <a:solidFill>
                  <a:srgbClr val="A31515"/>
                </a:solidFill>
                <a:effectLst/>
                <a:latin typeface="Consolas" panose="020B0609020204030204" pitchFamily="49" charset="0"/>
              </a:rPr>
              <a:t>'https://rest-</a:t>
            </a:r>
            <a:r>
              <a:rPr lang="en-US" sz="2000" b="0" dirty="0" err="1">
                <a:solidFill>
                  <a:srgbClr val="A31515"/>
                </a:solidFill>
                <a:effectLst/>
                <a:latin typeface="Consolas" panose="020B0609020204030204" pitchFamily="49" charset="0"/>
              </a:rPr>
              <a:t>example.covey.town</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'request:'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requestNumber</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 response:'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response.data</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839594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normAutofit/>
          </a:bodyPr>
          <a:lstStyle/>
          <a:p>
            <a:r>
              <a:rPr lang="en-US" dirty="0"/>
              <a:t>Promises come in two flavors: microtasks and </a:t>
            </a:r>
            <a:r>
              <a:rPr lang="en-US" dirty="0" err="1"/>
              <a:t>macrotasks</a:t>
            </a:r>
            <a:endParaRPr lang="en-US" dirty="0"/>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199" y="1500159"/>
            <a:ext cx="5072743" cy="4769267"/>
          </a:xfrm>
        </p:spPr>
        <p:txBody>
          <a:bodyPr>
            <a:normAutofit/>
          </a:bodyPr>
          <a:lstStyle/>
          <a:p>
            <a:r>
              <a:rPr lang="en-US" dirty="0"/>
              <a:t>Microtask queue is used for immediate/urgent tasks while </a:t>
            </a:r>
            <a:r>
              <a:rPr lang="en-US" dirty="0" err="1"/>
              <a:t>Macrotask</a:t>
            </a:r>
            <a:r>
              <a:rPr lang="en-US" dirty="0"/>
              <a:t> queue is used for slower asynchronous tasks.</a:t>
            </a:r>
          </a:p>
          <a:p>
            <a:r>
              <a:rPr lang="en-US" dirty="0"/>
              <a:t>When call stack is empty, microtask queue is processed first (before browser renders). When microtask queue is empty then </a:t>
            </a:r>
            <a:r>
              <a:rPr lang="en-US" dirty="0" err="1"/>
              <a:t>macrotask</a:t>
            </a:r>
            <a:r>
              <a:rPr lang="en-US" dirty="0"/>
              <a:t> queue is processed.</a:t>
            </a:r>
          </a:p>
        </p:txBody>
      </p:sp>
      <p:pic>
        <p:nvPicPr>
          <p:cNvPr id="1026" name="Picture 2" descr="Understanding the Call Stack, Microtask Queue, and Macrotask Queue in JavaScript">
            <a:extLst>
              <a:ext uri="{FF2B5EF4-FFF2-40B4-BE49-F238E27FC236}">
                <a16:creationId xmlns:a16="http://schemas.microsoft.com/office/drawing/2014/main" id="{260730D6-DA97-1FE4-E903-8B30CB508C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8311" y="1612446"/>
            <a:ext cx="5275489" cy="2965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63354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FF6C7-4400-832E-8365-1AAC318F04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F84CB2-B3EA-FA04-AF72-8861E64253AC}"/>
              </a:ext>
            </a:extLst>
          </p:cNvPr>
          <p:cNvSpPr>
            <a:spLocks noGrp="1"/>
          </p:cNvSpPr>
          <p:nvPr>
            <p:ph type="title"/>
          </p:nvPr>
        </p:nvSpPr>
        <p:spPr/>
        <p:txBody>
          <a:bodyPr>
            <a:normAutofit/>
          </a:bodyPr>
          <a:lstStyle/>
          <a:p>
            <a:r>
              <a:rPr lang="en-US" dirty="0" err="1"/>
              <a:t>Macrotasks</a:t>
            </a:r>
            <a:r>
              <a:rPr lang="en-US" dirty="0"/>
              <a:t> are API calls; Microtasks are what you do after the API call returns</a:t>
            </a:r>
          </a:p>
        </p:txBody>
      </p:sp>
      <p:sp>
        <p:nvSpPr>
          <p:cNvPr id="4" name="Slide Number Placeholder 3">
            <a:extLst>
              <a:ext uri="{FF2B5EF4-FFF2-40B4-BE49-F238E27FC236}">
                <a16:creationId xmlns:a16="http://schemas.microsoft.com/office/drawing/2014/main" id="{2412C9BA-1856-821C-1119-D2435AC7CE9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6" name="Group 5">
            <a:extLst>
              <a:ext uri="{FF2B5EF4-FFF2-40B4-BE49-F238E27FC236}">
                <a16:creationId xmlns:a16="http://schemas.microsoft.com/office/drawing/2014/main" id="{2221E0FB-30DE-898A-1345-C4EBEFBB8037}"/>
              </a:ext>
            </a:extLst>
          </p:cNvPr>
          <p:cNvGrpSpPr/>
          <p:nvPr/>
        </p:nvGrpSpPr>
        <p:grpSpPr>
          <a:xfrm>
            <a:off x="1050852" y="1829058"/>
            <a:ext cx="8308888" cy="3046988"/>
            <a:chOff x="838201" y="1828800"/>
            <a:chExt cx="8308888" cy="3046988"/>
          </a:xfrm>
        </p:grpSpPr>
        <p:sp>
          <p:nvSpPr>
            <p:cNvPr id="7" name="TextBox 6">
              <a:extLst>
                <a:ext uri="{FF2B5EF4-FFF2-40B4-BE49-F238E27FC236}">
                  <a16:creationId xmlns:a16="http://schemas.microsoft.com/office/drawing/2014/main" id="{061BD5AA-ECAC-A016-14C0-2D5B67A64FB0}"/>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8" name="Rectangle 7">
              <a:extLst>
                <a:ext uri="{FF2B5EF4-FFF2-40B4-BE49-F238E27FC236}">
                  <a16:creationId xmlns:a16="http://schemas.microsoft.com/office/drawing/2014/main" id="{7EB1040B-4E2F-A2C7-DD36-983697394B46}"/>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9" name="Rectangle 8">
              <a:extLst>
                <a:ext uri="{FF2B5EF4-FFF2-40B4-BE49-F238E27FC236}">
                  <a16:creationId xmlns:a16="http://schemas.microsoft.com/office/drawing/2014/main" id="{E4C513F9-603F-2F30-B8B0-1067F2378288}"/>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17" name="TextBox 16">
            <a:extLst>
              <a:ext uri="{FF2B5EF4-FFF2-40B4-BE49-F238E27FC236}">
                <a16:creationId xmlns:a16="http://schemas.microsoft.com/office/drawing/2014/main" id="{5659ADE4-263F-D99A-4AAD-ABB5034184DB}"/>
              </a:ext>
            </a:extLst>
          </p:cNvPr>
          <p:cNvSpPr txBox="1"/>
          <p:nvPr/>
        </p:nvSpPr>
        <p:spPr>
          <a:xfrm>
            <a:off x="9699661" y="1853096"/>
            <a:ext cx="1807077"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p:txBody>
      </p:sp>
      <p:sp>
        <p:nvSpPr>
          <p:cNvPr id="19" name="TextBox 18">
            <a:extLst>
              <a:ext uri="{FF2B5EF4-FFF2-40B4-BE49-F238E27FC236}">
                <a16:creationId xmlns:a16="http://schemas.microsoft.com/office/drawing/2014/main" id="{28770D23-C224-3AE9-17C5-53F72BC77258}"/>
              </a:ext>
            </a:extLst>
          </p:cNvPr>
          <p:cNvSpPr txBox="1"/>
          <p:nvPr/>
        </p:nvSpPr>
        <p:spPr>
          <a:xfrm>
            <a:off x="7998408" y="4428420"/>
            <a:ext cx="1983792"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microtask</a:t>
            </a:r>
          </a:p>
        </p:txBody>
      </p:sp>
      <p:sp>
        <p:nvSpPr>
          <p:cNvPr id="21" name="Rectangle: Rounded Corners 20">
            <a:extLst>
              <a:ext uri="{FF2B5EF4-FFF2-40B4-BE49-F238E27FC236}">
                <a16:creationId xmlns:a16="http://schemas.microsoft.com/office/drawing/2014/main" id="{657F2ACF-63C3-57C7-6DB9-E2904C44B5AF}"/>
              </a:ext>
            </a:extLst>
          </p:cNvPr>
          <p:cNvSpPr/>
          <p:nvPr/>
        </p:nvSpPr>
        <p:spPr>
          <a:xfrm>
            <a:off x="4476584" y="2941983"/>
            <a:ext cx="4492487" cy="487017"/>
          </a:xfrm>
          <a:prstGeom prst="roundRect">
            <a:avLst/>
          </a:prstGeom>
          <a:solidFill>
            <a:srgbClr val="FFFF00">
              <a:alpha val="1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cxnSp>
        <p:nvCxnSpPr>
          <p:cNvPr id="23" name="Straight Arrow Connector 22">
            <a:extLst>
              <a:ext uri="{FF2B5EF4-FFF2-40B4-BE49-F238E27FC236}">
                <a16:creationId xmlns:a16="http://schemas.microsoft.com/office/drawing/2014/main" id="{3F07F8A8-DC68-75E8-51B6-5B4E9EB26396}"/>
              </a:ext>
            </a:extLst>
          </p:cNvPr>
          <p:cNvCxnSpPr>
            <a:stCxn id="17" idx="1"/>
          </p:cNvCxnSpPr>
          <p:nvPr/>
        </p:nvCxnSpPr>
        <p:spPr>
          <a:xfrm flipH="1">
            <a:off x="8990304" y="2207039"/>
            <a:ext cx="709357" cy="7349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54988588-227D-A397-E8B3-11E913D8B099}"/>
              </a:ext>
            </a:extLst>
          </p:cNvPr>
          <p:cNvCxnSpPr/>
          <p:nvPr/>
        </p:nvCxnSpPr>
        <p:spPr>
          <a:xfrm flipH="1" flipV="1">
            <a:off x="4710223" y="3901283"/>
            <a:ext cx="3200400" cy="87273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9136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By contrast, 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Java vs. JS/TS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501675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'B'</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dirty="0">
                <a:solidFill>
                  <a:srgbClr val="0000FF"/>
                </a:solidFill>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Promise</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all</a:t>
            </a:r>
            <a:r>
              <a:rPr lang="en-US" sz="2000" b="0" dirty="0">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455689C7-7C27-5D24-90F6-149A2C5D118F}"/>
              </a:ext>
            </a:extLst>
          </p:cNvPr>
          <p:cNvSpPr/>
          <p:nvPr/>
        </p:nvSpPr>
        <p:spPr>
          <a:xfrm>
            <a:off x="7366572" y="286242"/>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criticalSection.ts</a:t>
            </a:r>
            <a:endParaRPr lang="en-US" sz="2400" dirty="0">
              <a:solidFill>
                <a:schemeClr val="tx1"/>
              </a:solidFill>
            </a:endParaRP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a:xfrm>
            <a:off x="8318046" y="1771399"/>
            <a:ext cx="3761294" cy="4351338"/>
          </a:xfrm>
        </p:spPr>
        <p:txBody>
          <a:bodyPr>
            <a:normAutofit fontScale="92500" lnSpcReduction="10000"/>
          </a:bodyPr>
          <a:lstStyle/>
          <a:p>
            <a:r>
              <a:rPr lang="en-US" sz="2000" dirty="0"/>
              <a:t>In Java, he easiest thing to do is to set up two threads</a:t>
            </a:r>
          </a:p>
          <a:p>
            <a:r>
              <a:rPr lang="en-US" sz="2000" dirty="0"/>
              <a:t>But then you could get an interrupt between the print B and the print C.</a:t>
            </a:r>
          </a:p>
          <a:p>
            <a:r>
              <a:rPr lang="en-US" sz="2000" dirty="0"/>
              <a:t>So the output could be ABC, BAC, BCA</a:t>
            </a:r>
          </a:p>
          <a:p>
            <a:r>
              <a:rPr lang="en-US" sz="2000" dirty="0"/>
              <a:t>In TS/JS, the print B and print C are in the same critical section, so BAC is impossible!</a:t>
            </a:r>
          </a:p>
          <a:p>
            <a:r>
              <a:rPr lang="en-US" sz="2000" dirty="0"/>
              <a:t>(TBH, you can set this up in Java in a way that avoids the interrupt, but it takes some care </a:t>
            </a:r>
            <a:r>
              <a:rPr lang="en-US" sz="2000" dirty="0">
                <a:sym typeface="Wingdings" panose="05000000000000000000" pitchFamily="2" charset="2"/>
              </a:rPr>
              <a:t>)</a:t>
            </a:r>
            <a:endParaRPr lang="en-US" sz="2000" dirty="0"/>
          </a:p>
        </p:txBody>
      </p:sp>
    </p:spTree>
    <p:extLst>
      <p:ext uri="{BB962C8B-B14F-4D97-AF65-F5344CB8AC3E}">
        <p14:creationId xmlns:p14="http://schemas.microsoft.com/office/powerpoint/2010/main" val="83173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Let’s work with more complicated examples: Three Requests,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res1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(1)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res1</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res2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res2</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res3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res3</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a:t>
            </a:r>
          </a:p>
          <a:p>
            <a:pPr algn="l"/>
            <a:br>
              <a:rPr lang="en-US" sz="2000" b="0" dirty="0">
                <a:solidFill>
                  <a:srgbClr val="000000"/>
                </a:solidFill>
                <a:effectLst/>
                <a:latin typeface="Consolas" panose="020B0609020204030204" pitchFamily="49" charset="0"/>
              </a:rPr>
            </a:br>
            <a:r>
              <a:rPr lang="en-US" sz="2000" dirty="0">
                <a:solidFill>
                  <a:srgbClr val="0000FF"/>
                </a:solidFill>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041030"/>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7125667" y="1375114"/>
            <a:ext cx="4969278"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threeRequestsSequentially.ts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(1) returned: 11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(2) returned: 12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 returned: 13</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3024.03 msec</a:t>
            </a:r>
          </a:p>
        </p:txBody>
      </p:sp>
      <p:sp>
        <p:nvSpPr>
          <p:cNvPr id="6" name="Oval 5">
            <a:extLst>
              <a:ext uri="{FF2B5EF4-FFF2-40B4-BE49-F238E27FC236}">
                <a16:creationId xmlns:a16="http://schemas.microsoft.com/office/drawing/2014/main" id="{0D7BB16A-95D1-89D3-897B-11BAEE66BE98}"/>
              </a:ext>
            </a:extLst>
          </p:cNvPr>
          <p:cNvSpPr/>
          <p:nvPr/>
        </p:nvSpPr>
        <p:spPr>
          <a:xfrm>
            <a:off x="7041446" y="531194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9573260" cy="4893647"/>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1800" b="0" dirty="0">
                <a:solidFill>
                  <a:srgbClr val="0000FF"/>
                </a:solidFill>
                <a:effectLst/>
                <a:latin typeface="Consolas" panose="020B0609020204030204" pitchFamily="49" charset="0"/>
              </a:rPr>
              <a:t>import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axios</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from</a:t>
            </a:r>
            <a:r>
              <a:rPr lang="en-US" sz="1800" b="0" dirty="0">
                <a:solidFill>
                  <a:srgbClr val="000000"/>
                </a:solidFill>
                <a:effectLst/>
                <a:latin typeface="Consolas" panose="020B0609020204030204" pitchFamily="49" charset="0"/>
              </a:rPr>
              <a:t> </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axios</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FF"/>
                </a:solidFill>
                <a:effectLst/>
                <a:latin typeface="Consolas" panose="020B0609020204030204" pitchFamily="49" charset="0"/>
              </a:rPr>
              <a:t>export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requestNumber:number</a:t>
            </a:r>
            <a:r>
              <a:rPr lang="en-US" sz="1800" b="0" dirty="0">
                <a:solidFill>
                  <a:srgbClr val="000000"/>
                </a:solidFill>
                <a:effectLst/>
                <a:latin typeface="Consolas" panose="020B0609020204030204" pitchFamily="49" charset="0"/>
              </a:rPr>
              <a:t>)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a:t>
            </a:r>
            <a:r>
              <a:rPr lang="en-US" sz="1800" b="0" dirty="0" err="1">
                <a:solidFill>
                  <a:srgbClr val="A31515"/>
                </a:solidFill>
                <a:effectLst/>
                <a:latin typeface="Consolas" panose="020B0609020204030204" pitchFamily="49" charset="0"/>
              </a:rPr>
              <a:t>makeRequest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response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dirty="0">
                <a:solidFill>
                  <a:srgbClr val="000000"/>
                </a:solidFill>
                <a:latin typeface="Consolas" panose="020B0609020204030204" pitchFamily="49" charset="0"/>
              </a:rPr>
              <a:t>fetch(</a:t>
            </a:r>
            <a:r>
              <a:rPr lang="en-US" sz="1800" dirty="0">
                <a:solidFill>
                  <a:srgbClr val="A31515"/>
                </a:solidFill>
                <a:latin typeface="Consolas" panose="020B0609020204030204" pitchFamily="49" charset="0"/>
              </a:rPr>
              <a:t>'https://rest-</a:t>
            </a:r>
            <a:r>
              <a:rPr lang="en-US" sz="1800" dirty="0" err="1">
                <a:solidFill>
                  <a:srgbClr val="A31515"/>
                </a:solidFill>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dirty="0">
                <a:solidFill>
                  <a:srgbClr val="000000"/>
                </a:solidFill>
                <a:latin typeface="Consolas" panose="020B0609020204030204" pitchFamily="49" charset="0"/>
              </a:rPr>
              <a:t>);</a:t>
            </a:r>
            <a:endParaRPr lang="en-US" sz="1800" b="0" dirty="0">
              <a:solidFill>
                <a:srgbClr val="000000"/>
              </a:solidFill>
              <a:effectLst/>
              <a:latin typeface="Consolas" panose="020B0609020204030204" pitchFamily="49" charset="0"/>
            </a:endParaRP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`request: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make3ConcurrentRequests()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make3ConcurrentRequests'</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100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200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300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'make3ConcurrentRequests finished'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A0C2D166-D221-5634-F340-3FF7ECCBAEE9}"/>
              </a:ext>
            </a:extLst>
          </p:cNvPr>
          <p:cNvSpPr txBox="1"/>
          <p:nvPr/>
        </p:nvSpPr>
        <p:spPr>
          <a:xfrm>
            <a:off x="4498451" y="2025605"/>
            <a:ext cx="7117080" cy="2862322"/>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node </a:t>
            </a:r>
            <a:r>
              <a:rPr lang="en-US" sz="2000" dirty="0" err="1">
                <a:solidFill>
                  <a:prstClr val="black"/>
                </a:solidFill>
                <a:latin typeface="Lucida Console" panose="020B0609040504020204" pitchFamily="49" charset="0"/>
              </a:rPr>
              <a:t>makeThreeConcurrentRequests.ts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starting make3ConcurrentRequests</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(100)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(200)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(300)</a:t>
            </a:r>
          </a:p>
          <a:p>
            <a:pPr algn="l"/>
            <a:r>
              <a:rPr lang="en-US" sz="2000" dirty="0">
                <a:solidFill>
                  <a:prstClr val="black"/>
                </a:solidFill>
                <a:latin typeface="Lucida Console" panose="020B0609040504020204" pitchFamily="49" charset="0"/>
              </a:rPr>
              <a:t>make3ConcurrentRequests finished</a:t>
            </a:r>
          </a:p>
          <a:p>
            <a:pPr algn="l"/>
            <a:r>
              <a:rPr lang="en-US" sz="2000" dirty="0">
                <a:solidFill>
                  <a:prstClr val="black"/>
                </a:solidFill>
                <a:latin typeface="Lucida Console" panose="020B0609040504020204" pitchFamily="49" charset="0"/>
              </a:rPr>
              <a:t>request 300 returned</a:t>
            </a:r>
          </a:p>
          <a:p>
            <a:pPr algn="l"/>
            <a:r>
              <a:rPr lang="en-US" sz="2000" dirty="0">
                <a:solidFill>
                  <a:prstClr val="black"/>
                </a:solidFill>
                <a:latin typeface="Lucida Console" panose="020B0609040504020204" pitchFamily="49" charset="0"/>
              </a:rPr>
              <a:t>request 100 returned</a:t>
            </a:r>
          </a:p>
          <a:p>
            <a:pPr algn="l"/>
            <a:r>
              <a:rPr lang="en-US" sz="2000" dirty="0">
                <a:solidFill>
                  <a:prstClr val="black"/>
                </a:solidFill>
                <a:latin typeface="Lucida Console" panose="020B0609040504020204" pitchFamily="49" charset="0"/>
              </a:rPr>
              <a:t>request 200 returned</a:t>
            </a:r>
            <a:endParaRPr lang="en-US" sz="2000" dirty="0"/>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sp>
        <p:nvSpPr>
          <p:cNvPr id="6" name="Content Placeholder 1">
            <a:extLst>
              <a:ext uri="{FF2B5EF4-FFF2-40B4-BE49-F238E27FC236}">
                <a16:creationId xmlns:a16="http://schemas.microsoft.com/office/drawing/2014/main" id="{121A4AAF-C150-6C53-890C-C69004EFBF51}"/>
              </a:ext>
            </a:extLst>
          </p:cNvPr>
          <p:cNvSpPr txBox="1">
            <a:spLocks/>
          </p:cNvSpPr>
          <p:nvPr/>
        </p:nvSpPr>
        <p:spPr>
          <a:xfrm>
            <a:off x="5730790" y="6027151"/>
            <a:ext cx="5623009" cy="425729"/>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3 requests may finish in any order</a:t>
            </a:r>
          </a:p>
        </p:txBody>
      </p:sp>
      <p:sp>
        <p:nvSpPr>
          <p:cNvPr id="8" name="&quot;Not Allowed&quot; Symbol 7">
            <a:extLst>
              <a:ext uri="{FF2B5EF4-FFF2-40B4-BE49-F238E27FC236}">
                <a16:creationId xmlns:a16="http://schemas.microsoft.com/office/drawing/2014/main" id="{91C55106-CEF7-6C47-022F-61E951C14183}"/>
              </a:ext>
            </a:extLst>
          </p:cNvPr>
          <p:cNvSpPr/>
          <p:nvPr/>
        </p:nvSpPr>
        <p:spPr>
          <a:xfrm>
            <a:off x="3730886" y="1037376"/>
            <a:ext cx="5331853" cy="5331853"/>
          </a:xfrm>
          <a:prstGeom prst="noSmoking">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4000" dirty="0">
                <a:solidFill>
                  <a:schemeClr val="tx1"/>
                </a:solidFill>
              </a:rPr>
              <a:t>NO! Request without await is an antipattern.</a:t>
            </a:r>
          </a:p>
        </p:txBody>
      </p:sp>
    </p:spTree>
    <p:extLst>
      <p:ext uri="{BB962C8B-B14F-4D97-AF65-F5344CB8AC3E}">
        <p14:creationId xmlns:p14="http://schemas.microsoft.com/office/powerpoint/2010/main" val="3887238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73590-E4D1-219E-103D-4DB29E3F3F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57FFCB-4020-9CA3-AF50-C1B79D814C5D}"/>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9" name="Content Placeholder 8">
            <a:extLst>
              <a:ext uri="{FF2B5EF4-FFF2-40B4-BE49-F238E27FC236}">
                <a16:creationId xmlns:a16="http://schemas.microsoft.com/office/drawing/2014/main" id="{55E834AA-59DF-F3B7-4FC0-FDC6A649A6AC}"/>
              </a:ext>
            </a:extLst>
          </p:cNvPr>
          <p:cNvSpPr>
            <a:spLocks noGrp="1"/>
          </p:cNvSpPr>
          <p:nvPr>
            <p:ph idx="1"/>
          </p:nvPr>
        </p:nvSpPr>
        <p:spPr/>
        <p:txBody>
          <a:bodyPr/>
          <a:lstStyle/>
          <a:p>
            <a:r>
              <a:rPr lang="en-US" dirty="0" err="1"/>
              <a:t>Promise.all</a:t>
            </a:r>
            <a:r>
              <a:rPr lang="en-US" dirty="0"/>
              <a:t> takes a list of Promise&lt;T&gt; and creates a Promise&lt;T[]&gt;</a:t>
            </a:r>
          </a:p>
          <a:p>
            <a:pPr lvl="1"/>
            <a:r>
              <a:rPr lang="en-US" dirty="0" err="1"/>
              <a:t>ie</a:t>
            </a:r>
            <a:r>
              <a:rPr lang="en-US" dirty="0"/>
              <a:t>, a promise that resolves to a list of T's</a:t>
            </a:r>
          </a:p>
          <a:p>
            <a:r>
              <a:rPr lang="en-US" dirty="0"/>
              <a:t>When executed, this promise runs them </a:t>
            </a:r>
            <a:r>
              <a:rPr lang="en-US" i="1" dirty="0"/>
              <a:t>concurrently,</a:t>
            </a:r>
          </a:p>
          <a:p>
            <a:r>
              <a:rPr lang="en-US" dirty="0"/>
              <a:t>and resolves with the list of values</a:t>
            </a:r>
          </a:p>
          <a:p>
            <a:pPr lvl="1"/>
            <a:r>
              <a:rPr lang="en-US" dirty="0"/>
              <a:t>(assuming they all resolve successfully)</a:t>
            </a:r>
          </a:p>
        </p:txBody>
      </p:sp>
      <p:sp>
        <p:nvSpPr>
          <p:cNvPr id="3" name="Slide Number Placeholder 2">
            <a:extLst>
              <a:ext uri="{FF2B5EF4-FFF2-40B4-BE49-F238E27FC236}">
                <a16:creationId xmlns:a16="http://schemas.microsoft.com/office/drawing/2014/main" id="{77EC9027-0456-D07D-74D6-67288E7F486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60082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838D7-25A5-BD6D-3EB0-27C3E474BB42}"/>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3" name="Slide Number Placeholder 2">
            <a:extLst>
              <a:ext uri="{FF2B5EF4-FFF2-40B4-BE49-F238E27FC236}">
                <a16:creationId xmlns:a16="http://schemas.microsoft.com/office/drawing/2014/main" id="{694671A2-AD83-14D7-2291-0DE439A8B07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AE052D-2915-5AC4-85A2-7B9A3F13D352}"/>
              </a:ext>
            </a:extLst>
          </p:cNvPr>
          <p:cNvSpPr txBox="1"/>
          <p:nvPr/>
        </p:nvSpPr>
        <p:spPr>
          <a:xfrm>
            <a:off x="376990" y="1528172"/>
            <a:ext cx="928537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main() {</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'starting main'</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promises =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results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Promise.all</a:t>
            </a:r>
            <a:r>
              <a:rPr lang="en-US" sz="2400" b="0" dirty="0">
                <a:solidFill>
                  <a:srgbClr val="000000"/>
                </a:solidFill>
                <a:effectLst/>
                <a:latin typeface="Consolas" panose="020B0609020204030204" pitchFamily="49" charset="0"/>
              </a:rPr>
              <a:t>(promises);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'results:'</a:t>
            </a:r>
            <a:r>
              <a:rPr lang="en-US" sz="2400" b="0" dirty="0">
                <a:solidFill>
                  <a:srgbClr val="000000"/>
                </a:solidFill>
                <a:effectLst/>
                <a:latin typeface="Consolas" panose="020B0609020204030204" pitchFamily="49" charset="0"/>
              </a:rPr>
              <a:t>, results);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'main done'</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a:t>
            </a:r>
          </a:p>
          <a:p>
            <a:pPr algn="l"/>
            <a:br>
              <a:rPr lang="en-US" sz="2400" b="0" dirty="0">
                <a:solidFill>
                  <a:srgbClr val="000000"/>
                </a:solidFill>
                <a:effectLst/>
                <a:latin typeface="Consolas" panose="020B0609020204030204" pitchFamily="49" charset="0"/>
              </a:rPr>
            </a:br>
            <a:r>
              <a:rPr lang="en-US" sz="2400" dirty="0">
                <a:solidFill>
                  <a:srgbClr val="0000FF"/>
                </a:solidFill>
                <a:latin typeface="Consolas" panose="020B0609020204030204" pitchFamily="49" charset="0"/>
              </a:rPr>
              <a:t>await </a:t>
            </a:r>
            <a:r>
              <a:rPr lang="en-US" sz="2400" b="0" dirty="0" err="1">
                <a:solidFill>
                  <a:srgbClr val="000000"/>
                </a:solidFill>
                <a:effectLst/>
                <a:latin typeface="Consolas" panose="020B0609020204030204" pitchFamily="49" charset="0"/>
              </a:rPr>
              <a:t>timeIt</a:t>
            </a:r>
            <a:r>
              <a:rPr lang="en-US" sz="24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E0DE3C76-DED3-4E5B-DACE-9C0E5736DF97}"/>
              </a:ext>
            </a:extLst>
          </p:cNvPr>
          <p:cNvSpPr txBox="1"/>
          <p:nvPr/>
        </p:nvSpPr>
        <p:spPr>
          <a:xfrm>
            <a:off x="6760709" y="236501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threeRequestsConcurrently.ts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1018.81 </a:t>
            </a:r>
            <a:r>
              <a:rPr lang="en-US" sz="2000" dirty="0" err="1">
                <a:solidFill>
                  <a:schemeClr val="tx1"/>
                </a:solidFill>
                <a:latin typeface="Verdana" panose="020B0604030504040204" pitchFamily="34" charset="0"/>
                <a:ea typeface="Verdana" panose="020B0604030504040204" pitchFamily="34" charset="0"/>
              </a:rPr>
              <a:t>msecno</a:t>
            </a:r>
            <a:endParaRPr lang="en-US" sz="2000" dirty="0">
              <a:solidFill>
                <a:schemeClr val="tx1"/>
              </a:solidFill>
              <a:latin typeface="Verdana" panose="020B0604030504040204" pitchFamily="34" charset="0"/>
              <a:ea typeface="Verdana" panose="020B0604030504040204" pitchFamily="34" charset="0"/>
            </a:endParaRPr>
          </a:p>
        </p:txBody>
      </p:sp>
      <p:sp>
        <p:nvSpPr>
          <p:cNvPr id="7" name="Oval 6">
            <a:extLst>
              <a:ext uri="{FF2B5EF4-FFF2-40B4-BE49-F238E27FC236}">
                <a16:creationId xmlns:a16="http://schemas.microsoft.com/office/drawing/2014/main" id="{DF350BD1-BCBF-4053-D8F2-B89C978EAA4F}"/>
              </a:ext>
            </a:extLst>
          </p:cNvPr>
          <p:cNvSpPr/>
          <p:nvPr/>
        </p:nvSpPr>
        <p:spPr>
          <a:xfrm>
            <a:off x="6608309" y="5618765"/>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Rectangle: Rounded Corners 3">
            <a:extLst>
              <a:ext uri="{FF2B5EF4-FFF2-40B4-BE49-F238E27FC236}">
                <a16:creationId xmlns:a16="http://schemas.microsoft.com/office/drawing/2014/main" id="{96E20820-F3F8-F753-CE7F-B002FECF2E4E}"/>
              </a:ext>
            </a:extLst>
          </p:cNvPr>
          <p:cNvSpPr/>
          <p:nvPr/>
        </p:nvSpPr>
        <p:spPr>
          <a:xfrm>
            <a:off x="5798634" y="906135"/>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sp>
        <p:nvSpPr>
          <p:cNvPr id="8" name="Content Placeholder 1">
            <a:extLst>
              <a:ext uri="{FF2B5EF4-FFF2-40B4-BE49-F238E27FC236}">
                <a16:creationId xmlns:a16="http://schemas.microsoft.com/office/drawing/2014/main" id="{E405C686-823C-80E4-002F-44E0B59C9D6B}"/>
              </a:ext>
            </a:extLst>
          </p:cNvPr>
          <p:cNvSpPr txBox="1">
            <a:spLocks/>
          </p:cNvSpPr>
          <p:nvPr/>
        </p:nvSpPr>
        <p:spPr>
          <a:xfrm>
            <a:off x="1046260" y="6007300"/>
            <a:ext cx="5623009" cy="425729"/>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3 requests may finish in any order</a:t>
            </a:r>
          </a:p>
        </p:txBody>
      </p:sp>
    </p:spTree>
    <p:extLst>
      <p:ext uri="{BB962C8B-B14F-4D97-AF65-F5344CB8AC3E}">
        <p14:creationId xmlns:p14="http://schemas.microsoft.com/office/powerpoint/2010/main" val="1692804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xEl>
                                              <p:pRg st="10" end="10"/>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P spid="7" grpId="0" animBg="1"/>
      <p:bldP spid="8"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237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674302" y="3966210"/>
            <a:ext cx="1398428" cy="786357"/>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800" dirty="0">
                <a:solidFill>
                  <a:schemeClr val="tx1"/>
                </a:solidFill>
              </a:rPr>
              <a:t>34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Promises have priority (Micro over Macro)</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09188"/>
            <a:ext cx="9921240" cy="519039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lnSpc>
                <a:spcPct val="113095"/>
              </a:lnSpc>
              <a:buNone/>
            </a:pPr>
            <a:r>
              <a:rPr lang="en-US" sz="1400" b="0" dirty="0">
                <a:solidFill>
                  <a:srgbClr val="0000FF"/>
                </a:solidFill>
                <a:effectLst/>
                <a:latin typeface="Consolas" panose="020B0609020204030204" pitchFamily="49" charset="0"/>
              </a:rPr>
              <a:t>async</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main(): Promise&lt;void&gt;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'main started'</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await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createMacrotask</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microtask1'</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microtask2'</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a:t>
            </a:r>
            <a:br>
              <a:rPr lang="en-US" sz="1400" b="0" dirty="0">
                <a:solidFill>
                  <a:srgbClr val="000000"/>
                </a:solidFill>
                <a:effectLst/>
                <a:latin typeface="Consolas" panose="020B0609020204030204" pitchFamily="49" charset="0"/>
              </a:rPr>
            </a:b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8000"/>
                </a:solidFill>
                <a:effectLst/>
                <a:latin typeface="Consolas" panose="020B0609020204030204" pitchFamily="49" charset="0"/>
              </a:rPr>
              <a:t>// creates a </a:t>
            </a:r>
            <a:r>
              <a:rPr lang="en-US" sz="1400" b="0" dirty="0" err="1">
                <a:solidFill>
                  <a:srgbClr val="008000"/>
                </a:solidFill>
                <a:effectLst/>
                <a:latin typeface="Consolas" panose="020B0609020204030204" pitchFamily="49" charset="0"/>
              </a:rPr>
              <a:t>macrotask</a:t>
            </a:r>
            <a:r>
              <a:rPr lang="en-US" sz="1400" b="0" dirty="0">
                <a:solidFill>
                  <a:srgbClr val="008000"/>
                </a:solidFill>
                <a:effectLst/>
                <a:latin typeface="Consolas" panose="020B0609020204030204" pitchFamily="49" charset="0"/>
              </a:rPr>
              <a:t>, but returns something else.</a:t>
            </a: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FF"/>
                </a:solidFill>
                <a:effectLst/>
                <a:latin typeface="Consolas" panose="020B0609020204030204" pitchFamily="49" charset="0"/>
              </a:rPr>
              <a:t>async</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createMacrotask</a:t>
            </a:r>
            <a:r>
              <a:rPr lang="en-US" sz="1400" b="0" dirty="0">
                <a:solidFill>
                  <a:srgbClr val="000000"/>
                </a:solidFill>
                <a:effectLst/>
                <a:latin typeface="Consolas" panose="020B0609020204030204" pitchFamily="49" charset="0"/>
              </a:rPr>
              <a:t>(): Promise&lt;void&gt;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'creating </a:t>
            </a:r>
            <a:r>
              <a:rPr lang="en-US" sz="1400" b="0" dirty="0" err="1">
                <a:solidFill>
                  <a:srgbClr val="A31515"/>
                </a:solidFill>
                <a:effectLst/>
                <a:latin typeface="Consolas" panose="020B0609020204030204" pitchFamily="49" charset="0"/>
              </a:rPr>
              <a:t>macrotask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_ignored = </a:t>
            </a:r>
            <a:r>
              <a:rPr lang="en-US" sz="1400" b="0" dirty="0">
                <a:solidFill>
                  <a:srgbClr val="0000FF"/>
                </a:solidFill>
                <a:effectLst/>
                <a:latin typeface="Consolas" panose="020B0609020204030204" pitchFamily="49" charset="0"/>
              </a:rPr>
              <a:t>new</a:t>
            </a:r>
            <a:r>
              <a:rPr lang="en-US" sz="1400" b="0" dirty="0">
                <a:solidFill>
                  <a:srgbClr val="000000"/>
                </a:solidFill>
                <a:effectLst/>
                <a:latin typeface="Consolas" panose="020B0609020204030204" pitchFamily="49" charset="0"/>
              </a:rPr>
              <a:t> Promise&lt;void&gt;((resolve)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setTimeout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a:t>
            </a:r>
            <a:r>
              <a:rPr lang="en-US" sz="1400" b="0" dirty="0" err="1">
                <a:solidFill>
                  <a:srgbClr val="A31515"/>
                </a:solidFill>
                <a:effectLst/>
                <a:latin typeface="Consolas" panose="020B0609020204030204" pitchFamily="49" charset="0"/>
              </a:rPr>
              <a:t>macrotask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resolve();</a:t>
            </a:r>
          </a:p>
          <a:p>
            <a:pPr algn="l">
              <a:lnSpc>
                <a:spcPct val="113095"/>
              </a:lnSpc>
              <a:buNone/>
            </a:pP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return a promise that immediately resolves to 3</a:t>
            </a: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Promise.resolve</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a:t>
            </a:r>
          </a:p>
          <a:p>
            <a:pPr algn="l">
              <a:lnSpc>
                <a:spcPct val="113095"/>
              </a:lnSpc>
              <a:buNone/>
            </a:pP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FF"/>
                </a:solidFill>
                <a:effectLst/>
                <a:latin typeface="Consolas" panose="020B0609020204030204" pitchFamily="49" charset="0"/>
              </a:rPr>
              <a:t>await</a:t>
            </a:r>
            <a:r>
              <a:rPr lang="en-US" sz="1400" b="0" dirty="0">
                <a:solidFill>
                  <a:srgbClr val="000000"/>
                </a:solidFill>
                <a:effectLst/>
                <a:latin typeface="Consolas" panose="020B0609020204030204" pitchFamily="49" charset="0"/>
              </a:rPr>
              <a:t> main();</a:t>
            </a: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microOverMacro.ts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97125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microOverMacro.ts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creating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executing microtask1</a:t>
            </a:r>
          </a:p>
          <a:p>
            <a:pPr algn="l"/>
            <a:r>
              <a:rPr lang="en-US" sz="2000" dirty="0">
                <a:solidFill>
                  <a:schemeClr val="tx1"/>
                </a:solidFill>
                <a:latin typeface="Verdana" panose="020B0604030504040204" pitchFamily="34" charset="0"/>
                <a:ea typeface="Verdana" panose="020B0604030504040204" pitchFamily="34" charset="0"/>
              </a:rPr>
              <a:t>executing microtask2</a:t>
            </a:r>
          </a:p>
          <a:p>
            <a:pPr algn="l"/>
            <a:r>
              <a:rPr lang="en-US" sz="2000" dirty="0">
                <a:solidFill>
                  <a:schemeClr val="tx1"/>
                </a:solidFill>
                <a:latin typeface="Verdana" panose="020B0604030504040204" pitchFamily="34" charset="0"/>
                <a:ea typeface="Verdana" panose="020B0604030504040204" pitchFamily="34" charset="0"/>
              </a:rPr>
              <a:t>executing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2008209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Recover from errors with try/catch</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`Error occurred for request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5961358" y="4105898"/>
            <a:ext cx="4773698" cy="2250452"/>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Error occurred for request -32</a:t>
            </a:r>
          </a:p>
          <a:p>
            <a:pPr algn="l"/>
            <a:r>
              <a:rPr lang="en-US" sz="2000" dirty="0">
                <a:solidFill>
                  <a:schemeClr val="tx1"/>
                </a:solidFill>
                <a:latin typeface="Verdana" panose="020B0604030504040204" pitchFamily="34" charset="0"/>
                <a:ea typeface="Verdana" panose="020B0604030504040204" pitchFamily="34" charset="0"/>
              </a:rPr>
              <a:t>main done with res = 0        </a:t>
            </a:r>
          </a:p>
          <a:p>
            <a:pPr algn="l"/>
            <a:r>
              <a:rPr lang="en-US" sz="2000" dirty="0">
                <a:solidFill>
                  <a:schemeClr val="tx1"/>
                </a:solidFill>
                <a:latin typeface="Verdana" panose="020B0604030504040204" pitchFamily="34" charset="0"/>
                <a:ea typeface="Verdana" panose="020B0604030504040204" pitchFamily="34" charset="0"/>
              </a:rPr>
              <a:t>1007.52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199" y="1377264"/>
            <a:ext cx="10670649" cy="480131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vitest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should make a network request using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myFetch</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and then returns n + 1</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(await/expect)'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resolves</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(expect/await)'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7</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8</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6936849" y="1452713"/>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example.spec.ts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Tree>
    <p:extLst>
      <p:ext uri="{BB962C8B-B14F-4D97-AF65-F5344CB8AC3E}">
        <p14:creationId xmlns:p14="http://schemas.microsoft.com/office/powerpoint/2010/main" val="6649838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8C9CF27-CC4B-01C9-C7B0-88C6D5010B66}"/>
              </a:ext>
            </a:extLst>
          </p:cNvPr>
          <p:cNvSpPr>
            <a:spLocks noGrp="1"/>
          </p:cNvSpPr>
          <p:nvPr>
            <p:ph type="title"/>
          </p:nvPr>
        </p:nvSpPr>
        <p:spPr/>
        <p:txBody>
          <a:bodyPr/>
          <a:lstStyle/>
          <a:p>
            <a:r>
              <a:rPr lang="en-US" dirty="0"/>
              <a:t>Other things you should know about async</a:t>
            </a:r>
          </a:p>
        </p:txBody>
      </p:sp>
      <p:sp>
        <p:nvSpPr>
          <p:cNvPr id="3" name="Slide Number Placeholder 2">
            <a:extLst>
              <a:ext uri="{FF2B5EF4-FFF2-40B4-BE49-F238E27FC236}">
                <a16:creationId xmlns:a16="http://schemas.microsoft.com/office/drawing/2014/main" id="{994AF94F-B74C-2AD8-6446-7B806018EA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98056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14E23-6B1E-6DA9-43DE-D4AB6B8047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A7287F-F13F-EB1E-780C-93A76182EF32}"/>
              </a:ext>
            </a:extLst>
          </p:cNvPr>
          <p:cNvSpPr>
            <a:spLocks noGrp="1"/>
          </p:cNvSpPr>
          <p:nvPr>
            <p:ph type="title"/>
          </p:nvPr>
        </p:nvSpPr>
        <p:spPr/>
        <p:txBody>
          <a:bodyPr/>
          <a:lstStyle/>
          <a:p>
            <a:r>
              <a:rPr lang="en-US" dirty="0" err="1"/>
              <a:t>AntiPattern</a:t>
            </a:r>
            <a:r>
              <a:rPr lang="en-US" dirty="0"/>
              <a:t>: </a:t>
            </a:r>
            <a:r>
              <a:rPr lang="en-US" dirty="0" err="1"/>
              <a:t>un</a:t>
            </a:r>
            <a:r>
              <a:rPr lang="en-US" b="1" dirty="0" err="1"/>
              <a:t>await</a:t>
            </a:r>
            <a:r>
              <a:rPr lang="en-US" dirty="0" err="1"/>
              <a:t>ed</a:t>
            </a:r>
            <a:r>
              <a:rPr lang="en-US" dirty="0"/>
              <a:t> promise</a:t>
            </a:r>
          </a:p>
        </p:txBody>
      </p:sp>
      <p:sp>
        <p:nvSpPr>
          <p:cNvPr id="3" name="Slide Number Placeholder 2">
            <a:extLst>
              <a:ext uri="{FF2B5EF4-FFF2-40B4-BE49-F238E27FC236}">
                <a16:creationId xmlns:a16="http://schemas.microsoft.com/office/drawing/2014/main" id="{4F4B96EB-0B11-E398-A048-10591D4A8A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A3B20F1-3798-4B90-66E0-29F929CC20B9}"/>
              </a:ext>
            </a:extLst>
          </p:cNvPr>
          <p:cNvSpPr txBox="1"/>
          <p:nvPr/>
        </p:nvSpPr>
        <p:spPr>
          <a:xfrm>
            <a:off x="838200" y="1713651"/>
            <a:ext cx="9921240" cy="60016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request = </a:t>
            </a:r>
            <a:r>
              <a:rPr lang="en-US" sz="2000" b="0" dirty="0">
                <a:solidFill>
                  <a:srgbClr val="098658"/>
                </a:solidFill>
                <a:effectLst/>
                <a:latin typeface="Consolas" panose="020B0609020204030204" pitchFamily="49" charset="0"/>
              </a:rPr>
              <a:t>32</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(request);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3200" b="0" dirty="0">
                <a:solidFill>
                  <a:srgbClr val="000000"/>
                </a:solidFill>
                <a:effectLst/>
                <a:latin typeface="Consolas" panose="020B0609020204030204" pitchFamily="49" charset="0"/>
              </a:rPr>
            </a:br>
            <a:br>
              <a:rPr lang="en-US" sz="32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6A6B5414-BFCC-277C-2680-A68D9807DB6C}"/>
              </a:ext>
            </a:extLst>
          </p:cNvPr>
          <p:cNvSpPr/>
          <p:nvPr/>
        </p:nvSpPr>
        <p:spPr>
          <a:xfrm>
            <a:off x="5102070"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oneRequestNoAwait.ts</a:t>
            </a:r>
            <a:endParaRPr lang="en-US" sz="2400" dirty="0">
              <a:solidFill>
                <a:schemeClr val="tx1"/>
              </a:solidFill>
            </a:endParaRPr>
          </a:p>
        </p:txBody>
      </p:sp>
      <p:sp>
        <p:nvSpPr>
          <p:cNvPr id="4" name="TextBox 3">
            <a:extLst>
              <a:ext uri="{FF2B5EF4-FFF2-40B4-BE49-F238E27FC236}">
                <a16:creationId xmlns:a16="http://schemas.microsoft.com/office/drawing/2014/main" id="{66E8FBED-B605-FC27-1D00-D9868FABB613}"/>
              </a:ext>
            </a:extLst>
          </p:cNvPr>
          <p:cNvSpPr txBox="1"/>
          <p:nvPr/>
        </p:nvSpPr>
        <p:spPr>
          <a:xfrm>
            <a:off x="6096000" y="3920951"/>
            <a:ext cx="5899485" cy="2638592"/>
          </a:xfrm>
          <a:prstGeom prst="rect">
            <a:avLst/>
          </a:prstGeom>
          <a:solidFill>
            <a:schemeClr val="bg1">
              <a:alpha val="96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oneRequestNoAwait.ts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[object Promise]</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2.64 msec</a:t>
            </a:r>
          </a:p>
          <a:p>
            <a:pPr algn="l"/>
            <a:r>
              <a:rPr lang="en-US" sz="2000" dirty="0">
                <a:solidFill>
                  <a:schemeClr val="tx1"/>
                </a:solidFill>
                <a:latin typeface="Verdana" panose="020B0604030504040204" pitchFamily="34" charset="0"/>
                <a:ea typeface="Verdana" panose="020B0604030504040204" pitchFamily="34" charset="0"/>
              </a:rPr>
              <a:t>time passes....</a:t>
            </a:r>
          </a:p>
        </p:txBody>
      </p:sp>
      <p:sp>
        <p:nvSpPr>
          <p:cNvPr id="7" name="Hexagon 6">
            <a:extLst>
              <a:ext uri="{FF2B5EF4-FFF2-40B4-BE49-F238E27FC236}">
                <a16:creationId xmlns:a16="http://schemas.microsoft.com/office/drawing/2014/main" id="{82C92594-9535-2284-40FA-DD907B204E98}"/>
              </a:ext>
            </a:extLst>
          </p:cNvPr>
          <p:cNvSpPr/>
          <p:nvPr/>
        </p:nvSpPr>
        <p:spPr>
          <a:xfrm>
            <a:off x="6096000" y="1635191"/>
            <a:ext cx="4663440" cy="4058767"/>
          </a:xfrm>
          <a:prstGeom prst="hexagon">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b="1" dirty="0">
                <a:solidFill>
                  <a:schemeClr val="bg1"/>
                </a:solidFill>
              </a:rPr>
              <a:t>Lint says:</a:t>
            </a:r>
          </a:p>
          <a:p>
            <a:r>
              <a:rPr lang="en-US" sz="9600" b="1" dirty="0">
                <a:solidFill>
                  <a:schemeClr val="bg1"/>
                </a:solidFill>
              </a:rPr>
              <a:t>STOP</a:t>
            </a:r>
          </a:p>
        </p:txBody>
      </p:sp>
    </p:spTree>
    <p:extLst>
      <p:ext uri="{BB962C8B-B14F-4D97-AF65-F5344CB8AC3E}">
        <p14:creationId xmlns:p14="http://schemas.microsoft.com/office/powerpoint/2010/main" val="3282985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 Using await is preferred</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async doesn't eliminate data races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668594" y="1513783"/>
            <a:ext cx="7942006"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string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for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let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&lt;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4</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267F99"/>
                </a:solidFill>
                <a:effectLst/>
                <a:uLnTx/>
                <a:uFillTx/>
                <a:latin typeface="Consolas" panose="020B0609020204030204" pitchFamily="49" charset="0"/>
                <a:ea typeface="+mn-ea"/>
                <a:cs typeface="+mn-cs"/>
                <a:sym typeface="Helvetica Neue"/>
              </a:rPr>
              <a:t>Promise</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all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console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dataRace.ts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
        <p:nvSpPr>
          <p:cNvPr id="8" name="TextBox 7">
            <a:extLst>
              <a:ext uri="{FF2B5EF4-FFF2-40B4-BE49-F238E27FC236}">
                <a16:creationId xmlns:a16="http://schemas.microsoft.com/office/drawing/2014/main" id="{D7C3C704-F2A9-0804-4243-8724B00C475C}"/>
              </a:ext>
            </a:extLst>
          </p:cNvPr>
          <p:cNvSpPr txBox="1"/>
          <p:nvPr/>
        </p:nvSpPr>
        <p:spPr>
          <a:xfrm>
            <a:off x="7293935" y="1782311"/>
            <a:ext cx="3572539" cy="35725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node </a:t>
            </a:r>
            <a:r>
              <a:rPr kumimoji="0" lang="en-US" sz="2000" b="0" i="0" u="none" strike="noStrike" kern="0" cap="none" spc="0" normalizeH="0" baseline="0" noProof="0" dirty="0" err="1">
                <a:ln>
                  <a:noFill/>
                </a:ln>
                <a:solidFill>
                  <a:prstClr val="black"/>
                </a:solidFill>
                <a:effectLst/>
                <a:uLnTx/>
                <a:uFillTx/>
                <a:latin typeface="Verdana" panose="020B0604030504040204" pitchFamily="34" charset="0"/>
                <a:ea typeface="Verdana" panose="020B0604030504040204" pitchFamily="34" charset="0"/>
                <a:cs typeface="+mn-cs"/>
                <a:sym typeface="Helvetica Neue"/>
              </a:rPr>
              <a:t>dataRace.ts</a:t>
            </a:r>
            <a:endPar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'X', 'Y',</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p:txBody>
      </p:sp>
    </p:spTree>
    <p:extLst>
      <p:ext uri="{BB962C8B-B14F-4D97-AF65-F5344CB8AC3E}">
        <p14:creationId xmlns:p14="http://schemas.microsoft.com/office/powerpoint/2010/main" val="21921284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More Properties of Good Handlers"/>
          <p:cNvSpPr txBox="1">
            <a:spLocks noGrp="1"/>
          </p:cNvSpPr>
          <p:nvPr>
            <p:ph type="title"/>
          </p:nvPr>
        </p:nvSpPr>
        <p:spPr>
          <a:prstGeom prst="rect">
            <a:avLst/>
          </a:prstGeom>
        </p:spPr>
        <p:txBody>
          <a:bodyPr/>
          <a:lstStyle/>
          <a:p>
            <a:r>
              <a:rPr lang="en-US" dirty="0"/>
              <a:t>Review of Rules for Writing Asynchronous Code</a:t>
            </a:r>
            <a:endParaRPr dirty="0"/>
          </a:p>
        </p:txBody>
      </p:sp>
      <p:sp>
        <p:nvSpPr>
          <p:cNvPr id="517" name="Remember that event events are processed in the order they are received…"/>
          <p:cNvSpPr txBox="1">
            <a:spLocks noGrp="1"/>
          </p:cNvSpPr>
          <p:nvPr>
            <p:ph idx="1"/>
          </p:nvPr>
        </p:nvSpPr>
        <p:spPr>
          <a:xfrm>
            <a:off x="838200" y="1500160"/>
            <a:ext cx="10363200" cy="4351338"/>
          </a:xfrm>
          <a:prstGeom prst="rect">
            <a:avLst/>
          </a:prstGeom>
        </p:spPr>
        <p:txBody>
          <a:bodyPr>
            <a:normAutofit lnSpcReduction="10000"/>
          </a:bodyPr>
          <a:lstStyle/>
          <a:p>
            <a:r>
              <a:rPr lang="en-US" b="1" dirty="0"/>
              <a:t>Await</a:t>
            </a:r>
            <a:r>
              <a:rPr lang="en-US" dirty="0"/>
              <a:t> async procedures only from other async functions or from the top level.</a:t>
            </a:r>
          </a:p>
          <a:p>
            <a:r>
              <a:rPr lang="en-US" dirty="0"/>
              <a:t>You can’t return a value from a promise to an ordinary procedure.</a:t>
            </a:r>
          </a:p>
          <a:p>
            <a:pPr lvl="1"/>
            <a:r>
              <a:rPr lang="en-US" dirty="0"/>
              <a:t>You can only send the value to another promise that is awaiting it.</a:t>
            </a:r>
          </a:p>
          <a:p>
            <a:r>
              <a:rPr lang="en-US" dirty="0"/>
              <a:t>Break up any long-running computation into </a:t>
            </a:r>
            <a:r>
              <a:rPr lang="en-US" b="1" dirty="0"/>
              <a:t>async/await</a:t>
            </a:r>
            <a:r>
              <a:rPr lang="en-US" dirty="0"/>
              <a:t> segments so other processes will have a chance to run.</a:t>
            </a:r>
          </a:p>
          <a:p>
            <a:r>
              <a:rPr lang="en-US" dirty="0"/>
              <a:t>Leverage concurrency when possible</a:t>
            </a:r>
          </a:p>
          <a:p>
            <a:pPr lvl="1"/>
            <a:r>
              <a:rPr lang="en-US" dirty="0"/>
              <a:t>Use </a:t>
            </a:r>
            <a:r>
              <a:rPr lang="en-US" b="1" dirty="0" err="1"/>
              <a:t>promise.all</a:t>
            </a:r>
            <a:r>
              <a:rPr lang="en-US" b="1" dirty="0"/>
              <a:t> </a:t>
            </a:r>
            <a:r>
              <a:rPr lang="en-US" dirty="0"/>
              <a:t>if you need to wait for multiple promises to return (or </a:t>
            </a:r>
            <a:r>
              <a:rPr lang="en-US" b="1" dirty="0" err="1"/>
              <a:t>Promise.allSettled</a:t>
            </a:r>
            <a:r>
              <a:rPr lang="en-US" dirty="0"/>
              <a:t>, if needed).</a:t>
            </a:r>
            <a:endParaRPr dirty="0"/>
          </a:p>
          <a:p>
            <a:r>
              <a:rPr lang="en-US" dirty="0"/>
              <a:t>Check for errors with </a:t>
            </a:r>
            <a:r>
              <a:rPr lang="en-US" b="1" dirty="0"/>
              <a:t>try/catch</a:t>
            </a:r>
          </a:p>
          <a:p>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Let’s put it all together</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200" y="1500159"/>
            <a:ext cx="3924033" cy="4769267"/>
          </a:xfrm>
        </p:spPr>
        <p:txBody>
          <a:bodyPr>
            <a:normAutofit/>
          </a:bodyPr>
          <a:lstStyle/>
          <a:p>
            <a:r>
              <a:rPr lang="en-US" dirty="0"/>
              <a:t>JS/TS has single event loop</a:t>
            </a:r>
          </a:p>
          <a:p>
            <a:r>
              <a:rPr lang="en-US" dirty="0"/>
              <a:t>We outsource most of the work to </a:t>
            </a:r>
            <a:r>
              <a:rPr lang="en-US" dirty="0" err="1"/>
              <a:t>WebAPIs</a:t>
            </a:r>
            <a:r>
              <a:rPr lang="en-US" dirty="0"/>
              <a:t> for asynchronous work</a:t>
            </a:r>
          </a:p>
          <a:p>
            <a:r>
              <a:rPr lang="en-US" dirty="0"/>
              <a:t>Upon completion, they are placed in queues. </a:t>
            </a:r>
          </a:p>
          <a:p>
            <a:r>
              <a:rPr lang="en-US" dirty="0"/>
              <a:t>Event loop picks them up from queue when call stack is empty!</a:t>
            </a:r>
          </a:p>
        </p:txBody>
      </p:sp>
      <p:pic>
        <p:nvPicPr>
          <p:cNvPr id="8" name="Picture 7" descr="The image illustrates a flow diagram showing a JavaScript runtime environment with various components like Microtask Queue, Call Stack, Event Loop, and others, depicting the execution process of tasks and callbacks.&#10;&#10;AI-generated content may be incorrect.">
            <a:extLst>
              <a:ext uri="{FF2B5EF4-FFF2-40B4-BE49-F238E27FC236}">
                <a16:creationId xmlns:a16="http://schemas.microsoft.com/office/drawing/2014/main" id="{D53FB1D8-EE11-7C17-E1FC-B340C3520825}"/>
              </a:ext>
            </a:extLst>
          </p:cNvPr>
          <p:cNvPicPr>
            <a:picLocks noChangeAspect="1"/>
          </p:cNvPicPr>
          <p:nvPr/>
        </p:nvPicPr>
        <p:blipFill>
          <a:blip r:embed="rId3"/>
          <a:stretch>
            <a:fillRect/>
          </a:stretch>
        </p:blipFill>
        <p:spPr>
          <a:xfrm>
            <a:off x="4762233" y="1500159"/>
            <a:ext cx="7075737" cy="3531231"/>
          </a:xfrm>
          <a:prstGeom prst="rect">
            <a:avLst/>
          </a:prstGeom>
        </p:spPr>
      </p:pic>
    </p:spTree>
    <p:extLst>
      <p:ext uri="{BB962C8B-B14F-4D97-AF65-F5344CB8AC3E}">
        <p14:creationId xmlns:p14="http://schemas.microsoft.com/office/powerpoint/2010/main" val="17083584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40</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34497</TotalTime>
  <Words>5934</Words>
  <Application>Microsoft Office PowerPoint</Application>
  <PresentationFormat>Widescreen</PresentationFormat>
  <Paragraphs>644</Paragraphs>
  <Slides>40</Slides>
  <Notes>36</Notes>
  <HiddenSlides>4</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40</vt:i4>
      </vt:variant>
    </vt:vector>
  </HeadingPairs>
  <TitlesOfParts>
    <vt:vector size="50" baseType="lpstr">
      <vt:lpstr>Arial</vt:lpstr>
      <vt:lpstr>Calibri</vt:lpstr>
      <vt:lpstr>Consolas</vt:lpstr>
      <vt:lpstr>Courier</vt:lpstr>
      <vt:lpstr>Helvetica Neue</vt:lpstr>
      <vt:lpstr>Ink Free</vt:lpstr>
      <vt:lpstr>Lucida Console</vt:lpstr>
      <vt:lpstr>Verdana</vt:lpstr>
      <vt:lpstr>Wingdings</vt:lpstr>
      <vt:lpstr>Office Theme</vt:lpstr>
      <vt:lpstr>CS 4530: Fundamentals of Software Engineering  Module 08: Concurrency Patterns in Typescript</vt:lpstr>
      <vt:lpstr>Learning Goals for this Lesson</vt:lpstr>
      <vt:lpstr>Why async matters</vt:lpstr>
      <vt:lpstr>Typescript/JavaScript achieves this goal using two techniques:   1. non-blocking IO   2. cooperative multiprocessing </vt:lpstr>
      <vt:lpstr>Part 1: JS/TS in your browser has some primitives for doing non-blocking I/O</vt:lpstr>
      <vt:lpstr>Part 2: Javascript/Typescript uses cooperative multiprocessing</vt:lpstr>
      <vt:lpstr>async/await is a programming model for cooperative multiprocessing</vt:lpstr>
      <vt:lpstr>Quick Review of Promises (from M04)</vt:lpstr>
      <vt:lpstr>A promise can be in one of exactly 3 states</vt:lpstr>
      <vt:lpstr>Async functions return Promises</vt:lpstr>
      <vt:lpstr>This function returns a promise that will resolve with m.</vt:lpstr>
      <vt:lpstr>Run to Completion is a central concept</vt:lpstr>
      <vt:lpstr>This function can only be paused in certain places</vt:lpstr>
      <vt:lpstr>What happens at those pause points?</vt:lpstr>
      <vt:lpstr>What happens when you await?</vt:lpstr>
      <vt:lpstr>How does JS Event Loop make this happen?</vt:lpstr>
      <vt:lpstr>Let’s start with a simple request</vt:lpstr>
      <vt:lpstr>Pattern for starting a concurrent computation using non-blocking I/O</vt:lpstr>
      <vt:lpstr>Pattern for starting a concurrent computation using non-blocking I/O</vt:lpstr>
      <vt:lpstr>Pattern for starting a concurrent computation using non-blocking I/O</vt:lpstr>
      <vt:lpstr>Promises come in two flavors: microtasks and macrotasks</vt:lpstr>
      <vt:lpstr>Macrotasks are API calls; Microtasks are what you do after the API call returns</vt:lpstr>
      <vt:lpstr>By contrast, most OS's use pre-emptive multiprocessing</vt:lpstr>
      <vt:lpstr>Java vs. JS/TS</vt:lpstr>
      <vt:lpstr>Let’s work with more complicated examples: Three Requests, sequentially</vt:lpstr>
      <vt:lpstr>Running 3 concurrent fetch requests</vt:lpstr>
      <vt:lpstr>Use Promise.all to execute several requests concurrently</vt:lpstr>
      <vt:lpstr>Use Promise.all to execute several requests concurrently</vt:lpstr>
      <vt:lpstr>Why is that?  Visualizing Promise.all</vt:lpstr>
      <vt:lpstr>Promises have priority (Micro over Macro)</vt:lpstr>
      <vt:lpstr>Recover from errors with try/catch</vt:lpstr>
      <vt:lpstr>try/catch, continued</vt:lpstr>
      <vt:lpstr>Pattern for testing an async function</vt:lpstr>
      <vt:lpstr>Other things you should know about async</vt:lpstr>
      <vt:lpstr>AntiPattern: unawaited promise</vt:lpstr>
      <vt:lpstr>Async/await code is compiled into promise/then code. Using await is preferred</vt:lpstr>
      <vt:lpstr>async doesn't eliminate data races</vt:lpstr>
      <vt:lpstr>Review of Rules for Writing Asynchronous Code</vt:lpstr>
      <vt:lpstr>Let’s put it all together</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Mitchell Wand</cp:lastModifiedBy>
  <cp:revision>149</cp:revision>
  <dcterms:modified xsi:type="dcterms:W3CDTF">2026-09-28T20:00:24Z</dcterms:modified>
</cp:coreProperties>
</file>