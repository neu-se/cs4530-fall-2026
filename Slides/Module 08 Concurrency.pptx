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46"/>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7" r:id="rId17"/>
    <p:sldId id="691" r:id="rId18"/>
    <p:sldId id="787" r:id="rId19"/>
    <p:sldId id="564" r:id="rId20"/>
    <p:sldId id="687" r:id="rId21"/>
    <p:sldId id="690" r:id="rId22"/>
    <p:sldId id="784" r:id="rId23"/>
    <p:sldId id="262" r:id="rId24"/>
    <p:sldId id="579" r:id="rId25"/>
    <p:sldId id="679" r:id="rId26"/>
    <p:sldId id="700" r:id="rId27"/>
    <p:sldId id="785" r:id="rId28"/>
    <p:sldId id="786" r:id="rId29"/>
    <p:sldId id="781" r:id="rId30"/>
    <p:sldId id="680" r:id="rId31"/>
    <p:sldId id="662" r:id="rId32"/>
    <p:sldId id="788" r:id="rId33"/>
    <p:sldId id="695" r:id="rId34"/>
    <p:sldId id="681" r:id="rId35"/>
    <p:sldId id="682" r:id="rId36"/>
    <p:sldId id="689" r:id="rId37"/>
    <p:sldId id="544" r:id="rId38"/>
    <p:sldId id="673" r:id="rId39"/>
    <p:sldId id="499" r:id="rId40"/>
    <p:sldId id="550" r:id="rId41"/>
    <p:sldId id="546" r:id="rId42"/>
    <p:sldId id="277" r:id="rId43"/>
    <p:sldId id="664" r:id="rId44"/>
    <p:sldId id="604" r:id="rId45"/>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7"/>
            <p14:sldId id="691"/>
            <p14:sldId id="787"/>
            <p14:sldId id="564"/>
            <p14:sldId id="687"/>
            <p14:sldId id="690"/>
            <p14:sldId id="784"/>
            <p14:sldId id="262"/>
            <p14:sldId id="579"/>
            <p14:sldId id="679"/>
            <p14:sldId id="700"/>
            <p14:sldId id="785"/>
            <p14:sldId id="786"/>
            <p14:sldId id="781"/>
            <p14:sldId id="680"/>
            <p14:sldId id="662"/>
            <p14:sldId id="788"/>
            <p14:sldId id="695"/>
            <p14:sldId id="681"/>
            <p14:sldId id="682"/>
            <p14:sldId id="689"/>
            <p14:sldId id="544"/>
            <p14:sldId id="673"/>
            <p14:sldId id="499"/>
            <p14:sldId id="550"/>
            <p14:sldId id="546"/>
            <p14:sldId id="277"/>
            <p14:sldId id="664"/>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4D0371E-6C4C-4AD0-8620-56B168A0C6F0}" v="260" dt="2026-09-26T18:57:13.969"/>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53" autoAdjust="0"/>
    <p:restoredTop sz="71966" autoAdjust="0"/>
  </p:normalViewPr>
  <p:slideViewPr>
    <p:cSldViewPr snapToGrid="0" snapToObjects="1">
      <p:cViewPr varScale="1">
        <p:scale>
          <a:sx n="53" d="100"/>
          <a:sy n="53" d="100"/>
        </p:scale>
        <p:origin x="1140" y="44"/>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123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51"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notesMaster" Target="notesMasters/notes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itchell Wand" userId="de9b44c55c049659" providerId="LiveId" clId="{7A9D5940-B2CC-47DD-AF5E-71219F1A1E26}"/>
    <pc:docChg chg="undo custSel delSld modSld modSection">
      <pc:chgData name="Mitchell Wand" userId="de9b44c55c049659" providerId="LiveId" clId="{7A9D5940-B2CC-47DD-AF5E-71219F1A1E26}" dt="2026-09-26T19:01:16.222" v="432" actId="20577"/>
      <pc:docMkLst>
        <pc:docMk/>
      </pc:docMkLst>
      <pc:sldChg chg="modNotesTx">
        <pc:chgData name="Mitchell Wand" userId="de9b44c55c049659" providerId="LiveId" clId="{7A9D5940-B2CC-47DD-AF5E-71219F1A1E26}" dt="2026-09-26T19:01:16.222" v="432" actId="20577"/>
        <pc:sldMkLst>
          <pc:docMk/>
          <pc:sldMk cId="334896783" sldId="499"/>
        </pc:sldMkLst>
      </pc:sldChg>
      <pc:sldChg chg="delSp modSp mod modAnim">
        <pc:chgData name="Mitchell Wand" userId="de9b44c55c049659" providerId="LiveId" clId="{7A9D5940-B2CC-47DD-AF5E-71219F1A1E26}" dt="2026-09-26T15:54:44.172" v="242" actId="108"/>
        <pc:sldMkLst>
          <pc:docMk/>
          <pc:sldMk cId="831730851" sldId="579"/>
        </pc:sldMkLst>
        <pc:spChg chg="mod">
          <ac:chgData name="Mitchell Wand" userId="de9b44c55c049659" providerId="LiveId" clId="{7A9D5940-B2CC-47DD-AF5E-71219F1A1E26}" dt="2026-09-26T15:50:00.499" v="84" actId="20577"/>
          <ac:spMkLst>
            <pc:docMk/>
            <pc:sldMk cId="831730851" sldId="579"/>
            <ac:spMk id="4" creationId="{455689C7-7C27-5D24-90F6-149A2C5D118F}"/>
          </ac:spMkLst>
        </pc:spChg>
        <pc:spChg chg="mod">
          <ac:chgData name="Mitchell Wand" userId="de9b44c55c049659" providerId="LiveId" clId="{7A9D5940-B2CC-47DD-AF5E-71219F1A1E26}" dt="2026-09-26T15:53:55.109" v="227" actId="1076"/>
          <ac:spMkLst>
            <pc:docMk/>
            <pc:sldMk cId="831730851" sldId="579"/>
            <ac:spMk id="5" creationId="{A4D17C1B-9DC9-4F66-74C1-40955C2E2C8A}"/>
          </ac:spMkLst>
        </pc:spChg>
        <pc:spChg chg="del mod">
          <ac:chgData name="Mitchell Wand" userId="de9b44c55c049659" providerId="LiveId" clId="{7A9D5940-B2CC-47DD-AF5E-71219F1A1E26}" dt="2026-09-26T15:47:17.913" v="16" actId="478"/>
          <ac:spMkLst>
            <pc:docMk/>
            <pc:sldMk cId="831730851" sldId="579"/>
            <ac:spMk id="6" creationId="{8A2E1089-14AD-C17B-5AC5-FE593D2A4883}"/>
          </ac:spMkLst>
        </pc:spChg>
        <pc:spChg chg="mod">
          <ac:chgData name="Mitchell Wand" userId="de9b44c55c049659" providerId="LiveId" clId="{7A9D5940-B2CC-47DD-AF5E-71219F1A1E26}" dt="2026-09-26T15:54:44.172" v="242" actId="108"/>
          <ac:spMkLst>
            <pc:docMk/>
            <pc:sldMk cId="831730851" sldId="579"/>
            <ac:spMk id="7" creationId="{CD50A8E0-85BE-235E-B3A1-9815DAFEE290}"/>
          </ac:spMkLst>
        </pc:spChg>
        <pc:spChg chg="del mod">
          <ac:chgData name="Mitchell Wand" userId="de9b44c55c049659" providerId="LiveId" clId="{7A9D5940-B2CC-47DD-AF5E-71219F1A1E26}" dt="2026-09-26T15:47:50.930" v="19" actId="478"/>
          <ac:spMkLst>
            <pc:docMk/>
            <pc:sldMk cId="831730851" sldId="579"/>
            <ac:spMk id="8" creationId="{CDA42B81-4D2A-1633-98CC-3AEAB6EEE09C}"/>
          </ac:spMkLst>
        </pc:spChg>
      </pc:sldChg>
      <pc:sldChg chg="modSp mod">
        <pc:chgData name="Mitchell Wand" userId="de9b44c55c049659" providerId="LiveId" clId="{7A9D5940-B2CC-47DD-AF5E-71219F1A1E26}" dt="2026-09-26T15:59:12.576" v="267" actId="108"/>
        <pc:sldMkLst>
          <pc:docMk/>
          <pc:sldMk cId="2188387085" sldId="658"/>
        </pc:sldMkLst>
        <pc:spChg chg="mod">
          <ac:chgData name="Mitchell Wand" userId="de9b44c55c049659" providerId="LiveId" clId="{7A9D5940-B2CC-47DD-AF5E-71219F1A1E26}" dt="2026-09-26T15:59:12.576" v="267" actId="108"/>
          <ac:spMkLst>
            <pc:docMk/>
            <pc:sldMk cId="2188387085" sldId="658"/>
            <ac:spMk id="13" creationId="{1B64EA3A-9E61-47FA-1240-B7E38B9A1B8D}"/>
          </ac:spMkLst>
        </pc:spChg>
        <pc:spChg chg="mod">
          <ac:chgData name="Mitchell Wand" userId="de9b44c55c049659" providerId="LiveId" clId="{7A9D5940-B2CC-47DD-AF5E-71219F1A1E26}" dt="2026-09-26T02:35:23.975" v="14" actId="20577"/>
          <ac:spMkLst>
            <pc:docMk/>
            <pc:sldMk cId="2188387085" sldId="658"/>
            <ac:spMk id="17" creationId="{CECC858F-855F-B805-23D7-40D0CFA0AA2D}"/>
          </ac:spMkLst>
        </pc:spChg>
      </pc:sldChg>
      <pc:sldChg chg="modSp mod">
        <pc:chgData name="Mitchell Wand" userId="de9b44c55c049659" providerId="LiveId" clId="{7A9D5940-B2CC-47DD-AF5E-71219F1A1E26}" dt="2026-09-26T15:57:44.544" v="259" actId="108"/>
        <pc:sldMkLst>
          <pc:docMk/>
          <pc:sldMk cId="2643055736" sldId="679"/>
        </pc:sldMkLst>
        <pc:spChg chg="mod">
          <ac:chgData name="Mitchell Wand" userId="de9b44c55c049659" providerId="LiveId" clId="{7A9D5940-B2CC-47DD-AF5E-71219F1A1E26}" dt="2026-09-26T15:57:44.544" v="259" actId="108"/>
          <ac:spMkLst>
            <pc:docMk/>
            <pc:sldMk cId="2643055736" sldId="679"/>
            <ac:spMk id="5" creationId="{6108ED69-BEC0-E2B4-CE24-6547CAD27A48}"/>
          </ac:spMkLst>
        </pc:spChg>
      </pc:sldChg>
      <pc:sldChg chg="modSp">
        <pc:chgData name="Mitchell Wand" userId="de9b44c55c049659" providerId="LiveId" clId="{7A9D5940-B2CC-47DD-AF5E-71219F1A1E26}" dt="2026-09-26T15:58:13.841" v="260"/>
        <pc:sldMkLst>
          <pc:docMk/>
          <pc:sldMk cId="1692804628" sldId="680"/>
        </pc:sldMkLst>
        <pc:spChg chg="mod">
          <ac:chgData name="Mitchell Wand" userId="de9b44c55c049659" providerId="LiveId" clId="{7A9D5940-B2CC-47DD-AF5E-71219F1A1E26}" dt="2026-09-26T15:58:13.841" v="260"/>
          <ac:spMkLst>
            <pc:docMk/>
            <pc:sldMk cId="1692804628" sldId="680"/>
            <ac:spMk id="5" creationId="{61AE052D-2915-5AC4-85A2-7B9A3F13D352}"/>
          </ac:spMkLst>
        </pc:spChg>
      </pc:sldChg>
      <pc:sldChg chg="modSp mod">
        <pc:chgData name="Mitchell Wand" userId="de9b44c55c049659" providerId="LiveId" clId="{7A9D5940-B2CC-47DD-AF5E-71219F1A1E26}" dt="2026-09-26T15:55:53.195" v="252" actId="20577"/>
        <pc:sldMkLst>
          <pc:docMk/>
          <pc:sldMk cId="684796963" sldId="691"/>
        </pc:sldMkLst>
        <pc:spChg chg="mod">
          <ac:chgData name="Mitchell Wand" userId="de9b44c55c049659" providerId="LiveId" clId="{7A9D5940-B2CC-47DD-AF5E-71219F1A1E26}" dt="2026-09-26T15:55:53.195" v="252" actId="20577"/>
          <ac:spMkLst>
            <pc:docMk/>
            <pc:sldMk cId="684796963" sldId="691"/>
            <ac:spMk id="5" creationId="{7EEEED4A-F825-36DE-4D0D-71F249BADA7F}"/>
          </ac:spMkLst>
        </pc:spChg>
      </pc:sldChg>
      <pc:sldChg chg="delSp modSp mod modAnim modNotesTx">
        <pc:chgData name="Mitchell Wand" userId="de9b44c55c049659" providerId="LiveId" clId="{7A9D5940-B2CC-47DD-AF5E-71219F1A1E26}" dt="2026-09-26T18:59:06.137" v="335" actId="20577"/>
        <pc:sldMkLst>
          <pc:docMk/>
          <pc:sldMk cId="2008209886" sldId="695"/>
        </pc:sldMkLst>
        <pc:spChg chg="mod">
          <ac:chgData name="Mitchell Wand" userId="de9b44c55c049659" providerId="LiveId" clId="{7A9D5940-B2CC-47DD-AF5E-71219F1A1E26}" dt="2026-09-26T18:57:10.588" v="331"/>
          <ac:spMkLst>
            <pc:docMk/>
            <pc:sldMk cId="2008209886" sldId="695"/>
            <ac:spMk id="4" creationId="{0A9DC6B3-C52B-0E35-E5BE-5239B6039A57}"/>
          </ac:spMkLst>
        </pc:spChg>
        <pc:spChg chg="mod">
          <ac:chgData name="Mitchell Wand" userId="de9b44c55c049659" providerId="LiveId" clId="{7A9D5940-B2CC-47DD-AF5E-71219F1A1E26}" dt="2026-09-26T18:57:46.141" v="333" actId="1076"/>
          <ac:spMkLst>
            <pc:docMk/>
            <pc:sldMk cId="2008209886" sldId="695"/>
            <ac:spMk id="5" creationId="{7EEEED4A-F825-36DE-4D0D-71F249BADA7F}"/>
          </ac:spMkLst>
        </pc:spChg>
        <pc:spChg chg="del">
          <ac:chgData name="Mitchell Wand" userId="de9b44c55c049659" providerId="LiveId" clId="{7A9D5940-B2CC-47DD-AF5E-71219F1A1E26}" dt="2026-09-26T15:59:51.746" v="269" actId="478"/>
          <ac:spMkLst>
            <pc:docMk/>
            <pc:sldMk cId="2008209886" sldId="695"/>
            <ac:spMk id="6" creationId="{AD1001DB-76DD-2586-B9F2-E882C95ACD40}"/>
          </ac:spMkLst>
        </pc:spChg>
        <pc:spChg chg="mod">
          <ac:chgData name="Mitchell Wand" userId="de9b44c55c049659" providerId="LiveId" clId="{7A9D5940-B2CC-47DD-AF5E-71219F1A1E26}" dt="2026-09-26T16:02:37.119" v="297" actId="20577"/>
          <ac:spMkLst>
            <pc:docMk/>
            <pc:sldMk cId="2008209886" sldId="695"/>
            <ac:spMk id="11" creationId="{3A1A2B3D-50BE-3B83-D716-F6FF92A3781B}"/>
          </ac:spMkLst>
        </pc:spChg>
      </pc:sldChg>
      <pc:sldChg chg="modSp">
        <pc:chgData name="Mitchell Wand" userId="de9b44c55c049659" providerId="LiveId" clId="{7A9D5940-B2CC-47DD-AF5E-71219F1A1E26}" dt="2026-09-26T15:59:26.405" v="268"/>
        <pc:sldMkLst>
          <pc:docMk/>
          <pc:sldMk cId="1605946853" sldId="701"/>
        </pc:sldMkLst>
        <pc:spChg chg="mod">
          <ac:chgData name="Mitchell Wand" userId="de9b44c55c049659" providerId="LiveId" clId="{7A9D5940-B2CC-47DD-AF5E-71219F1A1E26}" dt="2026-09-26T15:59:26.405" v="268"/>
          <ac:spMkLst>
            <pc:docMk/>
            <pc:sldMk cId="1605946853" sldId="701"/>
            <ac:spMk id="11" creationId="{F62C23ED-9342-ADEF-7F30-4973ECB8F17F}"/>
          </ac:spMkLst>
        </pc:spChg>
      </pc:sldChg>
      <pc:sldChg chg="del">
        <pc:chgData name="Mitchell Wand" userId="de9b44c55c049659" providerId="LiveId" clId="{7A9D5940-B2CC-47DD-AF5E-71219F1A1E26}" dt="2026-09-26T15:54:57.699" v="243" actId="2696"/>
        <pc:sldMkLst>
          <pc:docMk/>
          <pc:sldMk cId="800425666" sldId="785"/>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key concepts that we want to understand today are:</a:t>
            </a:r>
          </a:p>
          <a:p>
            <a:r>
              <a:rPr lang="en-US" dirty="0"/>
              <a:t>-when you await for a promise to be completed, you pause your execution or yield</a:t>
            </a:r>
          </a:p>
          <a:p>
            <a:r>
              <a:rPr lang="en-US" dirty="0"/>
              <a:t>-when you yield, runtime can execute some other task.</a:t>
            </a:r>
          </a:p>
        </p:txBody>
      </p:sp>
    </p:spTree>
    <p:extLst>
      <p:ext uri="{BB962C8B-B14F-4D97-AF65-F5344CB8AC3E}">
        <p14:creationId xmlns:p14="http://schemas.microsoft.com/office/powerpoint/2010/main" val="17084200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r>
              <a:rPr lang="en-US" dirty="0"/>
              <a:t>Everything </a:t>
            </a:r>
            <a:r>
              <a:rPr lang="en-US" i="1" dirty="0"/>
              <a:t>after </a:t>
            </a:r>
            <a:r>
              <a:rPr lang="en-US" dirty="0"/>
              <a:t>the await is the ‘awaited work’ that will be processed later!</a:t>
            </a:r>
          </a:p>
        </p:txBody>
      </p:sp>
    </p:spTree>
    <p:extLst>
      <p:ext uri="{BB962C8B-B14F-4D97-AF65-F5344CB8AC3E}">
        <p14:creationId xmlns:p14="http://schemas.microsoft.com/office/powerpoint/2010/main" val="321447260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are two key points to highlight</a:t>
            </a:r>
          </a:p>
          <a:p>
            <a:pPr marL="228600" indent="-228600">
              <a:buAutoNum type="arabicPeriod"/>
            </a:pPr>
            <a:r>
              <a:rPr lang="en-US" dirty="0"/>
              <a:t>When you await on a task, you return to </a:t>
            </a:r>
            <a:r>
              <a:rPr lang="en-US" b="1" dirty="0"/>
              <a:t>the caller </a:t>
            </a:r>
            <a:r>
              <a:rPr lang="en-US" dirty="0"/>
              <a:t>with a pending promise</a:t>
            </a:r>
          </a:p>
          <a:p>
            <a:pPr marL="228600" indent="-228600">
              <a:buAutoNum type="arabicPeriod"/>
            </a:pPr>
            <a:r>
              <a:rPr lang="en-US" dirty="0"/>
              <a:t>The caller can continue its work</a:t>
            </a:r>
          </a:p>
        </p:txBody>
      </p:sp>
    </p:spTree>
    <p:extLst>
      <p:ext uri="{BB962C8B-B14F-4D97-AF65-F5344CB8AC3E}">
        <p14:creationId xmlns:p14="http://schemas.microsoft.com/office/powerpoint/2010/main" val="277606096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It is just a 1 second delay</a:t>
            </a:r>
            <a:br>
              <a:rPr lang="en-US" dirty="0"/>
            </a:br>
            <a:r>
              <a:rPr lang="en-US" dirty="0"/>
              <a:t>Awaiting allows us to wait for some task to complete first before we do something else.</a:t>
            </a:r>
          </a:p>
        </p:txBody>
      </p:sp>
    </p:spTree>
    <p:extLst>
      <p:ext uri="{BB962C8B-B14F-4D97-AF65-F5344CB8AC3E}">
        <p14:creationId xmlns:p14="http://schemas.microsoft.com/office/powerpoint/2010/main" val="27365880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EBF0A1-B3BF-39AC-3BFF-F3C2D291998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3B6615-ABC2-0A83-1720-3EE5152173A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5354007-7695-31F6-E35A-6D646B90834A}"/>
              </a:ext>
            </a:extLst>
          </p:cNvPr>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This is a common pattern for async functions using live http request running as non-blocking IO.</a:t>
            </a:r>
          </a:p>
          <a:p>
            <a:endParaRPr lang="en-US" dirty="0"/>
          </a:p>
          <a:p>
            <a:r>
              <a:rPr lang="en-US" dirty="0" err="1"/>
              <a:t>makeOneRequest</a:t>
            </a:r>
            <a:r>
              <a:rPr lang="en-US" dirty="0"/>
              <a:t> calls </a:t>
            </a:r>
            <a:r>
              <a:rPr lang="en-US" b="1" dirty="0" err="1"/>
              <a:t>makeRequest</a:t>
            </a:r>
            <a:r>
              <a:rPr lang="en-US" dirty="0"/>
              <a:t> which makes an API call.</a:t>
            </a:r>
          </a:p>
          <a:p>
            <a:r>
              <a:rPr lang="en-US" dirty="0"/>
              <a:t>As you await for the fetch to respond, </a:t>
            </a:r>
            <a:r>
              <a:rPr lang="en-US" dirty="0" err="1"/>
              <a:t>makeOneRequest</a:t>
            </a:r>
            <a:r>
              <a:rPr lang="en-US" dirty="0"/>
              <a:t> function (the caller) can continue and finish.</a:t>
            </a:r>
          </a:p>
          <a:p>
            <a:r>
              <a:rPr lang="en-US" dirty="0"/>
              <a:t>When call stack is empty, response from fetch can be printed (Awaiting work).</a:t>
            </a:r>
          </a:p>
        </p:txBody>
      </p:sp>
    </p:spTree>
    <p:extLst>
      <p:ext uri="{BB962C8B-B14F-4D97-AF65-F5344CB8AC3E}">
        <p14:creationId xmlns:p14="http://schemas.microsoft.com/office/powerpoint/2010/main" val="110463874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see some of our previous examples again, this time with a live http request running as non-blocking IO.</a:t>
            </a:r>
          </a:p>
          <a:p>
            <a:endParaRPr lang="en-US" dirty="0"/>
          </a:p>
          <a:p>
            <a:r>
              <a:rPr lang="en-US" dirty="0"/>
              <a:t>Run to completion semantics are shown in this output. Here the main thread continued its execution after making the request. Event handler will NOT switch to any other task until the main thread is completed (or it yields)</a:t>
            </a:r>
          </a:p>
        </p:txBody>
      </p:sp>
    </p:spTree>
    <p:extLst>
      <p:ext uri="{BB962C8B-B14F-4D97-AF65-F5344CB8AC3E}">
        <p14:creationId xmlns:p14="http://schemas.microsoft.com/office/powerpoint/2010/main" val="165928030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r>
              <a:rPr lang="en-US" sz="800" dirty="0"/>
              <a:t>Highlight “Awaiting Work” (promise) goes to </a:t>
            </a:r>
            <a:r>
              <a:rPr lang="en-US" sz="800" dirty="0" err="1"/>
              <a:t>MicroTask</a:t>
            </a:r>
            <a:r>
              <a:rPr lang="en-US" sz="800" dirty="0"/>
              <a:t> queue and has higher priority that microtask queue.</a:t>
            </a:r>
          </a:p>
        </p:txBody>
      </p:sp>
    </p:spTree>
    <p:extLst>
      <p:ext uri="{BB962C8B-B14F-4D97-AF65-F5344CB8AC3E}">
        <p14:creationId xmlns:p14="http://schemas.microsoft.com/office/powerpoint/2010/main" val="289291096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2157703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88982599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621653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&lt;read slide&gt;</a:t>
            </a:r>
          </a:p>
        </p:txBody>
      </p:sp>
    </p:spTree>
    <p:extLst>
      <p:ext uri="{BB962C8B-B14F-4D97-AF65-F5344CB8AC3E}">
        <p14:creationId xmlns:p14="http://schemas.microsoft.com/office/powerpoint/2010/main" val="20501477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callbacks for promises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8EA572-721B-ECEB-6452-DCEA5F2D88E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69E4568-DD61-B9D6-0E98-291013369FF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CD51956-59BD-B808-92DA-B19BED4E7070}"/>
              </a:ext>
            </a:extLst>
          </p:cNvPr>
          <p:cNvSpPr>
            <a:spLocks noGrp="1"/>
          </p:cNvSpPr>
          <p:nvPr>
            <p:ph type="body" idx="1"/>
          </p:nvPr>
        </p:nvSpPr>
        <p:spPr/>
        <p:txBody>
          <a:bodyPr/>
          <a:lstStyle/>
          <a:p>
            <a:r>
              <a:rPr lang="en-US" dirty="0"/>
              <a:t>Common mistake is not to await on async task. This would mean that you are proceeding with some work without getting a valid response</a:t>
            </a:r>
            <a:br>
              <a:rPr lang="en-US" dirty="0"/>
            </a:br>
            <a:endParaRPr lang="en-US" dirty="0"/>
          </a:p>
        </p:txBody>
      </p:sp>
    </p:spTree>
    <p:extLst>
      <p:ext uri="{BB962C8B-B14F-4D97-AF65-F5344CB8AC3E}">
        <p14:creationId xmlns:p14="http://schemas.microsoft.com/office/powerpoint/2010/main" val="64787296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a:t>
            </a:r>
            <a:r>
              <a:rPr lang="en-US" dirty="0" err="1"/>
              <a:t>macrotask</a:t>
            </a:r>
            <a:r>
              <a:rPr lang="en-US" dirty="0"/>
              <a:t>; the .then() blocks become microtasks</a:t>
            </a:r>
            <a:r>
              <a:rPr lang="en-US"/>
              <a:t>.  The </a:t>
            </a:r>
            <a:r>
              <a:rPr lang="en-US" dirty="0"/>
              <a:t>"return" in a microtask is also a pause point.</a:t>
            </a:r>
          </a:p>
        </p:txBody>
      </p:sp>
    </p:spTree>
    <p:extLst>
      <p:ext uri="{BB962C8B-B14F-4D97-AF65-F5344CB8AC3E}">
        <p14:creationId xmlns:p14="http://schemas.microsoft.com/office/powerpoint/2010/main" val="109699882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828354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Javascript</a:t>
            </a:r>
            <a:r>
              <a:rPr lang="en-US" dirty="0"/>
              <a:t> is a single threaded language. This means it has one call stack and one memory heap. It uses </a:t>
            </a:r>
            <a:r>
              <a:rPr lang="en-US" dirty="0" err="1"/>
              <a:t>WebAPI</a:t>
            </a:r>
            <a:r>
              <a:rPr lang="en-US" dirty="0"/>
              <a:t> to work asynchronously.</a:t>
            </a:r>
          </a:p>
          <a:p>
            <a:endParaRPr lang="en-US" dirty="0"/>
          </a:p>
          <a:p>
            <a:r>
              <a:rPr lang="en-US" dirty="0"/>
              <a:t>How do we get asynchronous code with </a:t>
            </a:r>
            <a:r>
              <a:rPr lang="en-US" dirty="0" err="1"/>
              <a:t>Javascript</a:t>
            </a:r>
            <a:r>
              <a:rPr lang="en-US" dirty="0"/>
              <a:t> then?</a:t>
            </a:r>
          </a:p>
          <a:p>
            <a:r>
              <a:rPr lang="en-US" dirty="0"/>
              <a:t>Well, we can thank the </a:t>
            </a:r>
            <a:r>
              <a:rPr lang="en-US" dirty="0" err="1"/>
              <a:t>Javascript</a:t>
            </a:r>
            <a:r>
              <a:rPr lang="en-US" dirty="0"/>
              <a:t> engine (V8, </a:t>
            </a:r>
            <a:r>
              <a:rPr lang="en-US" dirty="0" err="1"/>
              <a:t>Spidermonkey</a:t>
            </a:r>
            <a:r>
              <a:rPr lang="en-US" dirty="0"/>
              <a:t>, </a:t>
            </a:r>
            <a:r>
              <a:rPr lang="en-US" dirty="0" err="1"/>
              <a:t>JavaScriptCore</a:t>
            </a:r>
            <a:r>
              <a:rPr lang="en-US" dirty="0"/>
              <a:t>, etc...) for that, which has Web API that handle these tasks in the background. The call stack recognizes functions of the Web API and hands them off to be handled by the browser. Once those tasks are finished by the browser, they return and are pushed into a queue (callbacks go in </a:t>
            </a:r>
            <a:r>
              <a:rPr lang="en-US" dirty="0" err="1"/>
              <a:t>Macrotask</a:t>
            </a:r>
            <a:r>
              <a:rPr lang="en-US" dirty="0"/>
              <a:t> queue and promises go into microtask queue)</a:t>
            </a:r>
          </a:p>
          <a:p>
            <a:r>
              <a:rPr lang="en-US" dirty="0"/>
              <a:t>Then they are picked up by the event loop one by one and added onto the call stack.</a:t>
            </a:r>
          </a:p>
          <a:p>
            <a:endParaRPr lang="en-US" dirty="0"/>
          </a:p>
          <a:p>
            <a:r>
              <a:rPr lang="en-US" dirty="0"/>
              <a:t>Try this http://latentflip.com/loupe </a:t>
            </a:r>
          </a:p>
        </p:txBody>
      </p:sp>
    </p:spTree>
    <p:extLst>
      <p:ext uri="{BB962C8B-B14F-4D97-AF65-F5344CB8AC3E}">
        <p14:creationId xmlns:p14="http://schemas.microsoft.com/office/powerpoint/2010/main" val="11690898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44</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9/26/2026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3.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3.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dirty="0"/>
              <a:t>Adeel Bhutta and Mitch Wand</a:t>
            </a:r>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200" y="1500160"/>
            <a:ext cx="8750968" cy="4351338"/>
          </a:xfrm>
        </p:spPr>
        <p:txBody>
          <a:bodyPr>
            <a:normAutofit/>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Typescript/JavaScript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 Pause also means ‘yield’</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t>
            </a:r>
            <a:r>
              <a:rPr lang="en-US" u="sng" dirty="0"/>
              <a:t>always</a:t>
            </a:r>
            <a:r>
              <a:rPr lang="en-US" dirty="0"/>
              <a:t> returns a promise.</a:t>
            </a:r>
          </a:p>
          <a:p>
            <a:r>
              <a:rPr lang="en-US" dirty="0"/>
              <a:t>If you </a:t>
            </a:r>
            <a:r>
              <a:rPr lang="en-US" b="1" dirty="0"/>
              <a:t>await</a:t>
            </a:r>
            <a:r>
              <a:rPr lang="en-US" dirty="0"/>
              <a:t> on a promise, your program </a:t>
            </a:r>
            <a:r>
              <a:rPr lang="en-US" dirty="0">
                <a:solidFill>
                  <a:srgbClr val="FF0000"/>
                </a:solidFill>
              </a:rPr>
              <a:t>pauses</a:t>
            </a:r>
            <a:r>
              <a:rPr lang="en-US" dirty="0"/>
              <a:t> its execution until async function is completed. </a:t>
            </a:r>
          </a:p>
          <a:p>
            <a:r>
              <a:rPr lang="en-US" dirty="0"/>
              <a:t>When one program pauses, the runtime can choose to resume executing </a:t>
            </a:r>
            <a:r>
              <a:rPr lang="en-US" dirty="0">
                <a:solidFill>
                  <a:srgbClr val="FF0000"/>
                </a:solidFill>
              </a:rPr>
              <a:t>any </a:t>
            </a:r>
            <a:r>
              <a:rPr lang="en-US" dirty="0"/>
              <a:t>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2" name="Oval 11">
            <a:extLst>
              <a:ext uri="{FF2B5EF4-FFF2-40B4-BE49-F238E27FC236}">
                <a16:creationId xmlns:a16="http://schemas.microsoft.com/office/drawing/2014/main" id="{FCD4A80A-3EFB-2B1F-4760-0ABED53AA03F}"/>
              </a:ext>
            </a:extLst>
          </p:cNvPr>
          <p:cNvSpPr/>
          <p:nvPr/>
        </p:nvSpPr>
        <p:spPr>
          <a:xfrm>
            <a:off x="5000741" y="5366174"/>
            <a:ext cx="2298032" cy="671177"/>
          </a:xfrm>
          <a:prstGeom prst="ellipse">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r>
              <a:rPr lang="en-US" sz="2000" dirty="0">
                <a:ln w="0"/>
                <a:solidFill>
                  <a:schemeClr val="tx1"/>
                </a:solidFill>
                <a:effectLst>
                  <a:outerShdw blurRad="38100" dist="19050" dir="2700000" algn="tl" rotWithShape="0">
                    <a:schemeClr val="dk1">
                      <a:alpha val="40000"/>
                    </a:schemeClr>
                  </a:outerShdw>
                </a:effectLst>
              </a:rPr>
              <a:t>Awaited work</a:t>
            </a:r>
          </a:p>
        </p:txBody>
      </p:sp>
      <p:cxnSp>
        <p:nvCxnSpPr>
          <p:cNvPr id="17" name="Straight Arrow Connector 16">
            <a:extLst>
              <a:ext uri="{FF2B5EF4-FFF2-40B4-BE49-F238E27FC236}">
                <a16:creationId xmlns:a16="http://schemas.microsoft.com/office/drawing/2014/main" id="{F643AC10-1F9E-8DD3-E559-9C0F70C1BB23}"/>
              </a:ext>
            </a:extLst>
          </p:cNvPr>
          <p:cNvCxnSpPr/>
          <p:nvPr/>
        </p:nvCxnSpPr>
        <p:spPr>
          <a:xfrm flipH="1" flipV="1">
            <a:off x="4283242" y="4474997"/>
            <a:ext cx="870328" cy="999371"/>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a:t>
            </a:r>
            <a:r>
              <a:rPr lang="en-US" dirty="0">
                <a:solidFill>
                  <a:srgbClr val="FF0000"/>
                </a:solidFill>
              </a:rPr>
              <a:t>returning</a:t>
            </a:r>
            <a:r>
              <a:rPr lang="en-US" dirty="0"/>
              <a:t> (to the </a:t>
            </a:r>
            <a:r>
              <a:rPr lang="en-US" dirty="0">
                <a:highlight>
                  <a:srgbClr val="FFFF00"/>
                </a:highlight>
              </a:rPr>
              <a:t>caller</a:t>
            </a:r>
            <a:r>
              <a:rPr lang="en-US" dirty="0"/>
              <a:t>) with a </a:t>
            </a:r>
            <a:r>
              <a:rPr lang="en-US" b="1" i="1" dirty="0"/>
              <a:t>pending</a:t>
            </a:r>
            <a:r>
              <a:rPr lang="en-US" i="1" dirty="0"/>
              <a:t> </a:t>
            </a:r>
            <a:r>
              <a:rPr lang="en-US" dirty="0"/>
              <a:t>promise which means that some work will be completed in future.</a:t>
            </a:r>
          </a:p>
          <a:p>
            <a:r>
              <a:rPr lang="en-US" dirty="0"/>
              <a:t>While you are waiting for that future, event loop will </a:t>
            </a:r>
            <a:r>
              <a:rPr lang="en-US" dirty="0">
                <a:solidFill>
                  <a:srgbClr val="FF0000"/>
                </a:solidFill>
              </a:rPr>
              <a:t>continue finishing</a:t>
            </a:r>
            <a:r>
              <a:rPr lang="en-US" dirty="0"/>
              <a:t>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Let’s start with 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3ABDB4-C95D-747A-108A-C4968AAEEF7F}"/>
            </a:ext>
          </a:extLst>
        </p:cNvPr>
        <p:cNvGrpSpPr/>
        <p:nvPr/>
      </p:nvGrpSpPr>
      <p:grpSpPr>
        <a:xfrm>
          <a:off x="0" y="0"/>
          <a:ext cx="0" cy="0"/>
          <a:chOff x="0" y="0"/>
          <a:chExt cx="0" cy="0"/>
        </a:xfrm>
      </p:grpSpPr>
      <p:sp>
        <p:nvSpPr>
          <p:cNvPr id="5" name="TextBox 4">
            <a:extLst>
              <a:ext uri="{FF2B5EF4-FFF2-40B4-BE49-F238E27FC236}">
                <a16:creationId xmlns:a16="http://schemas.microsoft.com/office/drawing/2014/main" id="{534B6A07-2A12-D8A4-1835-601899BB1695}"/>
              </a:ext>
            </a:extLst>
          </p:cNvPr>
          <p:cNvSpPr txBox="1"/>
          <p:nvPr/>
        </p:nvSpPr>
        <p:spPr>
          <a:xfrm>
            <a:off x="736600" y="1350065"/>
            <a:ext cx="6038773" cy="2308324"/>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makeOneRequest</a:t>
            </a:r>
            <a:r>
              <a:rPr lang="en-US" b="0" dirty="0">
                <a:solidFill>
                  <a:srgbClr val="A31515"/>
                </a:solidFill>
                <a:effectLst/>
                <a:latin typeface="Consolas" panose="020B0609020204030204" pitchFamily="49" charset="0"/>
              </a:rPr>
              <a:t>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err="1">
                <a:solidFill>
                  <a:srgbClr val="000000"/>
                </a:solidFill>
                <a:effectLst/>
                <a:latin typeface="Consolas" panose="020B0609020204030204" pitchFamily="49" charset="0"/>
              </a:rPr>
              <a:t>makeOneRequest</a:t>
            </a:r>
            <a:r>
              <a:rPr lang="en-US" b="0" dirty="0">
                <a:solidFill>
                  <a:srgbClr val="000000"/>
                </a:solidFill>
                <a:effectLst/>
                <a:latin typeface="Consolas" panose="020B0609020204030204" pitchFamily="49" charset="0"/>
              </a:rPr>
              <a:t>()</a:t>
            </a:r>
          </a:p>
        </p:txBody>
      </p:sp>
      <p:sp>
        <p:nvSpPr>
          <p:cNvPr id="2" name="Title 1">
            <a:extLst>
              <a:ext uri="{FF2B5EF4-FFF2-40B4-BE49-F238E27FC236}">
                <a16:creationId xmlns:a16="http://schemas.microsoft.com/office/drawing/2014/main" id="{73141DFE-EF50-9472-513F-7D041907034B}"/>
              </a:ext>
            </a:extLst>
          </p:cNvPr>
          <p:cNvSpPr>
            <a:spLocks noGrp="1"/>
          </p:cNvSpPr>
          <p:nvPr>
            <p:ph type="title"/>
          </p:nvPr>
        </p:nvSpPr>
        <p:spPr/>
        <p:txBody>
          <a:bodyPr/>
          <a:lstStyle/>
          <a:p>
            <a:r>
              <a:rPr lang="en-US" dirty="0"/>
              <a:t>Pattern for starting a concurrent computation using non-blocking I/O</a:t>
            </a:r>
          </a:p>
        </p:txBody>
      </p:sp>
      <p:sp>
        <p:nvSpPr>
          <p:cNvPr id="3" name="Slide Number Placeholder 2">
            <a:extLst>
              <a:ext uri="{FF2B5EF4-FFF2-40B4-BE49-F238E27FC236}">
                <a16:creationId xmlns:a16="http://schemas.microsoft.com/office/drawing/2014/main" id="{54863DDB-0777-B484-F419-ABCACFFAF7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pic>
        <p:nvPicPr>
          <p:cNvPr id="6" name="Picture 6">
            <a:extLst>
              <a:ext uri="{FF2B5EF4-FFF2-40B4-BE49-F238E27FC236}">
                <a16:creationId xmlns:a16="http://schemas.microsoft.com/office/drawing/2014/main" id="{F4380E14-CBDF-769D-49D8-47F3766414C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5760D379-A385-4D52-A8EB-4A6BA1A07CC7}"/>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makeOneRequest</a:t>
            </a:r>
            <a:endParaRPr lang="en-US" sz="1000" b="1" dirty="0">
              <a:solidFill>
                <a:schemeClr val="tx1"/>
              </a:solidFill>
            </a:endParaRPr>
          </a:p>
        </p:txBody>
      </p:sp>
      <p:sp>
        <p:nvSpPr>
          <p:cNvPr id="9" name="Rectangle: Rounded Corners 8">
            <a:extLst>
              <a:ext uri="{FF2B5EF4-FFF2-40B4-BE49-F238E27FC236}">
                <a16:creationId xmlns:a16="http://schemas.microsoft.com/office/drawing/2014/main" id="{3F3533D5-E97B-B272-3AC3-923CE07CBD77}"/>
              </a:ext>
            </a:extLst>
          </p:cNvPr>
          <p:cNvSpPr/>
          <p:nvPr/>
        </p:nvSpPr>
        <p:spPr>
          <a:xfrm>
            <a:off x="4649569" y="3900585"/>
            <a:ext cx="1910080" cy="198973"/>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a:t>
            </a:r>
            <a:r>
              <a:rPr lang="en-US" sz="1000" b="1" dirty="0" err="1">
                <a:solidFill>
                  <a:schemeClr val="tx1"/>
                </a:solidFill>
              </a:rPr>
              <a:t>makeO</a:t>
            </a:r>
            <a:r>
              <a:rPr lang="en-US" sz="1000" b="1" dirty="0">
                <a:solidFill>
                  <a:schemeClr val="tx1"/>
                </a:solidFill>
              </a:rPr>
              <a:t> …’);</a:t>
            </a:r>
          </a:p>
        </p:txBody>
      </p:sp>
      <p:sp>
        <p:nvSpPr>
          <p:cNvPr id="10" name="Rectangle: Rounded Corners 9">
            <a:extLst>
              <a:ext uri="{FF2B5EF4-FFF2-40B4-BE49-F238E27FC236}">
                <a16:creationId xmlns:a16="http://schemas.microsoft.com/office/drawing/2014/main" id="{C164A038-E026-7100-D602-3B556B734A35}"/>
              </a:ext>
            </a:extLst>
          </p:cNvPr>
          <p:cNvSpPr/>
          <p:nvPr/>
        </p:nvSpPr>
        <p:spPr>
          <a:xfrm>
            <a:off x="4708972"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CB491174-BD18-54EA-3F12-C6FA733B5B3F}"/>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9F981C7D-3A9A-EF8A-C287-5B2922A612F5}"/>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5309F37F-DA2B-749A-E0E9-CA6459915522}"/>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F63D65E-B8FF-3D04-667F-F9FEC36B26FC}"/>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450FBC82-74B9-EDE2-694A-24D730DE5507}"/>
              </a:ext>
            </a:extLst>
          </p:cNvPr>
          <p:cNvSpPr/>
          <p:nvPr/>
        </p:nvSpPr>
        <p:spPr>
          <a:xfrm>
            <a:off x="4645541" y="3884537"/>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a:t>
            </a:r>
            <a:r>
              <a:rPr lang="en-US" sz="1000" b="1" dirty="0" err="1">
                <a:solidFill>
                  <a:schemeClr val="tx1"/>
                </a:solidFill>
              </a:rPr>
              <a:t>makeO</a:t>
            </a:r>
            <a:r>
              <a:rPr lang="en-US" sz="1000" b="1" dirty="0">
                <a:solidFill>
                  <a:schemeClr val="tx1"/>
                </a:solidFill>
              </a:rPr>
              <a:t>… finished’);</a:t>
            </a:r>
          </a:p>
        </p:txBody>
      </p:sp>
      <p:sp>
        <p:nvSpPr>
          <p:cNvPr id="13" name="Content Placeholder 1">
            <a:extLst>
              <a:ext uri="{FF2B5EF4-FFF2-40B4-BE49-F238E27FC236}">
                <a16:creationId xmlns:a16="http://schemas.microsoft.com/office/drawing/2014/main" id="{EBD0F245-EA61-332C-61DE-BBC2350232AC}"/>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call stack can complete the awaiting work (console.log)</a:t>
            </a:r>
          </a:p>
        </p:txBody>
      </p:sp>
    </p:spTree>
    <p:extLst>
      <p:ext uri="{BB962C8B-B14F-4D97-AF65-F5344CB8AC3E}">
        <p14:creationId xmlns:p14="http://schemas.microsoft.com/office/powerpoint/2010/main" val="26458893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2" presetClass="entr" presetSubtype="1" fill="hold" grpId="0" nodeType="clickEffect">
                                  <p:stCondLst>
                                    <p:cond delay="0"/>
                                  </p:stCondLst>
                                  <p:childTnLst>
                                    <p:set>
                                      <p:cBhvr>
                                        <p:cTn id="67" dur="1" fill="hold">
                                          <p:stCondLst>
                                            <p:cond delay="0"/>
                                          </p:stCondLst>
                                        </p:cTn>
                                        <p:tgtEl>
                                          <p:spTgt spid="7"/>
                                        </p:tgtEl>
                                        <p:attrNameLst>
                                          <p:attrName>style.visibility</p:attrName>
                                        </p:attrNameLst>
                                      </p:cBhvr>
                                      <p:to>
                                        <p:strVal val="visible"/>
                                      </p:to>
                                    </p:set>
                                    <p:anim calcmode="lin" valueType="num">
                                      <p:cBhvr additive="base">
                                        <p:cTn id="68" dur="500" fill="hold"/>
                                        <p:tgtEl>
                                          <p:spTgt spid="7"/>
                                        </p:tgtEl>
                                        <p:attrNameLst>
                                          <p:attrName>ppt_x</p:attrName>
                                        </p:attrNameLst>
                                      </p:cBhvr>
                                      <p:tavLst>
                                        <p:tav tm="0">
                                          <p:val>
                                            <p:strVal val="#ppt_x"/>
                                          </p:val>
                                        </p:tav>
                                        <p:tav tm="100000">
                                          <p:val>
                                            <p:strVal val="#ppt_x"/>
                                          </p:val>
                                        </p:tav>
                                      </p:tavLst>
                                    </p:anim>
                                    <p:anim calcmode="lin" valueType="num">
                                      <p:cBhvr additive="base">
                                        <p:cTn id="69" dur="500" fill="hold"/>
                                        <p:tgtEl>
                                          <p:spTgt spid="7"/>
                                        </p:tgtEl>
                                        <p:attrNameLst>
                                          <p:attrName>ppt_y</p:attrName>
                                        </p:attrNameLst>
                                      </p:cBhvr>
                                      <p:tavLst>
                                        <p:tav tm="0">
                                          <p:val>
                                            <p:strVal val="0-#ppt_h/2"/>
                                          </p:val>
                                        </p:tav>
                                        <p:tav tm="100000">
                                          <p:val>
                                            <p:strVal val="#ppt_y"/>
                                          </p:val>
                                        </p:tav>
                                      </p:tavLst>
                                    </p:anim>
                                  </p:childTnLst>
                                </p:cTn>
                              </p:par>
                            </p:childTnLst>
                          </p:cTn>
                        </p:par>
                      </p:childTnLst>
                    </p:cTn>
                  </p:par>
                  <p:par>
                    <p:cTn id="70" fill="hold">
                      <p:stCondLst>
                        <p:cond delay="indefinite"/>
                      </p:stCondLst>
                      <p:childTnLst>
                        <p:par>
                          <p:cTn id="71" fill="hold">
                            <p:stCondLst>
                              <p:cond delay="0"/>
                            </p:stCondLst>
                            <p:childTnLst>
                              <p:par>
                                <p:cTn id="72" presetID="2" presetClass="exit" presetSubtype="1" fill="hold" grpId="1" nodeType="clickEffect">
                                  <p:stCondLst>
                                    <p:cond delay="0"/>
                                  </p:stCondLst>
                                  <p:childTnLst>
                                    <p:anim calcmode="lin" valueType="num">
                                      <p:cBhvr additive="base">
                                        <p:cTn id="73" dur="500"/>
                                        <p:tgtEl>
                                          <p:spTgt spid="7"/>
                                        </p:tgtEl>
                                        <p:attrNameLst>
                                          <p:attrName>ppt_x</p:attrName>
                                        </p:attrNameLst>
                                      </p:cBhvr>
                                      <p:tavLst>
                                        <p:tav tm="0">
                                          <p:val>
                                            <p:strVal val="ppt_x"/>
                                          </p:val>
                                        </p:tav>
                                        <p:tav tm="100000">
                                          <p:val>
                                            <p:strVal val="ppt_x"/>
                                          </p:val>
                                        </p:tav>
                                      </p:tavLst>
                                    </p:anim>
                                    <p:anim calcmode="lin" valueType="num">
                                      <p:cBhvr additive="base">
                                        <p:cTn id="74" dur="500"/>
                                        <p:tgtEl>
                                          <p:spTgt spid="7"/>
                                        </p:tgtEl>
                                        <p:attrNameLst>
                                          <p:attrName>ppt_y</p:attrName>
                                        </p:attrNameLst>
                                      </p:cBhvr>
                                      <p:tavLst>
                                        <p:tav tm="0">
                                          <p:val>
                                            <p:strVal val="ppt_y"/>
                                          </p:val>
                                        </p:tav>
                                        <p:tav tm="100000">
                                          <p:val>
                                            <p:strVal val="0-ppt_h/2"/>
                                          </p:val>
                                        </p:tav>
                                      </p:tavLst>
                                    </p:anim>
                                    <p:set>
                                      <p:cBhvr>
                                        <p:cTn id="75" dur="1" fill="hold">
                                          <p:stCondLst>
                                            <p:cond delay="499"/>
                                          </p:stCondLst>
                                        </p:cTn>
                                        <p:tgtEl>
                                          <p:spTgt spid="7"/>
                                        </p:tgtEl>
                                        <p:attrNameLst>
                                          <p:attrName>style.visibility</p:attrName>
                                        </p:attrNameLst>
                                      </p:cBhvr>
                                      <p:to>
                                        <p:strVal val="hidden"/>
                                      </p:to>
                                    </p:set>
                                  </p:childTnLst>
                                </p:cTn>
                              </p:par>
                            </p:childTnLst>
                          </p:cTn>
                        </p:par>
                      </p:childTnLst>
                    </p:cTn>
                  </p:par>
                  <p:par>
                    <p:cTn id="76" fill="hold">
                      <p:stCondLst>
                        <p:cond delay="indefinite"/>
                      </p:stCondLst>
                      <p:childTnLst>
                        <p:par>
                          <p:cTn id="77" fill="hold">
                            <p:stCondLst>
                              <p:cond delay="0"/>
                            </p:stCondLst>
                            <p:childTnLst>
                              <p:par>
                                <p:cTn id="78" presetID="1" presetClass="exit" presetSubtype="0" fill="hold" grpId="1" nodeType="clickEffect">
                                  <p:stCondLst>
                                    <p:cond delay="0"/>
                                  </p:stCondLst>
                                  <p:childTnLst>
                                    <p:set>
                                      <p:cBhvr>
                                        <p:cTn id="79" dur="1" fill="hold">
                                          <p:stCondLst>
                                            <p:cond delay="0"/>
                                          </p:stCondLst>
                                        </p:cTn>
                                        <p:tgtEl>
                                          <p:spTgt spid="8"/>
                                        </p:tgtEl>
                                        <p:attrNameLst>
                                          <p:attrName>style.visibility</p:attrName>
                                        </p:attrNameLst>
                                      </p:cBhvr>
                                      <p:to>
                                        <p:strVal val="hidden"/>
                                      </p:to>
                                    </p:se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grpId="0" nodeType="clickEffect">
                                  <p:stCondLst>
                                    <p:cond delay="0"/>
                                  </p:stCondLst>
                                  <p:childTnLst>
                                    <p:set>
                                      <p:cBhvr>
                                        <p:cTn id="83"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8" grpId="1"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7" grpId="0" animBg="1"/>
      <p:bldP spid="7" grpId="1" animBg="1"/>
      <p:bldP spid="13" grpId="0"/>
    </p:bldLst>
  </p:timing>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A80F26-3D05-9516-9072-90A0156F747B}"/>
              </a:ext>
            </a:extLst>
          </p:cNvPr>
          <p:cNvSpPr>
            <a:spLocks noGrp="1"/>
          </p:cNvSpPr>
          <p:nvPr>
            <p:ph type="title"/>
          </p:nvPr>
        </p:nvSpPr>
        <p:spPr/>
        <p:txBody>
          <a:bodyPr/>
          <a:lstStyle/>
          <a:p>
            <a:r>
              <a:rPr lang="en-US" dirty="0"/>
              <a:t>Pattern for starting a concurrent computation using non-blocking I/O</a:t>
            </a:r>
          </a:p>
        </p:txBody>
      </p:sp>
      <p:sp>
        <p:nvSpPr>
          <p:cNvPr id="4" name="Slide Number Placeholder 3">
            <a:extLst>
              <a:ext uri="{FF2B5EF4-FFF2-40B4-BE49-F238E27FC236}">
                <a16:creationId xmlns:a16="http://schemas.microsoft.com/office/drawing/2014/main" id="{657C8D98-764A-9D99-09D4-3EA7558FD28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19</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6223A7A7-ED26-72B8-818A-2A0C5066AAAD}"/>
              </a:ext>
            </a:extLst>
          </p:cNvPr>
          <p:cNvSpPr txBox="1"/>
          <p:nvPr/>
        </p:nvSpPr>
        <p:spPr>
          <a:xfrm>
            <a:off x="838200" y="1492946"/>
            <a:ext cx="11040291" cy="2554545"/>
          </a:xfrm>
          <a:prstGeom prst="rect">
            <a:avLst/>
          </a:prstGeom>
          <a:noFill/>
          <a:ln w="12700" cap="flat" cmpd="sng" algn="ctr">
            <a:solidFill>
              <a:schemeClr val="accent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600" b="0" dirty="0">
                <a:solidFill>
                  <a:srgbClr val="AF00DB"/>
                </a:solidFill>
                <a:effectLst/>
                <a:latin typeface="Consolas" panose="020B0609020204030204" pitchFamily="49" charset="0"/>
              </a:rPr>
              <a:t>export</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async</a:t>
            </a:r>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function</a:t>
            </a:r>
            <a:r>
              <a:rPr lang="en-US" sz="1600" b="0" dirty="0">
                <a:solidFill>
                  <a:srgbClr val="000000"/>
                </a:solidFill>
                <a:effectLst/>
                <a:latin typeface="Consolas" panose="020B0609020204030204" pitchFamily="49" charset="0"/>
              </a:rPr>
              <a:t> </a:t>
            </a:r>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err="1">
                <a:solidFill>
                  <a:srgbClr val="000000"/>
                </a:solidFill>
                <a:effectLst/>
                <a:latin typeface="Consolas" panose="020B0609020204030204" pitchFamily="49" charset="0"/>
              </a:rPr>
              <a:t>:</a:t>
            </a:r>
            <a:r>
              <a:rPr lang="en-US" sz="1600" b="0" dirty="0" err="1">
                <a:solidFill>
                  <a:srgbClr val="267F99"/>
                </a:solidFill>
                <a:effectLst/>
                <a:latin typeface="Consolas" panose="020B0609020204030204" pitchFamily="49" charset="0"/>
              </a:rPr>
              <a:t>number</a:t>
            </a:r>
            <a:r>
              <a:rPr lang="en-US" sz="1600" b="0" dirty="0">
                <a:solidFill>
                  <a:srgbClr val="000000"/>
                </a:solidFill>
                <a:effectLst/>
                <a:latin typeface="Consolas" panose="020B0609020204030204" pitchFamily="49" charset="0"/>
              </a:rPr>
              <a:t>) {</a:t>
            </a:r>
          </a:p>
          <a:p>
            <a:pPr algn="l"/>
            <a:r>
              <a:rPr lang="en-US" sz="1600" b="0" dirty="0">
                <a:solidFill>
                  <a:srgbClr val="000000"/>
                </a:solidFill>
                <a:effectLst/>
                <a:latin typeface="Consolas" panose="020B0609020204030204" pitchFamily="49" charset="0"/>
              </a:rPr>
              <a:t>    </a:t>
            </a: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`starting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a:t>
            </a:r>
            <a:r>
              <a:rPr lang="en-US" sz="1600" b="0" dirty="0">
                <a:solidFill>
                  <a:srgbClr val="0000FF"/>
                </a:solidFill>
                <a:effectLst/>
                <a:latin typeface="Consolas" panose="020B0609020204030204" pitchFamily="49" charset="0"/>
              </a:rPr>
              <a:t>${</a:t>
            </a:r>
            <a:r>
              <a:rPr lang="en-US" sz="1600" b="0" dirty="0" err="1">
                <a:solidFill>
                  <a:srgbClr val="001080"/>
                </a:solidFill>
                <a:effectLst/>
                <a:latin typeface="Consolas" panose="020B0609020204030204" pitchFamily="49" charset="0"/>
              </a:rPr>
              <a:t>requestNumber</a:t>
            </a:r>
            <a:r>
              <a:rPr lang="en-US" sz="1600" b="0" dirty="0">
                <a:solidFill>
                  <a:srgbClr val="0000FF"/>
                </a:solidFill>
                <a:effectLst/>
                <a:latin typeface="Consolas" panose="020B0609020204030204" pitchFamily="49" charset="0"/>
              </a:rPr>
              <a: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b="0" dirty="0">
                <a:solidFill>
                  <a:srgbClr val="0000FF"/>
                </a:solidFill>
                <a:effectLst/>
                <a:latin typeface="Consolas" panose="020B0609020204030204" pitchFamily="49" charset="0"/>
              </a:rPr>
              <a:t>const</a:t>
            </a:r>
            <a:r>
              <a:rPr lang="en-US" sz="1600" b="0" dirty="0">
                <a:solidFill>
                  <a:srgbClr val="000000"/>
                </a:solidFill>
                <a:effectLst/>
                <a:latin typeface="Consolas" panose="020B0609020204030204" pitchFamily="49" charset="0"/>
              </a:rPr>
              <a:t> </a:t>
            </a:r>
            <a:r>
              <a:rPr lang="en-US" sz="1600" b="0" dirty="0">
                <a:solidFill>
                  <a:srgbClr val="0070C1"/>
                </a:solidFill>
                <a:effectLst/>
                <a:latin typeface="Consolas" panose="020B0609020204030204" pitchFamily="49" charset="0"/>
              </a:rPr>
              <a:t>response</a:t>
            </a:r>
            <a:r>
              <a:rPr lang="en-US" sz="1600" b="0" dirty="0">
                <a:solidFill>
                  <a:srgbClr val="000000"/>
                </a:solidFill>
                <a:effectLst/>
                <a:latin typeface="Consolas" panose="020B0609020204030204" pitchFamily="49" charset="0"/>
              </a:rPr>
              <a:t> = </a:t>
            </a:r>
            <a:r>
              <a:rPr lang="en-US" sz="1600" b="0" dirty="0">
                <a:solidFill>
                  <a:srgbClr val="AF00DB"/>
                </a:solidFill>
                <a:effectLst/>
                <a:latin typeface="Consolas" panose="020B0609020204030204" pitchFamily="49" charset="0"/>
              </a:rPr>
              <a:t>await</a:t>
            </a:r>
            <a:r>
              <a:rPr lang="en-US" sz="1600" b="0" dirty="0">
                <a:solidFill>
                  <a:srgbClr val="000000"/>
                </a:solidFill>
                <a:effectLst/>
                <a:latin typeface="Consolas" panose="020B0609020204030204" pitchFamily="49" charset="0"/>
              </a:rPr>
              <a:t> </a:t>
            </a:r>
            <a:r>
              <a:rPr lang="en-US" sz="1600" b="0" dirty="0">
                <a:solidFill>
                  <a:srgbClr val="795E26"/>
                </a:solidFill>
                <a:effectLst/>
                <a:latin typeface="Consolas" panose="020B0609020204030204" pitchFamily="49" charset="0"/>
              </a:rPr>
              <a:t>fetch</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'https://rest-</a:t>
            </a:r>
            <a:r>
              <a:rPr lang="en-US" sz="1600" b="0" dirty="0" err="1">
                <a:solidFill>
                  <a:srgbClr val="A31515"/>
                </a:solidFill>
                <a:effectLst/>
                <a:latin typeface="Consolas" panose="020B0609020204030204" pitchFamily="49" charset="0"/>
              </a:rPr>
              <a:t>example.covey.town</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a:solidFill>
                  <a:srgbClr val="000000"/>
                </a:solidFill>
                <a:effectLst/>
                <a:latin typeface="Consolas" panose="020B0609020204030204" pitchFamily="49" charset="0"/>
              </a:rPr>
              <a:t>    </a:t>
            </a:r>
            <a:r>
              <a:rPr lang="en-US" sz="1600" dirty="0">
                <a:solidFill>
                  <a:srgbClr val="000000"/>
                </a:solidFill>
                <a:latin typeface="Consolas" panose="020B0609020204030204" pitchFamily="49" charset="0"/>
              </a:rPr>
              <a:t>console.log(</a:t>
            </a:r>
            <a:r>
              <a:rPr lang="en-US" sz="1600" dirty="0">
                <a:solidFill>
                  <a:srgbClr val="A31515"/>
                </a:solidFill>
                <a:latin typeface="Consolas" panose="020B0609020204030204" pitchFamily="49" charset="0"/>
              </a:rPr>
              <a:t>'request:'</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requestNumber</a:t>
            </a:r>
            <a:r>
              <a:rPr lang="en-US" sz="1600" dirty="0">
                <a:solidFill>
                  <a:srgbClr val="000000"/>
                </a:solidFill>
                <a:latin typeface="Consolas" panose="020B0609020204030204" pitchFamily="49" charset="0"/>
              </a:rPr>
              <a:t>, </a:t>
            </a:r>
            <a:r>
              <a:rPr lang="en-US" sz="1600" dirty="0">
                <a:solidFill>
                  <a:srgbClr val="A31515"/>
                </a:solidFill>
                <a:latin typeface="Consolas" panose="020B0609020204030204" pitchFamily="49" charset="0"/>
              </a:rPr>
              <a:t>'; response:'</a:t>
            </a:r>
            <a:r>
              <a:rPr lang="en-US" sz="1600" dirty="0">
                <a:solidFill>
                  <a:srgbClr val="000000"/>
                </a:solidFill>
                <a:latin typeface="Consolas" panose="020B0609020204030204" pitchFamily="49" charset="0"/>
              </a:rPr>
              <a:t>, </a:t>
            </a:r>
            <a:r>
              <a:rPr lang="en-US" sz="1600" dirty="0" err="1">
                <a:solidFill>
                  <a:srgbClr val="000000"/>
                </a:solidFill>
                <a:latin typeface="Consolas" panose="020B0609020204030204" pitchFamily="49" charset="0"/>
              </a:rPr>
              <a:t>response.data</a:t>
            </a:r>
            <a:r>
              <a:rPr lang="en-US" sz="1600" dirty="0">
                <a:solidFill>
                  <a:srgbClr val="000000"/>
                </a:solidFill>
                <a:latin typeface="Consolas" panose="020B0609020204030204" pitchFamily="49" charset="0"/>
              </a:rPr>
              <a:t>);</a:t>
            </a:r>
          </a:p>
          <a:p>
            <a:pPr algn="l"/>
            <a:r>
              <a:rPr lang="en-US" sz="1600" b="0" dirty="0">
                <a:solidFill>
                  <a:srgbClr val="000000"/>
                </a:solidFill>
                <a:effectLst/>
                <a:latin typeface="Consolas" panose="020B0609020204030204" pitchFamily="49" charset="0"/>
              </a:rPr>
              <a:t>}</a:t>
            </a:r>
          </a:p>
          <a:p>
            <a:pPr algn="l"/>
            <a:br>
              <a:rPr lang="en-US" sz="1600" b="0" dirty="0">
                <a:solidFill>
                  <a:srgbClr val="000000"/>
                </a:solidFill>
                <a:effectLst/>
                <a:latin typeface="Consolas" panose="020B0609020204030204" pitchFamily="49" charset="0"/>
              </a:rPr>
            </a:br>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is about to call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a:t>
            </a:r>
            <a:r>
              <a:rPr lang="en-US" sz="1600" b="0" dirty="0">
                <a:solidFill>
                  <a:srgbClr val="000000"/>
                </a:solidFill>
                <a:effectLst/>
                <a:latin typeface="Consolas" panose="020B0609020204030204" pitchFamily="49" charset="0"/>
              </a:rPr>
              <a:t>);</a:t>
            </a:r>
          </a:p>
          <a:p>
            <a:pPr algn="l"/>
            <a:r>
              <a:rPr lang="en-US" sz="1600" b="0" dirty="0" err="1">
                <a:solidFill>
                  <a:srgbClr val="795E26"/>
                </a:solidFill>
                <a:effectLst/>
                <a:latin typeface="Consolas" panose="020B0609020204030204" pitchFamily="49" charset="0"/>
              </a:rPr>
              <a:t>makeRequest</a:t>
            </a:r>
            <a:r>
              <a:rPr lang="en-US" sz="1600" b="0" dirty="0">
                <a:solidFill>
                  <a:srgbClr val="000000"/>
                </a:solidFill>
                <a:effectLst/>
                <a:latin typeface="Consolas" panose="020B0609020204030204" pitchFamily="49" charset="0"/>
              </a:rPr>
              <a:t>(</a:t>
            </a:r>
            <a:r>
              <a:rPr lang="en-US" sz="1600" b="0" dirty="0">
                <a:solidFill>
                  <a:srgbClr val="098658"/>
                </a:solidFill>
                <a:effectLst/>
                <a:latin typeface="Consolas" panose="020B0609020204030204" pitchFamily="49" charset="0"/>
              </a:rPr>
              <a:t>1000</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"main thread continues after </a:t>
            </a:r>
            <a:r>
              <a:rPr lang="en-US" sz="1600" b="0" dirty="0" err="1">
                <a:solidFill>
                  <a:srgbClr val="A31515"/>
                </a:solidFill>
                <a:effectLst/>
                <a:latin typeface="Consolas" panose="020B0609020204030204" pitchFamily="49" charset="0"/>
              </a:rPr>
              <a:t>makeRequest</a:t>
            </a:r>
            <a:r>
              <a:rPr lang="en-US" sz="1600" b="0" dirty="0">
                <a:solidFill>
                  <a:srgbClr val="A31515"/>
                </a:solidFill>
                <a:effectLst/>
                <a:latin typeface="Consolas" panose="020B0609020204030204" pitchFamily="49" charset="0"/>
              </a:rPr>
              <a:t> returns"</a:t>
            </a:r>
            <a:r>
              <a:rPr lang="en-US" sz="1600" b="0" dirty="0">
                <a:solidFill>
                  <a:srgbClr val="000000"/>
                </a:solidFill>
                <a:effectLst/>
                <a:latin typeface="Consolas" panose="020B0609020204030204" pitchFamily="49" charset="0"/>
              </a:rPr>
              <a:t>);</a:t>
            </a:r>
          </a:p>
          <a:p>
            <a:pPr algn="l"/>
            <a:r>
              <a:rPr lang="en-US" sz="1600" b="0" dirty="0">
                <a:solidFill>
                  <a:srgbClr val="001080"/>
                </a:solidFill>
                <a:effectLst/>
                <a:latin typeface="Consolas" panose="020B0609020204030204" pitchFamily="49" charset="0"/>
              </a:rPr>
              <a:t>console</a:t>
            </a:r>
            <a:r>
              <a:rPr lang="en-US" sz="1600" b="0" dirty="0">
                <a:solidFill>
                  <a:srgbClr val="000000"/>
                </a:solidFill>
                <a:effectLst/>
                <a:latin typeface="Consolas" panose="020B0609020204030204" pitchFamily="49" charset="0"/>
              </a:rPr>
              <a:t>.</a:t>
            </a:r>
            <a:r>
              <a:rPr lang="en-US" sz="1600" b="0" dirty="0">
                <a:solidFill>
                  <a:srgbClr val="795E26"/>
                </a:solidFill>
                <a:effectLst/>
                <a:latin typeface="Consolas" panose="020B0609020204030204" pitchFamily="49" charset="0"/>
              </a:rPr>
              <a:t>log</a:t>
            </a:r>
            <a:r>
              <a:rPr lang="en-US" sz="1600" b="0" dirty="0">
                <a:solidFill>
                  <a:srgbClr val="000000"/>
                </a:solidFill>
                <a:effectLst/>
                <a:latin typeface="Consolas" panose="020B0609020204030204" pitchFamily="49" charset="0"/>
              </a:rPr>
              <a:t>(</a:t>
            </a:r>
            <a:r>
              <a:rPr lang="en-US" sz="1600" b="0" dirty="0">
                <a:solidFill>
                  <a:srgbClr val="A31515"/>
                </a:solidFill>
                <a:effectLst/>
                <a:latin typeface="Consolas" panose="020B0609020204030204" pitchFamily="49" charset="0"/>
              </a:rPr>
              <a:t>"end of main thread"</a:t>
            </a:r>
            <a:r>
              <a:rPr lang="en-US" sz="1600" b="0" dirty="0">
                <a:solidFill>
                  <a:srgbClr val="000000"/>
                </a:solidFill>
                <a:effectLst/>
                <a:latin typeface="Consolas" panose="020B0609020204030204" pitchFamily="49" charset="0"/>
              </a:rPr>
              <a:t>)</a:t>
            </a:r>
          </a:p>
        </p:txBody>
      </p:sp>
      <p:sp>
        <p:nvSpPr>
          <p:cNvPr id="12" name="TextBox 11">
            <a:extLst>
              <a:ext uri="{FF2B5EF4-FFF2-40B4-BE49-F238E27FC236}">
                <a16:creationId xmlns:a16="http://schemas.microsoft.com/office/drawing/2014/main" id="{FAFF8F41-3560-E45C-BD4F-631ADBAAD165}"/>
              </a:ext>
            </a:extLst>
          </p:cNvPr>
          <p:cNvSpPr txBox="1"/>
          <p:nvPr/>
        </p:nvSpPr>
        <p:spPr>
          <a:xfrm>
            <a:off x="838199" y="4580224"/>
            <a:ext cx="9804991" cy="1754326"/>
          </a:xfrm>
          <a:prstGeom prst="rect">
            <a:avLst/>
          </a:prstGeom>
          <a:noFill/>
          <a:ln w="12700" cap="flat" cmpd="sng" algn="ctr">
            <a:solidFill>
              <a:srgbClr val="0A52B1"/>
            </a:solid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1800" dirty="0">
                <a:solidFill>
                  <a:schemeClr val="tx1"/>
                </a:solidFill>
              </a:rPr>
              <a:t>$ node </a:t>
            </a:r>
            <a:r>
              <a:rPr lang="en-US" sz="1800" dirty="0" err="1">
                <a:solidFill>
                  <a:schemeClr val="tx1"/>
                </a:solidFill>
              </a:rPr>
              <a:t>makeOneRequest.ts</a:t>
            </a:r>
            <a:endParaRPr lang="en-US" sz="1800" dirty="0">
              <a:solidFill>
                <a:schemeClr val="tx1"/>
              </a:solidFill>
            </a:endParaRPr>
          </a:p>
          <a:p>
            <a:pPr algn="l"/>
            <a:r>
              <a:rPr lang="en-US" sz="1800" dirty="0">
                <a:solidFill>
                  <a:schemeClr val="tx1"/>
                </a:solidFill>
              </a:rPr>
              <a:t>main thread is about to call </a:t>
            </a:r>
            <a:r>
              <a:rPr lang="en-US" sz="1800" dirty="0" err="1">
                <a:solidFill>
                  <a:schemeClr val="tx1"/>
                </a:solidFill>
              </a:rPr>
              <a:t>makeRequest</a:t>
            </a:r>
            <a:endParaRPr lang="en-US" sz="1800" dirty="0">
              <a:solidFill>
                <a:schemeClr val="tx1"/>
              </a:solidFill>
            </a:endParaRPr>
          </a:p>
          <a:p>
            <a:pPr algn="l"/>
            <a:r>
              <a:rPr lang="en-US" sz="1800" dirty="0">
                <a:solidFill>
                  <a:schemeClr val="tx1"/>
                </a:solidFill>
              </a:rPr>
              <a:t>starting </a:t>
            </a:r>
            <a:r>
              <a:rPr lang="en-US" sz="1800" dirty="0" err="1">
                <a:solidFill>
                  <a:schemeClr val="tx1"/>
                </a:solidFill>
              </a:rPr>
              <a:t>makeRequest</a:t>
            </a:r>
            <a:r>
              <a:rPr lang="en-US" sz="1800" dirty="0">
                <a:solidFill>
                  <a:schemeClr val="tx1"/>
                </a:solidFill>
              </a:rPr>
              <a:t> 1000</a:t>
            </a:r>
          </a:p>
          <a:p>
            <a:pPr algn="l"/>
            <a:r>
              <a:rPr lang="en-US" sz="1800" dirty="0">
                <a:solidFill>
                  <a:schemeClr val="tx1"/>
                </a:solidFill>
              </a:rPr>
              <a:t>main thread continues after </a:t>
            </a:r>
            <a:r>
              <a:rPr lang="en-US" sz="1800" dirty="0" err="1">
                <a:solidFill>
                  <a:schemeClr val="tx1"/>
                </a:solidFill>
              </a:rPr>
              <a:t>makeRequest</a:t>
            </a:r>
            <a:r>
              <a:rPr lang="en-US" sz="1800" dirty="0">
                <a:solidFill>
                  <a:schemeClr val="tx1"/>
                </a:solidFill>
              </a:rPr>
              <a:t> returns</a:t>
            </a:r>
          </a:p>
          <a:p>
            <a:pPr algn="l"/>
            <a:r>
              <a:rPr lang="en-US" sz="1800" dirty="0">
                <a:solidFill>
                  <a:schemeClr val="tx1"/>
                </a:solidFill>
              </a:rPr>
              <a:t>end of main thread</a:t>
            </a:r>
          </a:p>
          <a:p>
            <a:pPr algn="l"/>
            <a:r>
              <a:rPr lang="en-US" sz="1800" dirty="0">
                <a:solidFill>
                  <a:schemeClr val="tx1"/>
                </a:solidFill>
              </a:rPr>
              <a:t>Request: 1000; response: 200</a:t>
            </a:r>
          </a:p>
        </p:txBody>
      </p:sp>
      <p:grpSp>
        <p:nvGrpSpPr>
          <p:cNvPr id="26" name="Group 25">
            <a:extLst>
              <a:ext uri="{FF2B5EF4-FFF2-40B4-BE49-F238E27FC236}">
                <a16:creationId xmlns:a16="http://schemas.microsoft.com/office/drawing/2014/main" id="{03B46C80-7780-3757-1A12-25C3F40C8572}"/>
              </a:ext>
            </a:extLst>
          </p:cNvPr>
          <p:cNvGrpSpPr/>
          <p:nvPr/>
        </p:nvGrpSpPr>
        <p:grpSpPr>
          <a:xfrm>
            <a:off x="4373768" y="1492947"/>
            <a:ext cx="7504723" cy="2893174"/>
            <a:chOff x="4293618" y="2723656"/>
            <a:chExt cx="7504723" cy="2893174"/>
          </a:xfrm>
        </p:grpSpPr>
        <p:sp>
          <p:nvSpPr>
            <p:cNvPr id="13" name="TextBox 12">
              <a:extLst>
                <a:ext uri="{FF2B5EF4-FFF2-40B4-BE49-F238E27FC236}">
                  <a16:creationId xmlns:a16="http://schemas.microsoft.com/office/drawing/2014/main" id="{6DB8828A-708E-C2C1-AEF6-D09FAA35D1EF}"/>
                </a:ext>
              </a:extLst>
            </p:cNvPr>
            <p:cNvSpPr txBox="1"/>
            <p:nvPr/>
          </p:nvSpPr>
          <p:spPr>
            <a:xfrm>
              <a:off x="6681597" y="2723656"/>
              <a:ext cx="5116744" cy="2893174"/>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marL="457200" indent="-457200" algn="l">
                <a:buAutoNum type="arabicPeriod"/>
              </a:pPr>
              <a:r>
                <a:rPr lang="en-US" sz="2400" b="1" dirty="0">
                  <a:solidFill>
                    <a:schemeClr val="tx1"/>
                  </a:solidFill>
                  <a:latin typeface="Ink Free" panose="03080402000500000000" pitchFamily="66" charset="0"/>
                </a:rPr>
                <a:t>First console is printed</a:t>
              </a:r>
            </a:p>
            <a:p>
              <a:pPr marL="457200" indent="-457200" algn="l">
                <a:buAutoNum type="arabicPeriod"/>
              </a:pPr>
              <a:r>
                <a:rPr lang="en-US" sz="2400" b="1" dirty="0">
                  <a:solidFill>
                    <a:schemeClr val="tx1"/>
                  </a:solidFill>
                  <a:latin typeface="Ink Free" panose="03080402000500000000" pitchFamily="66" charset="0"/>
                </a:rPr>
                <a:t>fetch starts the http request immediately in the background using non-blocking IO, and creates a promise to do the code after the await.</a:t>
              </a:r>
            </a:p>
            <a:p>
              <a:pPr algn="l"/>
              <a:r>
                <a:rPr lang="en-US" sz="2400" b="1" dirty="0">
                  <a:solidFill>
                    <a:schemeClr val="tx1"/>
                  </a:solidFill>
                  <a:latin typeface="Ink Free" panose="03080402000500000000" pitchFamily="66" charset="0"/>
                </a:rPr>
                <a:t>3.  The call to </a:t>
              </a:r>
              <a:r>
                <a:rPr lang="en-US" sz="2400" b="1" dirty="0" err="1">
                  <a:solidFill>
                    <a:schemeClr val="tx1"/>
                  </a:solidFill>
                  <a:latin typeface="Ink Free" panose="03080402000500000000" pitchFamily="66" charset="0"/>
                </a:rPr>
                <a:t>makeRequest</a:t>
              </a:r>
              <a:r>
                <a:rPr lang="en-US" sz="2400" b="1" dirty="0">
                  <a:solidFill>
                    <a:schemeClr val="tx1"/>
                  </a:solidFill>
                  <a:latin typeface="Ink Free" panose="03080402000500000000" pitchFamily="66" charset="0"/>
                </a:rPr>
                <a:t> returns with this pending promise</a:t>
              </a:r>
            </a:p>
          </p:txBody>
        </p:sp>
        <p:cxnSp>
          <p:nvCxnSpPr>
            <p:cNvPr id="15" name="Straight Arrow Connector 14">
              <a:extLst>
                <a:ext uri="{FF2B5EF4-FFF2-40B4-BE49-F238E27FC236}">
                  <a16:creationId xmlns:a16="http://schemas.microsoft.com/office/drawing/2014/main" id="{F6642CE7-DCB4-E082-7E9F-089DEB441CFD}"/>
                </a:ext>
              </a:extLst>
            </p:cNvPr>
            <p:cNvCxnSpPr>
              <a:cxnSpLocks/>
              <a:stCxn id="13" idx="1"/>
            </p:cNvCxnSpPr>
            <p:nvPr/>
          </p:nvCxnSpPr>
          <p:spPr>
            <a:xfrm flipH="1" flipV="1">
              <a:off x="4293618" y="3552047"/>
              <a:ext cx="2387979" cy="618196"/>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grpSp>
        <p:nvGrpSpPr>
          <p:cNvPr id="27" name="Group 26">
            <a:extLst>
              <a:ext uri="{FF2B5EF4-FFF2-40B4-BE49-F238E27FC236}">
                <a16:creationId xmlns:a16="http://schemas.microsoft.com/office/drawing/2014/main" id="{F329FD96-BE25-7CBD-1B4B-C85CD13607A4}"/>
              </a:ext>
            </a:extLst>
          </p:cNvPr>
          <p:cNvGrpSpPr/>
          <p:nvPr/>
        </p:nvGrpSpPr>
        <p:grpSpPr>
          <a:xfrm>
            <a:off x="3093057" y="4469812"/>
            <a:ext cx="8932260" cy="1424492"/>
            <a:chOff x="1512047" y="3849498"/>
            <a:chExt cx="8932260" cy="1424492"/>
          </a:xfrm>
        </p:grpSpPr>
        <p:sp>
          <p:nvSpPr>
            <p:cNvPr id="21" name="TextBox 20">
              <a:extLst>
                <a:ext uri="{FF2B5EF4-FFF2-40B4-BE49-F238E27FC236}">
                  <a16:creationId xmlns:a16="http://schemas.microsoft.com/office/drawing/2014/main" id="{2A8D85B0-07E0-E42D-7D9D-0B78BDCEEC94}"/>
                </a:ext>
              </a:extLst>
            </p:cNvPr>
            <p:cNvSpPr txBox="1"/>
            <p:nvPr/>
          </p:nvSpPr>
          <p:spPr>
            <a:xfrm>
              <a:off x="5534619" y="3849498"/>
              <a:ext cx="4909688" cy="1195579"/>
            </a:xfrm>
            <a:prstGeom prst="rect">
              <a:avLst/>
            </a:prstGeom>
            <a:solidFill>
              <a:schemeClr val="accent2">
                <a:lumMod val="20000"/>
                <a:lumOff val="80000"/>
              </a:schemeClr>
            </a:solid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400" b="1" dirty="0">
                  <a:solidFill>
                    <a:schemeClr val="tx1"/>
                  </a:solidFill>
                  <a:latin typeface="Ink Free" panose="03080402000500000000" pitchFamily="66" charset="0"/>
                </a:rPr>
                <a:t>4. The main thread finishes. </a:t>
              </a:r>
            </a:p>
            <a:p>
              <a:pPr algn="l"/>
              <a:r>
                <a:rPr lang="en-US" sz="2400" b="1" dirty="0">
                  <a:solidFill>
                    <a:schemeClr val="tx1"/>
                  </a:solidFill>
                  <a:latin typeface="Ink Free" panose="03080402000500000000" pitchFamily="66" charset="0"/>
                </a:rPr>
                <a:t>5. Sometime later, the computation resumes the promise</a:t>
              </a:r>
            </a:p>
          </p:txBody>
        </p:sp>
        <p:cxnSp>
          <p:nvCxnSpPr>
            <p:cNvPr id="23" name="Straight Arrow Connector 22">
              <a:extLst>
                <a:ext uri="{FF2B5EF4-FFF2-40B4-BE49-F238E27FC236}">
                  <a16:creationId xmlns:a16="http://schemas.microsoft.com/office/drawing/2014/main" id="{F2D4B224-9341-5812-B136-61B981731CA0}"/>
                </a:ext>
              </a:extLst>
            </p:cNvPr>
            <p:cNvCxnSpPr>
              <a:cxnSpLocks/>
              <a:stCxn id="21" idx="1"/>
            </p:cNvCxnSpPr>
            <p:nvPr/>
          </p:nvCxnSpPr>
          <p:spPr>
            <a:xfrm flipH="1">
              <a:off x="1512047" y="4447288"/>
              <a:ext cx="4022572" cy="826702"/>
            </a:xfrm>
            <a:prstGeom prst="straightConnector1">
              <a:avLst/>
            </a:prstGeom>
            <a:ln w="12700">
              <a:solidFill>
                <a:srgbClr val="0A52B1"/>
              </a:solidFill>
              <a:tailEnd type="stealth" w="lg" len="lg"/>
            </a:ln>
          </p:spPr>
          <p:style>
            <a:lnRef idx="1">
              <a:schemeClr val="accent1"/>
            </a:lnRef>
            <a:fillRef idx="0">
              <a:schemeClr val="accent1"/>
            </a:fillRef>
            <a:effectRef idx="0">
              <a:schemeClr val="accent1"/>
            </a:effectRef>
            <a:fontRef idx="minor">
              <a:schemeClr val="tx1"/>
            </a:fontRef>
          </p:style>
        </p:cxnSp>
      </p:grpSp>
      <p:sp>
        <p:nvSpPr>
          <p:cNvPr id="29" name="Arrow: Down 28">
            <a:extLst>
              <a:ext uri="{FF2B5EF4-FFF2-40B4-BE49-F238E27FC236}">
                <a16:creationId xmlns:a16="http://schemas.microsoft.com/office/drawing/2014/main" id="{094A7B22-C634-4C28-1D51-003012C40FD4}"/>
              </a:ext>
            </a:extLst>
          </p:cNvPr>
          <p:cNvSpPr/>
          <p:nvPr/>
        </p:nvSpPr>
        <p:spPr>
          <a:xfrm>
            <a:off x="5438142" y="4053802"/>
            <a:ext cx="710588" cy="578461"/>
          </a:xfrm>
          <a:prstGeom prst="down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1" name="Rectangle: Rounded Corners 30">
            <a:extLst>
              <a:ext uri="{FF2B5EF4-FFF2-40B4-BE49-F238E27FC236}">
                <a16:creationId xmlns:a16="http://schemas.microsoft.com/office/drawing/2014/main" id="{85AFD483-C273-062C-5DCA-1639D10BF494}"/>
              </a:ext>
            </a:extLst>
          </p:cNvPr>
          <p:cNvSpPr/>
          <p:nvPr/>
        </p:nvSpPr>
        <p:spPr>
          <a:xfrm>
            <a:off x="654820" y="5689455"/>
            <a:ext cx="2358346" cy="338367"/>
          </a:xfrm>
          <a:prstGeom prst="roundRect">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
        <p:nvSpPr>
          <p:cNvPr id="3" name="Star: 5 Points 2">
            <a:extLst>
              <a:ext uri="{FF2B5EF4-FFF2-40B4-BE49-F238E27FC236}">
                <a16:creationId xmlns:a16="http://schemas.microsoft.com/office/drawing/2014/main" id="{6B6B87F5-1DC0-A19D-8B9B-B87909D4915B}"/>
              </a:ext>
            </a:extLst>
          </p:cNvPr>
          <p:cNvSpPr/>
          <p:nvPr/>
        </p:nvSpPr>
        <p:spPr>
          <a:xfrm>
            <a:off x="166684" y="5436296"/>
            <a:ext cx="456205" cy="458008"/>
          </a:xfrm>
          <a:prstGeom prst="star5">
            <a:avLst/>
          </a:prstGeom>
          <a:solidFill>
            <a:srgbClr val="C000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4832193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12">
                                            <p:txEl>
                                              <p:pRg st="0" end="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2">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2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2">
                                            <p:txEl>
                                              <p:pRg st="3" end="3"/>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2">
                                            <p:txEl>
                                              <p:pRg st="4" end="4"/>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0" presetClass="exit" presetSubtype="0" fill="hold" nodeType="clickEffect">
                                  <p:stCondLst>
                                    <p:cond delay="0"/>
                                  </p:stCondLst>
                                  <p:childTnLst>
                                    <p:animEffect transition="out" filter="fade">
                                      <p:cBhvr>
                                        <p:cTn id="28" dur="500"/>
                                        <p:tgtEl>
                                          <p:spTgt spid="26"/>
                                        </p:tgtEl>
                                      </p:cBhvr>
                                    </p:animEffect>
                                    <p:set>
                                      <p:cBhvr>
                                        <p:cTn id="29" dur="1" fill="hold">
                                          <p:stCondLst>
                                            <p:cond delay="499"/>
                                          </p:stCondLst>
                                        </p:cTn>
                                        <p:tgtEl>
                                          <p:spTgt spid="26"/>
                                        </p:tgtEl>
                                        <p:attrNameLst>
                                          <p:attrName>style.visibility</p:attrName>
                                        </p:attrNameLst>
                                      </p:cBhvr>
                                      <p:to>
                                        <p:strVal val="hidden"/>
                                      </p:to>
                                    </p:set>
                                  </p:childTnLst>
                                </p:cTn>
                              </p:par>
                            </p:childTnLst>
                          </p:cTn>
                        </p:par>
                        <p:par>
                          <p:cTn id="30" fill="hold">
                            <p:stCondLst>
                              <p:cond delay="500"/>
                            </p:stCondLst>
                            <p:childTnLst>
                              <p:par>
                                <p:cTn id="31" presetID="1" presetClass="entr" presetSubtype="0" fill="hold" grpId="0" nodeType="afterEffect">
                                  <p:stCondLst>
                                    <p:cond delay="0"/>
                                  </p:stCondLst>
                                  <p:childTnLst>
                                    <p:set>
                                      <p:cBhvr>
                                        <p:cTn id="32" dur="1" fill="hold">
                                          <p:stCondLst>
                                            <p:cond delay="0"/>
                                          </p:stCondLst>
                                        </p:cTn>
                                        <p:tgtEl>
                                          <p:spTgt spid="31"/>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nodeType="clickEffect">
                                  <p:stCondLst>
                                    <p:cond delay="0"/>
                                  </p:stCondLst>
                                  <p:childTnLst>
                                    <p:set>
                                      <p:cBhvr>
                                        <p:cTn id="38" dur="1" fill="hold">
                                          <p:stCondLst>
                                            <p:cond delay="0"/>
                                          </p:stCondLst>
                                        </p:cTn>
                                        <p:tgtEl>
                                          <p:spTgt spid="27"/>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12">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2" grpId="0" animBg="1"/>
      <p:bldP spid="29" grpId="0" animBg="1"/>
      <p:bldP spid="31" grpId="0" animBg="1"/>
      <p:bldP spid="3" grpId="0" animBg="1"/>
    </p:bldLst>
  </p:timing>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highlight>
                  <a:srgbClr val="FFFF00"/>
                </a:highligh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highlight>
                  <a:srgbClr val="FFFF00"/>
                </a:highligh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dirty="0">
                <a:solidFill>
                  <a:srgbClr val="0000FF"/>
                </a:solidFill>
                <a:latin typeface="Consolas" panose="020B0609020204030204" pitchFamily="49" charset="0"/>
              </a:rPr>
              <a:t>export</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endParaRPr lang="en-US" sz="2000" b="0" dirty="0">
              <a:solidFill>
                <a:srgbClr val="3B3B3B"/>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criticalSection.ts</a:t>
            </a:r>
            <a:endParaRPr lang="en-US" sz="2400" dirty="0">
              <a:solidFill>
                <a:schemeClr val="tx1"/>
              </a:solidFill>
            </a:endParaRP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318046" y="1771399"/>
            <a:ext cx="3761294" cy="4351338"/>
          </a:xfrm>
        </p:spPr>
        <p:txBody>
          <a:bodyPr>
            <a:normAutofit fontScale="92500" lnSpcReduction="10000"/>
          </a:bodyPr>
          <a:lstStyle/>
          <a:p>
            <a:r>
              <a:rPr lang="en-US" sz="2000" dirty="0"/>
              <a:t>In Java, he easiest thing to do is to set up two threads</a:t>
            </a:r>
          </a:p>
          <a:p>
            <a:r>
              <a:rPr lang="en-US" sz="2000" dirty="0"/>
              <a:t>But then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a:p>
            <a:r>
              <a:rPr lang="en-US" sz="2000" dirty="0"/>
              <a:t>(TBH, you can set this up in Java in a way that avoids the interrupt, but it takes some care </a:t>
            </a:r>
            <a:r>
              <a:rPr lang="en-US" sz="2000" dirty="0">
                <a:sym typeface="Wingdings" panose="05000000000000000000" pitchFamily="2" charset="2"/>
              </a:rPr>
              <a:t>)</a:t>
            </a:r>
            <a:endParaRPr lang="en-US" sz="2000" dirty="0"/>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5">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Let’s work with more complicated examples: 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dirty="0">
                <a:solidFill>
                  <a:srgbClr val="0000FF"/>
                </a:solidFill>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9573260" cy="4893647"/>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1800" b="0" dirty="0">
                <a:solidFill>
                  <a:srgbClr val="0000FF"/>
                </a:solidFill>
                <a:effectLst/>
                <a:latin typeface="Consolas" panose="020B0609020204030204" pitchFamily="49" charset="0"/>
              </a:rPr>
              <a:t>import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axios</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from</a:t>
            </a:r>
            <a:r>
              <a:rPr lang="en-US" sz="1800" b="0" dirty="0">
                <a:solidFill>
                  <a:srgbClr val="000000"/>
                </a:solidFill>
                <a:effectLst/>
                <a:latin typeface="Consolas" panose="020B0609020204030204" pitchFamily="49" charset="0"/>
              </a:rPr>
              <a:t> </a:t>
            </a:r>
            <a:r>
              <a:rPr lang="en-US" sz="1800" b="0" dirty="0">
                <a:solidFill>
                  <a:srgbClr val="A31515"/>
                </a:solidFill>
                <a:effectLst/>
                <a:latin typeface="Consolas" panose="020B0609020204030204" pitchFamily="49" charset="0"/>
              </a:rPr>
              <a:t>'</a:t>
            </a:r>
            <a:r>
              <a:rPr lang="en-US" sz="1800" b="0" dirty="0" err="1">
                <a:solidFill>
                  <a:srgbClr val="A31515"/>
                </a:solidFill>
                <a:effectLst/>
                <a:latin typeface="Consolas" panose="020B0609020204030204" pitchFamily="49" charset="0"/>
              </a:rPr>
              <a:t>axios</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export</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requestNumber:number</a:t>
            </a:r>
            <a:r>
              <a:rPr lang="en-US" sz="1800" b="0" dirty="0">
                <a:solidFill>
                  <a:srgbClr val="000000"/>
                </a:solidFill>
                <a:effectLst/>
                <a:latin typeface="Consolas" panose="020B0609020204030204" pitchFamily="49" charset="0"/>
              </a:rPr>
              <a:t>)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a:t>
            </a:r>
            <a:r>
              <a:rPr lang="en-US" sz="1800" b="0" dirty="0" err="1">
                <a:solidFill>
                  <a:srgbClr val="A31515"/>
                </a:solidFill>
                <a:effectLst/>
                <a:latin typeface="Consolas" panose="020B0609020204030204" pitchFamily="49" charset="0"/>
              </a:rPr>
              <a:t>makeRequest</a:t>
            </a:r>
            <a:r>
              <a:rPr lang="en-US" sz="1800" b="0" dirty="0">
                <a:solidFill>
                  <a:srgbClr val="A31515"/>
                </a:solidFill>
                <a:effectLst/>
                <a:latin typeface="Consolas" panose="020B0609020204030204" pitchFamily="49" charset="0"/>
              </a:rPr>
              <a: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response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dirty="0">
                <a:solidFill>
                  <a:srgbClr val="000000"/>
                </a:solidFill>
                <a:latin typeface="Consolas" panose="020B0609020204030204" pitchFamily="49" charset="0"/>
              </a:rPr>
              <a:t>fetch(</a:t>
            </a:r>
            <a:r>
              <a:rPr lang="en-US" sz="1800" dirty="0">
                <a:solidFill>
                  <a:srgbClr val="A31515"/>
                </a:solidFill>
                <a:latin typeface="Consolas" panose="020B0609020204030204" pitchFamily="49" charset="0"/>
              </a:rPr>
              <a:t>'https://rest-</a:t>
            </a:r>
            <a:r>
              <a:rPr lang="en-US" sz="1800" dirty="0" err="1">
                <a:solidFill>
                  <a:srgbClr val="A31515"/>
                </a:solidFill>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dirty="0">
                <a:solidFill>
                  <a:srgbClr val="000000"/>
                </a:solidFill>
                <a:latin typeface="Consolas" panose="020B0609020204030204" pitchFamily="49" charset="0"/>
              </a:rPr>
              <a:t>);</a:t>
            </a:r>
            <a:endParaRPr lang="en-US" sz="1800" b="0" dirty="0">
              <a:solidFill>
                <a:srgbClr val="000000"/>
              </a:solidFill>
              <a:effectLst/>
              <a:latin typeface="Consolas" panose="020B0609020204030204" pitchFamily="49" charset="0"/>
            </a:endParaRP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`request:</a:t>
            </a:r>
            <a:r>
              <a:rPr lang="en-US" sz="1800" b="0" dirty="0">
                <a:solidFill>
                  <a:srgbClr val="0000FF"/>
                </a:solidFill>
                <a:effectLst/>
                <a:latin typeface="Consolas" panose="020B0609020204030204" pitchFamily="49" charset="0"/>
              </a:rPr>
              <a:t>${</a:t>
            </a:r>
            <a:r>
              <a:rPr lang="en-US" sz="1800" b="0" dirty="0" err="1">
                <a:solidFill>
                  <a:srgbClr val="000000"/>
                </a:solidFill>
                <a:effectLst/>
                <a:latin typeface="Consolas" panose="020B0609020204030204" pitchFamily="49" charset="0"/>
              </a:rPr>
              <a:t>requestNumber</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returned`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make3ConcurrentRequests() {</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'starting make3ConcurrentRequests'</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100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200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makeRequest</a:t>
            </a:r>
            <a:r>
              <a:rPr lang="en-US" sz="1800" b="0" dirty="0">
                <a:solidFill>
                  <a:srgbClr val="000000"/>
                </a:solidFill>
                <a:effectLst/>
                <a:latin typeface="Consolas" panose="020B0609020204030204" pitchFamily="49" charset="0"/>
              </a:rPr>
              <a:t>(</a:t>
            </a:r>
            <a:r>
              <a:rPr lang="en-US" sz="1800" b="0" dirty="0">
                <a:solidFill>
                  <a:srgbClr val="098658"/>
                </a:solidFill>
                <a:effectLst/>
                <a:latin typeface="Consolas" panose="020B0609020204030204" pitchFamily="49" charset="0"/>
              </a:rPr>
              <a:t>300</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    console.log(</a:t>
            </a:r>
            <a:r>
              <a:rPr lang="en-US" sz="1800" b="0" dirty="0">
                <a:solidFill>
                  <a:srgbClr val="A31515"/>
                </a:solidFill>
                <a:effectLst/>
                <a:latin typeface="Consolas" panose="020B0609020204030204" pitchFamily="49" charset="0"/>
              </a:rPr>
              <a:t>'make3ConcurrentRequests finished'</a:t>
            </a:r>
            <a:r>
              <a:rPr lang="en-US" sz="1800" b="0" dirty="0">
                <a:solidFill>
                  <a:srgbClr val="000000"/>
                </a:solidFill>
                <a:effectLst/>
                <a:latin typeface="Consolas" panose="020B0609020204030204" pitchFamily="49" charset="0"/>
              </a:rPr>
              <a:t>);</a:t>
            </a:r>
          </a:p>
          <a:p>
            <a:pPr algn="l"/>
            <a:r>
              <a:rPr lang="en-US" sz="1800" b="0" dirty="0">
                <a:solidFill>
                  <a:srgbClr val="000000"/>
                </a:solidFill>
                <a:effectLst/>
                <a:latin typeface="Consolas" panose="020B0609020204030204" pitchFamily="49" charset="0"/>
              </a:rPr>
              <a:t>}</a:t>
            </a:r>
          </a:p>
          <a:p>
            <a:pPr algn="l"/>
            <a:br>
              <a:rPr lang="en-US" sz="1800" b="0" dirty="0">
                <a:solidFill>
                  <a:srgbClr val="000000"/>
                </a:solidFill>
                <a:effectLst/>
                <a:latin typeface="Consolas" panose="020B0609020204030204" pitchFamily="49" charset="0"/>
              </a:rPr>
            </a:br>
            <a:r>
              <a:rPr lang="en-US" sz="1800"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A0C2D166-D221-5634-F340-3FF7ECCBAEE9}"/>
              </a:ext>
            </a:extLst>
          </p:cNvPr>
          <p:cNvSpPr txBox="1"/>
          <p:nvPr/>
        </p:nvSpPr>
        <p:spPr>
          <a:xfrm>
            <a:off x="4498451" y="2025605"/>
            <a:ext cx="7117080" cy="2862322"/>
          </a:xfrm>
          <a:prstGeom prst="rect">
            <a:avLst/>
          </a:prstGeom>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sz="2000" dirty="0">
                <a:solidFill>
                  <a:prstClr val="black"/>
                </a:solidFill>
                <a:latin typeface="Lucida Console" panose="020B0609040504020204" pitchFamily="49" charset="0"/>
              </a:rPr>
              <a:t>$ node </a:t>
            </a:r>
            <a:r>
              <a:rPr lang="en-US" sz="2000" dirty="0" err="1">
                <a:solidFill>
                  <a:prstClr val="black"/>
                </a:solidFill>
                <a:latin typeface="Lucida Console" panose="020B0609040504020204" pitchFamily="49" charset="0"/>
              </a:rPr>
              <a:t>makeThreeConcurrentRequests.ts</a:t>
            </a:r>
            <a:endParaRPr lang="en-US" sz="2000" dirty="0">
              <a:solidFill>
                <a:prstClr val="black"/>
              </a:solidFill>
              <a:latin typeface="Lucida Console" panose="020B0609040504020204" pitchFamily="49" charset="0"/>
            </a:endParaRPr>
          </a:p>
          <a:p>
            <a:pPr algn="l"/>
            <a:r>
              <a:rPr lang="en-US" sz="2000" dirty="0">
                <a:solidFill>
                  <a:prstClr val="black"/>
                </a:solidFill>
                <a:latin typeface="Lucida Console" panose="020B0609040504020204" pitchFamily="49" charset="0"/>
              </a:rPr>
              <a:t>starting make3ConcurrentRequests</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(100)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(200)</a:t>
            </a:r>
          </a:p>
          <a:p>
            <a:pPr algn="l"/>
            <a:r>
              <a:rPr lang="en-US" sz="2000" dirty="0">
                <a:solidFill>
                  <a:prstClr val="black"/>
                </a:solidFill>
                <a:latin typeface="Lucida Console" panose="020B0609040504020204" pitchFamily="49" charset="0"/>
              </a:rPr>
              <a:t>starting </a:t>
            </a:r>
            <a:r>
              <a:rPr lang="en-US" sz="2000" dirty="0" err="1">
                <a:solidFill>
                  <a:prstClr val="black"/>
                </a:solidFill>
                <a:latin typeface="Lucida Console" panose="020B0609040504020204" pitchFamily="49" charset="0"/>
              </a:rPr>
              <a:t>makeRequest</a:t>
            </a:r>
            <a:r>
              <a:rPr lang="en-US" sz="2000" dirty="0">
                <a:solidFill>
                  <a:prstClr val="black"/>
                </a:solidFill>
                <a:latin typeface="Lucida Console" panose="020B0609040504020204" pitchFamily="49" charset="0"/>
              </a:rPr>
              <a:t>(300)</a:t>
            </a:r>
          </a:p>
          <a:p>
            <a:pPr algn="l"/>
            <a:r>
              <a:rPr lang="en-US" sz="2000" dirty="0">
                <a:solidFill>
                  <a:prstClr val="black"/>
                </a:solidFill>
                <a:latin typeface="Lucida Console" panose="020B0609040504020204" pitchFamily="49" charset="0"/>
              </a:rPr>
              <a:t>make3ConcurrentRequests finished</a:t>
            </a:r>
          </a:p>
          <a:p>
            <a:pPr algn="l"/>
            <a:r>
              <a:rPr lang="en-US" sz="2000" dirty="0">
                <a:solidFill>
                  <a:prstClr val="black"/>
                </a:solidFill>
                <a:latin typeface="Lucida Console" panose="020B0609040504020204" pitchFamily="49" charset="0"/>
              </a:rPr>
              <a:t>request 300 returned</a:t>
            </a:r>
          </a:p>
          <a:p>
            <a:pPr algn="l"/>
            <a:r>
              <a:rPr lang="en-US" sz="2000" dirty="0">
                <a:solidFill>
                  <a:prstClr val="black"/>
                </a:solidFill>
                <a:latin typeface="Lucida Console" panose="020B0609040504020204" pitchFamily="49" charset="0"/>
              </a:rPr>
              <a:t>request 100 returned</a:t>
            </a:r>
          </a:p>
          <a:p>
            <a:pPr algn="l"/>
            <a:r>
              <a:rPr lang="en-US" sz="2000" dirty="0">
                <a:solidFill>
                  <a:prstClr val="black"/>
                </a:solidFill>
                <a:latin typeface="Lucida Console" panose="020B0609040504020204" pitchFamily="49" charset="0"/>
              </a:rPr>
              <a:t>request 200 returned</a:t>
            </a:r>
            <a:endParaRPr lang="en-US" sz="2000" dirty="0"/>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sp>
        <p:nvSpPr>
          <p:cNvPr id="6" name="Content Placeholder 1">
            <a:extLst>
              <a:ext uri="{FF2B5EF4-FFF2-40B4-BE49-F238E27FC236}">
                <a16:creationId xmlns:a16="http://schemas.microsoft.com/office/drawing/2014/main" id="{121A4AAF-C150-6C53-890C-C69004EFBF51}"/>
              </a:ext>
            </a:extLst>
          </p:cNvPr>
          <p:cNvSpPr txBox="1">
            <a:spLocks/>
          </p:cNvSpPr>
          <p:nvPr/>
        </p:nvSpPr>
        <p:spPr>
          <a:xfrm>
            <a:off x="5730790" y="6027151"/>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3887238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P spid="6" grpId="0"/>
    </p:bldLst>
  </p:timing>
</p:sld>
</file>

<file path=ppt/slides/slide2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2"/>
            <a:ext cx="3744982" cy="1574903"/>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makeRequest</a:t>
            </a:r>
            <a:r>
              <a:rPr lang="en-US" sz="2000" dirty="0"/>
              <a:t>(200) can proceed …</a:t>
            </a:r>
          </a:p>
          <a:p>
            <a:r>
              <a:rPr lang="en-US" sz="2000" dirty="0"/>
              <a:t>Then, </a:t>
            </a:r>
            <a:r>
              <a:rPr lang="en-US" sz="2000" dirty="0" err="1"/>
              <a:t>makeRequest</a:t>
            </a:r>
            <a:r>
              <a:rPr lang="en-US" sz="2000" dirty="0"/>
              <a:t>(300) can proceed …</a:t>
            </a:r>
          </a:p>
          <a:p>
            <a:endParaRPr lang="en-US" sz="2000" dirty="0"/>
          </a:p>
        </p:txBody>
      </p:sp>
    </p:spTree>
    <p:extLst>
      <p:ext uri="{BB962C8B-B14F-4D97-AF65-F5344CB8AC3E}">
        <p14:creationId xmlns:p14="http://schemas.microsoft.com/office/powerpoint/2010/main" val="18690219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par>
                                <p:cTn id="68" presetID="1" presetClass="entr" presetSubtype="0" fill="hold" nodeType="withEffect">
                                  <p:stCondLst>
                                    <p:cond delay="0"/>
                                  </p:stCondLst>
                                  <p:childTnLst>
                                    <p:set>
                                      <p:cBhvr>
                                        <p:cTn id="69" dur="1" fill="hold">
                                          <p:stCondLst>
                                            <p:cond delay="0"/>
                                          </p:stCondLst>
                                        </p:cTn>
                                        <p:tgtEl>
                                          <p:spTgt spid="17">
                                            <p:txEl>
                                              <p:pRg st="0" end="0"/>
                                            </p:txEl>
                                          </p:spTgt>
                                        </p:tgtEl>
                                        <p:attrNameLst>
                                          <p:attrName>style.visibility</p:attrName>
                                        </p:attrNameLst>
                                      </p:cBhvr>
                                      <p:to>
                                        <p:strVal val="visible"/>
                                      </p:to>
                                    </p:set>
                                  </p:childTnLst>
                                </p:cTn>
                              </p:par>
                              <p:par>
                                <p:cTn id="70" presetID="1" presetClass="entr" presetSubtype="0" fill="hold" nodeType="withEffect">
                                  <p:stCondLst>
                                    <p:cond delay="0"/>
                                  </p:stCondLst>
                                  <p:childTnLst>
                                    <p:set>
                                      <p:cBhvr>
                                        <p:cTn id="71" dur="1" fill="hold">
                                          <p:stCondLst>
                                            <p:cond delay="0"/>
                                          </p:stCondLst>
                                        </p:cTn>
                                        <p:tgtEl>
                                          <p:spTgt spid="1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677656"/>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r>
              <a:rPr lang="en-US" b="0" dirty="0">
                <a:solidFill>
                  <a:srgbClr val="0000FF"/>
                </a:solidFill>
                <a:effectLst/>
                <a:latin typeface="Consolas" panose="020B0609020204030204" pitchFamily="49" charset="0"/>
              </a:rPr>
              <a:t>import</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axios</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from</a:t>
            </a:r>
            <a:r>
              <a:rPr lang="en-US" b="0" dirty="0">
                <a:solidFill>
                  <a:srgbClr val="000000"/>
                </a:solidFill>
                <a:effectLst/>
                <a:latin typeface="Consolas" panose="020B0609020204030204" pitchFamily="49" charset="0"/>
              </a:rPr>
              <a:t> </a:t>
            </a:r>
            <a:r>
              <a:rPr lang="en-US" b="0" dirty="0">
                <a:solidFill>
                  <a:srgbClr val="A31515"/>
                </a:solidFill>
                <a:effectLst/>
                <a:latin typeface="Consolas" panose="020B0609020204030204" pitchFamily="49" charset="0"/>
              </a:rPr>
              <a:t>'</a:t>
            </a:r>
            <a:r>
              <a:rPr lang="en-US" b="0" dirty="0" err="1">
                <a:solidFill>
                  <a:srgbClr val="A31515"/>
                </a:solidFill>
                <a:effectLst/>
                <a:latin typeface="Consolas" panose="020B0609020204030204" pitchFamily="49" charset="0"/>
              </a:rPr>
              <a:t>axios</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export</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async</a:t>
            </a:r>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requestNumber:number</a:t>
            </a:r>
            <a:r>
              <a:rPr lang="en-US" b="0" dirty="0">
                <a:solidFill>
                  <a:srgbClr val="000000"/>
                </a:solidFill>
                <a:effectLst/>
                <a:latin typeface="Consolas" panose="020B0609020204030204" pitchFamily="49" charset="0"/>
              </a:rPr>
              <a:t>)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a:t>
            </a:r>
            <a:r>
              <a:rPr lang="en-US" b="0" dirty="0" err="1">
                <a:solidFill>
                  <a:srgbClr val="A31515"/>
                </a:solidFill>
                <a:effectLst/>
                <a:latin typeface="Consolas" panose="020B0609020204030204" pitchFamily="49" charset="0"/>
              </a:rPr>
              <a:t>makeRequest</a:t>
            </a:r>
            <a:r>
              <a:rPr lang="en-US" b="0" dirty="0">
                <a:solidFill>
                  <a:srgbClr val="A31515"/>
                </a:solidFill>
                <a:effectLst/>
                <a:latin typeface="Consolas" panose="020B0609020204030204" pitchFamily="49" charset="0"/>
              </a:rPr>
              <a: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a:solidFill>
                  <a:srgbClr val="0000FF"/>
                </a:solidFill>
                <a:effectLst/>
                <a:latin typeface="Consolas" panose="020B0609020204030204" pitchFamily="49" charset="0"/>
              </a:rPr>
              <a:t>const</a:t>
            </a:r>
            <a:r>
              <a:rPr lang="en-US" b="0" dirty="0">
                <a:solidFill>
                  <a:srgbClr val="000000"/>
                </a:solidFill>
                <a:effectLst/>
                <a:latin typeface="Consolas" panose="020B0609020204030204" pitchFamily="49" charset="0"/>
              </a:rPr>
              <a:t> response = </a:t>
            </a:r>
            <a:r>
              <a:rPr lang="en-US" b="0" dirty="0">
                <a:solidFill>
                  <a:srgbClr val="0000FF"/>
                </a:solidFill>
                <a:effectLst/>
                <a:latin typeface="Consolas" panose="020B0609020204030204" pitchFamily="49" charset="0"/>
              </a:rPr>
              <a:t>await</a:t>
            </a:r>
            <a:r>
              <a:rPr lang="en-US" b="0" dirty="0">
                <a:solidFill>
                  <a:srgbClr val="000000"/>
                </a:solidFill>
                <a:effectLst/>
                <a:latin typeface="Consolas" panose="020B0609020204030204" pitchFamily="49" charset="0"/>
              </a:rPr>
              <a:t> </a:t>
            </a:r>
            <a:r>
              <a:rPr lang="en-US" dirty="0">
                <a:solidFill>
                  <a:srgbClr val="000000"/>
                </a:solidFill>
                <a:latin typeface="Consolas" panose="020B0609020204030204" pitchFamily="49" charset="0"/>
              </a:rPr>
              <a:t>fetch(</a:t>
            </a:r>
            <a:r>
              <a:rPr lang="en-US" dirty="0">
                <a:solidFill>
                  <a:srgbClr val="A31515"/>
                </a:solidFill>
                <a:latin typeface="Consolas" panose="020B0609020204030204" pitchFamily="49" charset="0"/>
              </a:rPr>
              <a:t>'https://rest-</a:t>
            </a:r>
            <a:r>
              <a:rPr lang="en-US" dirty="0" err="1">
                <a:solidFill>
                  <a:srgbClr val="A31515"/>
                </a:solidFill>
                <a:latin typeface="Consolas" panose="020B0609020204030204" pitchFamily="49" charset="0"/>
              </a:rPr>
              <a:t>example.covey.town</a:t>
            </a:r>
            <a:r>
              <a:rPr lang="en-US" dirty="0">
                <a:solidFill>
                  <a:srgbClr val="A31515"/>
                </a:solidFill>
                <a:latin typeface="Consolas" panose="020B0609020204030204" pitchFamily="49" charset="0"/>
              </a:rPr>
              <a:t>'</a:t>
            </a:r>
            <a:r>
              <a:rPr lang="en-US" dirty="0">
                <a:solidFill>
                  <a:srgbClr val="000000"/>
                </a:solidFill>
                <a:latin typeface="Consolas" panose="020B0609020204030204" pitchFamily="49" charset="0"/>
              </a:rPr>
              <a:t>);</a:t>
            </a:r>
            <a:endParaRPr lang="en-US" b="0" dirty="0">
              <a:solidFill>
                <a:srgbClr val="000000"/>
              </a:solidFill>
              <a:effectLst/>
              <a:latin typeface="Consolas" panose="020B0609020204030204" pitchFamily="49" charset="0"/>
            </a:endParaRP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`request:</a:t>
            </a:r>
            <a:r>
              <a:rPr lang="en-US" b="0" dirty="0">
                <a:solidFill>
                  <a:srgbClr val="0000FF"/>
                </a:solidFill>
                <a:effectLst/>
                <a:latin typeface="Consolas" panose="020B0609020204030204" pitchFamily="49" charset="0"/>
              </a:rPr>
              <a:t>${</a:t>
            </a:r>
            <a:r>
              <a:rPr lang="en-US" b="0" dirty="0" err="1">
                <a:solidFill>
                  <a:srgbClr val="000000"/>
                </a:solidFill>
                <a:effectLst/>
                <a:latin typeface="Consolas" panose="020B0609020204030204" pitchFamily="49" charset="0"/>
              </a:rPr>
              <a:t>requestNumber</a:t>
            </a:r>
            <a:r>
              <a:rPr lang="en-US" b="0" dirty="0">
                <a:solidFill>
                  <a:srgbClr val="0000FF"/>
                </a:solidFill>
                <a:effectLst/>
                <a:latin typeface="Consolas" panose="020B0609020204030204" pitchFamily="49" charset="0"/>
              </a:rPr>
              <a:t>}</a:t>
            </a:r>
            <a:r>
              <a:rPr lang="en-US" b="0" dirty="0">
                <a:solidFill>
                  <a:srgbClr val="A31515"/>
                </a:solidFill>
                <a:effectLst/>
                <a:latin typeface="Consolas" panose="020B0609020204030204" pitchFamily="49" charset="0"/>
              </a:rPr>
              <a:t> returned`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FF"/>
                </a:solidFill>
                <a:effectLst/>
                <a:latin typeface="Consolas" panose="020B0609020204030204" pitchFamily="49" charset="0"/>
              </a:rPr>
              <a:t>function</a:t>
            </a:r>
            <a:r>
              <a:rPr lang="en-US" b="0" dirty="0">
                <a:solidFill>
                  <a:srgbClr val="000000"/>
                </a:solidFill>
                <a:effectLst/>
                <a:latin typeface="Consolas" panose="020B0609020204030204" pitchFamily="49" charset="0"/>
              </a:rPr>
              <a:t> make3ConcurrentRequests() {</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'starting make3ConcurrentRequests'</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100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200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a:t>
            </a:r>
            <a:r>
              <a:rPr lang="en-US" b="0" dirty="0" err="1">
                <a:solidFill>
                  <a:srgbClr val="000000"/>
                </a:solidFill>
                <a:effectLst/>
                <a:latin typeface="Consolas" panose="020B0609020204030204" pitchFamily="49" charset="0"/>
              </a:rPr>
              <a:t>makeRequest</a:t>
            </a:r>
            <a:r>
              <a:rPr lang="en-US" b="0" dirty="0">
                <a:solidFill>
                  <a:srgbClr val="000000"/>
                </a:solidFill>
                <a:effectLst/>
                <a:latin typeface="Consolas" panose="020B0609020204030204" pitchFamily="49" charset="0"/>
              </a:rPr>
              <a:t>(</a:t>
            </a:r>
            <a:r>
              <a:rPr lang="en-US" b="0" dirty="0">
                <a:solidFill>
                  <a:srgbClr val="098658"/>
                </a:solidFill>
                <a:effectLst/>
                <a:latin typeface="Consolas" panose="020B0609020204030204" pitchFamily="49" charset="0"/>
              </a:rPr>
              <a:t>300</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  console.log(</a:t>
            </a:r>
            <a:r>
              <a:rPr lang="en-US" b="0" dirty="0">
                <a:solidFill>
                  <a:srgbClr val="A31515"/>
                </a:solidFill>
                <a:effectLst/>
                <a:latin typeface="Consolas" panose="020B0609020204030204" pitchFamily="49" charset="0"/>
              </a:rPr>
              <a:t>'make3ConcurrentRequests finished'</a:t>
            </a:r>
            <a:r>
              <a:rPr lang="en-US" b="0" dirty="0">
                <a:solidFill>
                  <a:srgbClr val="000000"/>
                </a:solidFill>
                <a:effectLst/>
                <a:latin typeface="Consolas" panose="020B0609020204030204" pitchFamily="49" charset="0"/>
              </a:rPr>
              <a:t>);</a:t>
            </a:r>
          </a:p>
          <a:p>
            <a:pPr algn="l"/>
            <a:r>
              <a:rPr lang="en-US" b="0" dirty="0">
                <a:solidFill>
                  <a:srgbClr val="000000"/>
                </a:solidFill>
                <a:effectLst/>
                <a:latin typeface="Consolas" panose="020B0609020204030204" pitchFamily="49" charset="0"/>
              </a:rPr>
              <a:t>}</a:t>
            </a:r>
            <a:br>
              <a:rPr lang="en-US" b="0" dirty="0">
                <a:solidFill>
                  <a:srgbClr val="000000"/>
                </a:solidFill>
                <a:effectLst/>
                <a:latin typeface="Consolas" panose="020B0609020204030204" pitchFamily="49" charset="0"/>
              </a:rPr>
            </a:br>
            <a:r>
              <a:rPr lang="en-US" b="0" dirty="0">
                <a:solidFill>
                  <a:srgbClr val="000000"/>
                </a:solidFill>
                <a:effectLst/>
                <a:latin typeface="Consolas" panose="020B0609020204030204" pitchFamily="49" charset="0"/>
              </a:rPr>
              <a:t>make3ConcurrentRequests()</a:t>
            </a: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makeThreeConcurrentRequests.ts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
        <p:nvSpPr>
          <p:cNvPr id="10" name="Content Placeholder 1">
            <a:extLst>
              <a:ext uri="{FF2B5EF4-FFF2-40B4-BE49-F238E27FC236}">
                <a16:creationId xmlns:a16="http://schemas.microsoft.com/office/drawing/2014/main" id="{B7A49396-1DFD-A287-9A28-250E00DFC716}"/>
              </a:ext>
            </a:extLst>
          </p:cNvPr>
          <p:cNvSpPr txBox="1">
            <a:spLocks/>
          </p:cNvSpPr>
          <p:nvPr/>
        </p:nvSpPr>
        <p:spPr>
          <a:xfrm>
            <a:off x="518711" y="4312471"/>
            <a:ext cx="3744982" cy="95736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b="1" dirty="0"/>
              <a:t>After</a:t>
            </a:r>
            <a:r>
              <a:rPr lang="en-US" sz="2000" dirty="0"/>
              <a:t> </a:t>
            </a:r>
            <a:r>
              <a:rPr lang="en-US" sz="2000" dirty="0" err="1"/>
              <a:t>makeRequest</a:t>
            </a:r>
            <a:r>
              <a:rPr lang="en-US" sz="2000" dirty="0"/>
              <a:t>(300) returns with pending promise P3</a:t>
            </a:r>
          </a:p>
        </p:txBody>
      </p:sp>
      <p:sp>
        <p:nvSpPr>
          <p:cNvPr id="12" name="Content Placeholder 1">
            <a:extLst>
              <a:ext uri="{FF2B5EF4-FFF2-40B4-BE49-F238E27FC236}">
                <a16:creationId xmlns:a16="http://schemas.microsoft.com/office/drawing/2014/main" id="{8040BB52-9B00-0FCC-3AD2-52CCF3A6A59B}"/>
              </a:ext>
            </a:extLst>
          </p:cNvPr>
          <p:cNvSpPr txBox="1">
            <a:spLocks/>
          </p:cNvSpPr>
          <p:nvPr/>
        </p:nvSpPr>
        <p:spPr>
          <a:xfrm>
            <a:off x="518711" y="5364218"/>
            <a:ext cx="3744982" cy="957361"/>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solidFill>
                  <a:srgbClr val="FF0000"/>
                </a:solidFill>
              </a:rPr>
              <a:t>NOW</a:t>
            </a:r>
            <a:r>
              <a:rPr lang="en-US" sz="2000" dirty="0"/>
              <a:t>, call stack can deal with resolved promises</a:t>
            </a:r>
          </a:p>
        </p:txBody>
      </p:sp>
    </p:spTree>
    <p:extLst>
      <p:ext uri="{BB962C8B-B14F-4D97-AF65-F5344CB8AC3E}">
        <p14:creationId xmlns:p14="http://schemas.microsoft.com/office/powerpoint/2010/main" val="41779442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P spid="12" grpId="0"/>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dirty="0">
                <a:solidFill>
                  <a:srgbClr val="0000FF"/>
                </a:solidFill>
                <a:latin typeface="Consolas" panose="020B0609020204030204" pitchFamily="49" charset="0"/>
              </a:rPr>
              <a:t>await </a:t>
            </a: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r>
              <a:rPr lang="en-US" sz="2000" dirty="0">
                <a:solidFill>
                  <a:schemeClr val="tx1"/>
                </a:solidFill>
                <a:latin typeface="Verdana" panose="020B0604030504040204" pitchFamily="34" charset="0"/>
                <a:ea typeface="Verdana" panose="020B0604030504040204" pitchFamily="34" charset="0"/>
              </a:rPr>
              <a:t>timeout</a:t>
            </a:r>
          </a:p>
        </p:txBody>
      </p:sp>
    </p:spTree>
    <p:extLst>
      <p:ext uri="{BB962C8B-B14F-4D97-AF65-F5344CB8AC3E}">
        <p14:creationId xmlns:p14="http://schemas.microsoft.com/office/powerpoint/2010/main" val="39022816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09188"/>
            <a:ext cx="9921240" cy="519039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main():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'main started'</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microtask1'</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microtask2'</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br>
              <a:rPr lang="en-US" sz="1400" b="0" dirty="0">
                <a:solidFill>
                  <a:srgbClr val="000000"/>
                </a:solidFill>
                <a:effectLst/>
                <a:latin typeface="Consolas" panose="020B0609020204030204" pitchFamily="49" charset="0"/>
              </a:rPr>
            </a:b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8000"/>
                </a:solidFill>
                <a:effectLst/>
                <a:latin typeface="Consolas" panose="020B0609020204030204" pitchFamily="49" charset="0"/>
              </a:rPr>
              <a:t>// creates a </a:t>
            </a:r>
            <a:r>
              <a:rPr lang="en-US" sz="1400" b="0" dirty="0" err="1">
                <a:solidFill>
                  <a:srgbClr val="008000"/>
                </a:solidFill>
                <a:effectLst/>
                <a:latin typeface="Consolas" panose="020B0609020204030204" pitchFamily="49" charset="0"/>
              </a:rPr>
              <a:t>macrotask</a:t>
            </a:r>
            <a:r>
              <a:rPr lang="en-US" sz="1400" b="0" dirty="0">
                <a:solidFill>
                  <a:srgbClr val="008000"/>
                </a:solidFill>
                <a:effectLst/>
                <a:latin typeface="Consolas" panose="020B0609020204030204" pitchFamily="49" charset="0"/>
              </a:rPr>
              <a:t>, but returns something else.</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async</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function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createMacrotask</a:t>
            </a:r>
            <a:r>
              <a:rPr lang="en-US" sz="1400" b="0" dirty="0">
                <a:solidFill>
                  <a:srgbClr val="000000"/>
                </a:solidFill>
                <a:effectLst/>
                <a:latin typeface="Consolas" panose="020B0609020204030204" pitchFamily="49" charset="0"/>
              </a:rPr>
              <a:t>(): Promise&lt;void&gt;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'creating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const</a:t>
            </a:r>
            <a:r>
              <a:rPr lang="en-US" sz="1400" b="0" dirty="0">
                <a:solidFill>
                  <a:srgbClr val="000000"/>
                </a:solidFill>
                <a:effectLst/>
                <a:latin typeface="Consolas" panose="020B0609020204030204" pitchFamily="49" charset="0"/>
              </a:rPr>
              <a:t> _ignored = </a:t>
            </a:r>
            <a:r>
              <a:rPr lang="en-US" sz="1400" b="0" dirty="0">
                <a:solidFill>
                  <a:srgbClr val="0000FF"/>
                </a:solidFill>
                <a:effectLst/>
                <a:latin typeface="Consolas" panose="020B0609020204030204" pitchFamily="49" charset="0"/>
              </a:rPr>
              <a:t>new</a:t>
            </a:r>
            <a:r>
              <a:rPr lang="en-US" sz="1400" b="0" dirty="0">
                <a:solidFill>
                  <a:srgbClr val="000000"/>
                </a:solidFill>
                <a:effectLst/>
                <a:latin typeface="Consolas" panose="020B0609020204030204" pitchFamily="49" charset="0"/>
              </a:rPr>
              <a:t> Promise&lt;void&gt;((resolve)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setTimeout</a:t>
            </a: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=&gt;</a:t>
            </a: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console.log(</a:t>
            </a:r>
            <a:r>
              <a:rPr lang="en-US" sz="1400" b="0" dirty="0">
                <a:solidFill>
                  <a:srgbClr val="A31515"/>
                </a:solidFill>
                <a:effectLst/>
                <a:latin typeface="Consolas" panose="020B0609020204030204" pitchFamily="49" charset="0"/>
              </a:rPr>
              <a:t>'executing </a:t>
            </a:r>
            <a:r>
              <a:rPr lang="en-US" sz="1400" b="0" dirty="0" err="1">
                <a:solidFill>
                  <a:srgbClr val="A31515"/>
                </a:solidFill>
                <a:effectLst/>
                <a:latin typeface="Consolas" panose="020B0609020204030204" pitchFamily="49" charset="0"/>
              </a:rPr>
              <a:t>macrotask</a:t>
            </a:r>
            <a:r>
              <a:rPr lang="en-US" sz="1400" b="0" dirty="0">
                <a:solidFill>
                  <a:srgbClr val="A31515"/>
                </a:solidFill>
                <a:effectLst/>
                <a:latin typeface="Consolas" panose="020B0609020204030204" pitchFamily="49" charset="0"/>
              </a:rPr>
              <a:t>'</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resolve();</a:t>
            </a:r>
          </a:p>
          <a:p>
            <a:pPr algn="l">
              <a:lnSpc>
                <a:spcPct val="113095"/>
              </a:lnSpc>
              <a:buNone/>
            </a:pPr>
            <a:r>
              <a:rPr lang="en-US" sz="1400" b="0" dirty="0">
                <a:solidFill>
                  <a:srgbClr val="000000"/>
                </a:solidFill>
                <a:effectLst/>
                <a:latin typeface="Consolas" panose="020B0609020204030204" pitchFamily="49" charset="0"/>
              </a:rPr>
              <a:t>    }, </a:t>
            </a:r>
            <a:r>
              <a:rPr lang="en-US" sz="1400" b="0" dirty="0">
                <a:solidFill>
                  <a:srgbClr val="098658"/>
                </a:solidFill>
                <a:effectLst/>
                <a:latin typeface="Consolas" panose="020B0609020204030204" pitchFamily="49" charset="0"/>
              </a:rPr>
              <a:t>0</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  });</a:t>
            </a: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8000"/>
                </a:solidFill>
                <a:effectLst/>
                <a:latin typeface="Consolas" panose="020B0609020204030204" pitchFamily="49" charset="0"/>
              </a:rPr>
              <a:t>// return a promise that immediately resolves to 3</a:t>
            </a: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00"/>
                </a:solidFill>
                <a:effectLst/>
                <a:latin typeface="Consolas" panose="020B0609020204030204" pitchFamily="49" charset="0"/>
              </a:rPr>
              <a:t>  </a:t>
            </a:r>
            <a:r>
              <a:rPr lang="en-US" sz="1400" b="0" dirty="0">
                <a:solidFill>
                  <a:srgbClr val="0000FF"/>
                </a:solidFill>
                <a:effectLst/>
                <a:latin typeface="Consolas" panose="020B0609020204030204" pitchFamily="49" charset="0"/>
              </a:rPr>
              <a:t>return</a:t>
            </a:r>
            <a:r>
              <a:rPr lang="en-US" sz="1400" b="0" dirty="0">
                <a:solidFill>
                  <a:srgbClr val="000000"/>
                </a:solidFill>
                <a:effectLst/>
                <a:latin typeface="Consolas" panose="020B0609020204030204" pitchFamily="49" charset="0"/>
              </a:rPr>
              <a:t> </a:t>
            </a:r>
            <a:r>
              <a:rPr lang="en-US" sz="1400" b="0" dirty="0" err="1">
                <a:solidFill>
                  <a:srgbClr val="000000"/>
                </a:solidFill>
                <a:effectLst/>
                <a:latin typeface="Consolas" panose="020B0609020204030204" pitchFamily="49" charset="0"/>
              </a:rPr>
              <a:t>Promise.resolve</a:t>
            </a:r>
            <a:r>
              <a:rPr lang="en-US" sz="1400" b="0" dirty="0">
                <a:solidFill>
                  <a:srgbClr val="000000"/>
                </a:solidFill>
                <a:effectLst/>
                <a:latin typeface="Consolas" panose="020B0609020204030204" pitchFamily="49" charset="0"/>
              </a:rPr>
              <a:t>();</a:t>
            </a:r>
          </a:p>
          <a:p>
            <a:pPr algn="l">
              <a:lnSpc>
                <a:spcPct val="113095"/>
              </a:lnSpc>
              <a:buNone/>
            </a:pPr>
            <a:r>
              <a:rPr lang="en-US" sz="1400" b="0" dirty="0">
                <a:solidFill>
                  <a:srgbClr val="000000"/>
                </a:solidFill>
                <a:effectLst/>
                <a:latin typeface="Consolas" panose="020B0609020204030204" pitchFamily="49" charset="0"/>
              </a:rPr>
              <a:t>}</a:t>
            </a:r>
          </a:p>
          <a:p>
            <a:pPr algn="l">
              <a:lnSpc>
                <a:spcPct val="113095"/>
              </a:lnSpc>
              <a:buNone/>
            </a:pPr>
            <a:endParaRPr lang="en-US" sz="1400" b="0" dirty="0">
              <a:solidFill>
                <a:srgbClr val="000000"/>
              </a:solidFill>
              <a:effectLst/>
              <a:latin typeface="Consolas" panose="020B0609020204030204" pitchFamily="49" charset="0"/>
            </a:endParaRPr>
          </a:p>
          <a:p>
            <a:pPr algn="l">
              <a:lnSpc>
                <a:spcPct val="113095"/>
              </a:lnSpc>
              <a:buNone/>
            </a:pPr>
            <a:r>
              <a:rPr lang="en-US" sz="1400" b="0" dirty="0">
                <a:solidFill>
                  <a:srgbClr val="0000FF"/>
                </a:solidFill>
                <a:effectLst/>
                <a:latin typeface="Consolas" panose="020B0609020204030204" pitchFamily="49" charset="0"/>
              </a:rPr>
              <a:t>await</a:t>
            </a:r>
            <a:r>
              <a:rPr lang="en-US" sz="1400" b="0" dirty="0">
                <a:solidFill>
                  <a:srgbClr val="000000"/>
                </a:solidFill>
                <a:effectLst/>
                <a:latin typeface="Consolas" panose="020B0609020204030204" pitchFamily="49" charset="0"/>
              </a:rPr>
              <a:t> main();</a:t>
            </a: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microOverMacro.ts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microOverMacro.ts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creating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running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running microtask1</a:t>
            </a:r>
          </a:p>
          <a:p>
            <a:pPr algn="l"/>
            <a:r>
              <a:rPr lang="en-US" sz="2000" dirty="0">
                <a:solidFill>
                  <a:schemeClr val="tx1"/>
                </a:solidFill>
                <a:latin typeface="Verdana" panose="020B0604030504040204" pitchFamily="34" charset="0"/>
                <a:ea typeface="Verdana" panose="020B0604030504040204" pitchFamily="34" charset="0"/>
              </a:rPr>
              <a:t>running microtask2</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F14E23-6B1E-6DA9-43DE-D4AB6B8047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A7287F-F13F-EB1E-780C-93A76182EF32}"/>
              </a:ext>
            </a:extLst>
          </p:cNvPr>
          <p:cNvSpPr>
            <a:spLocks noGrp="1"/>
          </p:cNvSpPr>
          <p:nvPr>
            <p:ph type="title"/>
          </p:nvPr>
        </p:nvSpPr>
        <p:spPr/>
        <p:txBody>
          <a:bodyPr/>
          <a:lstStyle/>
          <a:p>
            <a:r>
              <a:rPr lang="en-US" dirty="0" err="1"/>
              <a:t>AntiPattern</a:t>
            </a:r>
            <a:r>
              <a:rPr lang="en-US" dirty="0"/>
              <a:t>: </a:t>
            </a:r>
            <a:r>
              <a:rPr lang="en-US" dirty="0" err="1"/>
              <a:t>un</a:t>
            </a:r>
            <a:r>
              <a:rPr lang="en-US" b="1" dirty="0" err="1"/>
              <a:t>await</a:t>
            </a:r>
            <a:r>
              <a:rPr lang="en-US" dirty="0" err="1"/>
              <a:t>ed</a:t>
            </a:r>
            <a:r>
              <a:rPr lang="en-US" dirty="0"/>
              <a:t> promise</a:t>
            </a:r>
          </a:p>
        </p:txBody>
      </p:sp>
      <p:sp>
        <p:nvSpPr>
          <p:cNvPr id="3" name="Slide Number Placeholder 2">
            <a:extLst>
              <a:ext uri="{FF2B5EF4-FFF2-40B4-BE49-F238E27FC236}">
                <a16:creationId xmlns:a16="http://schemas.microsoft.com/office/drawing/2014/main" id="{4F4B96EB-0B11-E398-A048-10591D4A8AF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EA3B20F1-3798-4B90-66E0-29F929CC20B9}"/>
              </a:ext>
            </a:extLst>
          </p:cNvPr>
          <p:cNvSpPr txBox="1"/>
          <p:nvPr/>
        </p:nvSpPr>
        <p:spPr>
          <a:xfrm>
            <a:off x="838200" y="1713651"/>
            <a:ext cx="9921240" cy="600164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request = </a:t>
            </a:r>
            <a:r>
              <a:rPr lang="en-US" sz="2000" b="0" dirty="0">
                <a:solidFill>
                  <a:srgbClr val="098658"/>
                </a:solidFill>
                <a:effectLst/>
                <a:latin typeface="Consolas" panose="020B0609020204030204" pitchFamily="49" charset="0"/>
              </a:rPr>
              <a:t>32</a:t>
            </a: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(request);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3200" b="0" dirty="0">
                <a:solidFill>
                  <a:srgbClr val="000000"/>
                </a:solidFill>
                <a:effectLst/>
                <a:latin typeface="Consolas" panose="020B0609020204030204" pitchFamily="49" charset="0"/>
              </a:rPr>
            </a:br>
            <a:br>
              <a:rPr lang="en-US" sz="32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6A6B5414-BFCC-277C-2680-A68D9807DB6C}"/>
              </a:ext>
            </a:extLst>
          </p:cNvPr>
          <p:cNvSpPr/>
          <p:nvPr/>
        </p:nvSpPr>
        <p:spPr>
          <a:xfrm>
            <a:off x="5102070"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oneRequestNoAwait.ts</a:t>
            </a:r>
            <a:endParaRPr lang="en-US" sz="2400" dirty="0">
              <a:solidFill>
                <a:schemeClr val="tx1"/>
              </a:solidFill>
            </a:endParaRPr>
          </a:p>
        </p:txBody>
      </p:sp>
      <p:sp>
        <p:nvSpPr>
          <p:cNvPr id="4" name="TextBox 3">
            <a:extLst>
              <a:ext uri="{FF2B5EF4-FFF2-40B4-BE49-F238E27FC236}">
                <a16:creationId xmlns:a16="http://schemas.microsoft.com/office/drawing/2014/main" id="{66E8FBED-B605-FC27-1D00-D9868FABB613}"/>
              </a:ext>
            </a:extLst>
          </p:cNvPr>
          <p:cNvSpPr txBox="1"/>
          <p:nvPr/>
        </p:nvSpPr>
        <p:spPr>
          <a:xfrm>
            <a:off x="6096000" y="3920951"/>
            <a:ext cx="5899485" cy="2638592"/>
          </a:xfrm>
          <a:prstGeom prst="rect">
            <a:avLst/>
          </a:prstGeom>
          <a:solidFill>
            <a:schemeClr val="bg1">
              <a:alpha val="96000"/>
            </a:schemeClr>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oneRequestNoAwait.ts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[object Promise]</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2.64 msec</a:t>
            </a:r>
          </a:p>
          <a:p>
            <a:pPr algn="l"/>
            <a:r>
              <a:rPr lang="en-US" sz="2000" dirty="0">
                <a:solidFill>
                  <a:schemeClr val="tx1"/>
                </a:solidFill>
                <a:latin typeface="Verdana" panose="020B0604030504040204" pitchFamily="34" charset="0"/>
                <a:ea typeface="Verdana" panose="020B0604030504040204" pitchFamily="34" charset="0"/>
              </a:rPr>
              <a:t>time passes....</a:t>
            </a:r>
          </a:p>
        </p:txBody>
      </p:sp>
    </p:spTree>
    <p:extLst>
      <p:ext uri="{BB962C8B-B14F-4D97-AF65-F5344CB8AC3E}">
        <p14:creationId xmlns:p14="http://schemas.microsoft.com/office/powerpoint/2010/main" val="3282985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41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5" name="More Properties of Good Handlers"/>
          <p:cNvSpPr txBox="1">
            <a:spLocks noGrp="1"/>
          </p:cNvSpPr>
          <p:nvPr>
            <p:ph type="title"/>
          </p:nvPr>
        </p:nvSpPr>
        <p:spPr>
          <a:prstGeom prst="rect">
            <a:avLst/>
          </a:prstGeom>
        </p:spPr>
        <p:txBody>
          <a:bodyPr/>
          <a:lstStyle/>
          <a:p>
            <a:r>
              <a:rPr lang="en-US" dirty="0"/>
              <a:t>General Rules for Writing Asynchronous Code</a:t>
            </a:r>
            <a:endParaRPr dirty="0"/>
          </a:p>
        </p:txBody>
      </p:sp>
      <p:sp>
        <p:nvSpPr>
          <p:cNvPr id="517" name="Remember that event events are processed in the order they are received…"/>
          <p:cNvSpPr txBox="1">
            <a:spLocks noGrp="1"/>
          </p:cNvSpPr>
          <p:nvPr>
            <p:ph idx="1"/>
          </p:nvPr>
        </p:nvSpPr>
        <p:spPr>
          <a:xfrm>
            <a:off x="838200" y="1500160"/>
            <a:ext cx="10363200" cy="4351338"/>
          </a:xfrm>
          <a:prstGeom prst="rect">
            <a:avLst/>
          </a:prstGeom>
        </p:spPr>
        <p:txBody>
          <a:bodyPr>
            <a:normAutofit lnSpcReduction="10000"/>
          </a:bodyPr>
          <a:lstStyle/>
          <a:p>
            <a:r>
              <a:rPr lang="en-US" dirty="0"/>
              <a:t>You can’t return a value from a promise to an ordinary procedure.</a:t>
            </a:r>
          </a:p>
          <a:p>
            <a:pPr lvl="1"/>
            <a:r>
              <a:rPr lang="en-US" dirty="0"/>
              <a:t>You can only send the value to another promise that is awaiting it.</a:t>
            </a:r>
          </a:p>
          <a:p>
            <a:r>
              <a:rPr lang="en-US" dirty="0"/>
              <a:t>Call async procedures only from other async functions or from the top level.</a:t>
            </a:r>
          </a:p>
          <a:p>
            <a:r>
              <a:rPr lang="en-US" dirty="0"/>
              <a:t>Break up any long-running computation into </a:t>
            </a:r>
            <a:r>
              <a:rPr lang="en-US" b="1" dirty="0"/>
              <a:t>async/await</a:t>
            </a:r>
            <a:r>
              <a:rPr lang="en-US" dirty="0"/>
              <a:t> segments so other processes will have a chance to run.</a:t>
            </a:r>
          </a:p>
          <a:p>
            <a:r>
              <a:rPr lang="en-US" dirty="0"/>
              <a:t>Leverage concurrency when possible</a:t>
            </a:r>
          </a:p>
          <a:p>
            <a:pPr lvl="1"/>
            <a:r>
              <a:rPr lang="en-US" dirty="0"/>
              <a:t>Use </a:t>
            </a:r>
            <a:r>
              <a:rPr lang="en-US" b="1" dirty="0" err="1"/>
              <a:t>promise.all</a:t>
            </a:r>
            <a:r>
              <a:rPr lang="en-US" b="1" dirty="0"/>
              <a:t> </a:t>
            </a:r>
            <a:r>
              <a:rPr lang="en-US" dirty="0"/>
              <a:t>if you need to wait for multiple promises to return (or </a:t>
            </a:r>
            <a:r>
              <a:rPr lang="en-US" b="1" dirty="0" err="1"/>
              <a:t>Promise.allSettled</a:t>
            </a:r>
            <a:r>
              <a:rPr lang="en-US" dirty="0"/>
              <a:t>, if needed).</a:t>
            </a:r>
            <a:endParaRPr dirty="0"/>
          </a:p>
          <a:p>
            <a:r>
              <a:rPr lang="en-US" dirty="0"/>
              <a:t>Check for errors with </a:t>
            </a:r>
            <a:r>
              <a:rPr lang="en-US" b="1" dirty="0"/>
              <a:t>try/catch</a:t>
            </a:r>
          </a:p>
          <a:p>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lstStyle/>
          <a:p>
            <a:r>
              <a:rPr lang="en-US" dirty="0"/>
              <a:t>Let’s put it all together</a:t>
            </a:r>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200" y="1500159"/>
            <a:ext cx="3924033" cy="4769267"/>
          </a:xfrm>
        </p:spPr>
        <p:txBody>
          <a:bodyPr>
            <a:normAutofit/>
          </a:bodyPr>
          <a:lstStyle/>
          <a:p>
            <a:r>
              <a:rPr lang="en-US" dirty="0"/>
              <a:t>JS/TS has single event loop</a:t>
            </a:r>
          </a:p>
          <a:p>
            <a:r>
              <a:rPr lang="en-US" dirty="0"/>
              <a:t>We outsource most of the work to </a:t>
            </a:r>
            <a:r>
              <a:rPr lang="en-US" dirty="0" err="1"/>
              <a:t>WebAPIs</a:t>
            </a:r>
            <a:r>
              <a:rPr lang="en-US" dirty="0"/>
              <a:t> for asynchronous work</a:t>
            </a:r>
          </a:p>
          <a:p>
            <a:r>
              <a:rPr lang="en-US" dirty="0"/>
              <a:t>Upon completion, they are placed in queues. </a:t>
            </a:r>
          </a:p>
          <a:p>
            <a:r>
              <a:rPr lang="en-US" dirty="0"/>
              <a:t>Event loop picks them up from queue when call stack is empty!</a:t>
            </a:r>
          </a:p>
        </p:txBody>
      </p:sp>
      <p:pic>
        <p:nvPicPr>
          <p:cNvPr id="8" name="Picture 7" descr="The image illustrates a flow diagram showing a JavaScript runtime environment with various components like Microtask Queue, Call Stack, Event Loop, and others, depicting the execution process of tasks and callbacks.&#10;&#10;AI-generated content may be incorrect.">
            <a:extLst>
              <a:ext uri="{FF2B5EF4-FFF2-40B4-BE49-F238E27FC236}">
                <a16:creationId xmlns:a16="http://schemas.microsoft.com/office/drawing/2014/main" id="{D53FB1D8-EE11-7C17-E1FC-B340C3520825}"/>
              </a:ext>
            </a:extLst>
          </p:cNvPr>
          <p:cNvPicPr>
            <a:picLocks noChangeAspect="1"/>
          </p:cNvPicPr>
          <p:nvPr/>
        </p:nvPicPr>
        <p:blipFill>
          <a:blip r:embed="rId3"/>
          <a:stretch>
            <a:fillRect/>
          </a:stretch>
        </p:blipFill>
        <p:spPr>
          <a:xfrm>
            <a:off x="4762233" y="1500159"/>
            <a:ext cx="7075737" cy="3531231"/>
          </a:xfrm>
          <a:prstGeom prst="rect">
            <a:avLst/>
          </a:prstGeom>
        </p:spPr>
      </p:pic>
    </p:spTree>
    <p:extLst>
      <p:ext uri="{BB962C8B-B14F-4D97-AF65-F5344CB8AC3E}">
        <p14:creationId xmlns:p14="http://schemas.microsoft.com/office/powerpoint/2010/main" val="17083584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44</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34363</TotalTime>
  <Words>6660</Words>
  <Application>Microsoft Office PowerPoint</Application>
  <PresentationFormat>Widescreen</PresentationFormat>
  <Paragraphs>729</Paragraphs>
  <Slides>44</Slides>
  <Notes>40</Notes>
  <HiddenSlides>8</HiddenSlides>
  <MMClips>0</MMClips>
  <ScaleCrop>false</ScaleCrop>
  <HeadingPairs>
    <vt:vector size="6" baseType="variant">
      <vt:variant>
        <vt:lpstr>Fonts Used</vt:lpstr>
      </vt:variant>
      <vt:variant>
        <vt:i4>9</vt:i4>
      </vt:variant>
      <vt:variant>
        <vt:lpstr>Theme</vt:lpstr>
      </vt:variant>
      <vt:variant>
        <vt:i4>1</vt:i4>
      </vt:variant>
      <vt:variant>
        <vt:lpstr>Slide Titles</vt:lpstr>
      </vt:variant>
      <vt:variant>
        <vt:i4>44</vt:i4>
      </vt:variant>
    </vt:vector>
  </HeadingPairs>
  <TitlesOfParts>
    <vt:vector size="54" baseType="lpstr">
      <vt:lpstr>Arial</vt:lpstr>
      <vt:lpstr>Calibri</vt:lpstr>
      <vt:lpstr>Consolas</vt:lpstr>
      <vt:lpstr>Courier</vt:lpstr>
      <vt:lpstr>Helvetica Neue</vt:lpstr>
      <vt:lpstr>Ink Free</vt:lpstr>
      <vt:lpstr>Lucida Console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How does JS Event Loop make this happen?</vt:lpstr>
      <vt:lpstr>Let’s start with a simple request</vt:lpstr>
      <vt:lpstr>Pattern for starting a concurrent computation using non-blocking I/O</vt:lpstr>
      <vt:lpstr>Pattern for starting a concurrent computation using non-blocking I/O</vt:lpstr>
      <vt:lpstr>Pattern for starting a concurrent computation using non-blocking I/O</vt:lpstr>
      <vt:lpstr>Promises come in two flavors: microtasks and macrotasks</vt:lpstr>
      <vt:lpstr>Macrotasks are API calls; Microtasks are what you do after the API call returns</vt:lpstr>
      <vt:lpstr>By contrast, most OS's use pre-emptive multiprocessing</vt:lpstr>
      <vt:lpstr>Java vs. JS/TS</vt:lpstr>
      <vt:lpstr>Let’s work with more complicated examples: Three Requests, sequentially</vt:lpstr>
      <vt:lpstr>Running 3 concurrent fetch requests</vt:lpstr>
      <vt:lpstr>Running 3 concurrent fetch requests (start)</vt:lpstr>
      <vt:lpstr>Running 3 concurrent fetch requests (end)</vt:lpstr>
      <vt:lpstr>Use Promise.all to execute several requests concurrently</vt:lpstr>
      <vt:lpstr>Use Promise.all to execute several requests concurrently</vt:lpstr>
      <vt:lpstr>Why is that?  Visualizing Promise.all</vt:lpstr>
      <vt:lpstr>Promises have priority (Micro over Macro)</vt:lpstr>
      <vt:lpstr>Promises have priority (Micro over Macro)</vt:lpstr>
      <vt:lpstr>Recover from errors with try/catch</vt:lpstr>
      <vt:lpstr>try/catch, continued</vt:lpstr>
      <vt:lpstr>Pattern for testing an async function</vt:lpstr>
      <vt:lpstr>Other things you should know about async</vt:lpstr>
      <vt:lpstr>AntiPattern: unawaited promise</vt:lpstr>
      <vt:lpstr>Async/await code is compiled into promise/then code. Using await is preferred</vt:lpstr>
      <vt:lpstr>Promises Enforce Ordering Through “Then”</vt:lpstr>
      <vt:lpstr>async doesn't eliminate data races</vt:lpstr>
      <vt:lpstr>General Rules for Writing Asynchronous Code</vt:lpstr>
      <vt:lpstr>Let’s put it all together</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Bhutta, Adeel</cp:lastModifiedBy>
  <cp:revision>149</cp:revision>
  <dcterms:modified xsi:type="dcterms:W3CDTF">2026-09-27T01:04:07Z</dcterms:modified>
</cp:coreProperties>
</file>