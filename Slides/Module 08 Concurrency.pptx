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39"/>
  </p:notesMasterIdLst>
  <p:sldIdLst>
    <p:sldId id="485" r:id="rId2"/>
    <p:sldId id="580" r:id="rId3"/>
    <p:sldId id="688" r:id="rId4"/>
    <p:sldId id="582" r:id="rId5"/>
    <p:sldId id="780" r:id="rId6"/>
    <p:sldId id="514" r:id="rId7"/>
    <p:sldId id="667" r:id="rId8"/>
    <p:sldId id="779" r:id="rId9"/>
    <p:sldId id="699" r:id="rId10"/>
    <p:sldId id="668" r:id="rId11"/>
    <p:sldId id="782" r:id="rId12"/>
    <p:sldId id="698" r:id="rId13"/>
    <p:sldId id="670" r:id="rId14"/>
    <p:sldId id="669" r:id="rId15"/>
    <p:sldId id="672" r:id="rId16"/>
    <p:sldId id="690" r:id="rId17"/>
    <p:sldId id="784" r:id="rId18"/>
    <p:sldId id="697" r:id="rId19"/>
    <p:sldId id="262" r:id="rId20"/>
    <p:sldId id="579" r:id="rId21"/>
    <p:sldId id="691" r:id="rId22"/>
    <p:sldId id="687" r:id="rId23"/>
    <p:sldId id="679" r:id="rId24"/>
    <p:sldId id="781" r:id="rId25"/>
    <p:sldId id="680" r:id="rId26"/>
    <p:sldId id="662" r:id="rId27"/>
    <p:sldId id="658" r:id="rId28"/>
    <p:sldId id="701" r:id="rId29"/>
    <p:sldId id="695" r:id="rId30"/>
    <p:sldId id="681" r:id="rId31"/>
    <p:sldId id="682" r:id="rId32"/>
    <p:sldId id="689" r:id="rId33"/>
    <p:sldId id="544" r:id="rId34"/>
    <p:sldId id="499" r:id="rId35"/>
    <p:sldId id="550" r:id="rId36"/>
    <p:sldId id="546" r:id="rId37"/>
    <p:sldId id="604" r:id="rId38"/>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582"/>
            <p14:sldId id="780"/>
            <p14:sldId id="514"/>
            <p14:sldId id="667"/>
            <p14:sldId id="779"/>
            <p14:sldId id="699"/>
            <p14:sldId id="668"/>
            <p14:sldId id="782"/>
            <p14:sldId id="698"/>
            <p14:sldId id="670"/>
            <p14:sldId id="669"/>
            <p14:sldId id="672"/>
            <p14:sldId id="690"/>
            <p14:sldId id="784"/>
            <p14:sldId id="697"/>
            <p14:sldId id="262"/>
            <p14:sldId id="579"/>
            <p14:sldId id="691"/>
            <p14:sldId id="687"/>
            <p14:sldId id="679"/>
            <p14:sldId id="781"/>
            <p14:sldId id="680"/>
            <p14:sldId id="662"/>
            <p14:sldId id="658"/>
            <p14:sldId id="701"/>
            <p14:sldId id="695"/>
            <p14:sldId id="681"/>
            <p14:sldId id="682"/>
            <p14:sldId id="689"/>
            <p14:sldId id="544"/>
            <p14:sldId id="499"/>
            <p14:sldId id="550"/>
            <p14:sldId id="546"/>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6DDEC03-6889-4853-94DE-DFA20764CB2B}" v="3" dt="2026-09-25T16:27:58.984"/>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53" autoAdjust="0"/>
    <p:restoredTop sz="75596" autoAdjust="0"/>
  </p:normalViewPr>
  <p:slideViewPr>
    <p:cSldViewPr snapToGrid="0" snapToObjects="1">
      <p:cViewPr varScale="1">
        <p:scale>
          <a:sx n="60" d="100"/>
          <a:sy n="60" d="100"/>
        </p:scale>
        <p:origin x="240" y="44"/>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1233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custSel modSld">
      <pc:chgData name="Mitchell Wand" userId="de9b44c55c049659" providerId="LiveId" clId="{7A9D5940-B2CC-47DD-AF5E-71219F1A1E26}" dt="2026-09-25T16:31:04.395" v="152" actId="20577"/>
      <pc:docMkLst>
        <pc:docMk/>
      </pc:docMkLst>
      <pc:sldChg chg="modNotesTx">
        <pc:chgData name="Mitchell Wand" userId="de9b44c55c049659" providerId="LiveId" clId="{7A9D5940-B2CC-47DD-AF5E-71219F1A1E26}" dt="2026-09-25T16:31:04.395" v="152" actId="20577"/>
        <pc:sldMkLst>
          <pc:docMk/>
          <pc:sldMk cId="334896783" sldId="499"/>
        </pc:sldMkLst>
      </pc:sldChg>
      <pc:sldChg chg="modSp mod">
        <pc:chgData name="Mitchell Wand" userId="de9b44c55c049659" providerId="LiveId" clId="{7A9D5940-B2CC-47DD-AF5E-71219F1A1E26}" dt="2026-09-25T16:00:25.168" v="14" actId="20577"/>
        <pc:sldMkLst>
          <pc:docMk/>
          <pc:sldMk cId="831730851" sldId="579"/>
        </pc:sldMkLst>
        <pc:spChg chg="mod">
          <ac:chgData name="Mitchell Wand" userId="de9b44c55c049659" providerId="LiveId" clId="{7A9D5940-B2CC-47DD-AF5E-71219F1A1E26}" dt="2026-09-25T16:00:25.168" v="14" actId="20577"/>
          <ac:spMkLst>
            <pc:docMk/>
            <pc:sldMk cId="831730851" sldId="579"/>
            <ac:spMk id="4" creationId="{455689C7-7C27-5D24-90F6-149A2C5D118F}"/>
          </ac:spMkLst>
        </pc:spChg>
      </pc:sldChg>
      <pc:sldChg chg="modSp mod">
        <pc:chgData name="Mitchell Wand" userId="de9b44c55c049659" providerId="LiveId" clId="{7A9D5940-B2CC-47DD-AF5E-71219F1A1E26}" dt="2026-09-25T16:28:22.096" v="92" actId="1076"/>
        <pc:sldMkLst>
          <pc:docMk/>
          <pc:sldMk cId="2045028461" sldId="682"/>
        </pc:sldMkLst>
        <pc:spChg chg="mod">
          <ac:chgData name="Mitchell Wand" userId="de9b44c55c049659" providerId="LiveId" clId="{7A9D5940-B2CC-47DD-AF5E-71219F1A1E26}" dt="2026-09-25T16:26:24.022" v="87" actId="20577"/>
          <ac:spMkLst>
            <pc:docMk/>
            <pc:sldMk cId="2045028461" sldId="682"/>
            <ac:spMk id="5" creationId="{5463AA30-80EE-A64B-CB98-E6D0ABBA68FA}"/>
          </ac:spMkLst>
        </pc:spChg>
        <pc:spChg chg="mod">
          <ac:chgData name="Mitchell Wand" userId="de9b44c55c049659" providerId="LiveId" clId="{7A9D5940-B2CC-47DD-AF5E-71219F1A1E26}" dt="2026-09-25T16:28:22.096" v="92" actId="1076"/>
          <ac:spMkLst>
            <pc:docMk/>
            <pc:sldMk cId="2045028461" sldId="682"/>
            <ac:spMk id="6" creationId="{78A3314E-5172-5F8E-8896-D7ADF7D3024D}"/>
          </ac:spMkLst>
        </pc:spChg>
      </pc:sldChg>
      <pc:sldChg chg="delSp modSp mod modAnim">
        <pc:chgData name="Mitchell Wand" userId="de9b44c55c049659" providerId="LiveId" clId="{7A9D5940-B2CC-47DD-AF5E-71219F1A1E26}" dt="2026-09-25T16:23:30.757" v="41" actId="14100"/>
        <pc:sldMkLst>
          <pc:docMk/>
          <pc:sldMk cId="2008209886" sldId="695"/>
        </pc:sldMkLst>
        <pc:spChg chg="mod">
          <ac:chgData name="Mitchell Wand" userId="de9b44c55c049659" providerId="LiveId" clId="{7A9D5940-B2CC-47DD-AF5E-71219F1A1E26}" dt="2026-09-25T16:23:30.757" v="41" actId="14100"/>
          <ac:spMkLst>
            <pc:docMk/>
            <pc:sldMk cId="2008209886" sldId="695"/>
            <ac:spMk id="4" creationId="{0A9DC6B3-C52B-0E35-E5BE-5239B6039A57}"/>
          </ac:spMkLst>
        </pc:spChg>
        <pc:spChg chg="mod">
          <ac:chgData name="Mitchell Wand" userId="de9b44c55c049659" providerId="LiveId" clId="{7A9D5940-B2CC-47DD-AF5E-71219F1A1E26}" dt="2026-09-25T16:21:59.926" v="37" actId="255"/>
          <ac:spMkLst>
            <pc:docMk/>
            <pc:sldMk cId="2008209886" sldId="695"/>
            <ac:spMk id="5" creationId="{7EEEED4A-F825-36DE-4D0D-71F249BADA7F}"/>
          </ac:spMkLst>
        </pc:spChg>
        <pc:spChg chg="del">
          <ac:chgData name="Mitchell Wand" userId="de9b44c55c049659" providerId="LiveId" clId="{7A9D5940-B2CC-47DD-AF5E-71219F1A1E26}" dt="2026-09-25T16:11:44.340" v="29" actId="478"/>
          <ac:spMkLst>
            <pc:docMk/>
            <pc:sldMk cId="2008209886" sldId="695"/>
            <ac:spMk id="6" creationId="{AD1001DB-76DD-2586-B9F2-E882C95ACD40}"/>
          </ac:spMkLst>
        </pc:spChg>
        <pc:spChg chg="mod">
          <ac:chgData name="Mitchell Wand" userId="de9b44c55c049659" providerId="LiveId" clId="{7A9D5940-B2CC-47DD-AF5E-71219F1A1E26}" dt="2026-09-25T16:11:38.732" v="28" actId="20577"/>
          <ac:spMkLst>
            <pc:docMk/>
            <pc:sldMk cId="2008209886" sldId="695"/>
            <ac:spMk id="11" creationId="{3A1A2B3D-50BE-3B83-D716-F6FF92A3781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0BD43-9BC0-29FD-493A-6077183009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0C94BA-3C74-E424-8078-CF84994207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952A8-11F3-383D-47D8-B88983E5EE2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454612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21937914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Say something about success/failure?</a:t>
            </a:r>
          </a:p>
        </p:txBody>
      </p:sp>
    </p:spTree>
    <p:extLst>
      <p:ext uri="{BB962C8B-B14F-4D97-AF65-F5344CB8AC3E}">
        <p14:creationId xmlns:p14="http://schemas.microsoft.com/office/powerpoint/2010/main" val="1361402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a:t>
            </a:r>
          </a:p>
        </p:txBody>
      </p:sp>
    </p:spTree>
    <p:extLst>
      <p:ext uri="{BB962C8B-B14F-4D97-AF65-F5344CB8AC3E}">
        <p14:creationId xmlns:p14="http://schemas.microsoft.com/office/powerpoint/2010/main" val="4008493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4FA44-3763-F9A5-E3C3-B513CBAE6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BC10B3-8E51-2173-57CB-CDB6B610D8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91798-6C89-E0AF-366F-EEE4403B6584}"/>
              </a:ext>
            </a:extLst>
          </p:cNvPr>
          <p:cNvSpPr>
            <a:spLocks noGrp="1"/>
          </p:cNvSpPr>
          <p:nvPr>
            <p:ph type="body" idx="1"/>
          </p:nvPr>
        </p:nvSpPr>
        <p:spPr/>
        <p:txBody>
          <a:bodyPr/>
          <a:lstStyle/>
          <a:p>
            <a:r>
              <a:rPr lang="en-US" dirty="0" err="1"/>
              <a:t>someFunction</a:t>
            </a:r>
            <a:r>
              <a:rPr lang="en-US" dirty="0"/>
              <a:t> returns a promise that will wait for </a:t>
            </a:r>
            <a:r>
              <a:rPr lang="en-US" dirty="0" err="1"/>
              <a:t>someOtherAsyncFunction</a:t>
            </a:r>
            <a:r>
              <a:rPr lang="en-US" dirty="0"/>
              <a:t> to resolve, call the result k, and then return m (= k+100).</a:t>
            </a:r>
          </a:p>
        </p:txBody>
      </p:sp>
    </p:spTree>
    <p:extLst>
      <p:ext uri="{BB962C8B-B14F-4D97-AF65-F5344CB8AC3E}">
        <p14:creationId xmlns:p14="http://schemas.microsoft.com/office/powerpoint/2010/main" val="12418354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9215E-43C6-C8DE-5E0E-5426985A0B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AD9904-FF40-79B0-EFF9-E88BBE8D1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4D406-3D5B-558F-1BF4-4CE1DB59F54D}"/>
              </a:ext>
            </a:extLst>
          </p:cNvPr>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159308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green box is a critical section, and your program consists of a set of critical sections.  Each green box is uninterruptible!!</a:t>
            </a:r>
          </a:p>
          <a:p>
            <a:endParaRPr lang="en-US" dirty="0"/>
          </a:p>
        </p:txBody>
      </p:sp>
    </p:spTree>
    <p:extLst>
      <p:ext uri="{BB962C8B-B14F-4D97-AF65-F5344CB8AC3E}">
        <p14:creationId xmlns:p14="http://schemas.microsoft.com/office/powerpoint/2010/main" val="32144726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first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(i.e., it is returning to caller with a pending promise). The runtime can then switch to any process that is ready.</a:t>
            </a:r>
          </a:p>
          <a:p>
            <a:endParaRPr lang="en-US" dirty="0"/>
          </a:p>
          <a:p>
            <a:r>
              <a:rPr lang="en-US" dirty="0"/>
              <a:t>When </a:t>
            </a:r>
            <a:r>
              <a:rPr lang="en-US" dirty="0" err="1"/>
              <a:t>someFunction</a:t>
            </a:r>
            <a:r>
              <a:rPr lang="en-US" dirty="0"/>
              <a:t> yields at the second location, it informs the runtime that it is ready to return to its caller, and the runtime will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7760609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12627147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6ECA1-6B4D-0F40-61F2-202A6BC28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7DFC42-DD20-C6B0-A702-949BBD86F3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D66412-DB27-2512-3DE4-CE7A92DA03CD}"/>
              </a:ext>
            </a:extLst>
          </p:cNvPr>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28929109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40575-AFF9-9F48-85E1-78753919E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E3054-0459-E7D4-82AD-DE91D73158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3D3E2-859B-5DBE-27A4-36B21C0E50F0}"/>
              </a:ext>
            </a:extLst>
          </p:cNvPr>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r>
              <a:rPr lang="en-US" dirty="0"/>
              <a:t>- 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p:txBody>
      </p:sp>
    </p:spTree>
    <p:extLst>
      <p:ext uri="{BB962C8B-B14F-4D97-AF65-F5344CB8AC3E}">
        <p14:creationId xmlns:p14="http://schemas.microsoft.com/office/powerpoint/2010/main" val="39832860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a:t>
            </a:r>
            <a:r>
              <a:rPr lang="en-US" b="0" dirty="0" err="1">
                <a:solidFill>
                  <a:srgbClr val="008000"/>
                </a:solidFill>
                <a:effectLst/>
                <a:latin typeface="Consolas" panose="020B0609020204030204" pitchFamily="49" charset="0"/>
              </a:rPr>
              <a:t>Promise.all</a:t>
            </a:r>
            <a:r>
              <a:rPr lang="en-US" b="0" dirty="0">
                <a:solidFill>
                  <a:srgbClr val="008000"/>
                </a:solidFill>
                <a:effectLst/>
                <a:latin typeface="Consolas" panose="020B0609020204030204" pitchFamily="49" charset="0"/>
              </a:rPr>
              <a:t>-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r>
              <a:rPr lang="en-US" dirty="0"/>
              <a:t>Awaiting allows us to wait for some task to complete first before we do something else.</a:t>
            </a:r>
            <a:br>
              <a:rPr lang="en-US" dirty="0"/>
            </a:br>
            <a:endParaRPr lang="en-US" dirty="0"/>
          </a:p>
        </p:txBody>
      </p:sp>
    </p:spTree>
    <p:extLst>
      <p:ext uri="{BB962C8B-B14F-4D97-AF65-F5344CB8AC3E}">
        <p14:creationId xmlns:p14="http://schemas.microsoft.com/office/powerpoint/2010/main" val="2736588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It is important to note that you can call </a:t>
            </a:r>
            <a:r>
              <a:rPr lang="en-US" dirty="0" err="1"/>
              <a:t>makeRequest</a:t>
            </a:r>
            <a:r>
              <a:rPr lang="en-US" dirty="0"/>
              <a:t> but it will be awaiting a future response. That promise was returned immediately back to the caller (whichever promise called the </a:t>
            </a:r>
            <a:r>
              <a:rPr lang="en-US" dirty="0" err="1"/>
              <a:t>makeRequest</a:t>
            </a:r>
            <a:r>
              <a:rPr lang="en-US" dirty="0"/>
              <a:t>) and that the caller’s thread continues on while </a:t>
            </a:r>
            <a:r>
              <a:rPr lang="en-US" dirty="0" err="1"/>
              <a:t>makeRequest</a:t>
            </a:r>
            <a:r>
              <a:rPr lang="en-US" dirty="0"/>
              <a:t> is waiting for a response, just as in our previous examples.</a:t>
            </a:r>
          </a:p>
        </p:txBody>
      </p:sp>
    </p:spTree>
    <p:extLst>
      <p:ext uri="{BB962C8B-B14F-4D97-AF65-F5344CB8AC3E}">
        <p14:creationId xmlns:p14="http://schemas.microsoft.com/office/powerpoint/2010/main" val="19917182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DE49A-0FA4-3826-CB42-27EEC743F6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7F2E43-7D78-7E79-AF02-3A51EB3B14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7F9F58-74EF-6A03-03B1-5F01E9950ED0}"/>
              </a:ext>
            </a:extLst>
          </p:cNvPr>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20501477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41209867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8982599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2621653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Since </a:t>
            </a:r>
            <a:r>
              <a:rPr lang="en-US" dirty="0" err="1"/>
              <a:t>MicroTask</a:t>
            </a:r>
            <a:r>
              <a:rPr lang="en-US" dirty="0"/>
              <a:t> queue has priority over microtask queue, callback for promise will get executed first before callback for timer, after </a:t>
            </a:r>
            <a:r>
              <a:rPr lang="en-US" dirty="0" err="1"/>
              <a:t>callstack</a:t>
            </a:r>
            <a:r>
              <a:rPr lang="en-US" dirty="0"/>
              <a:t> is emptied out by finishing main.</a:t>
            </a:r>
          </a:p>
        </p:txBody>
      </p:sp>
    </p:spTree>
    <p:extLst>
      <p:ext uri="{BB962C8B-B14F-4D97-AF65-F5344CB8AC3E}">
        <p14:creationId xmlns:p14="http://schemas.microsoft.com/office/powerpoint/2010/main" val="22910083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occasionally see code written in this style. The main request is a microtask; the .then() blocks become microtasks.  The "return" in a microtask is also a pause point; if you have more than one microtask on the queue, they can switch (but they will still run before any </a:t>
            </a:r>
            <a:r>
              <a:rPr lang="en-US" dirty="0" err="1"/>
              <a:t>macrotasks</a:t>
            </a:r>
            <a:r>
              <a:rPr lang="en-US" dirty="0"/>
              <a:t>) </a:t>
            </a:r>
          </a:p>
        </p:txBody>
      </p:sp>
    </p:spTree>
    <p:extLst>
      <p:ext uri="{BB962C8B-B14F-4D97-AF65-F5344CB8AC3E}">
        <p14:creationId xmlns:p14="http://schemas.microsoft.com/office/powerpoint/2010/main" val="10969988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Promises enforce the order of operations only through the .then. The code in the ‘then’ won’t run until the promise is resolved.  Note that every .then() is a choice point, allowing the runtime to switch to some other task.</a:t>
            </a:r>
          </a:p>
          <a:p>
            <a:br>
              <a:rPr lang="en-US" dirty="0"/>
            </a:br>
            <a:r>
              <a:rPr lang="en-US" dirty="0"/>
              <a:t>(build through example, explaining the possible orders of results. Point out that we should never depend on the order of results we hear back form google/</a:t>
            </a:r>
            <a:r>
              <a:rPr lang="en-US" dirty="0" err="1"/>
              <a:t>facebook</a:t>
            </a:r>
            <a:r>
              <a:rPr lang="en-US" dirty="0"/>
              <a:t>/</a:t>
            </a:r>
            <a:r>
              <a:rPr lang="en-US" dirty="0" err="1"/>
              <a:t>coveytown</a:t>
            </a:r>
            <a:r>
              <a:rPr lang="en-US" dirty="0"/>
              <a:t> because it is non-deterministic. You might happen to see 9/10 times one ordering, but there is no guarantee)</a:t>
            </a:r>
          </a:p>
        </p:txBody>
      </p:sp>
    </p:spTree>
    <p:extLst>
      <p:ext uri="{BB962C8B-B14F-4D97-AF65-F5344CB8AC3E}">
        <p14:creationId xmlns:p14="http://schemas.microsoft.com/office/powerpoint/2010/main" val="9392918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 The activity explores this topic in more depth.</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a:t>Adeel Bhutta  and Mitch Wand</a:t>
            </a:r>
            <a:endParaRPr lang="en-US" sz="2400" dirty="0"/>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normAutofit lnSpcReduction="10000"/>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a:t>
            </a:r>
            <a:r>
              <a:rPr lang="en-US" sz="3600" dirty="0" err="1"/>
              <a:t>Javascript</a:t>
            </a:r>
            <a:r>
              <a:rPr lang="en-US" sz="3600" dirty="0"/>
              <a:t> achieves this goal using two techniques:</a:t>
            </a:r>
            <a:br>
              <a:rPr lang="en-US" sz="3600" dirty="0"/>
            </a:br>
            <a:r>
              <a:rPr lang="en-US" sz="3600" dirty="0"/>
              <a:t> </a:t>
            </a:r>
            <a:br>
              <a:rPr lang="en-US" sz="3600" dirty="0"/>
            </a:br>
            <a:r>
              <a:rPr lang="en-US" sz="3600" dirty="0"/>
              <a:t>1. non-blocking IO</a:t>
            </a:r>
            <a:br>
              <a:rPr lang="en-US" sz="3600" dirty="0"/>
            </a:br>
            <a:r>
              <a:rPr lang="en-US" sz="3600" dirty="0"/>
              <a:t> </a:t>
            </a:r>
            <a:br>
              <a:rPr lang="en-US" sz="3600" dirty="0"/>
            </a:br>
            <a:r>
              <a:rPr lang="en-US" sz="3600" dirty="0"/>
              <a:t>2. cooperative multiprocessing </a:t>
            </a:r>
          </a:p>
        </p:txBody>
      </p:sp>
    </p:spTree>
    <p:extLst>
      <p:ext uri="{BB962C8B-B14F-4D97-AF65-F5344CB8AC3E}">
        <p14:creationId xmlns:p14="http://schemas.microsoft.com/office/powerpoint/2010/main" val="2912001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2E42E-98F1-D6B5-BC7F-F9F426BC7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31D3CA-B00D-7729-640E-7EAB79EC87B5}"/>
              </a:ext>
            </a:extLst>
          </p:cNvPr>
          <p:cNvSpPr>
            <a:spLocks noGrp="1"/>
          </p:cNvSpPr>
          <p:nvPr>
            <p:ph type="title"/>
          </p:nvPr>
        </p:nvSpPr>
        <p:spPr/>
        <p:txBody>
          <a:bodyPr/>
          <a:lstStyle/>
          <a:p>
            <a:r>
              <a:rPr lang="en-US" dirty="0"/>
              <a:t>Part 1: JS/TS in your browser has some primitives for doing non-blocking I/O</a:t>
            </a:r>
          </a:p>
        </p:txBody>
      </p:sp>
      <p:sp>
        <p:nvSpPr>
          <p:cNvPr id="3" name="Content Placeholder 2">
            <a:extLst>
              <a:ext uri="{FF2B5EF4-FFF2-40B4-BE49-F238E27FC236}">
                <a16:creationId xmlns:a16="http://schemas.microsoft.com/office/drawing/2014/main" id="{0CC90B46-1060-0F7A-5662-894A63ED3115}"/>
              </a:ext>
            </a:extLst>
          </p:cNvPr>
          <p:cNvSpPr>
            <a:spLocks noGrp="1"/>
          </p:cNvSpPr>
          <p:nvPr>
            <p:ph idx="1"/>
          </p:nvPr>
        </p:nvSpPr>
        <p:spPr>
          <a:xfrm>
            <a:off x="838200" y="1500160"/>
            <a:ext cx="7977810" cy="4403683"/>
          </a:xfrm>
        </p:spPr>
        <p:txBody>
          <a:bodyPr>
            <a:noAutofit/>
          </a:bodyPr>
          <a:lstStyle/>
          <a:p>
            <a:pPr>
              <a:lnSpc>
                <a:spcPct val="100000"/>
              </a:lnSpc>
            </a:pPr>
            <a:r>
              <a:rPr lang="en-US" sz="1800" dirty="0"/>
              <a:t>This is called the "Web API"</a:t>
            </a:r>
          </a:p>
          <a:p>
            <a:pPr>
              <a:lnSpc>
                <a:spcPct val="100000"/>
              </a:lnSpc>
            </a:pPr>
            <a:r>
              <a:rPr lang="en-US" sz="1800" dirty="0"/>
              <a:t>These are things like http requests, I/O operations, or timers.</a:t>
            </a:r>
          </a:p>
          <a:p>
            <a:pPr>
              <a:lnSpc>
                <a:spcPct val="100000"/>
              </a:lnSpc>
            </a:pPr>
            <a:r>
              <a:rPr lang="en-US" sz="1800" dirty="0"/>
              <a:t>Each of these returns a promise that you can </a:t>
            </a:r>
            <a:r>
              <a:rPr lang="en-US" sz="1800" b="1" dirty="0"/>
              <a:t>await</a:t>
            </a:r>
            <a:r>
              <a:rPr lang="en-US" sz="1800" dirty="0"/>
              <a:t>.  The promise runs while it is pending, and produces the response from the http request, or the contents of the file, etc.</a:t>
            </a:r>
          </a:p>
          <a:p>
            <a:pPr>
              <a:lnSpc>
                <a:spcPct val="100000"/>
              </a:lnSpc>
            </a:pPr>
            <a:r>
              <a:rPr lang="en-US" sz="1800" dirty="0"/>
              <a:t>You may use some of these directly, like </a:t>
            </a:r>
            <a:r>
              <a:rPr lang="en-US" sz="1800" b="1" dirty="0"/>
              <a:t>fetch</a:t>
            </a:r>
            <a:r>
              <a:rPr lang="en-US" sz="1800" dirty="0"/>
              <a:t> or </a:t>
            </a:r>
            <a:r>
              <a:rPr lang="en-US" sz="1800" b="1" dirty="0" err="1"/>
              <a:t>setTimeout</a:t>
            </a:r>
            <a:r>
              <a:rPr lang="en-US" sz="1800" dirty="0"/>
              <a:t>.</a:t>
            </a:r>
            <a:endParaRPr lang="en-US" sz="1800" b="1" dirty="0"/>
          </a:p>
          <a:p>
            <a:pPr>
              <a:lnSpc>
                <a:spcPct val="100000"/>
              </a:lnSpc>
            </a:pPr>
            <a:r>
              <a:rPr lang="en-US" sz="1800" dirty="0"/>
              <a:t>More frequently, you will invoke these using a convenient library, like</a:t>
            </a:r>
          </a:p>
          <a:p>
            <a:pPr marL="0" indent="0">
              <a:lnSpc>
                <a:spcPct val="100000"/>
              </a:lnSpc>
              <a:buNone/>
            </a:pPr>
            <a:r>
              <a:rPr lang="en-US" sz="1800" b="0" dirty="0">
                <a:solidFill>
                  <a:srgbClr val="0070C1"/>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axios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b="0" dirty="0">
                <a:solidFill>
                  <a:srgbClr val="000000"/>
                </a:solidFill>
                <a:effectLst/>
                <a:latin typeface="Consolas" panose="020B0609020204030204" pitchFamily="49" charset="0"/>
              </a:rPr>
              <a:t>)</a:t>
            </a:r>
          </a:p>
          <a:p>
            <a:pPr marL="0" indent="0">
              <a:lnSpc>
                <a:spcPct val="100000"/>
              </a:lnSpc>
              <a:buNone/>
            </a:pPr>
            <a:r>
              <a:rPr lang="en-US" sz="1800" dirty="0"/>
              <a:t>  to make an http request, or </a:t>
            </a:r>
          </a:p>
          <a:p>
            <a:pPr marL="0" indent="0">
              <a:lnSpc>
                <a:spcPct val="100000"/>
              </a:lnSpc>
              <a:buNone/>
            </a:pPr>
            <a:r>
              <a:rPr lang="en-US" sz="1800" b="0" dirty="0">
                <a:solidFill>
                  <a:srgbClr val="267F99"/>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fs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readFile</a:t>
            </a:r>
            <a:r>
              <a:rPr lang="en-US" sz="1800" b="0" dirty="0">
                <a:solidFill>
                  <a:srgbClr val="000000"/>
                </a:solidFill>
                <a:effectLst/>
                <a:latin typeface="Consolas" panose="020B0609020204030204" pitchFamily="49" charset="0"/>
              </a:rPr>
              <a:t>(</a:t>
            </a:r>
            <a:r>
              <a:rPr lang="en-US" sz="1800" b="0" dirty="0">
                <a:solidFill>
                  <a:srgbClr val="001080"/>
                </a:solidFill>
                <a:effectLst/>
                <a:latin typeface="Consolas" panose="020B0609020204030204" pitchFamily="49" charset="0"/>
              </a:rPr>
              <a:t>filename)</a:t>
            </a:r>
          </a:p>
          <a:p>
            <a:pPr marL="0" indent="0">
              <a:lnSpc>
                <a:spcPct val="100000"/>
              </a:lnSpc>
              <a:buNone/>
            </a:pPr>
            <a:r>
              <a:rPr lang="en-US" sz="1800" dirty="0"/>
              <a:t>  to read the contents of a file.</a:t>
            </a:r>
          </a:p>
        </p:txBody>
      </p:sp>
      <p:sp>
        <p:nvSpPr>
          <p:cNvPr id="4" name="Slide Number Placeholder 3">
            <a:extLst>
              <a:ext uri="{FF2B5EF4-FFF2-40B4-BE49-F238E27FC236}">
                <a16:creationId xmlns:a16="http://schemas.microsoft.com/office/drawing/2014/main" id="{D801E7F0-7C11-0EF3-099E-55E060E7561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68A5FA98-9E8A-911A-D80F-02212ED403EA}"/>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36245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a:t>Part 2: </a:t>
            </a:r>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normAutofit/>
          </a:bodyPr>
          <a:lstStyle/>
          <a:p>
            <a:r>
              <a:rPr lang="en-US" dirty="0"/>
              <a:t>In async/await, the program is organized into a set of "async functions“</a:t>
            </a:r>
          </a:p>
          <a:p>
            <a:r>
              <a:rPr lang="en-US" dirty="0"/>
              <a:t>An async function always returns a promise.</a:t>
            </a:r>
          </a:p>
          <a:p>
            <a:r>
              <a:rPr lang="en-US" dirty="0"/>
              <a:t>If you </a:t>
            </a:r>
            <a:r>
              <a:rPr lang="en-US" b="1" dirty="0"/>
              <a:t>await</a:t>
            </a:r>
            <a:r>
              <a:rPr lang="en-US" dirty="0"/>
              <a:t> on a promise, your program pauses its execution until async function is completed. When one program pauses, the runtime can choose to resume executing any 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602ED-9C71-A28B-2EB4-8DF6A1D7BECD}"/>
              </a:ext>
            </a:extLst>
          </p:cNvPr>
          <p:cNvSpPr>
            <a:spLocks noGrp="1"/>
          </p:cNvSpPr>
          <p:nvPr>
            <p:ph type="title"/>
          </p:nvPr>
        </p:nvSpPr>
        <p:spPr/>
        <p:txBody>
          <a:bodyPr/>
          <a:lstStyle/>
          <a:p>
            <a:r>
              <a:rPr lang="en-US" dirty="0"/>
              <a:t>Quick Review of Promises (from M04)</a:t>
            </a:r>
          </a:p>
        </p:txBody>
      </p:sp>
      <p:sp>
        <p:nvSpPr>
          <p:cNvPr id="3" name="Content Placeholder 2">
            <a:extLst>
              <a:ext uri="{FF2B5EF4-FFF2-40B4-BE49-F238E27FC236}">
                <a16:creationId xmlns:a16="http://schemas.microsoft.com/office/drawing/2014/main" id="{C43FABA4-17FE-363F-4E1D-B0B627CC9D3D}"/>
              </a:ext>
            </a:extLst>
          </p:cNvPr>
          <p:cNvSpPr>
            <a:spLocks noGrp="1"/>
          </p:cNvSpPr>
          <p:nvPr>
            <p:ph idx="1"/>
          </p:nvPr>
        </p:nvSpPr>
        <p:spPr>
          <a:xfrm>
            <a:off x="838200" y="1500160"/>
            <a:ext cx="9437016" cy="4351338"/>
          </a:xfrm>
        </p:spPr>
        <p:txBody>
          <a:bodyPr>
            <a:normAutofit/>
          </a:bodyPr>
          <a:lstStyle/>
          <a:p>
            <a:r>
              <a:rPr lang="en-US" dirty="0"/>
              <a:t>Typescript uses the type system to distinguish long-running computations</a:t>
            </a:r>
          </a:p>
          <a:p>
            <a:r>
              <a:rPr lang="en-US" dirty="0"/>
              <a:t>A long-running (IO-bound) computation gets type </a:t>
            </a:r>
            <a:r>
              <a:rPr lang="en-US" b="1" dirty="0"/>
              <a:t>Promise&lt;DataRecord&gt;</a:t>
            </a:r>
            <a:r>
              <a:rPr lang="en-US" dirty="0"/>
              <a:t>, rather than </a:t>
            </a:r>
            <a:r>
              <a:rPr lang="en-US" b="1" dirty="0"/>
              <a:t>DataRecord.</a:t>
            </a:r>
          </a:p>
          <a:p>
            <a:r>
              <a:rPr lang="en-US" b="1" dirty="0"/>
              <a:t>async</a:t>
            </a:r>
            <a:r>
              <a:rPr lang="en-US" dirty="0"/>
              <a:t> functions return Promises</a:t>
            </a:r>
          </a:p>
          <a:p>
            <a:r>
              <a:rPr lang="en-US" dirty="0"/>
              <a:t>Use </a:t>
            </a:r>
            <a:r>
              <a:rPr lang="en-US" b="1" dirty="0"/>
              <a:t>await</a:t>
            </a:r>
            <a:r>
              <a:rPr lang="en-US" dirty="0"/>
              <a:t> to get the result of a promise</a:t>
            </a:r>
          </a:p>
          <a:p>
            <a:r>
              <a:rPr lang="en-US" dirty="0"/>
              <a:t>Every occurrence of </a:t>
            </a:r>
            <a:r>
              <a:rPr lang="en-US" b="1" dirty="0"/>
              <a:t>await </a:t>
            </a:r>
            <a:r>
              <a:rPr lang="en-US" dirty="0"/>
              <a:t>must be in an async function</a:t>
            </a:r>
          </a:p>
          <a:p>
            <a:r>
              <a:rPr lang="en-US" dirty="0"/>
              <a:t>A </a:t>
            </a:r>
            <a:r>
              <a:rPr lang="en-US" b="1" dirty="0"/>
              <a:t>Promise&lt;void&gt;</a:t>
            </a:r>
            <a:r>
              <a:rPr lang="en-US" dirty="0"/>
              <a:t> is executed for effect, so it doesn't make sense to </a:t>
            </a:r>
            <a:r>
              <a:rPr lang="en-US" b="1" dirty="0"/>
              <a:t>await</a:t>
            </a:r>
            <a:r>
              <a:rPr lang="en-US" dirty="0"/>
              <a:t> its result.</a:t>
            </a:r>
          </a:p>
          <a:p>
            <a:endParaRPr lang="en-US" dirty="0"/>
          </a:p>
          <a:p>
            <a:endParaRPr lang="en-US" dirty="0"/>
          </a:p>
          <a:p>
            <a:pPr>
              <a:lnSpc>
                <a:spcPts val="1425"/>
              </a:lnSpc>
            </a:pPr>
            <a:endParaRPr lang="en-US" dirty="0"/>
          </a:p>
        </p:txBody>
      </p:sp>
      <p:sp>
        <p:nvSpPr>
          <p:cNvPr id="4" name="Slide Number Placeholder 3">
            <a:extLst>
              <a:ext uri="{FF2B5EF4-FFF2-40B4-BE49-F238E27FC236}">
                <a16:creationId xmlns:a16="http://schemas.microsoft.com/office/drawing/2014/main" id="{64598B87-B13D-A4E1-B0D5-758F26D4CC1D}"/>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15710574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A promise can be in one of exactly 3 states</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Content Placeholder 7">
            <a:extLst>
              <a:ext uri="{FF2B5EF4-FFF2-40B4-BE49-F238E27FC236}">
                <a16:creationId xmlns:a16="http://schemas.microsoft.com/office/drawing/2014/main" id="{D5C85CCA-136C-08C1-FA65-98C61B06999D}"/>
              </a:ext>
            </a:extLst>
          </p:cNvPr>
          <p:cNvSpPr>
            <a:spLocks noGrp="1"/>
          </p:cNvSpPr>
          <p:nvPr>
            <p:ph idx="1"/>
          </p:nvPr>
        </p:nvSpPr>
        <p:spPr>
          <a:xfrm>
            <a:off x="838199" y="1500160"/>
            <a:ext cx="9386455" cy="4663134"/>
          </a:xfrm>
        </p:spPr>
        <p:txBody>
          <a:bodyPr>
            <a:normAutofit/>
          </a:bodyPr>
          <a:lstStyle/>
          <a:p>
            <a:pPr>
              <a:lnSpc>
                <a:spcPct val="120000"/>
              </a:lnSpc>
            </a:pPr>
            <a:r>
              <a:rPr lang="en-US" sz="2400" b="0" i="0" dirty="0">
                <a:solidFill>
                  <a:srgbClr val="222222"/>
                </a:solidFill>
                <a:effectLst/>
                <a:latin typeface="Verdana" panose="020B0604030504040204" pitchFamily="34" charset="0"/>
                <a:ea typeface="Verdana" panose="020B0604030504040204" pitchFamily="34" charset="0"/>
              </a:rPr>
              <a:t>A JavaScript promise can be in one of three states: </a:t>
            </a: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a:t>
            </a:r>
            <a:r>
              <a:rPr lang="en-US" sz="2400" b="0" i="0" dirty="0">
                <a:solidFill>
                  <a:srgbClr val="FF0000"/>
                </a:solidFill>
                <a:effectLst/>
                <a:latin typeface="Verdana" panose="020B0604030504040204" pitchFamily="34" charset="0"/>
                <a:ea typeface="Verdana" panose="020B0604030504040204" pitchFamily="34" charset="0"/>
              </a:rPr>
              <a:t>fulfilled</a:t>
            </a:r>
            <a:r>
              <a:rPr lang="en-US" sz="2400" b="0" i="0" dirty="0">
                <a:solidFill>
                  <a:srgbClr val="222222"/>
                </a:solidFill>
                <a:effectLst/>
                <a:latin typeface="Verdana" panose="020B0604030504040204" pitchFamily="34" charset="0"/>
                <a:ea typeface="Verdana" panose="020B0604030504040204" pitchFamily="34" charset="0"/>
              </a:rPr>
              <a:t>, or </a:t>
            </a:r>
            <a:r>
              <a:rPr lang="en-US" sz="2400" b="0" i="0" dirty="0">
                <a:solidFill>
                  <a:srgbClr val="FF0000"/>
                </a:solidFill>
                <a:effectLst/>
                <a:latin typeface="Verdana" panose="020B0604030504040204" pitchFamily="34" charset="0"/>
                <a:ea typeface="Verdana" panose="020B0604030504040204" pitchFamily="34" charset="0"/>
              </a:rPr>
              <a:t>rejected</a:t>
            </a:r>
            <a:r>
              <a:rPr lang="en-US" sz="2400" b="0" i="0" dirty="0">
                <a:solidFill>
                  <a:srgbClr val="222222"/>
                </a:solidFill>
                <a:effectLst/>
                <a:latin typeface="Verdana" panose="020B0604030504040204" pitchFamily="34" charset="0"/>
                <a:ea typeface="Verdana" panose="020B0604030504040204" pitchFamily="34" charset="0"/>
              </a:rPr>
              <a:t>. </a:t>
            </a: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is the initial state where the promise is </a:t>
            </a:r>
            <a:r>
              <a:rPr lang="en-US" sz="2400" b="1" i="1" dirty="0">
                <a:solidFill>
                  <a:srgbClr val="222222"/>
                </a:solidFill>
                <a:effectLst/>
                <a:latin typeface="Verdana" panose="020B0604030504040204" pitchFamily="34" charset="0"/>
                <a:ea typeface="Verdana" panose="020B0604030504040204" pitchFamily="34" charset="0"/>
              </a:rPr>
              <a:t>waiting</a:t>
            </a:r>
            <a:r>
              <a:rPr lang="en-US" sz="2400" b="0" i="0" dirty="0">
                <a:solidFill>
                  <a:srgbClr val="222222"/>
                </a:solidFill>
                <a:effectLst/>
                <a:latin typeface="Verdana" panose="020B0604030504040204" pitchFamily="34" charset="0"/>
                <a:ea typeface="Verdana" panose="020B0604030504040204" pitchFamily="34" charset="0"/>
              </a:rPr>
              <a:t> for an operation to complete; Then it becomes </a:t>
            </a:r>
            <a:r>
              <a:rPr lang="en-US" dirty="0">
                <a:solidFill>
                  <a:srgbClr val="FF0000"/>
                </a:solidFill>
              </a:rPr>
              <a:t>Ready</a:t>
            </a:r>
            <a:r>
              <a:rPr lang="en-US" dirty="0"/>
              <a:t> for Execution; and eventually it is </a:t>
            </a:r>
            <a:r>
              <a:rPr lang="en-US" dirty="0">
                <a:solidFill>
                  <a:srgbClr val="FF0000"/>
                </a:solidFill>
              </a:rPr>
              <a:t>Executing </a:t>
            </a:r>
            <a:r>
              <a:rPr lang="en-US" dirty="0"/>
              <a:t>before being resolved</a:t>
            </a:r>
            <a:endParaRPr lang="en-US" sz="2400" b="0" i="0" dirty="0">
              <a:effectLst/>
              <a:latin typeface="Verdana" panose="020B0604030504040204" pitchFamily="34" charset="0"/>
              <a:ea typeface="Verdana" panose="020B0604030504040204" pitchFamily="34" charset="0"/>
            </a:endParaRP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Resolved</a:t>
            </a:r>
            <a:r>
              <a:rPr lang="en-US" sz="2400" b="0" i="0" dirty="0">
                <a:solidFill>
                  <a:srgbClr val="222222"/>
                </a:solidFill>
                <a:effectLst/>
                <a:latin typeface="Verdana" panose="020B0604030504040204" pitchFamily="34" charset="0"/>
                <a:ea typeface="Verdana" panose="020B0604030504040204" pitchFamily="34" charset="0"/>
              </a:rPr>
              <a:t>: either fulfilled or rejected. </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fulfilled</a:t>
            </a:r>
            <a:r>
              <a:rPr lang="en-US" b="0" i="0" dirty="0">
                <a:solidFill>
                  <a:srgbClr val="222222"/>
                </a:solidFill>
                <a:effectLst/>
                <a:latin typeface="Verdana" panose="020B0604030504040204" pitchFamily="34" charset="0"/>
                <a:ea typeface="Verdana" panose="020B0604030504040204" pitchFamily="34" charset="0"/>
              </a:rPr>
              <a:t> means the operation was successful,</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rejected</a:t>
            </a:r>
            <a:r>
              <a:rPr lang="en-US" b="0" i="0" dirty="0">
                <a:solidFill>
                  <a:srgbClr val="222222"/>
                </a:solidFill>
                <a:effectLst/>
                <a:latin typeface="Verdana" panose="020B0604030504040204" pitchFamily="34" charset="0"/>
                <a:ea typeface="Verdana" panose="020B0604030504040204" pitchFamily="34" charset="0"/>
              </a:rPr>
              <a:t> indicates that the operation failed.</a:t>
            </a:r>
            <a:endParaRPr lang="en-US" sz="2400" dirty="0">
              <a:latin typeface="Verdana" panose="020B0604030504040204" pitchFamily="34" charset="0"/>
              <a:ea typeface="Verdana" panose="020B0604030504040204" pitchFamily="34" charset="0"/>
            </a:endParaRPr>
          </a:p>
          <a:p>
            <a:endParaRPr lang="en-US" dirty="0"/>
          </a:p>
        </p:txBody>
      </p:sp>
    </p:spTree>
    <p:extLst>
      <p:ext uri="{BB962C8B-B14F-4D97-AF65-F5344CB8AC3E}">
        <p14:creationId xmlns:p14="http://schemas.microsoft.com/office/powerpoint/2010/main" val="6886642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Async functions return Promises</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9808674"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40E55-49F5-0E5A-0607-FDC32372F7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60A510-527B-E388-A3FD-221E654691CD}"/>
              </a:ext>
            </a:extLst>
          </p:cNvPr>
          <p:cNvSpPr>
            <a:spLocks noGrp="1"/>
          </p:cNvSpPr>
          <p:nvPr>
            <p:ph type="title"/>
          </p:nvPr>
        </p:nvSpPr>
        <p:spPr/>
        <p:txBody>
          <a:bodyPr/>
          <a:lstStyle/>
          <a:p>
            <a:r>
              <a:rPr lang="en-US" dirty="0"/>
              <a:t>This function returns a promise that will resolve with </a:t>
            </a:r>
            <a:r>
              <a:rPr lang="en-US" b="1" dirty="0"/>
              <a:t>m</a:t>
            </a:r>
            <a:r>
              <a:rPr lang="en-US" dirty="0"/>
              <a:t>.</a:t>
            </a:r>
          </a:p>
        </p:txBody>
      </p:sp>
      <p:sp>
        <p:nvSpPr>
          <p:cNvPr id="4" name="Slide Number Placeholder 3">
            <a:extLst>
              <a:ext uri="{FF2B5EF4-FFF2-40B4-BE49-F238E27FC236}">
                <a16:creationId xmlns:a16="http://schemas.microsoft.com/office/drawing/2014/main" id="{9110C2FF-4083-C210-1180-C0E4C6741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28F50AC3-424F-A8DF-43A6-6FE8D115820F}"/>
              </a:ext>
            </a:extLst>
          </p:cNvPr>
          <p:cNvGrpSpPr/>
          <p:nvPr/>
        </p:nvGrpSpPr>
        <p:grpSpPr>
          <a:xfrm>
            <a:off x="1050851" y="1807463"/>
            <a:ext cx="9632237" cy="3416320"/>
            <a:chOff x="838201" y="1828800"/>
            <a:chExt cx="8308888" cy="3416320"/>
          </a:xfrm>
        </p:grpSpPr>
        <p:sp>
          <p:nvSpPr>
            <p:cNvPr id="13" name="TextBox 12">
              <a:extLst>
                <a:ext uri="{FF2B5EF4-FFF2-40B4-BE49-F238E27FC236}">
                  <a16:creationId xmlns:a16="http://schemas.microsoft.com/office/drawing/2014/main" id="{56A4A78B-FD5E-79E1-BFB0-FECECE42CF94}"/>
                </a:ext>
              </a:extLst>
            </p:cNvPr>
            <p:cNvSpPr txBox="1"/>
            <p:nvPr/>
          </p:nvSpPr>
          <p:spPr>
            <a:xfrm>
              <a:off x="838201" y="1828800"/>
              <a:ext cx="8308888"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5" name="Rectangle 14">
              <a:extLst>
                <a:ext uri="{FF2B5EF4-FFF2-40B4-BE49-F238E27FC236}">
                  <a16:creationId xmlns:a16="http://schemas.microsoft.com/office/drawing/2014/main" id="{9D4EB059-0955-B92A-AC3F-3F10FA7D1220}"/>
                </a:ext>
              </a:extLst>
            </p:cNvPr>
            <p:cNvSpPr/>
            <p:nvPr/>
          </p:nvSpPr>
          <p:spPr>
            <a:xfrm>
              <a:off x="1454602" y="3373889"/>
              <a:ext cx="6200848" cy="1054273"/>
            </a:xfrm>
            <a:prstGeom prst="rect">
              <a:avLst/>
            </a:prstGeom>
            <a:solidFill>
              <a:srgbClr val="92D050">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Tree>
    <p:extLst>
      <p:ext uri="{BB962C8B-B14F-4D97-AF65-F5344CB8AC3E}">
        <p14:creationId xmlns:p14="http://schemas.microsoft.com/office/powerpoint/2010/main" val="36231043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95FEC-6821-6977-2431-C067695AC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6CF76-DB57-9E39-882E-43FBB293B9AB}"/>
              </a:ext>
            </a:extLst>
          </p:cNvPr>
          <p:cNvSpPr>
            <a:spLocks noGrp="1"/>
          </p:cNvSpPr>
          <p:nvPr>
            <p:ph type="title"/>
          </p:nvPr>
        </p:nvSpPr>
        <p:spPr/>
        <p:txBody>
          <a:bodyPr/>
          <a:lstStyle/>
          <a:p>
            <a:r>
              <a:rPr lang="en-US" b="1" dirty="0"/>
              <a:t>Run to Completion </a:t>
            </a:r>
            <a:r>
              <a:rPr lang="en-US" dirty="0"/>
              <a:t>is a central concept</a:t>
            </a:r>
          </a:p>
        </p:txBody>
      </p:sp>
      <p:sp>
        <p:nvSpPr>
          <p:cNvPr id="3" name="Content Placeholder 2">
            <a:extLst>
              <a:ext uri="{FF2B5EF4-FFF2-40B4-BE49-F238E27FC236}">
                <a16:creationId xmlns:a16="http://schemas.microsoft.com/office/drawing/2014/main" id="{3538D3B6-EF06-E264-4B6F-5ECA254C9BD9}"/>
              </a:ext>
            </a:extLst>
          </p:cNvPr>
          <p:cNvSpPr>
            <a:spLocks noGrp="1"/>
          </p:cNvSpPr>
          <p:nvPr>
            <p:ph idx="1"/>
          </p:nvPr>
        </p:nvSpPr>
        <p:spPr/>
        <p:txBody>
          <a:bodyPr>
            <a:normAutofit/>
          </a:bodyPr>
          <a:lstStyle/>
          <a:p>
            <a:r>
              <a:rPr lang="en-US" dirty="0"/>
              <a:t>In JS, you work on one and one task only (i.e., event loop has a single call stack)</a:t>
            </a:r>
          </a:p>
          <a:p>
            <a:r>
              <a:rPr lang="en-US" dirty="0"/>
              <a:t>Also, if you start a task, you must finish it (i.e., call stack must be emptied) before you start another task. This pattern is called "run-to-completion" semantics</a:t>
            </a:r>
          </a:p>
          <a:p>
            <a:r>
              <a:rPr lang="en-US" dirty="0"/>
              <a:t>A task can be paused in exactly two places:</a:t>
            </a:r>
          </a:p>
          <a:p>
            <a:pPr lvl="1"/>
            <a:r>
              <a:rPr lang="en-US" dirty="0"/>
              <a:t>when it reaches an await</a:t>
            </a:r>
          </a:p>
          <a:p>
            <a:pPr lvl="1"/>
            <a:r>
              <a:rPr lang="en-US" dirty="0"/>
              <a:t>when it reaches a return</a:t>
            </a:r>
          </a:p>
        </p:txBody>
      </p:sp>
      <p:sp>
        <p:nvSpPr>
          <p:cNvPr id="4" name="Slide Number Placeholder 3">
            <a:extLst>
              <a:ext uri="{FF2B5EF4-FFF2-40B4-BE49-F238E27FC236}">
                <a16:creationId xmlns:a16="http://schemas.microsoft.com/office/drawing/2014/main" id="{B94B5527-A2AF-C396-DB8A-CD99C811F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25112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This function can only be paused in certain places</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0" y="1828800"/>
            <a:ext cx="10222063" cy="3046988"/>
            <a:chOff x="838200" y="1828800"/>
            <a:chExt cx="10222063"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0" y="1828800"/>
              <a:ext cx="10222063"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923282" y="2306829"/>
            <a:ext cx="2974427" cy="10729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It will never pause in </a:t>
            </a:r>
          </a:p>
          <a:p>
            <a:pPr algn="l"/>
            <a:r>
              <a:rPr lang="en-US" sz="2000" dirty="0">
                <a:solidFill>
                  <a:schemeClr val="tx1"/>
                </a:solidFill>
                <a:latin typeface="Verdana" panose="020B0604030504040204" pitchFamily="34" charset="0"/>
                <a:ea typeface="Verdana" panose="020B0604030504040204" pitchFamily="34" charset="0"/>
              </a:rPr>
              <a:t>here. This is called a </a:t>
            </a:r>
          </a:p>
          <a:p>
            <a:pPr algn="l"/>
            <a:r>
              <a:rPr lang="en-US" sz="2000" dirty="0">
                <a:solidFill>
                  <a:schemeClr val="tx1"/>
                </a:solidFill>
                <a:latin typeface="Verdana" panose="020B0604030504040204" pitchFamily="34" charset="0"/>
                <a:ea typeface="Verdana" panose="020B0604030504040204" pitchFamily="34" charset="0"/>
              </a:rPr>
              <a:t>Critical Section</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706069"/>
            <a:ext cx="4515668" cy="0"/>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610600" y="3632831"/>
            <a:ext cx="3287110" cy="84216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Or in here (this is </a:t>
            </a:r>
          </a:p>
          <a:p>
            <a:pPr algn="l"/>
            <a:r>
              <a:rPr lang="en-US" sz="2000" dirty="0">
                <a:solidFill>
                  <a:schemeClr val="tx1"/>
                </a:solidFill>
                <a:latin typeface="Verdana" panose="020B0604030504040204" pitchFamily="34" charset="0"/>
                <a:ea typeface="Verdana" panose="020B0604030504040204" pitchFamily="34" charset="0"/>
              </a:rPr>
              <a:t>another Critical Section)</a:t>
            </a:r>
          </a:p>
        </p:txBody>
      </p:sp>
      <p:cxnSp>
        <p:nvCxnSpPr>
          <p:cNvPr id="14" name="Straight Arrow Connector 13">
            <a:extLst>
              <a:ext uri="{FF2B5EF4-FFF2-40B4-BE49-F238E27FC236}">
                <a16:creationId xmlns:a16="http://schemas.microsoft.com/office/drawing/2014/main" id="{D50DDC1E-F961-9AFF-F97B-74EDC8E77DF4}"/>
              </a:ext>
            </a:extLst>
          </p:cNvPr>
          <p:cNvCxnSpPr>
            <a:cxnSpLocks/>
            <a:stCxn id="13" idx="1"/>
            <a:endCxn id="5" idx="3"/>
          </p:cNvCxnSpPr>
          <p:nvPr/>
        </p:nvCxnSpPr>
        <p:spPr>
          <a:xfrm flipH="1" flipV="1">
            <a:off x="4407612" y="3901026"/>
            <a:ext cx="4202988" cy="15288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879688"/>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401029" y="4117002"/>
            <a:ext cx="4819143" cy="17746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What happens when you await?</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a:xfrm>
            <a:off x="838200" y="1500160"/>
            <a:ext cx="9240078" cy="4351338"/>
          </a:xfrm>
        </p:spPr>
        <p:txBody>
          <a:bodyPr>
            <a:normAutofit lnSpcReduction="10000"/>
          </a:bodyPr>
          <a:lstStyle/>
          <a:p>
            <a:r>
              <a:rPr lang="en-US" dirty="0"/>
              <a:t>When you ‘await’ on an asynchronous task, you are cooperating with the event loop by allowing it to work on something else.</a:t>
            </a:r>
          </a:p>
          <a:p>
            <a:r>
              <a:rPr lang="en-US" dirty="0"/>
              <a:t>In technical terms, you are </a:t>
            </a:r>
            <a:r>
              <a:rPr lang="en-US" dirty="0">
                <a:solidFill>
                  <a:srgbClr val="FF0000"/>
                </a:solidFill>
              </a:rPr>
              <a:t>returning</a:t>
            </a:r>
            <a:r>
              <a:rPr lang="en-US" dirty="0"/>
              <a:t> with a </a:t>
            </a:r>
            <a:r>
              <a:rPr lang="en-US" b="1" i="1" dirty="0"/>
              <a:t>pending</a:t>
            </a:r>
            <a:r>
              <a:rPr lang="en-US" i="1" dirty="0"/>
              <a:t> </a:t>
            </a:r>
            <a:r>
              <a:rPr lang="en-US" dirty="0"/>
              <a:t>promise which means that some work will be completed in future.</a:t>
            </a:r>
          </a:p>
          <a:p>
            <a:r>
              <a:rPr lang="en-US" dirty="0"/>
              <a:t>While you are waiting for that future, event loop will continue finishing its current task (whatever is in call stack) and then other tasks (whatever is in callback queue).</a:t>
            </a:r>
          </a:p>
          <a:p>
            <a:r>
              <a:rPr lang="en-US" dirty="0"/>
              <a:t>Eventually you will return to complete the </a:t>
            </a:r>
            <a:r>
              <a:rPr lang="en-US" b="1" i="1" dirty="0"/>
              <a:t>awaited</a:t>
            </a:r>
            <a:r>
              <a:rPr lang="en-US" i="1" dirty="0"/>
              <a:t> </a:t>
            </a:r>
            <a:r>
              <a:rPr lang="en-US" dirty="0"/>
              <a:t>work.</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normAutofit/>
          </a:bodyPr>
          <a:lstStyle/>
          <a:p>
            <a:r>
              <a:rPr lang="en-US" dirty="0"/>
              <a:t>Promises come in two flavors: microtasks and </a:t>
            </a:r>
            <a:r>
              <a:rPr lang="en-US" dirty="0" err="1"/>
              <a:t>macrotasks</a:t>
            </a:r>
            <a:endParaRPr lang="en-US" dirty="0"/>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199" y="1500159"/>
            <a:ext cx="5072743" cy="4769267"/>
          </a:xfrm>
        </p:spPr>
        <p:txBody>
          <a:bodyPr>
            <a:normAutofit/>
          </a:bodyPr>
          <a:lstStyle/>
          <a:p>
            <a:r>
              <a:rPr lang="en-US" dirty="0"/>
              <a:t>Microtask queue is used for immediate/urgent tasks while </a:t>
            </a:r>
            <a:r>
              <a:rPr lang="en-US" dirty="0" err="1"/>
              <a:t>Macrotask</a:t>
            </a:r>
            <a:r>
              <a:rPr lang="en-US" dirty="0"/>
              <a:t> queue is used for slower asynchronous tasks.</a:t>
            </a:r>
          </a:p>
          <a:p>
            <a:r>
              <a:rPr lang="en-US" dirty="0"/>
              <a:t>When call stack is empty, microtask queue is processed first (before browser renders). When microtask queue is empty then </a:t>
            </a:r>
            <a:r>
              <a:rPr lang="en-US" dirty="0" err="1"/>
              <a:t>macrotask</a:t>
            </a:r>
            <a:r>
              <a:rPr lang="en-US" dirty="0"/>
              <a:t> queue is processed.</a:t>
            </a:r>
          </a:p>
        </p:txBody>
      </p:sp>
      <p:pic>
        <p:nvPicPr>
          <p:cNvPr id="1026" name="Picture 2" descr="Understanding the Call Stack, Microtask Queue, and Macrotask Queue in JavaScript">
            <a:extLst>
              <a:ext uri="{FF2B5EF4-FFF2-40B4-BE49-F238E27FC236}">
                <a16:creationId xmlns:a16="http://schemas.microsoft.com/office/drawing/2014/main" id="{260730D6-DA97-1FE4-E903-8B30CB508C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311" y="1612446"/>
            <a:ext cx="5275489" cy="2965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63354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FF6C7-4400-832E-8365-1AAC318F04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F84CB2-B3EA-FA04-AF72-8861E64253AC}"/>
              </a:ext>
            </a:extLst>
          </p:cNvPr>
          <p:cNvSpPr>
            <a:spLocks noGrp="1"/>
          </p:cNvSpPr>
          <p:nvPr>
            <p:ph type="title"/>
          </p:nvPr>
        </p:nvSpPr>
        <p:spPr/>
        <p:txBody>
          <a:bodyPr>
            <a:normAutofit/>
          </a:bodyPr>
          <a:lstStyle/>
          <a:p>
            <a:r>
              <a:rPr lang="en-US" dirty="0" err="1"/>
              <a:t>Macrotasks</a:t>
            </a:r>
            <a:r>
              <a:rPr lang="en-US" dirty="0"/>
              <a:t> are API calls; Microtasks are what you do after the API call returns</a:t>
            </a:r>
          </a:p>
        </p:txBody>
      </p:sp>
      <p:sp>
        <p:nvSpPr>
          <p:cNvPr id="4" name="Slide Number Placeholder 3">
            <a:extLst>
              <a:ext uri="{FF2B5EF4-FFF2-40B4-BE49-F238E27FC236}">
                <a16:creationId xmlns:a16="http://schemas.microsoft.com/office/drawing/2014/main" id="{2412C9BA-1856-821C-1119-D2435AC7CE9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6" name="Group 5">
            <a:extLst>
              <a:ext uri="{FF2B5EF4-FFF2-40B4-BE49-F238E27FC236}">
                <a16:creationId xmlns:a16="http://schemas.microsoft.com/office/drawing/2014/main" id="{2221E0FB-30DE-898A-1345-C4EBEFBB8037}"/>
              </a:ext>
            </a:extLst>
          </p:cNvPr>
          <p:cNvGrpSpPr/>
          <p:nvPr/>
        </p:nvGrpSpPr>
        <p:grpSpPr>
          <a:xfrm>
            <a:off x="1050852" y="1829058"/>
            <a:ext cx="8308888" cy="3046988"/>
            <a:chOff x="838201" y="1828800"/>
            <a:chExt cx="8308888" cy="3046988"/>
          </a:xfrm>
        </p:grpSpPr>
        <p:sp>
          <p:nvSpPr>
            <p:cNvPr id="7" name="TextBox 6">
              <a:extLst>
                <a:ext uri="{FF2B5EF4-FFF2-40B4-BE49-F238E27FC236}">
                  <a16:creationId xmlns:a16="http://schemas.microsoft.com/office/drawing/2014/main" id="{061BD5AA-ECAC-A016-14C0-2D5B67A64FB0}"/>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8" name="Rectangle 7">
              <a:extLst>
                <a:ext uri="{FF2B5EF4-FFF2-40B4-BE49-F238E27FC236}">
                  <a16:creationId xmlns:a16="http://schemas.microsoft.com/office/drawing/2014/main" id="{7EB1040B-4E2F-A2C7-DD36-983697394B46}"/>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9" name="Rectangle 8">
              <a:extLst>
                <a:ext uri="{FF2B5EF4-FFF2-40B4-BE49-F238E27FC236}">
                  <a16:creationId xmlns:a16="http://schemas.microsoft.com/office/drawing/2014/main" id="{E4C513F9-603F-2F30-B8B0-1067F2378288}"/>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17" name="TextBox 16">
            <a:extLst>
              <a:ext uri="{FF2B5EF4-FFF2-40B4-BE49-F238E27FC236}">
                <a16:creationId xmlns:a16="http://schemas.microsoft.com/office/drawing/2014/main" id="{5659ADE4-263F-D99A-4AAD-ABB5034184DB}"/>
              </a:ext>
            </a:extLst>
          </p:cNvPr>
          <p:cNvSpPr txBox="1"/>
          <p:nvPr/>
        </p:nvSpPr>
        <p:spPr>
          <a:xfrm>
            <a:off x="9699661" y="1853096"/>
            <a:ext cx="1807077"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p:txBody>
      </p:sp>
      <p:sp>
        <p:nvSpPr>
          <p:cNvPr id="19" name="TextBox 18">
            <a:extLst>
              <a:ext uri="{FF2B5EF4-FFF2-40B4-BE49-F238E27FC236}">
                <a16:creationId xmlns:a16="http://schemas.microsoft.com/office/drawing/2014/main" id="{28770D23-C224-3AE9-17C5-53F72BC77258}"/>
              </a:ext>
            </a:extLst>
          </p:cNvPr>
          <p:cNvSpPr txBox="1"/>
          <p:nvPr/>
        </p:nvSpPr>
        <p:spPr>
          <a:xfrm>
            <a:off x="7998408" y="4428420"/>
            <a:ext cx="1983792"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microtask</a:t>
            </a:r>
          </a:p>
        </p:txBody>
      </p:sp>
      <p:sp>
        <p:nvSpPr>
          <p:cNvPr id="21" name="Rectangle: Rounded Corners 20">
            <a:extLst>
              <a:ext uri="{FF2B5EF4-FFF2-40B4-BE49-F238E27FC236}">
                <a16:creationId xmlns:a16="http://schemas.microsoft.com/office/drawing/2014/main" id="{657F2ACF-63C3-57C7-6DB9-E2904C44B5AF}"/>
              </a:ext>
            </a:extLst>
          </p:cNvPr>
          <p:cNvSpPr/>
          <p:nvPr/>
        </p:nvSpPr>
        <p:spPr>
          <a:xfrm>
            <a:off x="4476584" y="2941983"/>
            <a:ext cx="4492487" cy="487017"/>
          </a:xfrm>
          <a:prstGeom prst="roundRect">
            <a:avLst/>
          </a:prstGeom>
          <a:solidFill>
            <a:srgbClr val="FFFF00">
              <a:alpha val="1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cxnSp>
        <p:nvCxnSpPr>
          <p:cNvPr id="23" name="Straight Arrow Connector 22">
            <a:extLst>
              <a:ext uri="{FF2B5EF4-FFF2-40B4-BE49-F238E27FC236}">
                <a16:creationId xmlns:a16="http://schemas.microsoft.com/office/drawing/2014/main" id="{3F07F8A8-DC68-75E8-51B6-5B4E9EB26396}"/>
              </a:ext>
            </a:extLst>
          </p:cNvPr>
          <p:cNvCxnSpPr>
            <a:stCxn id="17" idx="1"/>
          </p:cNvCxnSpPr>
          <p:nvPr/>
        </p:nvCxnSpPr>
        <p:spPr>
          <a:xfrm flipH="1">
            <a:off x="8990304" y="2207039"/>
            <a:ext cx="709357" cy="7349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54988588-227D-A397-E8B3-11E913D8B099}"/>
              </a:ext>
            </a:extLst>
          </p:cNvPr>
          <p:cNvCxnSpPr/>
          <p:nvPr/>
        </p:nvCxnSpPr>
        <p:spPr>
          <a:xfrm flipH="1" flipV="1">
            <a:off x="4710223" y="3901283"/>
            <a:ext cx="3200400" cy="87273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9136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B6FF2-D7E9-5798-4A7B-8CC815E92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B1FB9-6229-BC24-7548-3E614A7B2BE7}"/>
              </a:ext>
            </a:extLst>
          </p:cNvPr>
          <p:cNvSpPr>
            <a:spLocks noGrp="1"/>
          </p:cNvSpPr>
          <p:nvPr>
            <p:ph type="title"/>
          </p:nvPr>
        </p:nvSpPr>
        <p:spPr/>
        <p:txBody>
          <a:bodyPr/>
          <a:lstStyle/>
          <a:p>
            <a:r>
              <a:rPr lang="en-US" dirty="0"/>
              <a:t>How does JS Event Loop make this happen?</a:t>
            </a:r>
          </a:p>
        </p:txBody>
      </p:sp>
      <p:sp>
        <p:nvSpPr>
          <p:cNvPr id="4" name="Slide Number Placeholder 3">
            <a:extLst>
              <a:ext uri="{FF2B5EF4-FFF2-40B4-BE49-F238E27FC236}">
                <a16:creationId xmlns:a16="http://schemas.microsoft.com/office/drawing/2014/main" id="{EA3A904D-F20A-D34F-4524-7477EE34E62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2B28A1BC-D08D-6A8C-D1F1-3D3620D33AC2}"/>
              </a:ext>
            </a:extLst>
          </p:cNvPr>
          <p:cNvSpPr txBox="1">
            <a:spLocks/>
          </p:cNvSpPr>
          <p:nvPr/>
        </p:nvSpPr>
        <p:spPr>
          <a:xfrm>
            <a:off x="838200" y="1691622"/>
            <a:ext cx="4659086" cy="4800618"/>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a:t>The </a:t>
            </a:r>
            <a:r>
              <a:rPr lang="en-US" dirty="0" err="1"/>
              <a:t>WebAPI</a:t>
            </a:r>
            <a:r>
              <a:rPr lang="en-US" dirty="0"/>
              <a:t> is used for asynchronous tasks</a:t>
            </a:r>
          </a:p>
          <a:p>
            <a:r>
              <a:rPr lang="en-US" dirty="0"/>
              <a:t>Queues are used for “await”-ed tasks</a:t>
            </a:r>
          </a:p>
          <a:p>
            <a:r>
              <a:rPr lang="en-US" dirty="0"/>
              <a:t>When call stack becomes </a:t>
            </a:r>
            <a:r>
              <a:rPr lang="en-US" dirty="0">
                <a:solidFill>
                  <a:srgbClr val="FF0000"/>
                </a:solidFill>
              </a:rPr>
              <a:t>empty</a:t>
            </a:r>
            <a:r>
              <a:rPr lang="en-US" dirty="0"/>
              <a:t>, the event loop picks up tasks from Callback Queues</a:t>
            </a:r>
          </a:p>
          <a:p>
            <a:r>
              <a:rPr lang="en-US" dirty="0"/>
              <a:t>Microtask queue has priority over </a:t>
            </a:r>
            <a:r>
              <a:rPr lang="en-US" dirty="0" err="1"/>
              <a:t>macrotask</a:t>
            </a:r>
            <a:r>
              <a:rPr lang="en-US" dirty="0"/>
              <a:t> queue</a:t>
            </a:r>
          </a:p>
        </p:txBody>
      </p:sp>
      <p:pic>
        <p:nvPicPr>
          <p:cNvPr id="1030" name="Picture 6">
            <a:extLst>
              <a:ext uri="{FF2B5EF4-FFF2-40B4-BE49-F238E27FC236}">
                <a16:creationId xmlns:a16="http://schemas.microsoft.com/office/drawing/2014/main" id="{BD18DA11-1A64-B2DC-B906-FF4A98FDE87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3386" y="1892300"/>
            <a:ext cx="6094427" cy="307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26907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By contrast, 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501675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a:t>
            </a: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criticalSection.ts</a:t>
            </a:r>
            <a:endParaRPr lang="en-US" sz="2400" dirty="0">
              <a:solidFill>
                <a:schemeClr val="tx1"/>
              </a:solidFill>
            </a:endParaRP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022211" y="1631794"/>
            <a:ext cx="3761294" cy="4351338"/>
          </a:xfrm>
        </p:spPr>
        <p:txBody>
          <a:bodyPr>
            <a:normAutofit/>
          </a:bodyPr>
          <a:lstStyle/>
          <a:p>
            <a:r>
              <a:rPr lang="en-US" sz="2000" dirty="0"/>
              <a:t>In Java,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A simple request</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(32);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7234474" y="1924411"/>
            <a:ext cx="4745491" cy="1800325"/>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55000" lnSpcReduction="20000"/>
          </a:bodyPr>
          <a:lstStyle/>
          <a:p>
            <a:pPr algn="l">
              <a:lnSpc>
                <a:spcPct val="120000"/>
              </a:lnSpc>
            </a:pPr>
            <a:r>
              <a:rPr lang="en-US" sz="2000" dirty="0">
                <a:solidFill>
                  <a:srgbClr val="0A52B1"/>
                </a:solidFill>
                <a:latin typeface="Verdana" panose="020B0604030504040204" pitchFamily="34" charset="0"/>
                <a:ea typeface="Verdana" panose="020B0604030504040204" pitchFamily="34" charset="0"/>
              </a:rPr>
              <a:t>export function </a:t>
            </a:r>
            <a:r>
              <a:rPr lang="en-US" sz="2000" b="1"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(n: number): Promise&lt;number&gt;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a:solidFill>
                  <a:srgbClr val="0A52B1"/>
                </a:solidFill>
                <a:latin typeface="Verdana" panose="020B0604030504040204" pitchFamily="34" charset="0"/>
                <a:ea typeface="Verdana" panose="020B0604030504040204" pitchFamily="34" charset="0"/>
              </a:rPr>
              <a:t>return new </a:t>
            </a:r>
            <a:r>
              <a:rPr lang="en-US" sz="2000" dirty="0">
                <a:solidFill>
                  <a:schemeClr val="tx1"/>
                </a:solidFill>
                <a:latin typeface="Verdana" panose="020B0604030504040204" pitchFamily="34" charset="0"/>
                <a:ea typeface="Verdana" panose="020B0604030504040204" pitchFamily="34" charset="0"/>
              </a:rPr>
              <a:t>Promise((resolve, reject)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a:t>
            </a:r>
            <a:r>
              <a:rPr lang="en-US" sz="2000" dirty="0" err="1">
                <a:solidFill>
                  <a:srgbClr val="C00000"/>
                </a:solidFill>
                <a:latin typeface="Verdana" panose="020B0604030504040204" pitchFamily="34" charset="0"/>
                <a:ea typeface="Verdana" panose="020B0604030504040204" pitchFamily="34" charset="0"/>
              </a:rPr>
              <a:t>fakeRequest</a:t>
            </a:r>
            <a:r>
              <a:rPr lang="en-US" sz="2000" dirty="0">
                <a:solidFill>
                  <a:srgbClr val="C00000"/>
                </a:solidFill>
                <a:latin typeface="Verdana" panose="020B0604030504040204" pitchFamily="34" charset="0"/>
                <a:ea typeface="Verdana" panose="020B0604030504040204" pitchFamily="34" charset="0"/>
              </a:rPr>
              <a:t> received request:'</a:t>
            </a:r>
            <a:r>
              <a:rPr lang="en-US" sz="2000" dirty="0">
                <a:solidFill>
                  <a:schemeClr val="tx1"/>
                </a:solidFill>
                <a:latin typeface="Verdana" panose="020B0604030504040204" pitchFamily="34" charset="0"/>
                <a:ea typeface="Verdana" panose="020B0604030504040204" pitchFamily="34" charset="0"/>
              </a:rPr>
              <a:t>, n);</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setTimeout</a:t>
            </a:r>
            <a:r>
              <a:rPr lang="en-US" sz="2000" dirty="0">
                <a:solidFill>
                  <a:schemeClr val="tx1"/>
                </a:solidFill>
                <a:latin typeface="Verdana" panose="020B0604030504040204" pitchFamily="34" charset="0"/>
                <a:ea typeface="Verdana" panose="020B0604030504040204" pitchFamily="34" charset="0"/>
              </a:rPr>
              <a: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'time passes....'</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resolve(n + </a:t>
            </a:r>
            <a:r>
              <a:rPr lang="en-US" sz="2000" dirty="0">
                <a:solidFill>
                  <a:schemeClr val="accent6">
                    <a:lumMod val="75000"/>
                  </a:schemeClr>
                </a:solidFill>
                <a:latin typeface="Verdana" panose="020B0604030504040204" pitchFamily="34" charset="0"/>
                <a:ea typeface="Verdana" panose="020B0604030504040204" pitchFamily="34" charset="0"/>
              </a:rPr>
              <a:t>10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 </a:t>
            </a:r>
            <a:r>
              <a:rPr lang="en-US" sz="2000" dirty="0">
                <a:solidFill>
                  <a:schemeClr val="accent6">
                    <a:lumMod val="75000"/>
                  </a:schemeClr>
                </a:solidFill>
                <a:latin typeface="Verdana" panose="020B0604030504040204" pitchFamily="34" charset="0"/>
                <a:ea typeface="Verdana" panose="020B0604030504040204" pitchFamily="34" charset="0"/>
              </a:rPr>
              <a:t>1000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a:t>
            </a:r>
          </a:p>
        </p:txBody>
      </p:sp>
    </p:spTree>
    <p:extLst>
      <p:ext uri="{BB962C8B-B14F-4D97-AF65-F5344CB8AC3E}">
        <p14:creationId xmlns:p14="http://schemas.microsoft.com/office/powerpoint/2010/main" val="684796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733302" y="3254361"/>
            <a:ext cx="11155326" cy="2755213"/>
          </a:xfrm>
        </p:spPr>
        <p:txBody>
          <a:bodyPr>
            <a:normAutofit fontScale="85000" lnSpcReduction="10000"/>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a:t>
            </a:r>
            <a:r>
              <a:rPr lang="en-US" i="1" dirty="0"/>
              <a:t>immediately</a:t>
            </a:r>
            <a:r>
              <a:rPr lang="en-US" dirty="0"/>
              <a:t> sent, using non-blocking i/o. </a:t>
            </a:r>
          </a:p>
          <a:p>
            <a:pPr marL="457200" indent="-457200">
              <a:buFont typeface="+mj-lt"/>
              <a:buAutoNum type="arabicPeriod"/>
            </a:pPr>
            <a:r>
              <a:rPr lang="en-US" dirty="0"/>
              <a:t>A pending promise is returned to the caller. Caller can continue its other business.</a:t>
            </a:r>
          </a:p>
          <a:p>
            <a:pPr marL="457200" indent="-457200">
              <a:buFont typeface="+mj-lt"/>
              <a:buAutoNum type="arabicPeriod"/>
            </a:pPr>
            <a:r>
              <a:rPr lang="en-US" dirty="0"/>
              <a:t>Eventually, the fetch returns.</a:t>
            </a:r>
          </a:p>
          <a:p>
            <a:pPr marL="457200" indent="-457200">
              <a:buFont typeface="+mj-lt"/>
              <a:buAutoNum type="arabicPeriod"/>
            </a:pPr>
            <a:r>
              <a:rPr lang="en-US" dirty="0"/>
              <a:t>Some time after that, the console.log is printed and the </a:t>
            </a:r>
            <a:r>
              <a:rPr lang="en-US" dirty="0" err="1"/>
              <a:t>makeRequest</a:t>
            </a:r>
            <a:r>
              <a:rPr lang="en-US" dirty="0"/>
              <a:t> concludes.</a:t>
            </a:r>
          </a:p>
          <a:p>
            <a:pPr marL="457200" indent="-457200">
              <a:buFont typeface="+mj-lt"/>
              <a:buAutoNum type="arabicPeriod"/>
            </a:pPr>
            <a:r>
              <a:rPr lang="en-US" dirty="0"/>
              <a:t>Any promises that are waiting for the result of this </a:t>
            </a:r>
            <a:r>
              <a:rPr lang="en-US" dirty="0" err="1"/>
              <a:t>makeRequest</a:t>
            </a:r>
            <a:r>
              <a:rPr lang="en-US" dirty="0"/>
              <a:t> become eligible for execution.</a:t>
            </a:r>
          </a:p>
          <a:p>
            <a:pPr marL="0" indent="0">
              <a:buNone/>
            </a:pPr>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4625BB71-7766-8C90-ECB1-1D83B8007F99}"/>
              </a:ext>
            </a:extLst>
          </p:cNvPr>
          <p:cNvSpPr txBox="1"/>
          <p:nvPr/>
        </p:nvSpPr>
        <p:spPr>
          <a:xfrm>
            <a:off x="733302" y="1611457"/>
            <a:ext cx="10620498" cy="16312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00FF"/>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highlight>
                  <a:srgbClr val="FFFF00"/>
                </a:highligh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requestNumber:number</a:t>
            </a:r>
            <a:r>
              <a:rPr lang="en-US" sz="2000" b="0" dirty="0">
                <a:solidFill>
                  <a:srgbClr val="000000"/>
                </a:solidFill>
                <a:effectLst/>
                <a:latin typeface="Consolas" panose="020B0609020204030204" pitchFamily="49" charset="0"/>
              </a:rPr>
              <a:t>) {</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a:t>
            </a:r>
            <a:r>
              <a:rPr lang="en-US" sz="2000" b="0" dirty="0" err="1">
                <a:solidFill>
                  <a:srgbClr val="A31515"/>
                </a:solidFill>
                <a:effectLst/>
                <a:latin typeface="Consolas" panose="020B0609020204030204" pitchFamily="49" charset="0"/>
              </a:rPr>
              <a:t>makeRequest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response = </a:t>
            </a:r>
            <a:r>
              <a:rPr lang="en-US" sz="2000" b="0" dirty="0">
                <a:solidFill>
                  <a:srgbClr val="0000FF"/>
                </a:solidFill>
                <a:effectLst/>
                <a:highlight>
                  <a:srgbClr val="FFFF00"/>
                </a:highligh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fetch</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'request:'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requestNumber</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 response:'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response.data</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9594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Three Requests,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31194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73590-E4D1-219E-103D-4DB29E3F3F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57FFCB-4020-9CA3-AF50-C1B79D814C5D}"/>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9" name="Content Placeholder 8">
            <a:extLst>
              <a:ext uri="{FF2B5EF4-FFF2-40B4-BE49-F238E27FC236}">
                <a16:creationId xmlns:a16="http://schemas.microsoft.com/office/drawing/2014/main" id="{55E834AA-59DF-F3B7-4FC0-FDC6A649A6AC}"/>
              </a:ext>
            </a:extLst>
          </p:cNvPr>
          <p:cNvSpPr>
            <a:spLocks noGrp="1"/>
          </p:cNvSpPr>
          <p:nvPr>
            <p:ph idx="1"/>
          </p:nvPr>
        </p:nvSpPr>
        <p:spPr/>
        <p:txBody>
          <a:bodyPr/>
          <a:lstStyle/>
          <a:p>
            <a:r>
              <a:rPr lang="en-US" dirty="0" err="1"/>
              <a:t>Promise.all</a:t>
            </a:r>
            <a:r>
              <a:rPr lang="en-US" dirty="0"/>
              <a:t> takes a list of Promise&lt;T&gt; and creates a Promise&lt;T[]&gt;</a:t>
            </a:r>
          </a:p>
          <a:p>
            <a:pPr lvl="1"/>
            <a:r>
              <a:rPr lang="en-US" dirty="0" err="1"/>
              <a:t>ie</a:t>
            </a:r>
            <a:r>
              <a:rPr lang="en-US" dirty="0"/>
              <a:t>, a promise that resolves to a list of T's</a:t>
            </a:r>
          </a:p>
          <a:p>
            <a:r>
              <a:rPr lang="en-US" dirty="0"/>
              <a:t>When executed, this promise runs them </a:t>
            </a:r>
            <a:r>
              <a:rPr lang="en-US" i="1" dirty="0"/>
              <a:t>concurrently,</a:t>
            </a:r>
          </a:p>
          <a:p>
            <a:r>
              <a:rPr lang="en-US" dirty="0"/>
              <a:t>and resolves with the list of values</a:t>
            </a:r>
          </a:p>
          <a:p>
            <a:pPr lvl="1"/>
            <a:r>
              <a:rPr lang="en-US" dirty="0"/>
              <a:t>(assuming they all resolve successfully)</a:t>
            </a:r>
          </a:p>
        </p:txBody>
      </p:sp>
      <p:sp>
        <p:nvSpPr>
          <p:cNvPr id="3" name="Slide Number Placeholder 2">
            <a:extLst>
              <a:ext uri="{FF2B5EF4-FFF2-40B4-BE49-F238E27FC236}">
                <a16:creationId xmlns:a16="http://schemas.microsoft.com/office/drawing/2014/main" id="{77EC9027-0456-D07D-74D6-67288E7F486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60082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DF350BD1-BCBF-4053-D8F2-B89C978EAA4F}"/>
              </a:ext>
            </a:extLst>
          </p:cNvPr>
          <p:cNvSpPr/>
          <p:nvPr/>
        </p:nvSpPr>
        <p:spPr>
          <a:xfrm>
            <a:off x="6608309" y="5618765"/>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
        <p:nvSpPr>
          <p:cNvPr id="8" name="Content Placeholder 1">
            <a:extLst>
              <a:ext uri="{FF2B5EF4-FFF2-40B4-BE49-F238E27FC236}">
                <a16:creationId xmlns:a16="http://schemas.microsoft.com/office/drawing/2014/main" id="{E405C686-823C-80E4-002F-44E0B59C9D6B}"/>
              </a:ext>
            </a:extLst>
          </p:cNvPr>
          <p:cNvSpPr txBox="1">
            <a:spLocks/>
          </p:cNvSpPr>
          <p:nvPr/>
        </p:nvSpPr>
        <p:spPr>
          <a:xfrm>
            <a:off x="1046260" y="6007300"/>
            <a:ext cx="5623009" cy="42572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3 requests may finish in any order</a:t>
            </a: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xEl>
                                              <p:pRg st="10" end="10"/>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P spid="8"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6038773" cy="276999"/>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endParaRPr lang="en-US" b="0" dirty="0">
              <a:solidFill>
                <a:srgbClr val="000000"/>
              </a:solidFill>
              <a:effectLst/>
              <a:latin typeface="Consolas" panose="020B0609020204030204" pitchFamily="49" charset="0"/>
            </a:endParaRP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(start)</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console.log(‘starting make3 …’);</a:t>
            </a:r>
          </a:p>
        </p:txBody>
      </p:sp>
      <p:sp>
        <p:nvSpPr>
          <p:cNvPr id="10" name="Rectangle: Rounded Corners 9">
            <a:extLst>
              <a:ext uri="{FF2B5EF4-FFF2-40B4-BE49-F238E27FC236}">
                <a16:creationId xmlns:a16="http://schemas.microsoft.com/office/drawing/2014/main" id="{186D7E71-219E-6967-4E99-C7D5B2109487}"/>
              </a:ext>
            </a:extLst>
          </p:cNvPr>
          <p:cNvSpPr/>
          <p:nvPr/>
        </p:nvSpPr>
        <p:spPr>
          <a:xfrm>
            <a:off x="4769126" y="3899151"/>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makeRequest</a:t>
            </a:r>
            <a:r>
              <a:rPr lang="en-US" sz="1000" b="1" dirty="0">
                <a:solidFill>
                  <a:schemeClr val="tx1"/>
                </a:solidFill>
              </a:rPr>
              <a:t> (100)</a:t>
            </a:r>
          </a:p>
        </p:txBody>
      </p:sp>
      <p:sp>
        <p:nvSpPr>
          <p:cNvPr id="11" name="Rectangle: Rounded Corners 10">
            <a:extLst>
              <a:ext uri="{FF2B5EF4-FFF2-40B4-BE49-F238E27FC236}">
                <a16:creationId xmlns:a16="http://schemas.microsoft.com/office/drawing/2014/main" id="{D7E1A2C5-03D4-1E2E-F7A1-67DD728AA5A7}"/>
              </a:ext>
            </a:extLst>
          </p:cNvPr>
          <p:cNvSpPr/>
          <p:nvPr/>
        </p:nvSpPr>
        <p:spPr>
          <a:xfrm>
            <a:off x="4649570" y="3352716"/>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 (‘starting </a:t>
            </a:r>
            <a:r>
              <a:rPr lang="en-US" sz="1000" b="1" dirty="0" err="1">
                <a:solidFill>
                  <a:schemeClr val="tx1"/>
                </a:solidFill>
              </a:rPr>
              <a:t>makeR</a:t>
            </a:r>
            <a:r>
              <a:rPr lang="en-US" sz="1000" b="1" dirty="0">
                <a:solidFill>
                  <a:schemeClr val="tx1"/>
                </a:solidFill>
              </a:rPr>
              <a:t>…’)</a:t>
            </a:r>
          </a:p>
        </p:txBody>
      </p:sp>
      <p:sp>
        <p:nvSpPr>
          <p:cNvPr id="12" name="Rectangle: Rounded Corners 11">
            <a:extLst>
              <a:ext uri="{FF2B5EF4-FFF2-40B4-BE49-F238E27FC236}">
                <a16:creationId xmlns:a16="http://schemas.microsoft.com/office/drawing/2014/main" id="{1A4AAF2C-84EE-0E05-B19E-DA09A095A498}"/>
              </a:ext>
            </a:extLst>
          </p:cNvPr>
          <p:cNvSpPr/>
          <p:nvPr/>
        </p:nvSpPr>
        <p:spPr>
          <a:xfrm>
            <a:off x="9704965" y="3391944"/>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rgbClr val="000000"/>
                </a:solidFill>
                <a:latin typeface="Consolas" panose="020B0609020204030204" pitchFamily="49" charset="0"/>
              </a:rPr>
              <a:t>fetch(</a:t>
            </a:r>
            <a:r>
              <a:rPr lang="en-US" sz="1000" dirty="0">
                <a:solidFill>
                  <a:srgbClr val="A31515"/>
                </a:solidFill>
                <a:latin typeface="Consolas" panose="020B0609020204030204" pitchFamily="49" charset="0"/>
              </a:rPr>
              <a:t>'https://rest…'</a:t>
            </a:r>
            <a:r>
              <a:rPr lang="en-US" sz="1000" dirty="0">
                <a:solidFill>
                  <a:srgbClr val="000000"/>
                </a:solidFill>
                <a:latin typeface="Consolas" panose="020B0609020204030204" pitchFamily="49" charset="0"/>
              </a:rPr>
              <a:t>);</a:t>
            </a:r>
            <a:endParaRPr lang="en-US" sz="1000" b="1" dirty="0">
              <a:solidFill>
                <a:schemeClr val="tx1"/>
              </a:solidFill>
            </a:endParaRPr>
          </a:p>
        </p:txBody>
      </p:sp>
      <p:sp>
        <p:nvSpPr>
          <p:cNvPr id="14" name="Rectangle: Rounded Corners 13">
            <a:extLst>
              <a:ext uri="{FF2B5EF4-FFF2-40B4-BE49-F238E27FC236}">
                <a16:creationId xmlns:a16="http://schemas.microsoft.com/office/drawing/2014/main" id="{2E7D8C9E-B65F-0D53-0543-003E2C41C147}"/>
              </a:ext>
            </a:extLst>
          </p:cNvPr>
          <p:cNvSpPr/>
          <p:nvPr/>
        </p:nvSpPr>
        <p:spPr>
          <a:xfrm>
            <a:off x="7752863" y="6149245"/>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 from fetch</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17" name="Content Placeholder 1">
            <a:extLst>
              <a:ext uri="{FF2B5EF4-FFF2-40B4-BE49-F238E27FC236}">
                <a16:creationId xmlns:a16="http://schemas.microsoft.com/office/drawing/2014/main" id="{CECC858F-855F-B805-23D7-40D0CFA0AA2D}"/>
              </a:ext>
            </a:extLst>
          </p:cNvPr>
          <p:cNvSpPr txBox="1">
            <a:spLocks/>
          </p:cNvSpPr>
          <p:nvPr/>
        </p:nvSpPr>
        <p:spPr>
          <a:xfrm>
            <a:off x="518711" y="4946213"/>
            <a:ext cx="3744982" cy="653882"/>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Now, </a:t>
            </a:r>
            <a:r>
              <a:rPr lang="en-US" sz="2000" dirty="0" err="1"/>
              <a:t>makeRequest</a:t>
            </a:r>
            <a:r>
              <a:rPr lang="en-US" sz="2000" dirty="0"/>
              <a:t>(200) can proceed …</a:t>
            </a:r>
          </a:p>
        </p:txBody>
      </p:sp>
      <p:sp>
        <p:nvSpPr>
          <p:cNvPr id="13" name="TextBox 12">
            <a:extLst>
              <a:ext uri="{FF2B5EF4-FFF2-40B4-BE49-F238E27FC236}">
                <a16:creationId xmlns:a16="http://schemas.microsoft.com/office/drawing/2014/main" id="{1B64EA3A-9E61-47FA-1240-B7E38B9A1B8D}"/>
              </a:ext>
            </a:extLst>
          </p:cNvPr>
          <p:cNvSpPr txBox="1"/>
          <p:nvPr/>
        </p:nvSpPr>
        <p:spPr>
          <a:xfrm>
            <a:off x="381850" y="1570436"/>
            <a:ext cx="4967083"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main()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'starting main'</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promises =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3</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results =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await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lang="en-US" sz="1400" dirty="0">
                <a:solidFill>
                  <a:srgbClr val="000000"/>
                </a:solidFill>
                <a:latin typeface="Consolas" panose="020B0609020204030204" pitchFamily="49" charset="0"/>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Promise.all</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(promises);</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'results:'</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results);</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'main done'</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b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timeIt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(main)</a:t>
            </a:r>
          </a:p>
        </p:txBody>
      </p:sp>
    </p:spTree>
    <p:extLst>
      <p:ext uri="{BB962C8B-B14F-4D97-AF65-F5344CB8AC3E}">
        <p14:creationId xmlns:p14="http://schemas.microsoft.com/office/powerpoint/2010/main" val="2188387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xit" presetSubtype="1" fill="hold" grpId="1" nodeType="clickEffect">
                                  <p:stCondLst>
                                    <p:cond delay="0"/>
                                  </p:stCondLst>
                                  <p:childTnLst>
                                    <p:anim calcmode="lin" valueType="num">
                                      <p:cBhvr additive="base">
                                        <p:cTn id="18" dur="500"/>
                                        <p:tgtEl>
                                          <p:spTgt spid="9"/>
                                        </p:tgtEl>
                                        <p:attrNameLst>
                                          <p:attrName>ppt_x</p:attrName>
                                        </p:attrNameLst>
                                      </p:cBhvr>
                                      <p:tavLst>
                                        <p:tav tm="0">
                                          <p:val>
                                            <p:strVal val="ppt_x"/>
                                          </p:val>
                                        </p:tav>
                                        <p:tav tm="100000">
                                          <p:val>
                                            <p:strVal val="ppt_x"/>
                                          </p:val>
                                        </p:tav>
                                      </p:tavLst>
                                    </p:anim>
                                    <p:anim calcmode="lin" valueType="num">
                                      <p:cBhvr additive="base">
                                        <p:cTn id="19" dur="500"/>
                                        <p:tgtEl>
                                          <p:spTgt spid="9"/>
                                        </p:tgtEl>
                                        <p:attrNameLst>
                                          <p:attrName>ppt_y</p:attrName>
                                        </p:attrNameLst>
                                      </p:cBhvr>
                                      <p:tavLst>
                                        <p:tav tm="0">
                                          <p:val>
                                            <p:strVal val="ppt_y"/>
                                          </p:val>
                                        </p:tav>
                                        <p:tav tm="100000">
                                          <p:val>
                                            <p:strVal val="0-ppt_h/2"/>
                                          </p:val>
                                        </p:tav>
                                      </p:tavLst>
                                    </p:anim>
                                    <p:set>
                                      <p:cBhvr>
                                        <p:cTn id="20" dur="1" fill="hold">
                                          <p:stCondLst>
                                            <p:cond delay="499"/>
                                          </p:stCondLst>
                                        </p:cTn>
                                        <p:tgtEl>
                                          <p:spTgt spid="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1" fill="hold" grpId="1" nodeType="clickEffect">
                                  <p:stCondLst>
                                    <p:cond delay="0"/>
                                  </p:stCondLst>
                                  <p:childTnLst>
                                    <p:anim calcmode="lin" valueType="num">
                                      <p:cBhvr additive="base">
                                        <p:cTn id="36" dur="500"/>
                                        <p:tgtEl>
                                          <p:spTgt spid="11"/>
                                        </p:tgtEl>
                                        <p:attrNameLst>
                                          <p:attrName>ppt_x</p:attrName>
                                        </p:attrNameLst>
                                      </p:cBhvr>
                                      <p:tavLst>
                                        <p:tav tm="0">
                                          <p:val>
                                            <p:strVal val="ppt_x"/>
                                          </p:val>
                                        </p:tav>
                                        <p:tav tm="100000">
                                          <p:val>
                                            <p:strVal val="ppt_x"/>
                                          </p:val>
                                        </p:tav>
                                      </p:tavLst>
                                    </p:anim>
                                    <p:anim calcmode="lin" valueType="num">
                                      <p:cBhvr additive="base">
                                        <p:cTn id="37" dur="500"/>
                                        <p:tgtEl>
                                          <p:spTgt spid="11"/>
                                        </p:tgtEl>
                                        <p:attrNameLst>
                                          <p:attrName>ppt_y</p:attrName>
                                        </p:attrNameLst>
                                      </p:cBhvr>
                                      <p:tavLst>
                                        <p:tav tm="0">
                                          <p:val>
                                            <p:strVal val="ppt_y"/>
                                          </p:val>
                                        </p:tav>
                                        <p:tav tm="100000">
                                          <p:val>
                                            <p:strVal val="0-ppt_h/2"/>
                                          </p:val>
                                        </p:tav>
                                      </p:tavLst>
                                    </p:anim>
                                    <p:set>
                                      <p:cBhvr>
                                        <p:cTn id="38" dur="1" fill="hold">
                                          <p:stCondLst>
                                            <p:cond delay="499"/>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1"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0-#ppt_w/2"/>
                                          </p:val>
                                        </p:tav>
                                        <p:tav tm="100000">
                                          <p:val>
                                            <p:strVal val="#ppt_x"/>
                                          </p:val>
                                        </p:tav>
                                      </p:tavLst>
                                    </p:anim>
                                    <p:anim calcmode="lin" valueType="num">
                                      <p:cBhvr additive="base">
                                        <p:cTn id="44"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500" fill="hold"/>
                                        <p:tgtEl>
                                          <p:spTgt spid="15"/>
                                        </p:tgtEl>
                                        <p:attrNameLst>
                                          <p:attrName>ppt_x</p:attrName>
                                        </p:attrNameLst>
                                      </p:cBhvr>
                                      <p:tavLst>
                                        <p:tav tm="0">
                                          <p:val>
                                            <p:strVal val="1+#ppt_w/2"/>
                                          </p:val>
                                        </p:tav>
                                        <p:tav tm="100000">
                                          <p:val>
                                            <p:strVal val="#ppt_x"/>
                                          </p:val>
                                        </p:tav>
                                      </p:tavLst>
                                    </p:anim>
                                    <p:anim calcmode="lin" valueType="num">
                                      <p:cBhvr additive="base">
                                        <p:cTn id="5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1" fill="hold" grpId="1" nodeType="clickEffect">
                                  <p:stCondLst>
                                    <p:cond delay="0"/>
                                  </p:stCondLst>
                                  <p:childTnLst>
                                    <p:anim calcmode="lin" valueType="num">
                                      <p:cBhvr additive="base">
                                        <p:cTn id="54" dur="1000"/>
                                        <p:tgtEl>
                                          <p:spTgt spid="10"/>
                                        </p:tgtEl>
                                        <p:attrNameLst>
                                          <p:attrName>ppt_x</p:attrName>
                                        </p:attrNameLst>
                                      </p:cBhvr>
                                      <p:tavLst>
                                        <p:tav tm="0">
                                          <p:val>
                                            <p:strVal val="ppt_x"/>
                                          </p:val>
                                        </p:tav>
                                        <p:tav tm="100000">
                                          <p:val>
                                            <p:strVal val="ppt_x"/>
                                          </p:val>
                                        </p:tav>
                                      </p:tavLst>
                                    </p:anim>
                                    <p:anim calcmode="lin" valueType="num">
                                      <p:cBhvr additive="base">
                                        <p:cTn id="55" dur="1000"/>
                                        <p:tgtEl>
                                          <p:spTgt spid="10"/>
                                        </p:tgtEl>
                                        <p:attrNameLst>
                                          <p:attrName>ppt_y</p:attrName>
                                        </p:attrNameLst>
                                      </p:cBhvr>
                                      <p:tavLst>
                                        <p:tav tm="0">
                                          <p:val>
                                            <p:strVal val="ppt_y"/>
                                          </p:val>
                                        </p:tav>
                                        <p:tav tm="100000">
                                          <p:val>
                                            <p:strVal val="0-ppt_h/2"/>
                                          </p:val>
                                        </p:tav>
                                      </p:tavLst>
                                    </p:anim>
                                    <p:set>
                                      <p:cBhvr>
                                        <p:cTn id="56" dur="1" fill="hold">
                                          <p:stCondLst>
                                            <p:cond delay="999"/>
                                          </p:stCondLst>
                                        </p:cTn>
                                        <p:tgtEl>
                                          <p:spTgt spid="10"/>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500"/>
                                        <p:tgtEl>
                                          <p:spTgt spid="12"/>
                                        </p:tgtEl>
                                      </p:cBhvr>
                                    </p:animEffect>
                                    <p:set>
                                      <p:cBhvr>
                                        <p:cTn id="61" dur="1" fill="hold">
                                          <p:stCondLst>
                                            <p:cond delay="499"/>
                                          </p:stCondLst>
                                        </p:cTn>
                                        <p:tgtEl>
                                          <p:spTgt spid="12"/>
                                        </p:tgtEl>
                                        <p:attrNameLst>
                                          <p:attrName>style.visibility</p:attrName>
                                        </p:attrNameLst>
                                      </p:cBhvr>
                                      <p:to>
                                        <p:strVal val="hidden"/>
                                      </p:to>
                                    </p:set>
                                  </p:childTnLst>
                                </p:cTn>
                              </p:par>
                              <p:par>
                                <p:cTn id="62" presetID="1"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0" grpId="0" animBg="1"/>
      <p:bldP spid="10" grpId="1" animBg="1"/>
      <p:bldP spid="11" grpId="0" animBg="1"/>
      <p:bldP spid="11" grpId="1" animBg="1"/>
      <p:bldP spid="12" grpId="0" animBg="1"/>
      <p:bldP spid="12" grpId="1" animBg="1"/>
      <p:bldP spid="14" grpId="0" animBg="1"/>
      <p:bldP spid="15" grpId="0" animBg="1"/>
      <p:bldP spid="1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(end)</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console.log(‘make3… finished’);</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7" name="Rectangle: Rounded Corners 6">
            <a:extLst>
              <a:ext uri="{FF2B5EF4-FFF2-40B4-BE49-F238E27FC236}">
                <a16:creationId xmlns:a16="http://schemas.microsoft.com/office/drawing/2014/main" id="{5FD298F8-0B37-DB0E-5E94-33365322A466}"/>
              </a:ext>
            </a:extLst>
          </p:cNvPr>
          <p:cNvSpPr/>
          <p:nvPr/>
        </p:nvSpPr>
        <p:spPr>
          <a:xfrm>
            <a:off x="7705086" y="4177738"/>
            <a:ext cx="577613"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P2</a:t>
            </a:r>
          </a:p>
        </p:txBody>
      </p:sp>
      <p:sp>
        <p:nvSpPr>
          <p:cNvPr id="13" name="Rectangle: Rounded Corners 12">
            <a:extLst>
              <a:ext uri="{FF2B5EF4-FFF2-40B4-BE49-F238E27FC236}">
                <a16:creationId xmlns:a16="http://schemas.microsoft.com/office/drawing/2014/main" id="{AAB5B8BD-FC4A-5018-2369-365103188C83}"/>
              </a:ext>
            </a:extLst>
          </p:cNvPr>
          <p:cNvSpPr/>
          <p:nvPr/>
        </p:nvSpPr>
        <p:spPr>
          <a:xfrm>
            <a:off x="8343348"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P3</a:t>
            </a:r>
          </a:p>
        </p:txBody>
      </p:sp>
      <p:sp>
        <p:nvSpPr>
          <p:cNvPr id="16" name="Rectangle: Rounded Corners 15">
            <a:extLst>
              <a:ext uri="{FF2B5EF4-FFF2-40B4-BE49-F238E27FC236}">
                <a16:creationId xmlns:a16="http://schemas.microsoft.com/office/drawing/2014/main" id="{D65DBFC0-C599-616B-B28E-0775882A13D8}"/>
              </a:ext>
            </a:extLst>
          </p:cNvPr>
          <p:cNvSpPr/>
          <p:nvPr/>
        </p:nvSpPr>
        <p:spPr>
          <a:xfrm>
            <a:off x="7644437" y="6149245"/>
            <a:ext cx="1765710"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Responses from fetch 1, 2, 3</a:t>
            </a:r>
          </a:p>
        </p:txBody>
      </p:sp>
      <p:sp>
        <p:nvSpPr>
          <p:cNvPr id="11" name="TextBox 10">
            <a:extLst>
              <a:ext uri="{FF2B5EF4-FFF2-40B4-BE49-F238E27FC236}">
                <a16:creationId xmlns:a16="http://schemas.microsoft.com/office/drawing/2014/main" id="{F62C23ED-9342-ADEF-7F30-4973ECB8F17F}"/>
              </a:ext>
            </a:extLst>
          </p:cNvPr>
          <p:cNvSpPr txBox="1"/>
          <p:nvPr/>
        </p:nvSpPr>
        <p:spPr>
          <a:xfrm>
            <a:off x="381850" y="1570436"/>
            <a:ext cx="4967083"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main()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'starting main'</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promises =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3</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results =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await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lang="en-US" sz="1400" dirty="0">
                <a:solidFill>
                  <a:srgbClr val="000000"/>
                </a:solidFill>
                <a:latin typeface="Consolas" panose="020B0609020204030204" pitchFamily="49" charset="0"/>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Promise.all</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(promises);</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'results:'</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results);</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'main done'</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b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timeIt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(main)</a:t>
            </a:r>
          </a:p>
        </p:txBody>
      </p:sp>
    </p:spTree>
    <p:extLst>
      <p:ext uri="{BB962C8B-B14F-4D97-AF65-F5344CB8AC3E}">
        <p14:creationId xmlns:p14="http://schemas.microsoft.com/office/powerpoint/2010/main" val="1605946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1"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xit" presetSubtype="1" fill="hold" grpId="1" nodeType="clickEffect">
                                  <p:stCondLst>
                                    <p:cond delay="0"/>
                                  </p:stCondLst>
                                  <p:childTnLst>
                                    <p:anim calcmode="lin" valueType="num">
                                      <p:cBhvr additive="base">
                                        <p:cTn id="22" dur="500"/>
                                        <p:tgtEl>
                                          <p:spTgt spid="9"/>
                                        </p:tgtEl>
                                        <p:attrNameLst>
                                          <p:attrName>ppt_x</p:attrName>
                                        </p:attrNameLst>
                                      </p:cBhvr>
                                      <p:tavLst>
                                        <p:tav tm="0">
                                          <p:val>
                                            <p:strVal val="ppt_x"/>
                                          </p:val>
                                        </p:tav>
                                        <p:tav tm="100000">
                                          <p:val>
                                            <p:strVal val="ppt_x"/>
                                          </p:val>
                                        </p:tav>
                                      </p:tavLst>
                                    </p:anim>
                                    <p:anim calcmode="lin" valueType="num">
                                      <p:cBhvr additive="base">
                                        <p:cTn id="23" dur="500"/>
                                        <p:tgtEl>
                                          <p:spTgt spid="9"/>
                                        </p:tgtEl>
                                        <p:attrNameLst>
                                          <p:attrName>ppt_y</p:attrName>
                                        </p:attrNameLst>
                                      </p:cBhvr>
                                      <p:tavLst>
                                        <p:tav tm="0">
                                          <p:val>
                                            <p:strVal val="ppt_y"/>
                                          </p:val>
                                        </p:tav>
                                        <p:tav tm="100000">
                                          <p:val>
                                            <p:strVal val="0-ppt_h/2"/>
                                          </p:val>
                                        </p:tav>
                                      </p:tavLst>
                                    </p:anim>
                                    <p:set>
                                      <p:cBhvr>
                                        <p:cTn id="24" dur="1" fill="hold">
                                          <p:stCondLst>
                                            <p:cond delay="499"/>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2" presetClass="exit" presetSubtype="1" fill="hold" grpId="0" nodeType="clickEffect">
                                  <p:stCondLst>
                                    <p:cond delay="0"/>
                                  </p:stCondLst>
                                  <p:childTnLst>
                                    <p:anim calcmode="lin" valueType="num">
                                      <p:cBhvr additive="base">
                                        <p:cTn id="28" dur="500"/>
                                        <p:tgtEl>
                                          <p:spTgt spid="8"/>
                                        </p:tgtEl>
                                        <p:attrNameLst>
                                          <p:attrName>ppt_x</p:attrName>
                                        </p:attrNameLst>
                                      </p:cBhvr>
                                      <p:tavLst>
                                        <p:tav tm="0">
                                          <p:val>
                                            <p:strVal val="ppt_x"/>
                                          </p:val>
                                        </p:tav>
                                        <p:tav tm="100000">
                                          <p:val>
                                            <p:strVal val="ppt_x"/>
                                          </p:val>
                                        </p:tav>
                                      </p:tavLst>
                                    </p:anim>
                                    <p:anim calcmode="lin" valueType="num">
                                      <p:cBhvr additive="base">
                                        <p:cTn id="29" dur="500"/>
                                        <p:tgtEl>
                                          <p:spTgt spid="8"/>
                                        </p:tgtEl>
                                        <p:attrNameLst>
                                          <p:attrName>ppt_y</p:attrName>
                                        </p:attrNameLst>
                                      </p:cBhvr>
                                      <p:tavLst>
                                        <p:tav tm="0">
                                          <p:val>
                                            <p:strVal val="ppt_y"/>
                                          </p:val>
                                        </p:tav>
                                        <p:tav tm="100000">
                                          <p:val>
                                            <p:strVal val="0-ppt_h/2"/>
                                          </p:val>
                                        </p:tav>
                                      </p:tavLst>
                                    </p:anim>
                                    <p:set>
                                      <p:cBhvr>
                                        <p:cTn id="30"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5" grpId="0" animBg="1"/>
      <p:bldP spid="7" grpId="0" animBg="1"/>
      <p:bldP spid="13" grpId="0" animBg="1"/>
      <p:bldP spid="16"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564058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lnSpc>
                <a:spcPct val="113095"/>
              </a:lnSpc>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main() {</a:t>
            </a:r>
          </a:p>
          <a:p>
            <a:pPr algn="l">
              <a:lnSpc>
                <a:spcPct val="113095"/>
              </a:lnSpc>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started'</a:t>
            </a:r>
            <a:r>
              <a:rPr lang="en-US" sz="1800" b="0" dirty="0">
                <a:solidFill>
                  <a:srgbClr val="000000"/>
                </a:solidFill>
                <a:effectLst/>
                <a:latin typeface="Consolas" panose="020B0609020204030204" pitchFamily="49" charset="0"/>
              </a:rPr>
              <a:t>);</a:t>
            </a:r>
          </a:p>
          <a:p>
            <a:pPr algn="l">
              <a:lnSpc>
                <a:spcPct val="113095"/>
              </a:lnSpc>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`creating </a:t>
            </a:r>
            <a:r>
              <a:rPr lang="en-US" sz="1800" b="0" dirty="0" err="1">
                <a:solidFill>
                  <a:srgbClr val="A31515"/>
                </a:solidFill>
                <a:effectLst/>
                <a:latin typeface="Consolas" panose="020B0609020204030204" pitchFamily="49" charset="0"/>
              </a:rPr>
              <a:t>macrotask</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macrotask</a:t>
            </a:r>
            <a:r>
              <a:rPr lang="en-US" sz="1800" b="0" dirty="0">
                <a:solidFill>
                  <a:srgbClr val="000000"/>
                </a:solidFill>
                <a:effectLst/>
                <a:latin typeface="Consolas" panose="020B0609020204030204" pitchFamily="49" charset="0"/>
              </a:rPr>
              <a:t>();</a:t>
            </a:r>
          </a:p>
          <a:p>
            <a:pPr algn="l">
              <a:lnSpc>
                <a:spcPct val="113095"/>
              </a:lnSpc>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'running microtask1'</a:t>
            </a:r>
            <a:r>
              <a:rPr lang="en-US" sz="1800" b="0" dirty="0">
                <a:solidFill>
                  <a:srgbClr val="000000"/>
                </a:solidFill>
                <a:effectLst/>
                <a:latin typeface="Consolas" panose="020B0609020204030204" pitchFamily="49" charset="0"/>
              </a:rPr>
              <a:t>);</a:t>
            </a:r>
          </a:p>
          <a:p>
            <a:pPr algn="l">
              <a:lnSpc>
                <a:spcPct val="113095"/>
              </a:lnSpc>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'running microtask2'</a:t>
            </a:r>
            <a:r>
              <a:rPr lang="en-US" sz="1800" b="0" dirty="0">
                <a:solidFill>
                  <a:srgbClr val="000000"/>
                </a:solidFill>
                <a:effectLst/>
                <a:latin typeface="Consolas" panose="020B0609020204030204" pitchFamily="49" charset="0"/>
              </a:rPr>
              <a:t>);</a:t>
            </a:r>
          </a:p>
          <a:p>
            <a:pPr algn="l">
              <a:lnSpc>
                <a:spcPct val="113095"/>
              </a:lnSpc>
              <a:buNone/>
            </a:pPr>
            <a:r>
              <a:rPr lang="en-US" sz="1800" b="0" dirty="0">
                <a:solidFill>
                  <a:srgbClr val="000000"/>
                </a:solidFill>
                <a:effectLst/>
                <a:latin typeface="Consolas" panose="020B0609020204030204" pitchFamily="49" charset="0"/>
              </a:rPr>
              <a:t>}</a:t>
            </a:r>
          </a:p>
          <a:p>
            <a:pPr algn="l">
              <a:lnSpc>
                <a:spcPct val="113095"/>
              </a:lnSpc>
              <a:buNone/>
            </a:pPr>
            <a:endParaRPr lang="en-US" sz="1800" b="0" dirty="0">
              <a:solidFill>
                <a:srgbClr val="000000"/>
              </a:solidFill>
              <a:effectLst/>
              <a:latin typeface="Consolas" panose="020B0609020204030204" pitchFamily="49" charset="0"/>
            </a:endParaRPr>
          </a:p>
          <a:p>
            <a:pPr algn="l">
              <a:lnSpc>
                <a:spcPct val="113095"/>
              </a:lnSpc>
              <a:buNone/>
            </a:pPr>
            <a:r>
              <a:rPr lang="en-US" sz="1800" b="0" dirty="0">
                <a:solidFill>
                  <a:srgbClr val="008000"/>
                </a:solidFill>
                <a:effectLst/>
                <a:latin typeface="Consolas" panose="020B0609020204030204" pitchFamily="49" charset="0"/>
              </a:rPr>
              <a:t>// returns a promise to wait 0 milliseconds and then run the </a:t>
            </a:r>
            <a:r>
              <a:rPr lang="en-US" sz="1800" b="0" dirty="0" err="1">
                <a:solidFill>
                  <a:srgbClr val="008000"/>
                </a:solidFill>
                <a:effectLst/>
                <a:latin typeface="Consolas" panose="020B0609020204030204" pitchFamily="49" charset="0"/>
              </a:rPr>
              <a:t>macrotask</a:t>
            </a:r>
            <a:endParaRPr lang="en-US" sz="1800" b="0" dirty="0">
              <a:solidFill>
                <a:srgbClr val="000000"/>
              </a:solidFill>
              <a:effectLst/>
              <a:latin typeface="Consolas" panose="020B0609020204030204" pitchFamily="49" charset="0"/>
            </a:endParaRPr>
          </a:p>
          <a:p>
            <a:pPr algn="l">
              <a:lnSpc>
                <a:spcPct val="113095"/>
              </a:lnSpc>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macrotask</a:t>
            </a:r>
            <a:r>
              <a:rPr lang="en-US" sz="1800" b="0" dirty="0">
                <a:solidFill>
                  <a:srgbClr val="000000"/>
                </a:solidFill>
                <a:effectLst/>
                <a:latin typeface="Consolas" panose="020B0609020204030204" pitchFamily="49" charset="0"/>
              </a:rPr>
              <a:t>() { </a:t>
            </a:r>
          </a:p>
          <a:p>
            <a:pPr algn="l">
              <a:lnSpc>
                <a:spcPct val="113095"/>
              </a:lnSpc>
              <a:buNone/>
            </a:pP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setTimeout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=&gt;</a:t>
            </a:r>
            <a:r>
              <a:rPr lang="en-US" sz="1800" b="0" dirty="0">
                <a:solidFill>
                  <a:srgbClr val="000000"/>
                </a:solidFill>
                <a:effectLst/>
                <a:latin typeface="Consolas" panose="020B0609020204030204" pitchFamily="49" charset="0"/>
              </a:rPr>
              <a:t> {</a:t>
            </a:r>
          </a:p>
          <a:p>
            <a:pPr algn="l">
              <a:lnSpc>
                <a:spcPct val="113095"/>
              </a:lnSpc>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'running </a:t>
            </a:r>
            <a:r>
              <a:rPr lang="en-US" sz="1800" b="0" dirty="0" err="1">
                <a:solidFill>
                  <a:srgbClr val="A31515"/>
                </a:solidFill>
                <a:effectLst/>
                <a:latin typeface="Consolas" panose="020B0609020204030204" pitchFamily="49" charset="0"/>
              </a:rPr>
              <a:t>macrotask</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lnSpc>
                <a:spcPct val="113095"/>
              </a:lnSpc>
              <a:buNone/>
            </a:pPr>
            <a:r>
              <a:rPr lang="en-US" sz="1800" b="0" dirty="0">
                <a:solidFill>
                  <a:srgbClr val="000000"/>
                </a:solidFill>
                <a:effectLst/>
                <a:latin typeface="Consolas" panose="020B0609020204030204" pitchFamily="49" charset="0"/>
              </a:rPr>
              <a:t>    },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a:t>
            </a:r>
          </a:p>
          <a:p>
            <a:pPr algn="l">
              <a:lnSpc>
                <a:spcPct val="113095"/>
              </a:lnSpc>
              <a:buNone/>
            </a:pPr>
            <a:r>
              <a:rPr lang="en-US" sz="1800" b="0" dirty="0">
                <a:solidFill>
                  <a:srgbClr val="000000"/>
                </a:solidFill>
                <a:effectLst/>
                <a:latin typeface="Consolas" panose="020B0609020204030204" pitchFamily="49" charset="0"/>
              </a:rPr>
              <a:t>}</a:t>
            </a:r>
          </a:p>
          <a:p>
            <a:pPr algn="l">
              <a:lnSpc>
                <a:spcPct val="113095"/>
              </a:lnSpc>
              <a:buNone/>
            </a:pPr>
            <a:endParaRPr lang="en-US" sz="1800" b="0" dirty="0">
              <a:solidFill>
                <a:srgbClr val="000000"/>
              </a:solidFill>
              <a:effectLst/>
              <a:latin typeface="Consolas" panose="020B0609020204030204" pitchFamily="49" charset="0"/>
            </a:endParaRPr>
          </a:p>
          <a:p>
            <a:pPr algn="l">
              <a:lnSpc>
                <a:spcPct val="113095"/>
              </a:lnSpc>
              <a:buNone/>
            </a:pPr>
            <a:r>
              <a:rPr lang="en-US" sz="1800" b="0" dirty="0">
                <a:solidFill>
                  <a:srgbClr val="000000"/>
                </a:solidFill>
                <a:effectLst/>
                <a:latin typeface="Consolas" panose="020B0609020204030204" pitchFamily="49" charset="0"/>
              </a:rPr>
              <a:t>main()</a:t>
            </a:r>
          </a:p>
          <a:p>
            <a:pPr algn="l">
              <a:lnSpc>
                <a:spcPct val="113095"/>
              </a:lnSpc>
              <a:buNone/>
            </a:pPr>
            <a:br>
              <a:rPr lang="en-US" sz="1600" b="0" dirty="0">
                <a:solidFill>
                  <a:srgbClr val="000000"/>
                </a:solidFill>
                <a:effectLst/>
                <a:latin typeface="Consolas" panose="020B0609020204030204" pitchFamily="49" charset="0"/>
              </a:rPr>
            </a:br>
            <a:endParaRPr lang="en-US" sz="16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microOverMacro.ts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345858"/>
            <a:ext cx="4745491" cy="2253725"/>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microOverMacro.ts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creating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running microtask1</a:t>
            </a:r>
          </a:p>
          <a:p>
            <a:pPr algn="l"/>
            <a:r>
              <a:rPr lang="en-US" sz="2000" dirty="0">
                <a:solidFill>
                  <a:schemeClr val="tx1"/>
                </a:solidFill>
                <a:latin typeface="Verdana" panose="020B0604030504040204" pitchFamily="34" charset="0"/>
                <a:ea typeface="Verdana" panose="020B0604030504040204" pitchFamily="34" charset="0"/>
              </a:rPr>
              <a:t>running microtask2</a:t>
            </a:r>
          </a:p>
          <a:p>
            <a:pPr algn="l"/>
            <a:r>
              <a:rPr lang="en-US" sz="2000" dirty="0">
                <a:solidFill>
                  <a:schemeClr val="tx1"/>
                </a:solidFill>
                <a:latin typeface="Verdana" panose="020B0604030504040204" pitchFamily="34" charset="0"/>
                <a:ea typeface="Verdana" panose="020B0604030504040204" pitchFamily="34" charset="0"/>
              </a:rPr>
              <a:t>running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2008209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`Recovering from failure with 0`</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4336026" y="3925392"/>
            <a:ext cx="7588733" cy="2609534"/>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Request -32 failing because response -22 would be &lt; 0</a:t>
            </a:r>
          </a:p>
          <a:p>
            <a:pPr algn="l"/>
            <a:r>
              <a:rPr lang="en-US" sz="2000" dirty="0">
                <a:solidFill>
                  <a:schemeClr val="tx1"/>
                </a:solidFill>
                <a:latin typeface="Verdana" panose="020B0604030504040204" pitchFamily="34" charset="0"/>
                <a:ea typeface="Verdana" panose="020B0604030504040204" pitchFamily="34" charset="0"/>
              </a:rPr>
              <a:t>Recovering from failure with 0</a:t>
            </a:r>
          </a:p>
          <a:p>
            <a:pPr algn="l"/>
            <a:r>
              <a:rPr lang="en-US" sz="2000" dirty="0">
                <a:solidFill>
                  <a:schemeClr val="tx1"/>
                </a:solidFill>
                <a:latin typeface="Verdana" panose="020B0604030504040204" pitchFamily="34" charset="0"/>
                <a:ea typeface="Verdana" panose="020B0604030504040204" pitchFamily="34" charset="0"/>
              </a:rPr>
              <a:t>main done with res = 0</a:t>
            </a:r>
          </a:p>
          <a:p>
            <a:pPr algn="l"/>
            <a:r>
              <a:rPr lang="en-US" sz="2000" dirty="0">
                <a:solidFill>
                  <a:schemeClr val="tx1"/>
                </a:solidFill>
                <a:latin typeface="Verdana" panose="020B0604030504040204" pitchFamily="34" charset="0"/>
                <a:ea typeface="Verdana" panose="020B0604030504040204" pitchFamily="34" charset="0"/>
              </a:rPr>
              <a:t>1014.45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example.spec.ts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Other things you should know about async</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 Using await is preferred</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8" name="Making lots of requests"/>
          <p:cNvSpPr txBox="1">
            <a:spLocks noGrp="1"/>
          </p:cNvSpPr>
          <p:nvPr>
            <p:ph type="title"/>
          </p:nvPr>
        </p:nvSpPr>
        <p:spPr>
          <a:prstGeom prst="rect">
            <a:avLst/>
          </a:prstGeom>
        </p:spPr>
        <p:txBody>
          <a:bodyPr/>
          <a:lstStyle/>
          <a:p>
            <a:r>
              <a:rPr lang="en-US" dirty="0"/>
              <a:t>Promises Enforce Ordering Through “Then”</a:t>
            </a:r>
            <a:endParaRPr dirty="0"/>
          </a:p>
        </p:txBody>
      </p:sp>
      <p:sp>
        <p:nvSpPr>
          <p:cNvPr id="4" name="Content Placeholder 3">
            <a:extLst>
              <a:ext uri="{FF2B5EF4-FFF2-40B4-BE49-F238E27FC236}">
                <a16:creationId xmlns:a16="http://schemas.microsoft.com/office/drawing/2014/main" id="{508E961F-D555-45D3-2A10-EE51F1D7A125}"/>
              </a:ext>
            </a:extLst>
          </p:cNvPr>
          <p:cNvSpPr>
            <a:spLocks noGrp="1"/>
          </p:cNvSpPr>
          <p:nvPr>
            <p:ph idx="1"/>
          </p:nvPr>
        </p:nvSpPr>
        <p:spPr/>
        <p:txBody>
          <a:bodyPr>
            <a:normAutofit/>
          </a:bodyPr>
          <a:lstStyle/>
          <a:p>
            <a:r>
              <a:rPr lang="en-US" sz="1600" b="1" dirty="0" err="1"/>
              <a:t>axios.get</a:t>
            </a:r>
            <a:r>
              <a:rPr lang="en-US" sz="1600" b="1" dirty="0"/>
              <a:t> </a:t>
            </a:r>
            <a:r>
              <a:rPr lang="en-US" sz="1600" dirty="0"/>
              <a:t>returns a promise.  </a:t>
            </a:r>
          </a:p>
          <a:p>
            <a:r>
              <a:rPr lang="en-US" sz="1600" b="1" dirty="0" err="1"/>
              <a:t>p.then</a:t>
            </a:r>
            <a:r>
              <a:rPr lang="en-US" sz="1600" b="1" dirty="0"/>
              <a:t> </a:t>
            </a:r>
            <a:r>
              <a:rPr lang="en-US" sz="1600" dirty="0"/>
              <a:t>mutates that promise so that the then block is not run until after the original promise returns.</a:t>
            </a:r>
          </a:p>
          <a:p>
            <a:r>
              <a:rPr lang="en-US" sz="1600" dirty="0"/>
              <a:t>The resulting promise isn’t completed until the then block finishes.</a:t>
            </a:r>
          </a:p>
          <a:p>
            <a:r>
              <a:rPr lang="en-US" sz="1600" dirty="0"/>
              <a:t>You can chain .</a:t>
            </a:r>
            <a:r>
              <a:rPr lang="en-US" sz="1600" b="1" dirty="0" err="1"/>
              <a:t>then</a:t>
            </a:r>
            <a:r>
              <a:rPr lang="en-US" sz="1600" dirty="0" err="1"/>
              <a:t>’s</a:t>
            </a:r>
            <a:r>
              <a:rPr lang="en-US" sz="1600" dirty="0"/>
              <a:t>, to get things that look like </a:t>
            </a:r>
            <a:r>
              <a:rPr lang="en-US" sz="1600" dirty="0" err="1"/>
              <a:t>p.then</a:t>
            </a:r>
            <a:r>
              <a:rPr lang="en-US" sz="1600" dirty="0"/>
              <a:t>().then().then()</a:t>
            </a:r>
          </a:p>
          <a:p>
            <a:r>
              <a:rPr lang="en-US" sz="1600" dirty="0"/>
              <a:t>Each </a:t>
            </a:r>
            <a:r>
              <a:rPr lang="en-US" sz="1600" b="1" dirty="0"/>
              <a:t>then</a:t>
            </a:r>
            <a:r>
              <a:rPr lang="en-US" sz="1600" dirty="0"/>
              <a:t> is a pause point.</a:t>
            </a:r>
          </a:p>
        </p:txBody>
      </p:sp>
      <p:sp>
        <p:nvSpPr>
          <p:cNvPr id="270" name="console.log('Making a requests');…"/>
          <p:cNvSpPr txBox="1"/>
          <p:nvPr/>
        </p:nvSpPr>
        <p:spPr>
          <a:xfrm>
            <a:off x="933370" y="1631794"/>
            <a:ext cx="6024716" cy="374461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nchor="ctr">
            <a:spAutoFit/>
          </a:bodyPr>
          <a:lstStyle/>
          <a:p>
            <a:pPr algn="l" defTabSz="228600">
              <a:defRPr sz="2600" b="1">
                <a:solidFill>
                  <a:srgbClr val="018001"/>
                </a:solidFill>
                <a:latin typeface="Courier"/>
                <a:ea typeface="Courier"/>
                <a:cs typeface="Courier"/>
                <a:sym typeface="Courier"/>
              </a:defRPr>
            </a:pPr>
            <a:r>
              <a:rPr lang="en-US" sz="1600" i="1" dirty="0">
                <a:solidFill>
                  <a:srgbClr val="66187A"/>
                </a:solidFill>
              </a:rPr>
              <a:t>1.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'Making requests'</a:t>
            </a:r>
            <a:r>
              <a:rPr sz="1600" dirty="0">
                <a:solidFill>
                  <a:srgbClr val="000000"/>
                </a:solidFill>
              </a:rPr>
              <a:t>);</a:t>
            </a:r>
          </a:p>
          <a:p>
            <a:pPr algn="l" defTabSz="228600">
              <a:defRPr sz="2600" b="1">
                <a:solidFill>
                  <a:srgbClr val="018001"/>
                </a:solidFill>
                <a:latin typeface="Courier"/>
                <a:ea typeface="Courier"/>
                <a:cs typeface="Courier"/>
                <a:sym typeface="Courier"/>
              </a:defRPr>
            </a:pPr>
            <a:r>
              <a:rPr lang="en-US" sz="1600" i="1" dirty="0">
                <a:solidFill>
                  <a:srgbClr val="66187A"/>
                </a:solidFill>
              </a:rPr>
              <a:t>2.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'https://rest-</a:t>
            </a:r>
            <a:r>
              <a:rPr sz="1600" dirty="0" err="1"/>
              <a:t>example.covey.town</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lang="en-US" sz="1600" dirty="0"/>
              <a:t>	</a:t>
            </a:r>
            <a:r>
              <a:rPr sz="1600" dirty="0"/>
              <a:t>  .</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server'</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b="1" i="1" dirty="0" err="1">
                <a:solidFill>
                  <a:srgbClr val="66187A"/>
                </a:solidFill>
              </a:rPr>
              <a:t>console</a:t>
            </a:r>
            <a:r>
              <a:rPr sz="1600" dirty="0" err="1"/>
              <a:t>.</a:t>
            </a:r>
            <a:r>
              <a:rPr sz="1600" dirty="0" err="1">
                <a:solidFill>
                  <a:srgbClr val="7A7A43"/>
                </a:solidFill>
              </a:rPr>
              <a:t>log</a:t>
            </a:r>
            <a:r>
              <a:rPr sz="1600" dirty="0"/>
              <a:t>(</a:t>
            </a:r>
            <a:r>
              <a:rPr sz="1600" dirty="0" err="1"/>
              <a:t>response.</a:t>
            </a:r>
            <a:r>
              <a:rPr sz="1600" b="1" dirty="0" err="1">
                <a:solidFill>
                  <a:srgbClr val="66187A"/>
                </a:solidFill>
              </a:rPr>
              <a:t>data</a:t>
            </a:r>
            <a:r>
              <a:rPr sz="1600" dirty="0"/>
              <a:t>);</a:t>
            </a:r>
          </a:p>
          <a:p>
            <a:pPr algn="l" defTabSz="228600">
              <a:defRPr sz="2600">
                <a:solidFill>
                  <a:srgbClr val="000000"/>
                </a:solidFill>
                <a:latin typeface="Courier"/>
                <a:ea typeface="Courier"/>
                <a:cs typeface="Courier"/>
                <a:sym typeface="Courier"/>
              </a:defRPr>
            </a:pP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3.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www.google.com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Google'</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4.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www.facebook.com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Facebook'</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5.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'Requests sent!'</a:t>
            </a:r>
            <a:r>
              <a:rPr sz="1600" dirty="0">
                <a:solidFill>
                  <a:srgbClr val="000000"/>
                </a:solidFill>
              </a:rPr>
              <a:t>);</a:t>
            </a:r>
          </a:p>
        </p:txBody>
      </p:sp>
    </p:spTree>
    <p:extLst>
      <p:ext uri="{BB962C8B-B14F-4D97-AF65-F5344CB8AC3E}">
        <p14:creationId xmlns:p14="http://schemas.microsoft.com/office/powerpoint/2010/main" val="13156217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37</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33943</TotalTime>
  <Words>5604</Words>
  <Application>Microsoft Office PowerPoint</Application>
  <PresentationFormat>Widescreen</PresentationFormat>
  <Paragraphs>588</Paragraphs>
  <Slides>37</Slides>
  <Notes>32</Notes>
  <HiddenSlides>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37</vt:i4>
      </vt:variant>
    </vt:vector>
  </HeadingPairs>
  <TitlesOfParts>
    <vt:vector size="45" baseType="lpstr">
      <vt:lpstr>Arial</vt:lpstr>
      <vt:lpstr>Calibri</vt:lpstr>
      <vt:lpstr>Consolas</vt:lpstr>
      <vt:lpstr>Courier</vt:lpstr>
      <vt:lpstr>Helvetica Neue</vt:lpstr>
      <vt:lpstr>Verdana</vt:lpstr>
      <vt:lpstr>Wingdings</vt:lpstr>
      <vt:lpstr>Office Theme</vt:lpstr>
      <vt:lpstr>CS 4530: Fundamentals of Software Engineering  Module 08: Concurrency Patterns in Typescript</vt:lpstr>
      <vt:lpstr>Learning Goals for this Lesson</vt:lpstr>
      <vt:lpstr>Why async matters</vt:lpstr>
      <vt:lpstr>Typescript/Javascript achieves this goal using two techniques:   1. non-blocking IO   2. cooperative multiprocessing </vt:lpstr>
      <vt:lpstr>Part 1: JS/TS in your browser has some primitives for doing non-blocking I/O</vt:lpstr>
      <vt:lpstr>Part 2: Javascript/Typescript uses cooperative multiprocessing</vt:lpstr>
      <vt:lpstr>async/await is a programming model for cooperative multiprocessing</vt:lpstr>
      <vt:lpstr>Quick Review of Promises (from M04)</vt:lpstr>
      <vt:lpstr>A promise can be in one of exactly 3 states</vt:lpstr>
      <vt:lpstr>Async functions return Promises</vt:lpstr>
      <vt:lpstr>This function returns a promise that will resolve with m.</vt:lpstr>
      <vt:lpstr>Run to Completion is a central concept</vt:lpstr>
      <vt:lpstr>This function can only be paused in certain places</vt:lpstr>
      <vt:lpstr>What happens at those pause points?</vt:lpstr>
      <vt:lpstr>What happens when you await?</vt:lpstr>
      <vt:lpstr>Promises come in two flavors: microtasks and macrotasks</vt:lpstr>
      <vt:lpstr>Macrotasks are API calls; Microtasks are what you do after the API call returns</vt:lpstr>
      <vt:lpstr>How does JS Event Loop make this happen?</vt:lpstr>
      <vt:lpstr>By contrast, most OS's use pre-emptive multiprocessing</vt:lpstr>
      <vt:lpstr>Java vs. JS/TS</vt:lpstr>
      <vt:lpstr>A simple request</vt:lpstr>
      <vt:lpstr>Pattern for starting a concurrent computation using non-blocking I/O</vt:lpstr>
      <vt:lpstr>Three Requests, sequentially</vt:lpstr>
      <vt:lpstr>Use Promise.all to execute several requests concurrently</vt:lpstr>
      <vt:lpstr>Use Promise.all to execute several requests concurrently</vt:lpstr>
      <vt:lpstr>Why is that?  Visualizing Promise.all</vt:lpstr>
      <vt:lpstr>Running 3 concurrent fetch requests (start)</vt:lpstr>
      <vt:lpstr>Running 3 concurrent fetch requests (end)</vt:lpstr>
      <vt:lpstr>Promises have priority (Micro over Macro)</vt:lpstr>
      <vt:lpstr>Recover from errors with try/catch</vt:lpstr>
      <vt:lpstr>try/catch, continued</vt:lpstr>
      <vt:lpstr>Pattern for testing an async function</vt:lpstr>
      <vt:lpstr>Other things you should know about async</vt:lpstr>
      <vt:lpstr>Async/await code is compiled into promise/then code. Using await is preferred</vt:lpstr>
      <vt:lpstr>Promises Enforce Ordering Through “Then”</vt:lpstr>
      <vt:lpstr>async doesn't eliminate data races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Mitchell Wand</cp:lastModifiedBy>
  <cp:revision>145</cp:revision>
  <dcterms:modified xsi:type="dcterms:W3CDTF">2026-09-25T16:31:11Z</dcterms:modified>
</cp:coreProperties>
</file>