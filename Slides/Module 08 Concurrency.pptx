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6"/>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7" r:id="rId17"/>
    <p:sldId id="691" r:id="rId18"/>
    <p:sldId id="787" r:id="rId19"/>
    <p:sldId id="564" r:id="rId20"/>
    <p:sldId id="687" r:id="rId21"/>
    <p:sldId id="690" r:id="rId22"/>
    <p:sldId id="784" r:id="rId23"/>
    <p:sldId id="262" r:id="rId24"/>
    <p:sldId id="579" r:id="rId25"/>
    <p:sldId id="679" r:id="rId26"/>
    <p:sldId id="700" r:id="rId27"/>
    <p:sldId id="785" r:id="rId28"/>
    <p:sldId id="786" r:id="rId29"/>
    <p:sldId id="781" r:id="rId30"/>
    <p:sldId id="680" r:id="rId31"/>
    <p:sldId id="662" r:id="rId32"/>
    <p:sldId id="788" r:id="rId33"/>
    <p:sldId id="695" r:id="rId34"/>
    <p:sldId id="681" r:id="rId35"/>
    <p:sldId id="682" r:id="rId36"/>
    <p:sldId id="689" r:id="rId37"/>
    <p:sldId id="544" r:id="rId38"/>
    <p:sldId id="673" r:id="rId39"/>
    <p:sldId id="499" r:id="rId40"/>
    <p:sldId id="550" r:id="rId41"/>
    <p:sldId id="546" r:id="rId42"/>
    <p:sldId id="277" r:id="rId43"/>
    <p:sldId id="664" r:id="rId44"/>
    <p:sldId id="604" r:id="rId45"/>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7"/>
            <p14:sldId id="691"/>
            <p14:sldId id="787"/>
            <p14:sldId id="564"/>
            <p14:sldId id="687"/>
            <p14:sldId id="690"/>
            <p14:sldId id="784"/>
            <p14:sldId id="262"/>
            <p14:sldId id="579"/>
            <p14:sldId id="679"/>
            <p14:sldId id="700"/>
            <p14:sldId id="785"/>
            <p14:sldId id="786"/>
            <p14:sldId id="781"/>
            <p14:sldId id="680"/>
            <p14:sldId id="662"/>
            <p14:sldId id="788"/>
            <p14:sldId id="695"/>
            <p14:sldId id="681"/>
            <p14:sldId id="682"/>
            <p14:sldId id="689"/>
            <p14:sldId id="544"/>
            <p14:sldId id="673"/>
            <p14:sldId id="499"/>
            <p14:sldId id="550"/>
            <p14:sldId id="546"/>
            <p14:sldId id="277"/>
            <p14:sldId id="664"/>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DDEC03-6889-4853-94DE-DFA20764CB2B}" v="1" dt="2026-09-28T19:15:58.55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53" autoAdjust="0"/>
    <p:restoredTop sz="64199" autoAdjust="0"/>
  </p:normalViewPr>
  <p:slideViewPr>
    <p:cSldViewPr snapToGrid="0" snapToObjects="1">
      <p:cViewPr varScale="1">
        <p:scale>
          <a:sx n="64" d="100"/>
          <a:sy n="64" d="100"/>
        </p:scale>
        <p:origin x="264" y="72"/>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delSld modSld modSection">
      <pc:chgData name="Mitchell Wand" userId="de9b44c55c049659" providerId="LiveId" clId="{7A9D5940-B2CC-47DD-AF5E-71219F1A1E26}" dt="2026-09-28T19:15:58.557" v="931"/>
      <pc:docMkLst>
        <pc:docMk/>
      </pc:docMkLst>
      <pc:sldChg chg="modNotesTx">
        <pc:chgData name="Mitchell Wand" userId="de9b44c55c049659" providerId="LiveId" clId="{7A9D5940-B2CC-47DD-AF5E-71219F1A1E26}" dt="2026-09-26T19:01:16.222" v="432" actId="20577"/>
        <pc:sldMkLst>
          <pc:docMk/>
          <pc:sldMk cId="334896783" sldId="499"/>
        </pc:sldMkLst>
      </pc:sldChg>
      <pc:sldChg chg="modNotesTx">
        <pc:chgData name="Mitchell Wand" userId="de9b44c55c049659" providerId="LiveId" clId="{7A9D5940-B2CC-47DD-AF5E-71219F1A1E26}" dt="2026-09-28T18:39:47.054" v="930" actId="20577"/>
        <pc:sldMkLst>
          <pc:docMk/>
          <pc:sldMk cId="483219374" sldId="564"/>
        </pc:sldMkLst>
      </pc:sldChg>
      <pc:sldChg chg="delSp modSp mod modAnim">
        <pc:chgData name="Mitchell Wand" userId="de9b44c55c049659" providerId="LiveId" clId="{7A9D5940-B2CC-47DD-AF5E-71219F1A1E26}" dt="2026-09-26T15:54:44.172" v="242" actId="108"/>
        <pc:sldMkLst>
          <pc:docMk/>
          <pc:sldMk cId="831730851" sldId="579"/>
        </pc:sldMkLst>
        <pc:spChg chg="mod">
          <ac:chgData name="Mitchell Wand" userId="de9b44c55c049659" providerId="LiveId" clId="{7A9D5940-B2CC-47DD-AF5E-71219F1A1E26}" dt="2026-09-26T15:50:00.499" v="84" actId="20577"/>
          <ac:spMkLst>
            <pc:docMk/>
            <pc:sldMk cId="831730851" sldId="579"/>
            <ac:spMk id="4" creationId="{455689C7-7C27-5D24-90F6-149A2C5D118F}"/>
          </ac:spMkLst>
        </pc:spChg>
        <pc:spChg chg="mod">
          <ac:chgData name="Mitchell Wand" userId="de9b44c55c049659" providerId="LiveId" clId="{7A9D5940-B2CC-47DD-AF5E-71219F1A1E26}" dt="2026-09-26T15:53:55.109" v="227" actId="1076"/>
          <ac:spMkLst>
            <pc:docMk/>
            <pc:sldMk cId="831730851" sldId="579"/>
            <ac:spMk id="5" creationId="{A4D17C1B-9DC9-4F66-74C1-40955C2E2C8A}"/>
          </ac:spMkLst>
        </pc:spChg>
        <pc:spChg chg="mod">
          <ac:chgData name="Mitchell Wand" userId="de9b44c55c049659" providerId="LiveId" clId="{7A9D5940-B2CC-47DD-AF5E-71219F1A1E26}" dt="2026-09-26T15:54:44.172" v="242" actId="108"/>
          <ac:spMkLst>
            <pc:docMk/>
            <pc:sldMk cId="831730851" sldId="579"/>
            <ac:spMk id="7" creationId="{CD50A8E0-85BE-235E-B3A1-9815DAFEE290}"/>
          </ac:spMkLst>
        </pc:spChg>
      </pc:sldChg>
      <pc:sldChg chg="modSp mod modNotesTx">
        <pc:chgData name="Mitchell Wand" userId="de9b44c55c049659" providerId="LiveId" clId="{7A9D5940-B2CC-47DD-AF5E-71219F1A1E26}" dt="2026-09-28T18:14:54.667" v="725" actId="6549"/>
        <pc:sldMkLst>
          <pc:docMk/>
          <pc:sldMk cId="2478266078" sldId="672"/>
        </pc:sldMkLst>
        <pc:spChg chg="mod">
          <ac:chgData name="Mitchell Wand" userId="de9b44c55c049659" providerId="LiveId" clId="{7A9D5940-B2CC-47DD-AF5E-71219F1A1E26}" dt="2026-09-28T18:14:54.667" v="725" actId="6549"/>
          <ac:spMkLst>
            <pc:docMk/>
            <pc:sldMk cId="2478266078" sldId="672"/>
            <ac:spMk id="3" creationId="{923883D1-804C-2B0E-B307-7E10EB59752B}"/>
          </ac:spMkLst>
        </pc:spChg>
      </pc:sldChg>
      <pc:sldChg chg="modSp mod">
        <pc:chgData name="Mitchell Wand" userId="de9b44c55c049659" providerId="LiveId" clId="{7A9D5940-B2CC-47DD-AF5E-71219F1A1E26}" dt="2026-09-26T15:57:44.544" v="259" actId="108"/>
        <pc:sldMkLst>
          <pc:docMk/>
          <pc:sldMk cId="2643055736" sldId="679"/>
        </pc:sldMkLst>
        <pc:spChg chg="mod">
          <ac:chgData name="Mitchell Wand" userId="de9b44c55c049659" providerId="LiveId" clId="{7A9D5940-B2CC-47DD-AF5E-71219F1A1E26}" dt="2026-09-26T15:57:44.544" v="259" actId="108"/>
          <ac:spMkLst>
            <pc:docMk/>
            <pc:sldMk cId="2643055736" sldId="679"/>
            <ac:spMk id="5" creationId="{6108ED69-BEC0-E2B4-CE24-6547CAD27A48}"/>
          </ac:spMkLst>
        </pc:spChg>
      </pc:sldChg>
      <pc:sldChg chg="modSp">
        <pc:chgData name="Mitchell Wand" userId="de9b44c55c049659" providerId="LiveId" clId="{7A9D5940-B2CC-47DD-AF5E-71219F1A1E26}" dt="2026-09-26T15:58:13.841" v="260"/>
        <pc:sldMkLst>
          <pc:docMk/>
          <pc:sldMk cId="1692804628" sldId="680"/>
        </pc:sldMkLst>
        <pc:spChg chg="mod">
          <ac:chgData name="Mitchell Wand" userId="de9b44c55c049659" providerId="LiveId" clId="{7A9D5940-B2CC-47DD-AF5E-71219F1A1E26}" dt="2026-09-26T15:58:13.841" v="260"/>
          <ac:spMkLst>
            <pc:docMk/>
            <pc:sldMk cId="1692804628" sldId="680"/>
            <ac:spMk id="5" creationId="{61AE052D-2915-5AC4-85A2-7B9A3F13D352}"/>
          </ac:spMkLst>
        </pc:spChg>
      </pc:sldChg>
      <pc:sldChg chg="modSp mod">
        <pc:chgData name="Mitchell Wand" userId="de9b44c55c049659" providerId="LiveId" clId="{7A9D5940-B2CC-47DD-AF5E-71219F1A1E26}" dt="2026-09-26T15:55:53.195" v="252" actId="20577"/>
        <pc:sldMkLst>
          <pc:docMk/>
          <pc:sldMk cId="684796963" sldId="691"/>
        </pc:sldMkLst>
        <pc:spChg chg="mod">
          <ac:chgData name="Mitchell Wand" userId="de9b44c55c049659" providerId="LiveId" clId="{7A9D5940-B2CC-47DD-AF5E-71219F1A1E26}" dt="2026-09-26T15:55:53.195" v="252" actId="20577"/>
          <ac:spMkLst>
            <pc:docMk/>
            <pc:sldMk cId="684796963" sldId="691"/>
            <ac:spMk id="5" creationId="{7EEEED4A-F825-36DE-4D0D-71F249BADA7F}"/>
          </ac:spMkLst>
        </pc:spChg>
      </pc:sldChg>
      <pc:sldChg chg="delSp modSp mod modAnim modNotesTx">
        <pc:chgData name="Mitchell Wand" userId="de9b44c55c049659" providerId="LiveId" clId="{7A9D5940-B2CC-47DD-AF5E-71219F1A1E26}" dt="2026-09-28T19:15:58.557" v="931"/>
        <pc:sldMkLst>
          <pc:docMk/>
          <pc:sldMk cId="2008209886" sldId="695"/>
        </pc:sldMkLst>
        <pc:spChg chg="mod">
          <ac:chgData name="Mitchell Wand" userId="de9b44c55c049659" providerId="LiveId" clId="{7A9D5940-B2CC-47DD-AF5E-71219F1A1E26}" dt="2026-09-28T19:15:58.557" v="931"/>
          <ac:spMkLst>
            <pc:docMk/>
            <pc:sldMk cId="2008209886" sldId="695"/>
            <ac:spMk id="4" creationId="{0A9DC6B3-C52B-0E35-E5BE-5239B6039A57}"/>
          </ac:spMkLst>
        </pc:spChg>
        <pc:spChg chg="mod">
          <ac:chgData name="Mitchell Wand" userId="de9b44c55c049659" providerId="LiveId" clId="{7A9D5940-B2CC-47DD-AF5E-71219F1A1E26}" dt="2026-09-26T18:57:46.141" v="333" actId="1076"/>
          <ac:spMkLst>
            <pc:docMk/>
            <pc:sldMk cId="2008209886" sldId="695"/>
            <ac:spMk id="5" creationId="{7EEEED4A-F825-36DE-4D0D-71F249BADA7F}"/>
          </ac:spMkLst>
        </pc:spChg>
        <pc:spChg chg="mod">
          <ac:chgData name="Mitchell Wand" userId="de9b44c55c049659" providerId="LiveId" clId="{7A9D5940-B2CC-47DD-AF5E-71219F1A1E26}" dt="2026-09-26T16:02:37.119" v="297" actId="20577"/>
          <ac:spMkLst>
            <pc:docMk/>
            <pc:sldMk cId="2008209886" sldId="695"/>
            <ac:spMk id="11" creationId="{3A1A2B3D-50BE-3B83-D716-F6FF92A3781B}"/>
          </ac:spMkLst>
        </pc:spChg>
      </pc:sldChg>
      <pc:sldChg chg="modNotesTx">
        <pc:chgData name="Mitchell Wand" userId="de9b44c55c049659" providerId="LiveId" clId="{7A9D5940-B2CC-47DD-AF5E-71219F1A1E26}" dt="2026-09-28T18:20:25.432" v="835" actId="20577"/>
        <pc:sldMkLst>
          <pc:docMk/>
          <pc:sldMk cId="3052690777" sldId="69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concepts that we want to understand today are:</a:t>
            </a:r>
          </a:p>
          <a:p>
            <a:r>
              <a:rPr lang="en-US" dirty="0"/>
              <a:t>-when you await for a promise to be completed, you pause your execution or yield</a:t>
            </a:r>
          </a:p>
          <a:p>
            <a:r>
              <a:rPr lang="en-US" dirty="0"/>
              <a:t>-when you yield, runtime can execute some other task.</a:t>
            </a:r>
          </a:p>
        </p:txBody>
      </p:sp>
    </p:spTree>
    <p:extLst>
      <p:ext uri="{BB962C8B-B14F-4D97-AF65-F5344CB8AC3E}">
        <p14:creationId xmlns:p14="http://schemas.microsoft.com/office/powerpoint/2010/main" val="170842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r>
              <a:rPr lang="en-US" dirty="0"/>
              <a:t>Everything </a:t>
            </a:r>
            <a:r>
              <a:rPr lang="en-US" i="1" dirty="0"/>
              <a:t>after </a:t>
            </a:r>
            <a:r>
              <a:rPr lang="en-US" dirty="0"/>
              <a:t>the await is the ‘awaited work’ that will be processed later!</a:t>
            </a:r>
          </a:p>
        </p:txBody>
      </p:sp>
    </p:spTree>
    <p:extLst>
      <p:ext uri="{BB962C8B-B14F-4D97-AF65-F5344CB8AC3E}">
        <p14:creationId xmlns:p14="http://schemas.microsoft.com/office/powerpoint/2010/main" val="3214472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key points to highlight</a:t>
            </a:r>
          </a:p>
          <a:p>
            <a:r>
              <a:rPr lang="en-US" dirty="0"/>
              <a:t>1.  When you await, you are in some async</a:t>
            </a:r>
          </a:p>
          <a:p>
            <a:pPr marL="228600" indent="-228600">
              <a:buAutoNum type="arabicPeriod"/>
            </a:pPr>
            <a:r>
              <a:rPr lang="en-US" dirty="0"/>
              <a:t>When you await on a task, you return to </a:t>
            </a:r>
            <a:r>
              <a:rPr lang="en-US" b="1" dirty="0"/>
              <a:t>the caller of the async procedure </a:t>
            </a:r>
            <a:r>
              <a:rPr lang="en-US" dirty="0"/>
              <a:t>with a pending promise</a:t>
            </a:r>
          </a:p>
          <a:p>
            <a:pPr marL="228600" indent="-228600">
              <a:buAutoNum type="arabicPeriod"/>
            </a:pPr>
            <a:r>
              <a:rPr lang="en-US" dirty="0"/>
              <a:t>The caller </a:t>
            </a:r>
            <a:r>
              <a:rPr lang="en-US" dirty="0" err="1"/>
              <a:t>Ican</a:t>
            </a:r>
            <a:r>
              <a:rPr lang="en-US" dirty="0"/>
              <a:t> continue its work</a:t>
            </a:r>
          </a:p>
        </p:txBody>
      </p:sp>
    </p:spTree>
    <p:extLst>
      <p:ext uri="{BB962C8B-B14F-4D97-AF65-F5344CB8AC3E}">
        <p14:creationId xmlns:p14="http://schemas.microsoft.com/office/powerpoint/2010/main" val="27760609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pPr marL="171450" indent="-171450">
              <a:buFontTx/>
              <a:buChar char="-"/>
            </a:pPr>
            <a:r>
              <a:rPr lang="en-US" dirty="0"/>
              <a:t>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a:p>
            <a:pPr marL="171450" indent="-171450">
              <a:buFontTx/>
              <a:buChar char="-"/>
            </a:pPr>
            <a:endParaRPr lang="en-US" dirty="0"/>
          </a:p>
          <a:p>
            <a:pPr marL="171450" indent="-171450">
              <a:buFontTx/>
              <a:buChar char="-"/>
            </a:pPr>
            <a:r>
              <a:rPr lang="en-US" dirty="0"/>
              <a:t>We’ll talk about the “micro task queue” and “macro task queue” in a few minutes.</a:t>
            </a:r>
          </a:p>
        </p:txBody>
      </p:sp>
    </p:spTree>
    <p:extLst>
      <p:ext uri="{BB962C8B-B14F-4D97-AF65-F5344CB8AC3E}">
        <p14:creationId xmlns:p14="http://schemas.microsoft.com/office/powerpoint/2010/main" val="398328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It is just a 1 second delay</a:t>
            </a:r>
            <a:br>
              <a:rPr lang="en-US" dirty="0"/>
            </a:br>
            <a:r>
              <a:rPr lang="en-US" dirty="0"/>
              <a:t>Awaiting allows us to wait for some task to complete first before we do something else.</a:t>
            </a:r>
          </a:p>
        </p:txBody>
      </p:sp>
    </p:spTree>
    <p:extLst>
      <p:ext uri="{BB962C8B-B14F-4D97-AF65-F5344CB8AC3E}">
        <p14:creationId xmlns:p14="http://schemas.microsoft.com/office/powerpoint/2010/main" val="2736588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A1-B3BF-39AC-3BFF-F3C2D29199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B6615-ABC2-0A83-1720-3EE515217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54007-7695-31F6-E35A-6D646B90834A}"/>
              </a:ext>
            </a:extLst>
          </p:cNvPr>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a common pattern for async functions using live http request running as non-blocking IO.</a:t>
            </a:r>
          </a:p>
          <a:p>
            <a:endParaRPr lang="en-US" dirty="0"/>
          </a:p>
          <a:p>
            <a:r>
              <a:rPr lang="en-US" dirty="0" err="1"/>
              <a:t>makeOneRequest</a:t>
            </a:r>
            <a:r>
              <a:rPr lang="en-US" dirty="0"/>
              <a:t> calls </a:t>
            </a:r>
            <a:r>
              <a:rPr lang="en-US" b="1" dirty="0" err="1"/>
              <a:t>makeRequest</a:t>
            </a:r>
            <a:r>
              <a:rPr lang="en-US" dirty="0"/>
              <a:t> which makes an API call.</a:t>
            </a:r>
          </a:p>
          <a:p>
            <a:r>
              <a:rPr lang="en-US" dirty="0"/>
              <a:t>As you await for the fetch to respond, </a:t>
            </a:r>
            <a:r>
              <a:rPr lang="en-US" dirty="0" err="1"/>
              <a:t>makeOneRequest</a:t>
            </a:r>
            <a:r>
              <a:rPr lang="en-US" dirty="0"/>
              <a:t> function (the caller) can continue and finish.</a:t>
            </a:r>
          </a:p>
          <a:p>
            <a:r>
              <a:rPr lang="en-US" dirty="0"/>
              <a:t>When call stack is empty, response from fetch can be printed (Awaiting work).</a:t>
            </a:r>
          </a:p>
        </p:txBody>
      </p:sp>
    </p:spTree>
    <p:extLst>
      <p:ext uri="{BB962C8B-B14F-4D97-AF65-F5344CB8AC3E}">
        <p14:creationId xmlns:p14="http://schemas.microsoft.com/office/powerpoint/2010/main" val="11046387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go through this example again. (It’s important enough to repeat).</a:t>
            </a:r>
          </a:p>
        </p:txBody>
      </p:sp>
    </p:spTree>
    <p:extLst>
      <p:ext uri="{BB962C8B-B14F-4D97-AF65-F5344CB8AC3E}">
        <p14:creationId xmlns:p14="http://schemas.microsoft.com/office/powerpoint/2010/main" val="16592803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Highlight “Awaiting Work” (promise) goes to </a:t>
            </a:r>
            <a:r>
              <a:rPr lang="en-US" sz="800" dirty="0" err="1"/>
              <a:t>MicroTask</a:t>
            </a:r>
            <a:r>
              <a:rPr lang="en-US" sz="800" dirty="0"/>
              <a:t> queue and has higher priority that microtask queue.</a:t>
            </a:r>
          </a:p>
        </p:txBody>
      </p:sp>
    </p:spTree>
    <p:extLst>
      <p:ext uri="{BB962C8B-B14F-4D97-AF65-F5344CB8AC3E}">
        <p14:creationId xmlns:p14="http://schemas.microsoft.com/office/powerpoint/2010/main" val="2892910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215770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898259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62165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20501477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callbacks for promises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Common mistake is not to await on async task. This would mean that you are proceeding with some work without getting a valid response</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a:t>
            </a:r>
            <a:r>
              <a:rPr lang="en-US" dirty="0" err="1"/>
              <a:t>macrotask</a:t>
            </a:r>
            <a:r>
              <a:rPr lang="en-US" dirty="0"/>
              <a:t>; the .then() blocks become microtasks</a:t>
            </a:r>
            <a:r>
              <a:rPr lang="en-US"/>
              <a:t>.  The </a:t>
            </a:r>
            <a:r>
              <a:rPr lang="en-US" dirty="0"/>
              <a:t>"return" in a microtask is also a pause point.</a:t>
            </a:r>
          </a:p>
        </p:txBody>
      </p:sp>
    </p:spTree>
    <p:extLst>
      <p:ext uri="{BB962C8B-B14F-4D97-AF65-F5344CB8AC3E}">
        <p14:creationId xmlns:p14="http://schemas.microsoft.com/office/powerpoint/2010/main" val="10969988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44</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9/28/2026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60"/>
            <a:ext cx="8750968" cy="4351338"/>
          </a:xfrm>
        </p:spPr>
        <p:txBody>
          <a:bodyPr>
            <a:normAutofit/>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Typescript/JavaScript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 Pause also means ‘yield’</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t>
            </a:r>
            <a:r>
              <a:rPr lang="en-US" u="sng" dirty="0"/>
              <a:t>always</a:t>
            </a:r>
            <a:r>
              <a:rPr lang="en-US" dirty="0"/>
              <a:t> returns a promise.</a:t>
            </a:r>
          </a:p>
          <a:p>
            <a:r>
              <a:rPr lang="en-US" dirty="0"/>
              <a:t>If you </a:t>
            </a:r>
            <a:r>
              <a:rPr lang="en-US" b="1" dirty="0"/>
              <a:t>await</a:t>
            </a:r>
            <a:r>
              <a:rPr lang="en-US" dirty="0"/>
              <a:t> on a promise, your program </a:t>
            </a:r>
            <a:r>
              <a:rPr lang="en-US" dirty="0">
                <a:solidFill>
                  <a:srgbClr val="FF0000"/>
                </a:solidFill>
              </a:rPr>
              <a:t>pauses</a:t>
            </a:r>
            <a:r>
              <a:rPr lang="en-US" dirty="0"/>
              <a:t> its execution until async function is completed. </a:t>
            </a:r>
          </a:p>
          <a:p>
            <a:r>
              <a:rPr lang="en-US" dirty="0"/>
              <a:t>When one program pauses, the runtime can choose to resume executing </a:t>
            </a:r>
            <a:r>
              <a:rPr lang="en-US" dirty="0">
                <a:solidFill>
                  <a:srgbClr val="FF0000"/>
                </a:solidFill>
              </a:rPr>
              <a:t>any </a:t>
            </a:r>
            <a:r>
              <a:rPr lang="en-US" dirty="0"/>
              <a:t>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2" name="Oval 11">
            <a:extLst>
              <a:ext uri="{FF2B5EF4-FFF2-40B4-BE49-F238E27FC236}">
                <a16:creationId xmlns:a16="http://schemas.microsoft.com/office/drawing/2014/main" id="{FCD4A80A-3EFB-2B1F-4760-0ABED53AA03F}"/>
              </a:ext>
            </a:extLst>
          </p:cNvPr>
          <p:cNvSpPr/>
          <p:nvPr/>
        </p:nvSpPr>
        <p:spPr>
          <a:xfrm>
            <a:off x="5000741" y="5366174"/>
            <a:ext cx="2298032" cy="671177"/>
          </a:xfrm>
          <a:prstGeom prst="ellipse">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000" dirty="0">
                <a:ln w="0"/>
                <a:solidFill>
                  <a:schemeClr val="tx1"/>
                </a:solidFill>
                <a:effectLst>
                  <a:outerShdw blurRad="38100" dist="19050" dir="2700000" algn="tl" rotWithShape="0">
                    <a:schemeClr val="dk1">
                      <a:alpha val="40000"/>
                    </a:schemeClr>
                  </a:outerShdw>
                </a:effectLst>
              </a:rPr>
              <a:t>Awaited work</a:t>
            </a:r>
          </a:p>
        </p:txBody>
      </p:sp>
      <p:cxnSp>
        <p:nvCxnSpPr>
          <p:cNvPr id="17" name="Straight Arrow Connector 16">
            <a:extLst>
              <a:ext uri="{FF2B5EF4-FFF2-40B4-BE49-F238E27FC236}">
                <a16:creationId xmlns:a16="http://schemas.microsoft.com/office/drawing/2014/main" id="{F643AC10-1F9E-8DD3-E559-9C0F70C1BB23}"/>
              </a:ext>
            </a:extLst>
          </p:cNvPr>
          <p:cNvCxnSpPr/>
          <p:nvPr/>
        </p:nvCxnSpPr>
        <p:spPr>
          <a:xfrm flipH="1" flipV="1">
            <a:off x="4283242" y="4474997"/>
            <a:ext cx="870328" cy="9993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fontScale="92500"/>
          </a:bodyPr>
          <a:lstStyle/>
          <a:p>
            <a:r>
              <a:rPr lang="en-US" dirty="0"/>
              <a:t>When you ‘await’ you are inside some async procedure.</a:t>
            </a:r>
          </a:p>
          <a:p>
            <a:r>
              <a:rPr lang="en-US" dirty="0"/>
              <a:t>In the body of that procedure, if you await on some task, you are cooperating with the event loop by allowing it to work on something else.</a:t>
            </a:r>
          </a:p>
          <a:p>
            <a:r>
              <a:rPr lang="en-US" dirty="0"/>
              <a:t>In technical terms, you are </a:t>
            </a:r>
            <a:r>
              <a:rPr lang="en-US" dirty="0">
                <a:solidFill>
                  <a:srgbClr val="FF0000"/>
                </a:solidFill>
              </a:rPr>
              <a:t>returning</a:t>
            </a:r>
            <a:r>
              <a:rPr lang="en-US" dirty="0"/>
              <a:t> (to the </a:t>
            </a:r>
            <a:r>
              <a:rPr lang="en-US" dirty="0">
                <a:highlight>
                  <a:srgbClr val="FFFF00"/>
                </a:highlight>
              </a:rPr>
              <a:t>caller of the original async procedure</a:t>
            </a:r>
            <a:r>
              <a:rPr lang="en-US" dirty="0"/>
              <a:t>) with a </a:t>
            </a:r>
            <a:r>
              <a:rPr lang="en-US" b="1" i="1" dirty="0"/>
              <a:t>pending</a:t>
            </a:r>
            <a:r>
              <a:rPr lang="en-US" i="1" dirty="0"/>
              <a:t> </a:t>
            </a:r>
            <a:r>
              <a:rPr lang="en-US" dirty="0"/>
              <a:t>promise which means that some work will be completed in the future.</a:t>
            </a:r>
          </a:p>
          <a:p>
            <a:r>
              <a:rPr lang="en-US" dirty="0"/>
              <a:t>While you are waiting for that future, event loop will </a:t>
            </a:r>
            <a:r>
              <a:rPr lang="en-US" dirty="0">
                <a:solidFill>
                  <a:srgbClr val="FF0000"/>
                </a:solidFill>
              </a:rPr>
              <a:t>continue finishing</a:t>
            </a:r>
            <a:r>
              <a:rPr lang="en-US" dirty="0"/>
              <a:t> its current task (whatever is in call stack) and then other tasks (whatever is in callback queue).</a:t>
            </a:r>
          </a:p>
          <a:p>
            <a:r>
              <a:rPr lang="en-US" dirty="0"/>
              <a:t>Eventually the event loop will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Let’s start with 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ABDB4-C95D-747A-108A-C4968AAEEF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34B6A07-2A12-D8A4-1835-601899BB1695}"/>
              </a:ext>
            </a:extLst>
          </p:cNvPr>
          <p:cNvSpPr txBox="1"/>
          <p:nvPr/>
        </p:nvSpPr>
        <p:spPr>
          <a:xfrm>
            <a:off x="736600" y="1350065"/>
            <a:ext cx="6038773" cy="2308324"/>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3141DFE-EF50-9472-513F-7D041907034B}"/>
              </a:ext>
            </a:extLst>
          </p:cNvPr>
          <p:cNvSpPr>
            <a:spLocks noGrp="1"/>
          </p:cNvSpPr>
          <p:nvPr>
            <p:ph type="title"/>
          </p:nvPr>
        </p:nvSpPr>
        <p:spPr/>
        <p:txBody>
          <a:bodyPr/>
          <a:lstStyle/>
          <a:p>
            <a:r>
              <a:rPr lang="en-US" dirty="0"/>
              <a:t>Pattern for starting a concurrent computation using non-blocking I/O</a:t>
            </a:r>
          </a:p>
        </p:txBody>
      </p:sp>
      <p:sp>
        <p:nvSpPr>
          <p:cNvPr id="3" name="Slide Number Placeholder 2">
            <a:extLst>
              <a:ext uri="{FF2B5EF4-FFF2-40B4-BE49-F238E27FC236}">
                <a16:creationId xmlns:a16="http://schemas.microsoft.com/office/drawing/2014/main" id="{54863DDB-0777-B484-F419-ABCACFFAF7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6" name="Picture 6">
            <a:extLst>
              <a:ext uri="{FF2B5EF4-FFF2-40B4-BE49-F238E27FC236}">
                <a16:creationId xmlns:a16="http://schemas.microsoft.com/office/drawing/2014/main" id="{F4380E14-CBDF-769D-49D8-47F3766414C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5760D379-A385-4D52-A8EB-4A6BA1A07CC7}"/>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makeOneRequest</a:t>
            </a:r>
            <a:endParaRPr lang="en-US" sz="1000" b="1" dirty="0">
              <a:solidFill>
                <a:schemeClr val="tx1"/>
              </a:solidFill>
            </a:endParaRPr>
          </a:p>
        </p:txBody>
      </p:sp>
      <p:sp>
        <p:nvSpPr>
          <p:cNvPr id="9" name="Rectangle: Rounded Corners 8">
            <a:extLst>
              <a:ext uri="{FF2B5EF4-FFF2-40B4-BE49-F238E27FC236}">
                <a16:creationId xmlns:a16="http://schemas.microsoft.com/office/drawing/2014/main" id="{3F3533D5-E97B-B272-3AC3-923CE07CBD77}"/>
              </a:ext>
            </a:extLst>
          </p:cNvPr>
          <p:cNvSpPr/>
          <p:nvPr/>
        </p:nvSpPr>
        <p:spPr>
          <a:xfrm>
            <a:off x="4649569" y="3900585"/>
            <a:ext cx="1910080" cy="198973"/>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a:t>
            </a:r>
            <a:r>
              <a:rPr lang="en-US" sz="1000" b="1" dirty="0" err="1">
                <a:solidFill>
                  <a:schemeClr val="tx1"/>
                </a:solidFill>
              </a:rPr>
              <a:t>makeO</a:t>
            </a:r>
            <a:r>
              <a:rPr lang="en-US" sz="1000" b="1" dirty="0">
                <a:solidFill>
                  <a:schemeClr val="tx1"/>
                </a:solidFill>
              </a:rPr>
              <a:t> …’);</a:t>
            </a:r>
          </a:p>
        </p:txBody>
      </p:sp>
      <p:sp>
        <p:nvSpPr>
          <p:cNvPr id="10" name="Rectangle: Rounded Corners 9">
            <a:extLst>
              <a:ext uri="{FF2B5EF4-FFF2-40B4-BE49-F238E27FC236}">
                <a16:creationId xmlns:a16="http://schemas.microsoft.com/office/drawing/2014/main" id="{C164A038-E026-7100-D602-3B556B734A35}"/>
              </a:ext>
            </a:extLst>
          </p:cNvPr>
          <p:cNvSpPr/>
          <p:nvPr/>
        </p:nvSpPr>
        <p:spPr>
          <a:xfrm>
            <a:off x="4708972"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CB491174-BD18-54EA-3F12-C6FA733B5B3F}"/>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9F981C7D-3A9A-EF8A-C287-5B2922A612F5}"/>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5309F37F-DA2B-749A-E0E9-CA6459915522}"/>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F63D65E-B8FF-3D04-667F-F9FEC36B26FC}"/>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450FBC82-74B9-EDE2-694A-24D730DE5507}"/>
              </a:ext>
            </a:extLst>
          </p:cNvPr>
          <p:cNvSpPr/>
          <p:nvPr/>
        </p:nvSpPr>
        <p:spPr>
          <a:xfrm>
            <a:off x="4645541" y="3884537"/>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a:t>
            </a:r>
            <a:r>
              <a:rPr lang="en-US" sz="1000" b="1" dirty="0" err="1">
                <a:solidFill>
                  <a:schemeClr val="tx1"/>
                </a:solidFill>
              </a:rPr>
              <a:t>makeO</a:t>
            </a:r>
            <a:r>
              <a:rPr lang="en-US" sz="1000" b="1" dirty="0">
                <a:solidFill>
                  <a:schemeClr val="tx1"/>
                </a:solidFill>
              </a:rPr>
              <a:t>… finished’);</a:t>
            </a:r>
          </a:p>
        </p:txBody>
      </p:sp>
      <p:sp>
        <p:nvSpPr>
          <p:cNvPr id="13" name="Content Placeholder 1">
            <a:extLst>
              <a:ext uri="{FF2B5EF4-FFF2-40B4-BE49-F238E27FC236}">
                <a16:creationId xmlns:a16="http://schemas.microsoft.com/office/drawing/2014/main" id="{EBD0F245-EA61-332C-61DE-BBC2350232AC}"/>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call stack can complete the awaiting work (console.log)</a:t>
            </a:r>
          </a:p>
        </p:txBody>
      </p:sp>
    </p:spTree>
    <p:extLst>
      <p:ext uri="{BB962C8B-B14F-4D97-AF65-F5344CB8AC3E}">
        <p14:creationId xmlns:p14="http://schemas.microsoft.com/office/powerpoint/2010/main" val="2645889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2" presetClass="entr" presetSubtype="1" fill="hold" grpId="0" nodeType="clickEffect">
                                  <p:stCondLst>
                                    <p:cond delay="0"/>
                                  </p:stCondLst>
                                  <p:childTnLst>
                                    <p:set>
                                      <p:cBhvr>
                                        <p:cTn id="67" dur="1" fill="hold">
                                          <p:stCondLst>
                                            <p:cond delay="0"/>
                                          </p:stCondLst>
                                        </p:cTn>
                                        <p:tgtEl>
                                          <p:spTgt spid="7"/>
                                        </p:tgtEl>
                                        <p:attrNameLst>
                                          <p:attrName>style.visibility</p:attrName>
                                        </p:attrNameLst>
                                      </p:cBhvr>
                                      <p:to>
                                        <p:strVal val="visible"/>
                                      </p:to>
                                    </p:set>
                                    <p:anim calcmode="lin" valueType="num">
                                      <p:cBhvr additive="base">
                                        <p:cTn id="68" dur="500" fill="hold"/>
                                        <p:tgtEl>
                                          <p:spTgt spid="7"/>
                                        </p:tgtEl>
                                        <p:attrNameLst>
                                          <p:attrName>ppt_x</p:attrName>
                                        </p:attrNameLst>
                                      </p:cBhvr>
                                      <p:tavLst>
                                        <p:tav tm="0">
                                          <p:val>
                                            <p:strVal val="#ppt_x"/>
                                          </p:val>
                                        </p:tav>
                                        <p:tav tm="100000">
                                          <p:val>
                                            <p:strVal val="#ppt_x"/>
                                          </p:val>
                                        </p:tav>
                                      </p:tavLst>
                                    </p:anim>
                                    <p:anim calcmode="lin" valueType="num">
                                      <p:cBhvr additive="base">
                                        <p:cTn id="69" dur="500" fill="hold"/>
                                        <p:tgtEl>
                                          <p:spTgt spid="7"/>
                                        </p:tgtEl>
                                        <p:attrNameLst>
                                          <p:attrName>ppt_y</p:attrName>
                                        </p:attrNameLst>
                                      </p:cBhvr>
                                      <p:tavLst>
                                        <p:tav tm="0">
                                          <p:val>
                                            <p:strVal val="0-#ppt_h/2"/>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2" presetClass="exit" presetSubtype="1" fill="hold" grpId="1" nodeType="clickEffect">
                                  <p:stCondLst>
                                    <p:cond delay="0"/>
                                  </p:stCondLst>
                                  <p:childTnLst>
                                    <p:anim calcmode="lin" valueType="num">
                                      <p:cBhvr additive="base">
                                        <p:cTn id="73" dur="500"/>
                                        <p:tgtEl>
                                          <p:spTgt spid="7"/>
                                        </p:tgtEl>
                                        <p:attrNameLst>
                                          <p:attrName>ppt_x</p:attrName>
                                        </p:attrNameLst>
                                      </p:cBhvr>
                                      <p:tavLst>
                                        <p:tav tm="0">
                                          <p:val>
                                            <p:strVal val="ppt_x"/>
                                          </p:val>
                                        </p:tav>
                                        <p:tav tm="100000">
                                          <p:val>
                                            <p:strVal val="ppt_x"/>
                                          </p:val>
                                        </p:tav>
                                      </p:tavLst>
                                    </p:anim>
                                    <p:anim calcmode="lin" valueType="num">
                                      <p:cBhvr additive="base">
                                        <p:cTn id="74" dur="500"/>
                                        <p:tgtEl>
                                          <p:spTgt spid="7"/>
                                        </p:tgtEl>
                                        <p:attrNameLst>
                                          <p:attrName>ppt_y</p:attrName>
                                        </p:attrNameLst>
                                      </p:cBhvr>
                                      <p:tavLst>
                                        <p:tav tm="0">
                                          <p:val>
                                            <p:strVal val="ppt_y"/>
                                          </p:val>
                                        </p:tav>
                                        <p:tav tm="100000">
                                          <p:val>
                                            <p:strVal val="0-ppt_h/2"/>
                                          </p:val>
                                        </p:tav>
                                      </p:tavLst>
                                    </p:anim>
                                    <p:set>
                                      <p:cBhvr>
                                        <p:cTn id="75" dur="1" fill="hold">
                                          <p:stCondLst>
                                            <p:cond delay="499"/>
                                          </p:stCondLst>
                                        </p:cTn>
                                        <p:tgtEl>
                                          <p:spTgt spid="7"/>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grpId="1" nodeType="clickEffect">
                                  <p:stCondLst>
                                    <p:cond delay="0"/>
                                  </p:stCondLst>
                                  <p:childTnLst>
                                    <p:set>
                                      <p:cBhvr>
                                        <p:cTn id="79" dur="1" fill="hold">
                                          <p:stCondLst>
                                            <p:cond delay="0"/>
                                          </p:stCondLst>
                                        </p:cTn>
                                        <p:tgtEl>
                                          <p:spTgt spid="8"/>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7" grpId="0" animBg="1"/>
      <p:bldP spid="7" grpId="1" animBg="1"/>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0F26-3D05-9516-9072-90A0156F747B}"/>
              </a:ext>
            </a:extLst>
          </p:cNvPr>
          <p:cNvSpPr>
            <a:spLocks noGrp="1"/>
          </p:cNvSpPr>
          <p:nvPr>
            <p:ph type="title"/>
          </p:nvPr>
        </p:nvSpPr>
        <p:spPr/>
        <p:txBody>
          <a:bodyPr/>
          <a:lstStyle/>
          <a:p>
            <a:r>
              <a:rPr lang="en-US" dirty="0"/>
              <a:t>Pattern for starting a concurrent computation using non-blocking I/O</a:t>
            </a:r>
          </a:p>
        </p:txBody>
      </p:sp>
      <p:sp>
        <p:nvSpPr>
          <p:cNvPr id="4" name="Slide Number Placeholder 3">
            <a:extLst>
              <a:ext uri="{FF2B5EF4-FFF2-40B4-BE49-F238E27FC236}">
                <a16:creationId xmlns:a16="http://schemas.microsoft.com/office/drawing/2014/main" id="{657C8D98-764A-9D99-09D4-3EA7558FD28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6223A7A7-ED26-72B8-818A-2A0C5066AAAD}"/>
              </a:ext>
            </a:extLst>
          </p:cNvPr>
          <p:cNvSpPr txBox="1"/>
          <p:nvPr/>
        </p:nvSpPr>
        <p:spPr>
          <a:xfrm>
            <a:off x="838200" y="1492946"/>
            <a:ext cx="11040291" cy="2554545"/>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600" b="0" dirty="0">
                <a:solidFill>
                  <a:srgbClr val="AF00DB"/>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`starting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a:t>
            </a:r>
            <a:r>
              <a:rPr lang="en-US" sz="1600" b="0" dirty="0">
                <a:solidFill>
                  <a:srgbClr val="0000FF"/>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'https://rest-</a:t>
            </a:r>
            <a:r>
              <a:rPr lang="en-US" sz="1600" b="0" dirty="0" err="1">
                <a:solidFill>
                  <a:srgbClr val="A31515"/>
                </a:solidFill>
                <a:effectLst/>
                <a:latin typeface="Consolas" panose="020B0609020204030204" pitchFamily="49" charset="0"/>
              </a:rPr>
              <a:t>example.covey.town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dirty="0">
                <a:solidFill>
                  <a:srgbClr val="000000"/>
                </a:solidFill>
                <a:latin typeface="Consolas" panose="020B0609020204030204" pitchFamily="49" charset="0"/>
              </a:rPr>
              <a:t>console.log(</a:t>
            </a:r>
            <a:r>
              <a:rPr lang="en-US" sz="1600" dirty="0">
                <a:solidFill>
                  <a:srgbClr val="A31515"/>
                </a:solidFill>
                <a:latin typeface="Consolas" panose="020B0609020204030204" pitchFamily="49" charset="0"/>
              </a:rPr>
              <a:t>'request:'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requestNumber</a:t>
            </a:r>
            <a:r>
              <a:rPr lang="en-US" sz="1600" dirty="0">
                <a:solidFill>
                  <a:srgbClr val="000000"/>
                </a:solidFill>
                <a:latin typeface="Consolas" panose="020B0609020204030204" pitchFamily="49" charset="0"/>
              </a:rPr>
              <a:t>, </a:t>
            </a:r>
            <a:r>
              <a:rPr lang="en-US" sz="1600" dirty="0">
                <a:solidFill>
                  <a:srgbClr val="A31515"/>
                </a:solidFill>
                <a:latin typeface="Consolas" panose="020B0609020204030204" pitchFamily="49" charset="0"/>
              </a:rPr>
              <a:t>'; response:'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response.data</a:t>
            </a:r>
            <a:r>
              <a:rPr lang="en-US" sz="1600" dirty="0">
                <a:solidFill>
                  <a:srgbClr val="000000"/>
                </a:solidFill>
                <a:latin typeface="Consolas" panose="020B0609020204030204" pitchFamily="49" charset="0"/>
              </a:rPr>
              <a:t>);</a:t>
            </a:r>
          </a:p>
          <a:p>
            <a:pPr algn="l"/>
            <a:r>
              <a:rPr lang="en-US" sz="1600" b="0" dirty="0">
                <a:solidFill>
                  <a:srgbClr val="000000"/>
                </a:solidFill>
                <a:effectLst/>
                <a:latin typeface="Consolas" panose="020B0609020204030204" pitchFamily="49" charset="0"/>
              </a:rPr>
              <a:t>}</a:t>
            </a:r>
          </a:p>
          <a:p>
            <a:pPr algn="l"/>
            <a:br>
              <a:rPr lang="en-US" sz="1600" b="0" dirty="0">
                <a:solidFill>
                  <a:srgbClr val="000000"/>
                </a:solidFill>
                <a:effectLst/>
                <a:latin typeface="Consolas" panose="020B0609020204030204" pitchFamily="49" charset="0"/>
              </a:rPr>
            </a:b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is about to call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continues after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returns"</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"end of main thread"</a:t>
            </a:r>
            <a:r>
              <a:rPr lang="en-US" sz="1600"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AFF8F41-3560-E45C-BD4F-631ADBAAD165}"/>
              </a:ext>
            </a:extLst>
          </p:cNvPr>
          <p:cNvSpPr txBox="1"/>
          <p:nvPr/>
        </p:nvSpPr>
        <p:spPr>
          <a:xfrm>
            <a:off x="838199" y="4580224"/>
            <a:ext cx="9804991" cy="1754326"/>
          </a:xfrm>
          <a:prstGeom prst="rect">
            <a:avLst/>
          </a:prstGeom>
          <a:noFill/>
          <a:ln w="12700" cap="flat" cmpd="sng" algn="ctr">
            <a:solidFill>
              <a:srgbClr val="0A52B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800" dirty="0">
                <a:solidFill>
                  <a:schemeClr val="tx1"/>
                </a:solidFill>
              </a:rPr>
              <a:t>$ node </a:t>
            </a:r>
            <a:r>
              <a:rPr lang="en-US" sz="1800" dirty="0" err="1">
                <a:solidFill>
                  <a:schemeClr val="tx1"/>
                </a:solidFill>
              </a:rPr>
              <a:t>makeOneRequest.ts</a:t>
            </a:r>
            <a:endParaRPr lang="en-US" sz="1800" dirty="0">
              <a:solidFill>
                <a:schemeClr val="tx1"/>
              </a:solidFill>
            </a:endParaRPr>
          </a:p>
          <a:p>
            <a:pPr algn="l"/>
            <a:r>
              <a:rPr lang="en-US" sz="1800" dirty="0">
                <a:solidFill>
                  <a:schemeClr val="tx1"/>
                </a:solidFill>
              </a:rPr>
              <a:t>main thread is about to call </a:t>
            </a:r>
            <a:r>
              <a:rPr lang="en-US" sz="1800" dirty="0" err="1">
                <a:solidFill>
                  <a:schemeClr val="tx1"/>
                </a:solidFill>
              </a:rPr>
              <a:t>makeRequest</a:t>
            </a:r>
            <a:endParaRPr lang="en-US" sz="1800" dirty="0">
              <a:solidFill>
                <a:schemeClr val="tx1"/>
              </a:solidFill>
            </a:endParaRPr>
          </a:p>
          <a:p>
            <a:pPr algn="l"/>
            <a:r>
              <a:rPr lang="en-US" sz="1800" dirty="0">
                <a:solidFill>
                  <a:schemeClr val="tx1"/>
                </a:solidFill>
              </a:rPr>
              <a:t>starting </a:t>
            </a:r>
            <a:r>
              <a:rPr lang="en-US" sz="1800" dirty="0" err="1">
                <a:solidFill>
                  <a:schemeClr val="tx1"/>
                </a:solidFill>
              </a:rPr>
              <a:t>makeRequest</a:t>
            </a:r>
            <a:r>
              <a:rPr lang="en-US" sz="1800" dirty="0">
                <a:solidFill>
                  <a:schemeClr val="tx1"/>
                </a:solidFill>
              </a:rPr>
              <a:t> 1000</a:t>
            </a:r>
          </a:p>
          <a:p>
            <a:pPr algn="l"/>
            <a:r>
              <a:rPr lang="en-US" sz="1800" dirty="0">
                <a:solidFill>
                  <a:schemeClr val="tx1"/>
                </a:solidFill>
              </a:rPr>
              <a:t>main thread continues after </a:t>
            </a:r>
            <a:r>
              <a:rPr lang="en-US" sz="1800" dirty="0" err="1">
                <a:solidFill>
                  <a:schemeClr val="tx1"/>
                </a:solidFill>
              </a:rPr>
              <a:t>makeRequest</a:t>
            </a:r>
            <a:r>
              <a:rPr lang="en-US" sz="1800" dirty="0">
                <a:solidFill>
                  <a:schemeClr val="tx1"/>
                </a:solidFill>
              </a:rPr>
              <a:t> returns</a:t>
            </a:r>
          </a:p>
          <a:p>
            <a:pPr algn="l"/>
            <a:r>
              <a:rPr lang="en-US" sz="1800" dirty="0">
                <a:solidFill>
                  <a:schemeClr val="tx1"/>
                </a:solidFill>
              </a:rPr>
              <a:t>end of main thread</a:t>
            </a:r>
          </a:p>
          <a:p>
            <a:pPr algn="l"/>
            <a:r>
              <a:rPr lang="en-US" sz="1800" dirty="0">
                <a:solidFill>
                  <a:schemeClr val="tx1"/>
                </a:solidFill>
              </a:rPr>
              <a:t>Request: 1000; response: 200</a:t>
            </a:r>
          </a:p>
        </p:txBody>
      </p:sp>
      <p:grpSp>
        <p:nvGrpSpPr>
          <p:cNvPr id="26" name="Group 25">
            <a:extLst>
              <a:ext uri="{FF2B5EF4-FFF2-40B4-BE49-F238E27FC236}">
                <a16:creationId xmlns:a16="http://schemas.microsoft.com/office/drawing/2014/main" id="{03B46C80-7780-3757-1A12-25C3F40C8572}"/>
              </a:ext>
            </a:extLst>
          </p:cNvPr>
          <p:cNvGrpSpPr/>
          <p:nvPr/>
        </p:nvGrpSpPr>
        <p:grpSpPr>
          <a:xfrm>
            <a:off x="4373768" y="1492947"/>
            <a:ext cx="7504723" cy="2893174"/>
            <a:chOff x="4293618" y="2723656"/>
            <a:chExt cx="7504723" cy="2893174"/>
          </a:xfrm>
        </p:grpSpPr>
        <p:sp>
          <p:nvSpPr>
            <p:cNvPr id="13" name="TextBox 12">
              <a:extLst>
                <a:ext uri="{FF2B5EF4-FFF2-40B4-BE49-F238E27FC236}">
                  <a16:creationId xmlns:a16="http://schemas.microsoft.com/office/drawing/2014/main" id="{6DB8828A-708E-C2C1-AEF6-D09FAA35D1EF}"/>
                </a:ext>
              </a:extLst>
            </p:cNvPr>
            <p:cNvSpPr txBox="1"/>
            <p:nvPr/>
          </p:nvSpPr>
          <p:spPr>
            <a:xfrm>
              <a:off x="6681597" y="2723656"/>
              <a:ext cx="5116744" cy="2893174"/>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457200" indent="-457200" algn="l">
                <a:buAutoNum type="arabicPeriod"/>
              </a:pPr>
              <a:r>
                <a:rPr lang="en-US" sz="2400" b="1" dirty="0">
                  <a:solidFill>
                    <a:schemeClr val="tx1"/>
                  </a:solidFill>
                  <a:latin typeface="Ink Free" panose="03080402000500000000" pitchFamily="66" charset="0"/>
                </a:rPr>
                <a:t>First console is printed</a:t>
              </a:r>
            </a:p>
            <a:p>
              <a:pPr marL="457200" indent="-457200" algn="l">
                <a:buAutoNum type="arabicPeriod"/>
              </a:pPr>
              <a:r>
                <a:rPr lang="en-US" sz="2400" b="1" dirty="0">
                  <a:solidFill>
                    <a:schemeClr val="tx1"/>
                  </a:solidFill>
                  <a:latin typeface="Ink Free" panose="03080402000500000000" pitchFamily="66" charset="0"/>
                </a:rPr>
                <a:t>fetch starts the http request immediately in the background using non-blocking IO, and creates a promise to do the code after the await.</a:t>
              </a:r>
            </a:p>
            <a:p>
              <a:pPr algn="l"/>
              <a:r>
                <a:rPr lang="en-US" sz="2400" b="1" dirty="0">
                  <a:solidFill>
                    <a:schemeClr val="tx1"/>
                  </a:solidFill>
                  <a:latin typeface="Ink Free" panose="03080402000500000000" pitchFamily="66" charset="0"/>
                </a:rPr>
                <a:t>3.  The call to </a:t>
              </a:r>
              <a:r>
                <a:rPr lang="en-US" sz="2400" b="1" dirty="0" err="1">
                  <a:solidFill>
                    <a:schemeClr val="tx1"/>
                  </a:solidFill>
                  <a:latin typeface="Ink Free" panose="03080402000500000000" pitchFamily="66" charset="0"/>
                </a:rPr>
                <a:t>makeRequest</a:t>
              </a:r>
              <a:r>
                <a:rPr lang="en-US" sz="2400" b="1" dirty="0">
                  <a:solidFill>
                    <a:schemeClr val="tx1"/>
                  </a:solidFill>
                  <a:latin typeface="Ink Free" panose="03080402000500000000" pitchFamily="66" charset="0"/>
                </a:rPr>
                <a:t> returns with this pending promise</a:t>
              </a:r>
            </a:p>
          </p:txBody>
        </p:sp>
        <p:cxnSp>
          <p:nvCxnSpPr>
            <p:cNvPr id="15" name="Straight Arrow Connector 14">
              <a:extLst>
                <a:ext uri="{FF2B5EF4-FFF2-40B4-BE49-F238E27FC236}">
                  <a16:creationId xmlns:a16="http://schemas.microsoft.com/office/drawing/2014/main" id="{F6642CE7-DCB4-E082-7E9F-089DEB441CFD}"/>
                </a:ext>
              </a:extLst>
            </p:cNvPr>
            <p:cNvCxnSpPr>
              <a:cxnSpLocks/>
              <a:stCxn id="13" idx="1"/>
            </p:cNvCxnSpPr>
            <p:nvPr/>
          </p:nvCxnSpPr>
          <p:spPr>
            <a:xfrm flipH="1" flipV="1">
              <a:off x="4293618" y="3552047"/>
              <a:ext cx="2387979" cy="618196"/>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F329FD96-BE25-7CBD-1B4B-C85CD13607A4}"/>
              </a:ext>
            </a:extLst>
          </p:cNvPr>
          <p:cNvGrpSpPr/>
          <p:nvPr/>
        </p:nvGrpSpPr>
        <p:grpSpPr>
          <a:xfrm>
            <a:off x="3093057" y="4469812"/>
            <a:ext cx="8932260" cy="1424492"/>
            <a:chOff x="1512047" y="3849498"/>
            <a:chExt cx="8932260" cy="1424492"/>
          </a:xfrm>
        </p:grpSpPr>
        <p:sp>
          <p:nvSpPr>
            <p:cNvPr id="21" name="TextBox 20">
              <a:extLst>
                <a:ext uri="{FF2B5EF4-FFF2-40B4-BE49-F238E27FC236}">
                  <a16:creationId xmlns:a16="http://schemas.microsoft.com/office/drawing/2014/main" id="{2A8D85B0-07E0-E42D-7D9D-0B78BDCEEC94}"/>
                </a:ext>
              </a:extLst>
            </p:cNvPr>
            <p:cNvSpPr txBox="1"/>
            <p:nvPr/>
          </p:nvSpPr>
          <p:spPr>
            <a:xfrm>
              <a:off x="5534619" y="3849498"/>
              <a:ext cx="4909688" cy="1195579"/>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latin typeface="Ink Free" panose="03080402000500000000" pitchFamily="66" charset="0"/>
                </a:rPr>
                <a:t>4. The main thread finishes. </a:t>
              </a:r>
            </a:p>
            <a:p>
              <a:pPr algn="l"/>
              <a:r>
                <a:rPr lang="en-US" sz="2400" b="1" dirty="0">
                  <a:solidFill>
                    <a:schemeClr val="tx1"/>
                  </a:solidFill>
                  <a:latin typeface="Ink Free" panose="03080402000500000000" pitchFamily="66" charset="0"/>
                </a:rPr>
                <a:t>5. Sometime later, the computation resumes the promise</a:t>
              </a:r>
            </a:p>
          </p:txBody>
        </p:sp>
        <p:cxnSp>
          <p:nvCxnSpPr>
            <p:cNvPr id="23" name="Straight Arrow Connector 22">
              <a:extLst>
                <a:ext uri="{FF2B5EF4-FFF2-40B4-BE49-F238E27FC236}">
                  <a16:creationId xmlns:a16="http://schemas.microsoft.com/office/drawing/2014/main" id="{F2D4B224-9341-5812-B136-61B981731CA0}"/>
                </a:ext>
              </a:extLst>
            </p:cNvPr>
            <p:cNvCxnSpPr>
              <a:cxnSpLocks/>
              <a:stCxn id="21" idx="1"/>
            </p:cNvCxnSpPr>
            <p:nvPr/>
          </p:nvCxnSpPr>
          <p:spPr>
            <a:xfrm flipH="1">
              <a:off x="1512047" y="4447288"/>
              <a:ext cx="4022572" cy="826702"/>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29" name="Arrow: Down 28">
            <a:extLst>
              <a:ext uri="{FF2B5EF4-FFF2-40B4-BE49-F238E27FC236}">
                <a16:creationId xmlns:a16="http://schemas.microsoft.com/office/drawing/2014/main" id="{094A7B22-C634-4C28-1D51-003012C40FD4}"/>
              </a:ext>
            </a:extLst>
          </p:cNvPr>
          <p:cNvSpPr/>
          <p:nvPr/>
        </p:nvSpPr>
        <p:spPr>
          <a:xfrm>
            <a:off x="5438142" y="4053802"/>
            <a:ext cx="710588" cy="578461"/>
          </a:xfrm>
          <a:prstGeom prst="down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1" name="Rectangle: Rounded Corners 30">
            <a:extLst>
              <a:ext uri="{FF2B5EF4-FFF2-40B4-BE49-F238E27FC236}">
                <a16:creationId xmlns:a16="http://schemas.microsoft.com/office/drawing/2014/main" id="{85AFD483-C273-062C-5DCA-1639D10BF494}"/>
              </a:ext>
            </a:extLst>
          </p:cNvPr>
          <p:cNvSpPr/>
          <p:nvPr/>
        </p:nvSpPr>
        <p:spPr>
          <a:xfrm>
            <a:off x="654820" y="5689455"/>
            <a:ext cx="2358346" cy="33836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Star: 5 Points 2">
            <a:extLst>
              <a:ext uri="{FF2B5EF4-FFF2-40B4-BE49-F238E27FC236}">
                <a16:creationId xmlns:a16="http://schemas.microsoft.com/office/drawing/2014/main" id="{6B6B87F5-1DC0-A19D-8B9B-B87909D4915B}"/>
              </a:ext>
            </a:extLst>
          </p:cNvPr>
          <p:cNvSpPr/>
          <p:nvPr/>
        </p:nvSpPr>
        <p:spPr>
          <a:xfrm>
            <a:off x="166684" y="5436296"/>
            <a:ext cx="456205" cy="458008"/>
          </a:xfrm>
          <a:prstGeom prst="star5">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483219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6"/>
                                        </p:tgtEl>
                                      </p:cBhvr>
                                    </p:animEffect>
                                    <p:set>
                                      <p:cBhvr>
                                        <p:cTn id="29" dur="1" fill="hold">
                                          <p:stCondLst>
                                            <p:cond delay="499"/>
                                          </p:stCondLst>
                                        </p:cTn>
                                        <p:tgtEl>
                                          <p:spTgt spid="26"/>
                                        </p:tgtEl>
                                        <p:attrNameLst>
                                          <p:attrName>style.visibility</p:attrName>
                                        </p:attrNameLst>
                                      </p:cBhvr>
                                      <p:to>
                                        <p:strVal val="hidden"/>
                                      </p:to>
                                    </p:set>
                                  </p:childTnLst>
                                </p:cTn>
                              </p:par>
                            </p:childTnLst>
                          </p:cTn>
                        </p:par>
                        <p:par>
                          <p:cTn id="30" fill="hold">
                            <p:stCondLst>
                              <p:cond delay="500"/>
                            </p:stCondLst>
                            <p:childTnLst>
                              <p:par>
                                <p:cTn id="31" presetID="1" presetClass="entr" presetSubtype="0" fill="hold" grpId="0" nodeType="after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9" grpId="0" animBg="1"/>
      <p:bldP spid="31" grpId="0" animBg="1"/>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dirty="0">
                <a:solidFill>
                  <a:srgbClr val="0000FF"/>
                </a:solidFill>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318046" y="1771399"/>
            <a:ext cx="3761294" cy="4351338"/>
          </a:xfrm>
        </p:spPr>
        <p:txBody>
          <a:bodyPr>
            <a:normAutofit fontScale="92500" lnSpcReduction="10000"/>
          </a:bodyPr>
          <a:lstStyle/>
          <a:p>
            <a:r>
              <a:rPr lang="en-US" sz="2000" dirty="0"/>
              <a:t>In Java, he easiest thing to do is to set up two threads</a:t>
            </a:r>
          </a:p>
          <a:p>
            <a:r>
              <a:rPr lang="en-US" sz="2000" dirty="0"/>
              <a:t>But then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a:p>
            <a:r>
              <a:rPr lang="en-US" sz="2000" dirty="0"/>
              <a:t>(TBH, you can set this up in Java in a way that avoids the interrupt, but it takes some care </a:t>
            </a:r>
            <a:r>
              <a:rPr lang="en-US" sz="2000" dirty="0">
                <a:sym typeface="Wingdings" panose="05000000000000000000" pitchFamily="2" charset="2"/>
              </a:rPr>
              <a:t>)</a:t>
            </a:r>
            <a:endParaRPr lang="en-US" sz="2000" dirty="0"/>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Let’s work with more complicated examples: 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dirty="0">
                <a:solidFill>
                  <a:srgbClr val="0000FF"/>
                </a:solidFill>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4893647"/>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
        <p:nvSpPr>
          <p:cNvPr id="6" name="Content Placeholder 1">
            <a:extLst>
              <a:ext uri="{FF2B5EF4-FFF2-40B4-BE49-F238E27FC236}">
                <a16:creationId xmlns:a16="http://schemas.microsoft.com/office/drawing/2014/main" id="{121A4AAF-C150-6C53-890C-C69004EFBF51}"/>
              </a:ext>
            </a:extLst>
          </p:cNvPr>
          <p:cNvSpPr txBox="1">
            <a:spLocks/>
          </p:cNvSpPr>
          <p:nvPr/>
        </p:nvSpPr>
        <p:spPr>
          <a:xfrm>
            <a:off x="5730790" y="6027151"/>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3887238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a:p>
            <a:r>
              <a:rPr lang="en-US" sz="2000" dirty="0"/>
              <a:t>Then, </a:t>
            </a:r>
            <a:r>
              <a:rPr lang="en-US" sz="2000" dirty="0" err="1"/>
              <a:t>makeRequest</a:t>
            </a:r>
            <a:r>
              <a:rPr lang="en-US" sz="2000" dirty="0"/>
              <a:t>(300) can proceed …</a:t>
            </a:r>
          </a:p>
          <a:p>
            <a:endParaRPr lang="en-US" sz="2000" dirty="0"/>
          </a:p>
        </p:txBody>
      </p:sp>
    </p:spTree>
    <p:extLst>
      <p:ext uri="{BB962C8B-B14F-4D97-AF65-F5344CB8AC3E}">
        <p14:creationId xmlns:p14="http://schemas.microsoft.com/office/powerpoint/2010/main" val="1869021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17">
                                            <p:txEl>
                                              <p:pRg st="0" end="0"/>
                                            </p:txEl>
                                          </p:spTgt>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
        <p:nvSpPr>
          <p:cNvPr id="10" name="Content Placeholder 1">
            <a:extLst>
              <a:ext uri="{FF2B5EF4-FFF2-40B4-BE49-F238E27FC236}">
                <a16:creationId xmlns:a16="http://schemas.microsoft.com/office/drawing/2014/main" id="{B7A49396-1DFD-A287-9A28-250E00DFC716}"/>
              </a:ext>
            </a:extLst>
          </p:cNvPr>
          <p:cNvSpPr txBox="1">
            <a:spLocks/>
          </p:cNvSpPr>
          <p:nvPr/>
        </p:nvSpPr>
        <p:spPr>
          <a:xfrm>
            <a:off x="518711" y="4312471"/>
            <a:ext cx="3744982" cy="95736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After</a:t>
            </a:r>
            <a:r>
              <a:rPr lang="en-US" sz="2000" dirty="0"/>
              <a:t> </a:t>
            </a:r>
            <a:r>
              <a:rPr lang="en-US" sz="2000" dirty="0" err="1"/>
              <a:t>makeRequest</a:t>
            </a:r>
            <a:r>
              <a:rPr lang="en-US" sz="2000" dirty="0"/>
              <a:t>(300) returns with pending promise P3</a:t>
            </a:r>
          </a:p>
        </p:txBody>
      </p:sp>
      <p:sp>
        <p:nvSpPr>
          <p:cNvPr id="12" name="Content Placeholder 1">
            <a:extLst>
              <a:ext uri="{FF2B5EF4-FFF2-40B4-BE49-F238E27FC236}">
                <a16:creationId xmlns:a16="http://schemas.microsoft.com/office/drawing/2014/main" id="{8040BB52-9B00-0FCC-3AD2-52CCF3A6A59B}"/>
              </a:ext>
            </a:extLst>
          </p:cNvPr>
          <p:cNvSpPr txBox="1">
            <a:spLocks/>
          </p:cNvSpPr>
          <p:nvPr/>
        </p:nvSpPr>
        <p:spPr>
          <a:xfrm>
            <a:off x="518711" y="5364218"/>
            <a:ext cx="3744982" cy="95736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rgbClr val="FF0000"/>
                </a:solidFill>
              </a:rPr>
              <a:t>NOW</a:t>
            </a:r>
            <a:r>
              <a:rPr lang="en-US" sz="2000" dirty="0"/>
              <a:t>, call stack can deal with resolved promises</a:t>
            </a:r>
          </a:p>
        </p:txBody>
      </p:sp>
    </p:spTree>
    <p:extLst>
      <p:ext uri="{BB962C8B-B14F-4D97-AF65-F5344CB8AC3E}">
        <p14:creationId xmlns:p14="http://schemas.microsoft.com/office/powerpoint/2010/main" val="4177944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P spid="1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dirty="0">
                <a:solidFill>
                  <a:srgbClr val="0000FF"/>
                </a:solidFill>
                <a:latin typeface="Consolas" panose="020B0609020204030204" pitchFamily="49" charset="0"/>
              </a:rPr>
              <a:t>await </a:t>
            </a: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390228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09188"/>
            <a:ext cx="9921240" cy="51903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main():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'main started'</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microtask1'</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microtask2'</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8000"/>
                </a:solidFill>
                <a:effectLst/>
                <a:latin typeface="Consolas" panose="020B0609020204030204" pitchFamily="49" charset="0"/>
              </a:rPr>
              <a:t>// creates a </a:t>
            </a:r>
            <a:r>
              <a:rPr lang="en-US" sz="1400" b="0" dirty="0" err="1">
                <a:solidFill>
                  <a:srgbClr val="008000"/>
                </a:solidFill>
                <a:effectLst/>
                <a:latin typeface="Consolas" panose="020B0609020204030204" pitchFamily="49" charset="0"/>
              </a:rPr>
              <a:t>macrotask</a:t>
            </a:r>
            <a:r>
              <a:rPr lang="en-US" sz="1400" b="0" dirty="0">
                <a:solidFill>
                  <a:srgbClr val="008000"/>
                </a:solidFill>
                <a:effectLst/>
                <a:latin typeface="Consolas" panose="020B0609020204030204" pitchFamily="49" charset="0"/>
              </a:rPr>
              <a:t>, but returns something else.</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'creating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_ignored = </a:t>
            </a:r>
            <a:r>
              <a:rPr lang="en-US" sz="1400" b="0" dirty="0">
                <a:solidFill>
                  <a:srgbClr val="0000FF"/>
                </a:solidFill>
                <a:effectLst/>
                <a:latin typeface="Consolas" panose="020B0609020204030204" pitchFamily="49" charset="0"/>
              </a:rPr>
              <a:t>new</a:t>
            </a:r>
            <a:r>
              <a:rPr lang="en-US" sz="1400" b="0" dirty="0">
                <a:solidFill>
                  <a:srgbClr val="000000"/>
                </a:solidFill>
                <a:effectLst/>
                <a:latin typeface="Consolas" panose="020B0609020204030204" pitchFamily="49" charset="0"/>
              </a:rPr>
              <a:t> Promise&lt;void&gt;((resolve)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setTimeout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resolve();</a:t>
            </a:r>
          </a:p>
          <a:p>
            <a:pPr algn="l">
              <a:lnSpc>
                <a:spcPct val="113095"/>
              </a:lnSpc>
              <a:buNone/>
            </a:pP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return a promise that immediately resolves to 3</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Promise.resolve</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p>
          <a:p>
            <a:pPr algn="l">
              <a:lnSpc>
                <a:spcPct val="113095"/>
              </a:lnSpc>
              <a:buNone/>
            </a:pP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main();</a:t>
            </a: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executing microtask1</a:t>
            </a:r>
          </a:p>
          <a:p>
            <a:pPr algn="l"/>
            <a:r>
              <a:rPr lang="en-US" sz="2000" dirty="0">
                <a:solidFill>
                  <a:schemeClr val="tx1"/>
                </a:solidFill>
                <a:latin typeface="Verdana" panose="020B0604030504040204" pitchFamily="34" charset="0"/>
                <a:ea typeface="Verdana" panose="020B0604030504040204" pitchFamily="34" charset="0"/>
              </a:rPr>
              <a:t>executing microtask2</a:t>
            </a:r>
          </a:p>
          <a:p>
            <a:pPr algn="l"/>
            <a:r>
              <a:rPr lang="en-US" sz="2000" dirty="0">
                <a:solidFill>
                  <a:schemeClr val="tx1"/>
                </a:solidFill>
                <a:latin typeface="Verdana" panose="020B0604030504040204" pitchFamily="34" charset="0"/>
                <a:ea typeface="Verdana" panose="020B0604030504040204" pitchFamily="34" charset="0"/>
              </a:rPr>
              <a:t>executing </a:t>
            </a:r>
            <a:r>
              <a:rPr lang="en-US" sz="2000">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44</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34452</TotalTime>
  <Words>6667</Words>
  <Application>Microsoft Office PowerPoint</Application>
  <PresentationFormat>Widescreen</PresentationFormat>
  <Paragraphs>731</Paragraphs>
  <Slides>44</Slides>
  <Notes>40</Notes>
  <HiddenSlides>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44</vt:i4>
      </vt:variant>
    </vt:vector>
  </HeadingPairs>
  <TitlesOfParts>
    <vt:vector size="54" baseType="lpstr">
      <vt:lpstr>Arial</vt:lpstr>
      <vt:lpstr>Calibri</vt:lpstr>
      <vt:lpstr>Consolas</vt:lpstr>
      <vt:lpstr>Courier</vt:lpstr>
      <vt:lpstr>Helvetica Neue</vt:lpstr>
      <vt:lpstr>Ink Free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How does JS Event Loop make this happen?</vt:lpstr>
      <vt:lpstr>Let’s start with a simple request</vt:lpstr>
      <vt:lpstr>Pattern for starting a concurrent computation using non-blocking I/O</vt:lpstr>
      <vt:lpstr>Pattern for starting a concurrent computation using non-blocking I/O</vt:lpstr>
      <vt:lpstr>Pattern for starting a concurrent computation using non-blocking I/O</vt:lpstr>
      <vt:lpstr>Promises come in two flavors: microtasks and macrotasks</vt:lpstr>
      <vt:lpstr>Macrotasks are API calls; Microtasks are what you do after the API call returns</vt:lpstr>
      <vt:lpstr>By contrast, most OS's use pre-emptive multiprocessing</vt:lpstr>
      <vt:lpstr>Java vs. JS/TS</vt:lpstr>
      <vt:lpstr>Let’s work with more complicated examples: Three Requests, sequentially</vt:lpstr>
      <vt:lpstr>Running 3 concurrent fetch requests</vt:lpstr>
      <vt:lpstr>Running 3 concurrent fetch requests (start)</vt:lpstr>
      <vt:lpstr>Running 3 concurrent fetch requests (end)</vt:lpstr>
      <vt:lpstr>Use Promise.all to execute several requests concurrently</vt:lpstr>
      <vt:lpstr>Use Promise.all to execute several requests concurrently</vt:lpstr>
      <vt:lpstr>Why is that?  Visualizing Promise.all</vt:lpstr>
      <vt:lpstr>Promises have priority (Micro over Macro)</vt:lpstr>
      <vt:lpstr>Promises have priority (Micro over Macro)</vt:lpstr>
      <vt:lpstr>Recover from errors with try/catch</vt:lpstr>
      <vt:lpstr>try/catch, continued</vt:lpstr>
      <vt:lpstr>Pattern for testing an async function</vt:lpstr>
      <vt:lpstr>Other things you should know about async</vt:lpstr>
      <vt:lpstr>AntiPattern: unawaited promise</vt:lpstr>
      <vt:lpstr>Async/await code is compiled into promise/then code. Using await is preferred</vt:lpstr>
      <vt:lpstr>Promises Enforce Ordering Through “Then”</vt:lpstr>
      <vt:lpstr>async doesn't eliminate data races</vt:lpstr>
      <vt:lpstr>General Rules for Writing Asynchronous Code</vt:lpstr>
      <vt:lpstr>Let’s put it all together</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Mitchell Wand</cp:lastModifiedBy>
  <cp:revision>149</cp:revision>
  <dcterms:modified xsi:type="dcterms:W3CDTF">2026-09-28T19:16:08Z</dcterms:modified>
</cp:coreProperties>
</file>