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51"/>
  </p:notesMasterIdLst>
  <p:sldIdLst>
    <p:sldId id="342" r:id="rId3"/>
    <p:sldId id="257" r:id="rId4"/>
    <p:sldId id="262" r:id="rId5"/>
    <p:sldId id="259" r:id="rId6"/>
    <p:sldId id="261" r:id="rId7"/>
    <p:sldId id="260" r:id="rId8"/>
    <p:sldId id="571" r:id="rId9"/>
    <p:sldId id="579" r:id="rId10"/>
    <p:sldId id="580" r:id="rId11"/>
    <p:sldId id="269" r:id="rId12"/>
    <p:sldId id="385" r:id="rId13"/>
    <p:sldId id="349" r:id="rId14"/>
    <p:sldId id="362" r:id="rId15"/>
    <p:sldId id="287" r:id="rId16"/>
    <p:sldId id="264" r:id="rId17"/>
    <p:sldId id="344" r:id="rId18"/>
    <p:sldId id="280" r:id="rId19"/>
    <p:sldId id="316" r:id="rId20"/>
    <p:sldId id="285" r:id="rId21"/>
    <p:sldId id="372" r:id="rId22"/>
    <p:sldId id="290" r:id="rId23"/>
    <p:sldId id="581" r:id="rId24"/>
    <p:sldId id="613" r:id="rId25"/>
    <p:sldId id="575" r:id="rId26"/>
    <p:sldId id="576" r:id="rId27"/>
    <p:sldId id="614" r:id="rId28"/>
    <p:sldId id="615" r:id="rId29"/>
    <p:sldId id="276" r:id="rId30"/>
    <p:sldId id="291" r:id="rId31"/>
    <p:sldId id="617" r:id="rId32"/>
    <p:sldId id="618" r:id="rId33"/>
    <p:sldId id="331" r:id="rId34"/>
    <p:sldId id="330" r:id="rId35"/>
    <p:sldId id="312" r:id="rId36"/>
    <p:sldId id="375" r:id="rId37"/>
    <p:sldId id="348" r:id="rId38"/>
    <p:sldId id="335" r:id="rId39"/>
    <p:sldId id="292" r:id="rId40"/>
    <p:sldId id="351" r:id="rId41"/>
    <p:sldId id="355" r:id="rId42"/>
    <p:sldId id="304" r:id="rId43"/>
    <p:sldId id="340" r:id="rId44"/>
    <p:sldId id="389" r:id="rId45"/>
    <p:sldId id="377" r:id="rId46"/>
    <p:sldId id="390" r:id="rId47"/>
    <p:sldId id="616" r:id="rId48"/>
    <p:sldId id="391" r:id="rId49"/>
    <p:sldId id="34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E2315A-F7E8-41EC-AC3F-B2934F1C8BDD}" v="4" dt="2026-10-26T18:51:23.3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06" autoAdjust="0"/>
    <p:restoredTop sz="88078" autoAdjust="0"/>
  </p:normalViewPr>
  <p:slideViewPr>
    <p:cSldViewPr snapToGrid="0">
      <p:cViewPr varScale="1">
        <p:scale>
          <a:sx n="65" d="100"/>
          <a:sy n="65" d="100"/>
        </p:scale>
        <p:origin x="100" y="52"/>
      </p:cViewPr>
      <p:guideLst/>
    </p:cSldViewPr>
  </p:slideViewPr>
  <p:notesTextViewPr>
    <p:cViewPr>
      <p:scale>
        <a:sx n="100" d="100"/>
        <a:sy n="100" d="100"/>
      </p:scale>
      <p:origin x="0" y="0"/>
    </p:cViewPr>
  </p:notesTextViewPr>
  <p:sorterViewPr>
    <p:cViewPr varScale="1">
      <p:scale>
        <a:sx n="1" d="1"/>
        <a:sy n="1" d="1"/>
      </p:scale>
      <p:origin x="0" y="-138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microsoft.com/office/2016/11/relationships/changesInfo" Target="changesInfos/changesInfo1.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microsoft.com/office/2015/10/relationships/revisionInfo" Target="revisionInfo.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addSld delSld modSld sldOrd">
      <pc:chgData name="Mitchell Wand" userId="de9b44c55c049659" providerId="LiveId" clId="{7A9D5940-B2CC-47DD-AF5E-71219F1A1E26}" dt="2026-10-26T18:50:51.287" v="1299" actId="20577"/>
      <pc:docMkLst>
        <pc:docMk/>
      </pc:docMkLst>
      <pc:sldChg chg="modSp mod">
        <pc:chgData name="Mitchell Wand" userId="de9b44c55c049659" providerId="LiveId" clId="{7A9D5940-B2CC-47DD-AF5E-71219F1A1E26}" dt="2026-10-11T00:51:46.831" v="99" actId="20577"/>
        <pc:sldMkLst>
          <pc:docMk/>
          <pc:sldMk cId="815299908" sldId="269"/>
        </pc:sldMkLst>
        <pc:spChg chg="mod">
          <ac:chgData name="Mitchell Wand" userId="de9b44c55c049659" providerId="LiveId" clId="{7A9D5940-B2CC-47DD-AF5E-71219F1A1E26}" dt="2026-10-11T00:51:46.831" v="99" actId="20577"/>
          <ac:spMkLst>
            <pc:docMk/>
            <pc:sldMk cId="815299908" sldId="269"/>
            <ac:spMk id="155" creationId="{00000000-0000-0000-0000-000000000000}"/>
          </ac:spMkLst>
        </pc:spChg>
      </pc:sldChg>
      <pc:sldChg chg="modSp mod">
        <pc:chgData name="Mitchell Wand" userId="de9b44c55c049659" providerId="LiveId" clId="{7A9D5940-B2CC-47DD-AF5E-71219F1A1E26}" dt="2026-10-11T01:01:56.215" v="466" actId="20577"/>
        <pc:sldMkLst>
          <pc:docMk/>
          <pc:sldMk cId="2594890108" sldId="276"/>
        </pc:sldMkLst>
        <pc:spChg chg="mod">
          <ac:chgData name="Mitchell Wand" userId="de9b44c55c049659" providerId="LiveId" clId="{7A9D5940-B2CC-47DD-AF5E-71219F1A1E26}" dt="2026-10-11T01:01:56.215" v="466" actId="20577"/>
          <ac:spMkLst>
            <pc:docMk/>
            <pc:sldMk cId="2594890108" sldId="276"/>
            <ac:spMk id="3" creationId="{60B71892-19E8-4563-4834-8C1CE1C46F4F}"/>
          </ac:spMkLst>
        </pc:spChg>
      </pc:sldChg>
      <pc:sldChg chg="ord">
        <pc:chgData name="Mitchell Wand" userId="de9b44c55c049659" providerId="LiveId" clId="{7A9D5940-B2CC-47DD-AF5E-71219F1A1E26}" dt="2026-10-11T00:58:18.292" v="292"/>
        <pc:sldMkLst>
          <pc:docMk/>
          <pc:sldMk cId="0" sldId="285"/>
        </pc:sldMkLst>
      </pc:sldChg>
      <pc:sldChg chg="modSp mod">
        <pc:chgData name="Mitchell Wand" userId="de9b44c55c049659" providerId="LiveId" clId="{7A9D5940-B2CC-47DD-AF5E-71219F1A1E26}" dt="2026-10-11T01:03:06.015" v="576" actId="20577"/>
        <pc:sldMkLst>
          <pc:docMk/>
          <pc:sldMk cId="1313669991" sldId="291"/>
        </pc:sldMkLst>
        <pc:spChg chg="mod">
          <ac:chgData name="Mitchell Wand" userId="de9b44c55c049659" providerId="LiveId" clId="{7A9D5940-B2CC-47DD-AF5E-71219F1A1E26}" dt="2026-10-11T01:03:06.015" v="576" actId="20577"/>
          <ac:spMkLst>
            <pc:docMk/>
            <pc:sldMk cId="1313669991" sldId="291"/>
            <ac:spMk id="2" creationId="{A9E99567-945A-A649-A6D6-B4FE1391686D}"/>
          </ac:spMkLst>
        </pc:spChg>
      </pc:sldChg>
      <pc:sldChg chg="mod modShow">
        <pc:chgData name="Mitchell Wand" userId="de9b44c55c049659" providerId="LiveId" clId="{7A9D5940-B2CC-47DD-AF5E-71219F1A1E26}" dt="2026-10-11T01:33:23.526" v="958" actId="34476"/>
        <pc:sldMkLst>
          <pc:docMk/>
          <pc:sldMk cId="4257251093" sldId="348"/>
        </pc:sldMkLst>
      </pc:sldChg>
      <pc:sldChg chg="modSp mod">
        <pc:chgData name="Mitchell Wand" userId="de9b44c55c049659" providerId="LiveId" clId="{7A9D5940-B2CC-47DD-AF5E-71219F1A1E26}" dt="2026-10-11T00:56:01.944" v="288" actId="20577"/>
        <pc:sldMkLst>
          <pc:docMk/>
          <pc:sldMk cId="415063438" sldId="362"/>
        </pc:sldMkLst>
        <pc:spChg chg="mod">
          <ac:chgData name="Mitchell Wand" userId="de9b44c55c049659" providerId="LiveId" clId="{7A9D5940-B2CC-47DD-AF5E-71219F1A1E26}" dt="2026-10-11T00:56:01.944" v="288" actId="20577"/>
          <ac:spMkLst>
            <pc:docMk/>
            <pc:sldMk cId="415063438" sldId="362"/>
            <ac:spMk id="139" creationId="{951A5BBD-5F10-7357-F803-8C521C116E7D}"/>
          </ac:spMkLst>
        </pc:spChg>
      </pc:sldChg>
      <pc:sldChg chg="mod modShow">
        <pc:chgData name="Mitchell Wand" userId="de9b44c55c049659" providerId="LiveId" clId="{7A9D5940-B2CC-47DD-AF5E-71219F1A1E26}" dt="2026-10-26T18:44:48.750" v="1297" actId="729"/>
        <pc:sldMkLst>
          <pc:docMk/>
          <pc:sldMk cId="3029668800" sldId="375"/>
        </pc:sldMkLst>
      </pc:sldChg>
      <pc:sldChg chg="modSp mod">
        <pc:chgData name="Mitchell Wand" userId="de9b44c55c049659" providerId="LiveId" clId="{7A9D5940-B2CC-47DD-AF5E-71219F1A1E26}" dt="2026-10-11T01:27:32.828" v="877" actId="20577"/>
        <pc:sldMkLst>
          <pc:docMk/>
          <pc:sldMk cId="3870596137" sldId="377"/>
        </pc:sldMkLst>
        <pc:spChg chg="mod">
          <ac:chgData name="Mitchell Wand" userId="de9b44c55c049659" providerId="LiveId" clId="{7A9D5940-B2CC-47DD-AF5E-71219F1A1E26}" dt="2026-10-11T01:24:32.687" v="760" actId="20577"/>
          <ac:spMkLst>
            <pc:docMk/>
            <pc:sldMk cId="3870596137" sldId="377"/>
            <ac:spMk id="2" creationId="{E4B90FE1-AAC9-DB49-958F-35F87E447664}"/>
          </ac:spMkLst>
        </pc:spChg>
        <pc:spChg chg="mod">
          <ac:chgData name="Mitchell Wand" userId="de9b44c55c049659" providerId="LiveId" clId="{7A9D5940-B2CC-47DD-AF5E-71219F1A1E26}" dt="2026-10-11T01:27:32.828" v="877" actId="20577"/>
          <ac:spMkLst>
            <pc:docMk/>
            <pc:sldMk cId="3870596137" sldId="377"/>
            <ac:spMk id="4" creationId="{C7537FBD-FAC6-EB42-B286-483FD564DAFD}"/>
          </ac:spMkLst>
        </pc:spChg>
      </pc:sldChg>
      <pc:sldChg chg="modSp mod ord">
        <pc:chgData name="Mitchell Wand" userId="de9b44c55c049659" providerId="LiveId" clId="{7A9D5940-B2CC-47DD-AF5E-71219F1A1E26}" dt="2026-10-11T00:55:31.607" v="267"/>
        <pc:sldMkLst>
          <pc:docMk/>
          <pc:sldMk cId="2542460732" sldId="385"/>
        </pc:sldMkLst>
        <pc:spChg chg="mod">
          <ac:chgData name="Mitchell Wand" userId="de9b44c55c049659" providerId="LiveId" clId="{7A9D5940-B2CC-47DD-AF5E-71219F1A1E26}" dt="2026-10-11T00:53:31.795" v="197" actId="20577"/>
          <ac:spMkLst>
            <pc:docMk/>
            <pc:sldMk cId="2542460732" sldId="385"/>
            <ac:spMk id="3" creationId="{64D9733F-E10E-307D-2EA6-7F4520ABB642}"/>
          </ac:spMkLst>
        </pc:spChg>
      </pc:sldChg>
      <pc:sldChg chg="modSp mod ord">
        <pc:chgData name="Mitchell Wand" userId="de9b44c55c049659" providerId="LiveId" clId="{7A9D5940-B2CC-47DD-AF5E-71219F1A1E26}" dt="2026-10-11T01:28:32.712" v="900" actId="20577"/>
        <pc:sldMkLst>
          <pc:docMk/>
          <pc:sldMk cId="2692604296" sldId="389"/>
        </pc:sldMkLst>
        <pc:spChg chg="mod">
          <ac:chgData name="Mitchell Wand" userId="de9b44c55c049659" providerId="LiveId" clId="{7A9D5940-B2CC-47DD-AF5E-71219F1A1E26}" dt="2026-10-11T01:28:32.712" v="900" actId="20577"/>
          <ac:spMkLst>
            <pc:docMk/>
            <pc:sldMk cId="2692604296" sldId="389"/>
            <ac:spMk id="2" creationId="{B974C6E5-8FE2-DF16-609E-9B7A086EBBD8}"/>
          </ac:spMkLst>
        </pc:spChg>
      </pc:sldChg>
      <pc:sldChg chg="modSp mod">
        <pc:chgData name="Mitchell Wand" userId="de9b44c55c049659" providerId="LiveId" clId="{7A9D5940-B2CC-47DD-AF5E-71219F1A1E26}" dt="2026-10-11T01:29:58.342" v="905" actId="113"/>
        <pc:sldMkLst>
          <pc:docMk/>
          <pc:sldMk cId="4223131274" sldId="392"/>
        </pc:sldMkLst>
        <pc:spChg chg="mod">
          <ac:chgData name="Mitchell Wand" userId="de9b44c55c049659" providerId="LiveId" clId="{7A9D5940-B2CC-47DD-AF5E-71219F1A1E26}" dt="2026-10-11T01:29:58.342" v="905" actId="113"/>
          <ac:spMkLst>
            <pc:docMk/>
            <pc:sldMk cId="4223131274" sldId="392"/>
            <ac:spMk id="6" creationId="{B6CB42CC-E0A3-F486-D1D1-FF4A2A45276B}"/>
          </ac:spMkLst>
        </pc:spChg>
      </pc:sldChg>
      <pc:sldChg chg="modSp mod ord">
        <pc:chgData name="Mitchell Wand" userId="de9b44c55c049659" providerId="LiveId" clId="{7A9D5940-B2CC-47DD-AF5E-71219F1A1E26}" dt="2026-10-10T18:34:39.182" v="7"/>
        <pc:sldMkLst>
          <pc:docMk/>
          <pc:sldMk cId="2715120214" sldId="571"/>
        </pc:sldMkLst>
        <pc:spChg chg="mod">
          <ac:chgData name="Mitchell Wand" userId="de9b44c55c049659" providerId="LiveId" clId="{7A9D5940-B2CC-47DD-AF5E-71219F1A1E26}" dt="2026-10-10T18:32:47.728" v="1" actId="20577"/>
          <ac:spMkLst>
            <pc:docMk/>
            <pc:sldMk cId="2715120214" sldId="571"/>
            <ac:spMk id="7" creationId="{1B1C69BA-16B3-143F-593E-910B934645D3}"/>
          </ac:spMkLst>
        </pc:spChg>
      </pc:sldChg>
      <pc:sldChg chg="modSp mod ord modNotesTx">
        <pc:chgData name="Mitchell Wand" userId="de9b44c55c049659" providerId="LiveId" clId="{7A9D5940-B2CC-47DD-AF5E-71219F1A1E26}" dt="2026-10-11T00:54:39.288" v="265" actId="20577"/>
        <pc:sldMkLst>
          <pc:docMk/>
          <pc:sldMk cId="1489356314" sldId="579"/>
        </pc:sldMkLst>
        <pc:spChg chg="mod">
          <ac:chgData name="Mitchell Wand" userId="de9b44c55c049659" providerId="LiveId" clId="{7A9D5940-B2CC-47DD-AF5E-71219F1A1E26}" dt="2026-10-11T00:51:09" v="44" actId="20577"/>
          <ac:spMkLst>
            <pc:docMk/>
            <pc:sldMk cId="1489356314" sldId="579"/>
            <ac:spMk id="2" creationId="{7A1ACE48-9C5F-E584-59C4-5E27C882EC12}"/>
          </ac:spMkLst>
        </pc:spChg>
      </pc:sldChg>
      <pc:sldChg chg="ord">
        <pc:chgData name="Mitchell Wand" userId="de9b44c55c049659" providerId="LiveId" clId="{7A9D5940-B2CC-47DD-AF5E-71219F1A1E26}" dt="2026-10-11T00:56:49.927" v="290"/>
        <pc:sldMkLst>
          <pc:docMk/>
          <pc:sldMk cId="1044261238" sldId="580"/>
        </pc:sldMkLst>
      </pc:sldChg>
      <pc:sldChg chg="modSp mod">
        <pc:chgData name="Mitchell Wand" userId="de9b44c55c049659" providerId="LiveId" clId="{7A9D5940-B2CC-47DD-AF5E-71219F1A1E26}" dt="2026-10-11T00:59:57.727" v="296" actId="20577"/>
        <pc:sldMkLst>
          <pc:docMk/>
          <pc:sldMk cId="3793931591" sldId="615"/>
        </pc:sldMkLst>
        <pc:spChg chg="mod">
          <ac:chgData name="Mitchell Wand" userId="de9b44c55c049659" providerId="LiveId" clId="{7A9D5940-B2CC-47DD-AF5E-71219F1A1E26}" dt="2026-10-11T00:59:57.727" v="296" actId="20577"/>
          <ac:spMkLst>
            <pc:docMk/>
            <pc:sldMk cId="3793931591" sldId="615"/>
            <ac:spMk id="2" creationId="{4DCFB7A5-5D23-2B66-4D32-5F3D753396CB}"/>
          </ac:spMkLst>
        </pc:spChg>
      </pc:sldChg>
      <pc:sldChg chg="modSp new mod">
        <pc:chgData name="Mitchell Wand" userId="de9b44c55c049659" providerId="LiveId" clId="{7A9D5940-B2CC-47DD-AF5E-71219F1A1E26}" dt="2026-10-11T01:19:14.803" v="676" actId="20577"/>
        <pc:sldMkLst>
          <pc:docMk/>
          <pc:sldMk cId="2163532588" sldId="616"/>
        </pc:sldMkLst>
        <pc:spChg chg="mod">
          <ac:chgData name="Mitchell Wand" userId="de9b44c55c049659" providerId="LiveId" clId="{7A9D5940-B2CC-47DD-AF5E-71219F1A1E26}" dt="2026-10-11T01:17:23.919" v="638" actId="313"/>
          <ac:spMkLst>
            <pc:docMk/>
            <pc:sldMk cId="2163532588" sldId="616"/>
            <ac:spMk id="2" creationId="{745AB5F6-8402-21D1-FE7E-9E95F8EAEE7E}"/>
          </ac:spMkLst>
        </pc:spChg>
        <pc:spChg chg="mod">
          <ac:chgData name="Mitchell Wand" userId="de9b44c55c049659" providerId="LiveId" clId="{7A9D5940-B2CC-47DD-AF5E-71219F1A1E26}" dt="2026-10-11T01:19:14.803" v="676" actId="20577"/>
          <ac:spMkLst>
            <pc:docMk/>
            <pc:sldMk cId="2163532588" sldId="616"/>
            <ac:spMk id="3" creationId="{6C92FEA4-7715-91F2-3909-2E533E189B16}"/>
          </ac:spMkLst>
        </pc:spChg>
      </pc:sldChg>
      <pc:sldChg chg="addSp delSp modSp new mod ord modClrScheme chgLayout">
        <pc:chgData name="Mitchell Wand" userId="de9b44c55c049659" providerId="LiveId" clId="{7A9D5940-B2CC-47DD-AF5E-71219F1A1E26}" dt="2026-10-26T18:30:22.973" v="1163" actId="20577"/>
        <pc:sldMkLst>
          <pc:docMk/>
          <pc:sldMk cId="988594982" sldId="617"/>
        </pc:sldMkLst>
        <pc:spChg chg="mod ord">
          <ac:chgData name="Mitchell Wand" userId="de9b44c55c049659" providerId="LiveId" clId="{7A9D5940-B2CC-47DD-AF5E-71219F1A1E26}" dt="2026-10-26T18:30:22.973" v="1163" actId="20577"/>
          <ac:spMkLst>
            <pc:docMk/>
            <pc:sldMk cId="988594982" sldId="617"/>
            <ac:spMk id="2" creationId="{6017E05F-085F-96DD-ACB3-1CA15578FE4E}"/>
          </ac:spMkLst>
        </pc:spChg>
        <pc:spChg chg="del">
          <ac:chgData name="Mitchell Wand" userId="de9b44c55c049659" providerId="LiveId" clId="{7A9D5940-B2CC-47DD-AF5E-71219F1A1E26}" dt="2026-10-26T18:25:33.405" v="975" actId="700"/>
          <ac:spMkLst>
            <pc:docMk/>
            <pc:sldMk cId="988594982" sldId="617"/>
            <ac:spMk id="3" creationId="{E33D5942-A1C6-0EF3-6B66-D68DF1348CB7}"/>
          </ac:spMkLst>
        </pc:spChg>
        <pc:spChg chg="mod ord">
          <ac:chgData name="Mitchell Wand" userId="de9b44c55c049659" providerId="LiveId" clId="{7A9D5940-B2CC-47DD-AF5E-71219F1A1E26}" dt="2026-10-26T18:28:14.282" v="984" actId="700"/>
          <ac:spMkLst>
            <pc:docMk/>
            <pc:sldMk cId="988594982" sldId="617"/>
            <ac:spMk id="4" creationId="{99A7475A-7825-E522-C819-9B4155925005}"/>
          </ac:spMkLst>
        </pc:spChg>
        <pc:spChg chg="add mod">
          <ac:chgData name="Mitchell Wand" userId="de9b44c55c049659" providerId="LiveId" clId="{7A9D5940-B2CC-47DD-AF5E-71219F1A1E26}" dt="2026-10-26T18:27:49.862" v="983" actId="1076"/>
          <ac:spMkLst>
            <pc:docMk/>
            <pc:sldMk cId="988594982" sldId="617"/>
            <ac:spMk id="7" creationId="{9CBED374-4E23-606F-DBBD-D700A133B367}"/>
          </ac:spMkLst>
        </pc:spChg>
        <pc:spChg chg="add mod ord">
          <ac:chgData name="Mitchell Wand" userId="de9b44c55c049659" providerId="LiveId" clId="{7A9D5940-B2CC-47DD-AF5E-71219F1A1E26}" dt="2026-10-26T18:29:43.947" v="1122" actId="20577"/>
          <ac:spMkLst>
            <pc:docMk/>
            <pc:sldMk cId="988594982" sldId="617"/>
            <ac:spMk id="8" creationId="{EE854DDD-7450-2A29-3611-B02DA479EEDB}"/>
          </ac:spMkLst>
        </pc:spChg>
        <pc:picChg chg="add mod">
          <ac:chgData name="Mitchell Wand" userId="de9b44c55c049659" providerId="LiveId" clId="{7A9D5940-B2CC-47DD-AF5E-71219F1A1E26}" dt="2026-10-26T18:25:46.861" v="978" actId="1076"/>
          <ac:picMkLst>
            <pc:docMk/>
            <pc:sldMk cId="988594982" sldId="617"/>
            <ac:picMk id="5" creationId="{6A73EA38-3064-03FC-3548-B6DF586EA1D5}"/>
          </ac:picMkLst>
        </pc:picChg>
      </pc:sldChg>
      <pc:sldChg chg="addSp delSp modSp new mod modNotesTx">
        <pc:chgData name="Mitchell Wand" userId="de9b44c55c049659" providerId="LiveId" clId="{7A9D5940-B2CC-47DD-AF5E-71219F1A1E26}" dt="2026-10-26T18:50:51.287" v="1299" actId="20577"/>
        <pc:sldMkLst>
          <pc:docMk/>
          <pc:sldMk cId="1264209119" sldId="618"/>
        </pc:sldMkLst>
        <pc:spChg chg="mod">
          <ac:chgData name="Mitchell Wand" userId="de9b44c55c049659" providerId="LiveId" clId="{7A9D5940-B2CC-47DD-AF5E-71219F1A1E26}" dt="2026-10-26T18:36:36.935" v="1254" actId="20577"/>
          <ac:spMkLst>
            <pc:docMk/>
            <pc:sldMk cId="1264209119" sldId="618"/>
            <ac:spMk id="2" creationId="{00BCC61A-47BB-809E-A896-BA4746ABAFFB}"/>
          </ac:spMkLst>
        </pc:spChg>
        <pc:spChg chg="mod">
          <ac:chgData name="Mitchell Wand" userId="de9b44c55c049659" providerId="LiveId" clId="{7A9D5940-B2CC-47DD-AF5E-71219F1A1E26}" dt="2026-10-26T18:50:51.287" v="1299" actId="20577"/>
          <ac:spMkLst>
            <pc:docMk/>
            <pc:sldMk cId="1264209119" sldId="618"/>
            <ac:spMk id="3" creationId="{0A982635-02F4-0CA4-157E-05FFE131F791}"/>
          </ac:spMkLst>
        </pc:spChg>
        <pc:spChg chg="add del mod">
          <ac:chgData name="Mitchell Wand" userId="de9b44c55c049659" providerId="LiveId" clId="{7A9D5940-B2CC-47DD-AF5E-71219F1A1E26}" dt="2026-10-26T18:34:12.004" v="1199" actId="478"/>
          <ac:spMkLst>
            <pc:docMk/>
            <pc:sldMk cId="1264209119" sldId="618"/>
            <ac:spMk id="6" creationId="{D90C17E2-2B2C-F140-0729-266F616EFB89}"/>
          </ac:spMkLst>
        </pc:spChg>
        <pc:spChg chg="add mod">
          <ac:chgData name="Mitchell Wand" userId="de9b44c55c049659" providerId="LiveId" clId="{7A9D5940-B2CC-47DD-AF5E-71219F1A1E26}" dt="2026-10-26T18:36:13.182" v="1240" actId="1076"/>
          <ac:spMkLst>
            <pc:docMk/>
            <pc:sldMk cId="1264209119" sldId="618"/>
            <ac:spMk id="8" creationId="{EBB17C28-A5AB-070B-6971-11BD4BE4C441}"/>
          </ac:spMkLst>
        </pc:spChg>
        <pc:spChg chg="add mod">
          <ac:chgData name="Mitchell Wand" userId="de9b44c55c049659" providerId="LiveId" clId="{7A9D5940-B2CC-47DD-AF5E-71219F1A1E26}" dt="2026-10-26T18:36:17.412" v="1241" actId="1076"/>
          <ac:spMkLst>
            <pc:docMk/>
            <pc:sldMk cId="1264209119" sldId="618"/>
            <ac:spMk id="10" creationId="{17117F81-72B1-F1A2-F1E4-6570B982BB2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10/29/2026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dirty="0"/>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Here is a very simple threat model that we will use for this module.</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dirty="0"/>
          </a:p>
        </p:txBody>
      </p:sp>
    </p:spTree>
    <p:extLst>
      <p:ext uri="{BB962C8B-B14F-4D97-AF65-F5344CB8AC3E}">
        <p14:creationId xmlns:p14="http://schemas.microsoft.com/office/powerpoint/2010/main" val="855516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59" name="Shape 159"/>
          <p:cNvSpPr>
            <a:spLocks noGrp="1"/>
          </p:cNvSpPr>
          <p:nvPr>
            <p:ph type="body" sz="quarter" idx="1"/>
          </p:nvPr>
        </p:nvSpPr>
        <p:spPr>
          <a:prstGeom prst="rect">
            <a:avLst/>
          </a:prstGeom>
        </p:spPr>
        <p:txBody>
          <a:bodyPr/>
          <a:lstStyle/>
          <a:p>
            <a:r>
              <a:rPr lang="en-US" dirty="0"/>
              <a:t>The process of considering the potential risks, and ”non risks”, or trusted actors/components, is called “threat modeling”.</a:t>
            </a:r>
          </a:p>
          <a:p>
            <a:endParaRPr lang="en-US" dirty="0"/>
          </a:p>
          <a:p>
            <a:r>
              <a:rPr lang="en-US" dirty="0"/>
              <a:t>This is typically a structured process in which an organization analyzes questions like:</a:t>
            </a:r>
          </a:p>
          <a:p>
            <a:endParaRPr lang="en-US" dirty="0"/>
          </a:p>
          <a:p>
            <a:r>
              <a:rPr lang="en-US" dirty="0"/>
              <a:t>(read slide)</a:t>
            </a:r>
          </a:p>
          <a:p>
            <a:endParaRPr lang="en-US" dirty="0"/>
          </a:p>
          <a:p>
            <a:r>
              <a:rPr lang="en-US" dirty="0"/>
              <a:t>Of course, creating a threat model is not a one-time event.  The model will need to be continually revised during the development process as the system is refined, and after deployment as the environment changes.</a:t>
            </a:r>
          </a:p>
          <a:p>
            <a:endParaRPr lang="en-US" dirty="0"/>
          </a:p>
          <a:p>
            <a:r>
              <a:rPr lang="en-US" dirty="0"/>
              <a:t>Of course there’s a whole ecosystem of consultants to help with this process.</a:t>
            </a:r>
          </a:p>
          <a:p>
            <a:endParaRPr lang="en-US" dirty="0"/>
          </a:p>
        </p:txBody>
      </p:sp>
    </p:spTree>
    <p:extLst>
      <p:ext uri="{BB962C8B-B14F-4D97-AF65-F5344CB8AC3E}">
        <p14:creationId xmlns:p14="http://schemas.microsoft.com/office/powerpoint/2010/main" val="2677140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&lt;click&gt;</a:t>
            </a:r>
          </a:p>
          <a:p>
            <a:r>
              <a:rPr lang="en-US" dirty="0"/>
              <a:t>Answer: Gradescope!</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dirty="0"/>
          </a:p>
        </p:txBody>
      </p:sp>
    </p:spTree>
    <p:extLst>
      <p:ext uri="{BB962C8B-B14F-4D97-AF65-F5344CB8AC3E}">
        <p14:creationId xmlns:p14="http://schemas.microsoft.com/office/powerpoint/2010/main" val="25644070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dirty="0"/>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dirty="0"/>
          </a:p>
        </p:txBody>
      </p:sp>
    </p:spTree>
    <p:extLst>
      <p:ext uri="{BB962C8B-B14F-4D97-AF65-F5344CB8AC3E}">
        <p14:creationId xmlns:p14="http://schemas.microsoft.com/office/powerpoint/2010/main" val="17547546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Simply using a secret detection tool isn’t enough. This is an interesting study. </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(Read slide for key findings)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Discussion:</a:t>
            </a:r>
          </a:p>
          <a:p>
            <a:pPr marL="0" marR="0" lvl="0" indent="0" defTabSz="457200" eaLnBrk="1" fontAlgn="auto" latinLnBrk="0" hangingPunct="1">
              <a:lnSpc>
                <a:spcPct val="117999"/>
              </a:lnSpc>
              <a:spcBef>
                <a:spcPts val="0"/>
              </a:spcBef>
              <a:spcAft>
                <a:spcPts val="0"/>
              </a:spcAft>
              <a:buClrTx/>
              <a:buSzTx/>
              <a:buFontTx/>
              <a:buNone/>
              <a:tabLst/>
              <a:defRPr/>
            </a:pPr>
            <a:r>
              <a:rPr lang="en-US" dirty="0"/>
              <a:t>Bypassing warnings for false positives (e.g. not an actual credential) are reasonable (although perhaps annoying); the remaining reasons that are “development related” such as:</a:t>
            </a:r>
            <a:br>
              <a:rPr lang="en-US" dirty="0"/>
            </a:br>
            <a:r>
              <a:rPr lang="en-US" dirty="0"/>
              <a:t>* </a:t>
            </a:r>
            <a:r>
              <a:rPr lang="en-US" sz="2200" dirty="0">
                <a:effectLst/>
                <a:latin typeface="+mn-lt"/>
                <a:ea typeface="+mn-ea"/>
                <a:cs typeface="+mn-cs"/>
                <a:sym typeface="Helvetica Neue"/>
              </a:rPr>
              <a:t>It is not a production credential (for example, it is a credential for a non-shipping prototype) </a:t>
            </a:r>
            <a:endParaRPr lang="en-US" dirty="0"/>
          </a:p>
          <a:p>
            <a:pPr marL="342900" marR="0" lvl="0" indent="-342900" defTabSz="457200" eaLnBrk="1" fontAlgn="auto" latinLnBrk="0" hangingPunct="1">
              <a:lnSpc>
                <a:spcPct val="117999"/>
              </a:lnSpc>
              <a:spcBef>
                <a:spcPts val="0"/>
              </a:spcBef>
              <a:spcAft>
                <a:spcPts val="0"/>
              </a:spcAft>
              <a:buClrTx/>
              <a:buSzTx/>
              <a:buFont typeface="Arial" panose="020B0604020202020204" pitchFamily="34" charset="0"/>
              <a:buChar char="•"/>
              <a:tabLst/>
              <a:defRPr/>
            </a:pPr>
            <a:r>
              <a:rPr lang="en-US" sz="2200" dirty="0">
                <a:effectLst/>
                <a:latin typeface="+mn-lt"/>
                <a:ea typeface="+mn-ea"/>
                <a:cs typeface="+mn-cs"/>
                <a:sym typeface="Helvetica Neue"/>
              </a:rPr>
              <a:t>The credential doesn’t protect any data, service, etc., with significant security value</a:t>
            </a:r>
            <a:endParaRPr lang="en-US" dirty="0"/>
          </a:p>
          <a:p>
            <a:r>
              <a:rPr lang="en-US" dirty="0"/>
              <a:t>Rely on judgement calls of the developer that do not reflect overall security model. Many successful attacks rely on chaining multiple vulnerabilities together, getting a foothold in one system to then be able to access another. These kinds of judgement calls should not be made at the level of individual developers who may not see the whole security landscape.</a:t>
            </a:r>
          </a:p>
          <a:p>
            <a:endParaRPr lang="en-US" dirty="0"/>
          </a:p>
          <a:p>
            <a:r>
              <a:rPr lang="en-US" dirty="0"/>
              <a:t>Other reasons why secrets not promptly removed:</a:t>
            </a:r>
          </a:p>
          <a:p>
            <a:pPr marL="0" marR="0" lvl="0" indent="0" defTabSz="457200" eaLnBrk="1" fontAlgn="auto" latinLnBrk="0" hangingPunct="1">
              <a:lnSpc>
                <a:spcPct val="117999"/>
              </a:lnSpc>
              <a:spcBef>
                <a:spcPts val="0"/>
              </a:spcBef>
              <a:spcAft>
                <a:spcPts val="0"/>
              </a:spcAft>
              <a:buClrTx/>
              <a:buSzTx/>
              <a:buFontTx/>
              <a:buNone/>
              <a:tabLst/>
              <a:defRPr/>
            </a:pPr>
            <a:r>
              <a:rPr lang="en-US" sz="2200" dirty="0">
                <a:effectLst/>
                <a:latin typeface="+mn-lt"/>
                <a:ea typeface="+mn-ea"/>
                <a:cs typeface="+mn-cs"/>
                <a:sym typeface="Helvetica Neue"/>
              </a:rPr>
              <a:t>* Removing the credential now would break services. etc., that belong to other teams </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 </a:t>
            </a:r>
            <a:r>
              <a:rPr lang="en-US" sz="2200" dirty="0">
                <a:effectLst/>
                <a:latin typeface="+mn-lt"/>
                <a:ea typeface="+mn-ea"/>
                <a:cs typeface="+mn-cs"/>
                <a:sym typeface="Helvetica Neue"/>
              </a:rPr>
              <a:t>We were not sure what secret management/other solution we can use to resolve the problem. </a:t>
            </a:r>
            <a:endParaRPr lang="en-US" dirty="0"/>
          </a:p>
          <a:p>
            <a:r>
              <a:rPr lang="en-US" dirty="0"/>
              <a:t>These are process-related issues, and require </a:t>
            </a:r>
          </a:p>
        </p:txBody>
      </p:sp>
    </p:spTree>
    <p:extLst>
      <p:ext uri="{BB962C8B-B14F-4D97-AF65-F5344CB8AC3E}">
        <p14:creationId xmlns:p14="http://schemas.microsoft.com/office/powerpoint/2010/main" val="17551721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start on our final topic… &lt;Read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endParaRPr lang="en-US" dirty="0"/>
          </a:p>
          <a:p>
            <a:r>
              <a:rPr lang="en-US" dirty="0"/>
              <a:t>Moral: every data flow is an attack surface!</a:t>
            </a:r>
          </a:p>
          <a:p>
            <a:endParaRPr lang="en-US" dirty="0"/>
          </a:p>
          <a:p>
            <a:r>
              <a:rPr lang="en-US" dirty="0"/>
              <a:t>(Discuss: are the notations on the flows  vulnerabilities, threats, or something else?  My answer: the slide doesn't really make a distinction}</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45</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10/29/2026</a:t>
            </a:fld>
            <a:endParaRPr lang="en-US" dirty="0"/>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10/29/2026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10/29/2026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10/29/2026</a:t>
            </a:fld>
            <a:endParaRPr lang="en-US" dirty="0"/>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10/29/2026</a:t>
            </a:fld>
            <a:endParaRPr lang="en-US" dirty="0"/>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10/29/2026</a:t>
            </a:fld>
            <a:endParaRPr lang="en-US" dirty="0"/>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10/29/2026</a:t>
            </a:fld>
            <a:endParaRPr lang="en-US" dirty="0"/>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10/29/2026</a:t>
            </a:fld>
            <a:endParaRPr lang="en-US" dirty="0"/>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10/29/2026</a:t>
            </a:fld>
            <a:endParaRPr lang="en-US" dirty="0"/>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10/29/2026</a:t>
            </a:fld>
            <a:endParaRPr lang="en-US" dirty="0"/>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10/29/2026</a:t>
            </a:fld>
            <a:endParaRPr lang="en-US" dirty="0"/>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10/29/2026</a:t>
            </a:fld>
            <a:endParaRPr lang="en-US" dirty="0"/>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dirty="0"/>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dirty="0"/>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10/29/2026</a:t>
            </a:fld>
            <a:endParaRPr lang="en-US" dirty="0"/>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dirty="0"/>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10/29/2026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10/29/2026</a:t>
            </a:fld>
            <a:endParaRPr lang="en-US" dirty="0"/>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dirty="0"/>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10/29/2026</a:t>
            </a:fld>
            <a:endParaRPr lang="en-US" dirty="0"/>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10/29/2026</a:t>
            </a:fld>
            <a:endParaRPr lang="en-US" dirty="0"/>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dirty="0"/>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10/29/2026</a:t>
            </a:fld>
            <a:endParaRPr lang="en-US" dirty="0"/>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dirty="0"/>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6.tif"/><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xkcd.com/2347/" TargetMode="External"/><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hyperlink" Target="https://www.theatlantic.com/technology/2026/10/man-who-saved-internet-php-vulnerability/689123/" TargetMode="External"/><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hyperlink" Target="https://x.com/IanLandsman/status/2112980192071225592?s=20" TargetMode="External"/><Relationship Id="rId4" Type="http://schemas.openxmlformats.org/officeDocument/2006/relationships/hyperlink" Target="https://www.theatlantic.com/author/charlie-warzel/"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link.springer.com/article/10.1007/s10664-021-10109-y"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3</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rPr dirty="0"/>
              <a:t>Adeel Bhutta</a:t>
            </a:r>
            <a:r>
              <a:rPr lang="en-US" dirty="0"/>
              <a:t> and Mitch Wand</a:t>
            </a:r>
            <a:endParaRPr dirty="0"/>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dirty="0"/>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dirty="0"/>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dirty="0"/>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a:t>GameNite has radically different applicable threat models than, say, the State Department.</a:t>
            </a:r>
          </a:p>
          <a:p>
            <a:pPr marL="0" indent="0">
              <a:buNone/>
            </a:pPr>
            <a:r>
              <a:rPr lang="en-US" dirty="0"/>
              <a:t>The </a:t>
            </a:r>
            <a:r>
              <a:rPr lang="en-US" b="1" i="1" dirty="0"/>
              <a:t>attack surface</a:t>
            </a:r>
            <a:r>
              <a:rPr lang="en-US" i="1" dirty="0"/>
              <a:t> </a:t>
            </a:r>
            <a:r>
              <a:rPr lang="en-US" dirty="0"/>
              <a:t>is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https://xkcd.com/538/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A Simple Threat Model</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websockets,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a:t>Aggressively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9</a:t>
            </a:fld>
            <a:endParaRPr lang="en-US" dirty="0"/>
          </a:p>
        </p:txBody>
      </p:sp>
    </p:spTree>
    <p:extLst>
      <p:ext uri="{BB962C8B-B14F-4D97-AF65-F5344CB8AC3E}">
        <p14:creationId xmlns:p14="http://schemas.microsoft.com/office/powerpoint/2010/main" val="1044261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Threat Models"/>
          <p:cNvSpPr txBox="1">
            <a:spLocks noGrp="1"/>
          </p:cNvSpPr>
          <p:nvPr>
            <p:ph type="title"/>
          </p:nvPr>
        </p:nvSpPr>
        <p:spPr>
          <a:prstGeom prst="rect">
            <a:avLst/>
          </a:prstGeom>
        </p:spPr>
        <p:txBody>
          <a:bodyPr>
            <a:normAutofit/>
          </a:bodyPr>
          <a:lstStyle/>
          <a:p>
            <a:r>
              <a:rPr lang="en-US" dirty="0"/>
              <a:t>More complex systems require more complex threat models</a:t>
            </a:r>
            <a:endParaRPr dirty="0"/>
          </a:p>
        </p:txBody>
      </p:sp>
      <p:sp>
        <p:nvSpPr>
          <p:cNvPr id="157" name="What is being defended?…"/>
          <p:cNvSpPr txBox="1">
            <a:spLocks noGrp="1"/>
          </p:cNvSpPr>
          <p:nvPr>
            <p:ph idx="1"/>
          </p:nvPr>
        </p:nvSpPr>
        <p:spPr>
          <a:prstGeom prst="rect">
            <a:avLst/>
          </a:prstGeom>
        </p:spPr>
        <p:txBody>
          <a:bodyPr>
            <a:normAutofit/>
          </a:bodyPr>
          <a:lstStyle/>
          <a:p>
            <a:r>
              <a:rPr dirty="0"/>
              <a:t>What is being defended?</a:t>
            </a:r>
          </a:p>
          <a:p>
            <a:r>
              <a:rPr dirty="0"/>
              <a:t>What malicious actors exist and what attacks might they employ?</a:t>
            </a:r>
            <a:endParaRPr lang="en-US" dirty="0"/>
          </a:p>
          <a:p>
            <a:r>
              <a:rPr lang="en-US" dirty="0"/>
              <a:t>What value can an attacker extract from a vulnerability?</a:t>
            </a:r>
            <a:endParaRPr dirty="0"/>
          </a:p>
          <a:p>
            <a:r>
              <a:rPr dirty="0"/>
              <a:t>Who do we trust?</a:t>
            </a:r>
            <a:r>
              <a:rPr lang="en-US" dirty="0"/>
              <a:t> What parts of the system do we trust?</a:t>
            </a:r>
            <a:endParaRPr dirty="0"/>
          </a:p>
          <a:p>
            <a:r>
              <a:rPr lang="en-US" dirty="0"/>
              <a:t>What can we do in case of attack?</a:t>
            </a:r>
          </a:p>
        </p:txBody>
      </p:sp>
      <p:pic>
        <p:nvPicPr>
          <p:cNvPr id="1026" name="Picture 2">
            <a:extLst>
              <a:ext uri="{FF2B5EF4-FFF2-40B4-BE49-F238E27FC236}">
                <a16:creationId xmlns:a16="http://schemas.microsoft.com/office/drawing/2014/main" id="{4EBE8FD4-1B61-7454-C70C-FC7135E123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17287" y="1678897"/>
            <a:ext cx="2871463" cy="51073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529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a useful categorization of common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Beginnings of a threat model for the new home: what are the costs?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Five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a:latin typeface="Consolas" panose="020B0609020204030204" pitchFamily="49" charset="0"/>
              </a:rPr>
              <a:t>checkPassword(inputPassword: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(inputPassword === </a:t>
            </a:r>
            <a:r>
              <a:rPr sz="2000" b="1" dirty="0">
                <a:solidFill>
                  <a:srgbClr val="018001"/>
                </a:solidFill>
                <a:latin typeface="Consolas" panose="020B0609020204030204" pitchFamily="49" charset="0"/>
              </a:rPr>
              <a:t>'letmein'</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dirty="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200" b="1">
                <a:solidFill>
                  <a:srgbClr val="000000"/>
                </a:solidFill>
              </a:defRPr>
            </a:lvl1pPr>
          </a:lstStyle>
          <a:p>
            <a:r>
              <a:rPr sz="1600" dirty="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a:solidFill>
                  <a:srgbClr val="A64B28"/>
                </a:solidFill>
                <a:latin typeface="Consolas" panose="020B0609020204030204" pitchFamily="49" charset="0"/>
              </a:rPr>
              <a:t>request.getParameter(“name")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20</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mostly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(Inadequate)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fontScale="92500" lnSpcReduction="10000"/>
          </a:bodyPr>
          <a:lstStyle/>
          <a:p>
            <a:r>
              <a:rPr lang="en-US" dirty="0"/>
              <a:t>Cryptographic hash:</a:t>
            </a:r>
          </a:p>
          <a:p>
            <a:pPr lvl="1"/>
            <a:r>
              <a:rPr lang="en-US" dirty="0"/>
              <a:t>Space of hash values is very large (NOT what you'd use for a hash table)</a:t>
            </a:r>
          </a:p>
          <a:p>
            <a:pPr lvl="1"/>
            <a:r>
              <a:rPr lang="en-US" dirty="0"/>
              <a:t>hash collisions should be so rare as to be negligible</a:t>
            </a:r>
          </a:p>
          <a:p>
            <a:pPr lvl="1"/>
            <a:r>
              <a:rPr lang="en-US" dirty="0"/>
              <a:t>can't go from hash code to original</a:t>
            </a:r>
          </a:p>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good enough?</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…people reuse passwords all the time.  Could an attacker take advantage of that?</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a:xfrm>
            <a:off x="838199" y="1500160"/>
            <a:ext cx="9452675" cy="4351338"/>
          </a:xfrm>
        </p:spPr>
        <p:txBody>
          <a:bodyPr>
            <a:noAutofit/>
          </a:bodyPr>
          <a:lstStyle/>
          <a:p>
            <a:r>
              <a:rPr lang="en-US" sz="2400" dirty="0"/>
              <a:t>Imagine that the attacker has stolen your password </a:t>
            </a:r>
            <a:r>
              <a:rPr lang="en-US" sz="2400" dirty="0" err="1"/>
              <a:t>db</a:t>
            </a:r>
            <a:r>
              <a:rPr lang="en-US" sz="2400" dirty="0"/>
              <a:t>, which looks like</a:t>
            </a:r>
          </a:p>
          <a:p>
            <a:pPr marL="457200" lvl="1" indent="0">
              <a:buNone/>
            </a:pPr>
            <a:r>
              <a:rPr lang="en-US" dirty="0"/>
              <a:t>(username, </a:t>
            </a:r>
            <a:r>
              <a:rPr lang="en-US" dirty="0" err="1"/>
              <a:t>hashedpassword</a:t>
            </a:r>
            <a:r>
              <a:rPr lang="en-US" dirty="0"/>
              <a:t>)</a:t>
            </a:r>
          </a:p>
          <a:p>
            <a:r>
              <a:rPr lang="en-US" sz="2400" dirty="0"/>
              <a:t>Next, imagine that the attacker has stolen a table that looks like</a:t>
            </a:r>
          </a:p>
          <a:p>
            <a:pPr marL="0" indent="0">
              <a:buNone/>
            </a:pPr>
            <a:r>
              <a:rPr lang="en-US" sz="2400" dirty="0"/>
              <a:t>	(username, password)</a:t>
            </a:r>
          </a:p>
          <a:p>
            <a:pPr lvl="1"/>
            <a:r>
              <a:rPr lang="en-US" dirty="0"/>
              <a:t>this happens all the time!</a:t>
            </a:r>
          </a:p>
          <a:p>
            <a:r>
              <a:rPr lang="en-US" sz="2400" dirty="0"/>
              <a:t>So they can easily construct a table that looks like</a:t>
            </a:r>
          </a:p>
          <a:p>
            <a:pPr marL="457200" lvl="1" indent="0">
              <a:buNone/>
            </a:pPr>
            <a:r>
              <a:rPr lang="en-US" dirty="0"/>
              <a:t>(username, password, hash(password))</a:t>
            </a:r>
          </a:p>
          <a:p>
            <a:pPr lvl="1"/>
            <a:r>
              <a:rPr lang="en-US" dirty="0"/>
              <a:t>This is sometimes called a "rainbow table"</a:t>
            </a:r>
          </a:p>
          <a:p>
            <a:r>
              <a:rPr lang="en-US" sz="2400" dirty="0"/>
              <a:t>And now they can run a join and retrieve a table that looks like</a:t>
            </a:r>
          </a:p>
          <a:p>
            <a:pPr marL="457200" lvl="1" indent="0">
              <a:buNone/>
            </a:pPr>
            <a:r>
              <a:rPr lang="en-US" dirty="0"/>
              <a:t>(username, password)</a:t>
            </a:r>
          </a:p>
          <a:p>
            <a:pPr marL="0" indent="0">
              <a:buNone/>
            </a:pPr>
            <a:r>
              <a:rPr lang="en-US" sz="2400" dirty="0"/>
              <a:t>   for each username that is in both tables</a:t>
            </a:r>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44782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#2: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Our code probably has lots of dependencies.</a:t>
            </a:r>
          </a:p>
          <a:p>
            <a:r>
              <a:rPr lang="en-US" dirty="0"/>
              <a:t>Every third-party dependency is a potential attack surface.</a:t>
            </a:r>
          </a:p>
        </p:txBody>
      </p:sp>
    </p:spTree>
    <p:extLst>
      <p:ext uri="{BB962C8B-B14F-4D97-AF65-F5344CB8AC3E}">
        <p14:creationId xmlns:p14="http://schemas.microsoft.com/office/powerpoint/2010/main" val="25948901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Third-party dependencies show up throughout the development process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7E05F-085F-96DD-ACB3-1CA15578FE4E}"/>
              </a:ext>
            </a:extLst>
          </p:cNvPr>
          <p:cNvSpPr>
            <a:spLocks noGrp="1"/>
          </p:cNvSpPr>
          <p:nvPr>
            <p:ph type="title"/>
          </p:nvPr>
        </p:nvSpPr>
        <p:spPr/>
        <p:txBody>
          <a:bodyPr/>
          <a:lstStyle/>
          <a:p>
            <a:r>
              <a:rPr lang="en-US" dirty="0"/>
              <a:t>Third-party dependencies are everywhere</a:t>
            </a:r>
          </a:p>
        </p:txBody>
      </p:sp>
      <p:sp>
        <p:nvSpPr>
          <p:cNvPr id="8" name="Content Placeholder 7">
            <a:extLst>
              <a:ext uri="{FF2B5EF4-FFF2-40B4-BE49-F238E27FC236}">
                <a16:creationId xmlns:a16="http://schemas.microsoft.com/office/drawing/2014/main" id="{EE854DDD-7450-2A29-3611-B02DA479EEDB}"/>
              </a:ext>
            </a:extLst>
          </p:cNvPr>
          <p:cNvSpPr>
            <a:spLocks noGrp="1"/>
          </p:cNvSpPr>
          <p:nvPr>
            <p:ph idx="1"/>
          </p:nvPr>
        </p:nvSpPr>
        <p:spPr>
          <a:xfrm>
            <a:off x="7204053" y="1639886"/>
            <a:ext cx="3107528" cy="4351338"/>
          </a:xfrm>
        </p:spPr>
        <p:txBody>
          <a:bodyPr/>
          <a:lstStyle/>
          <a:p>
            <a:r>
              <a:rPr lang="en-US" dirty="0"/>
              <a:t>The whole structure of the internet was built ad hoc, and has numerous weak links</a:t>
            </a:r>
          </a:p>
        </p:txBody>
      </p:sp>
      <p:sp>
        <p:nvSpPr>
          <p:cNvPr id="4" name="Slide Number Placeholder 3">
            <a:extLst>
              <a:ext uri="{FF2B5EF4-FFF2-40B4-BE49-F238E27FC236}">
                <a16:creationId xmlns:a16="http://schemas.microsoft.com/office/drawing/2014/main" id="{99A7475A-7825-E522-C819-9B4155925005}"/>
              </a:ext>
            </a:extLst>
          </p:cNvPr>
          <p:cNvSpPr>
            <a:spLocks noGrp="1"/>
          </p:cNvSpPr>
          <p:nvPr>
            <p:ph type="sldNum" sz="quarter" idx="12"/>
          </p:nvPr>
        </p:nvSpPr>
        <p:spPr/>
        <p:txBody>
          <a:bodyPr/>
          <a:lstStyle/>
          <a:p>
            <a:fld id="{20F37917-FD3A-4669-9018-DA04BCDD3D75}" type="slidenum">
              <a:rPr lang="en-US" smtClean="0"/>
              <a:t>30</a:t>
            </a:fld>
            <a:endParaRPr lang="en-US" dirty="0"/>
          </a:p>
        </p:txBody>
      </p:sp>
      <p:pic>
        <p:nvPicPr>
          <p:cNvPr id="5" name="Picture 4" descr="Dependency">
            <a:extLst>
              <a:ext uri="{FF2B5EF4-FFF2-40B4-BE49-F238E27FC236}">
                <a16:creationId xmlns:a16="http://schemas.microsoft.com/office/drawing/2014/main" id="{6A73EA38-3064-03FC-3548-B6DF586EA1D5}"/>
              </a:ext>
            </a:extLst>
          </p:cNvPr>
          <p:cNvPicPr>
            <a:picLocks noChangeAspect="1"/>
          </p:cNvPicPr>
          <p:nvPr/>
        </p:nvPicPr>
        <p:blipFill>
          <a:blip r:embed="rId2"/>
          <a:stretch>
            <a:fillRect/>
          </a:stretch>
        </p:blipFill>
        <p:spPr>
          <a:xfrm>
            <a:off x="2009568" y="1512094"/>
            <a:ext cx="3667125" cy="4657725"/>
          </a:xfrm>
          <a:prstGeom prst="rect">
            <a:avLst/>
          </a:prstGeom>
        </p:spPr>
      </p:pic>
      <p:sp>
        <p:nvSpPr>
          <p:cNvPr id="7" name="TextBox 6">
            <a:extLst>
              <a:ext uri="{FF2B5EF4-FFF2-40B4-BE49-F238E27FC236}">
                <a16:creationId xmlns:a16="http://schemas.microsoft.com/office/drawing/2014/main" id="{9CBED374-4E23-606F-DBBD-D700A133B367}"/>
              </a:ext>
            </a:extLst>
          </p:cNvPr>
          <p:cNvSpPr txBox="1"/>
          <p:nvPr/>
        </p:nvSpPr>
        <p:spPr>
          <a:xfrm>
            <a:off x="7331868" y="6108330"/>
            <a:ext cx="2557464"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tx1"/>
                </a:solidFill>
                <a:hlinkClick r:id="rId3"/>
              </a:rPr>
              <a:t>https://xkcd.com/2347/</a:t>
            </a:r>
            <a:endParaRPr lang="en-US" dirty="0">
              <a:solidFill>
                <a:schemeClr val="tx1"/>
              </a:solidFill>
            </a:endParaRPr>
          </a:p>
        </p:txBody>
      </p:sp>
    </p:spTree>
    <p:extLst>
      <p:ext uri="{BB962C8B-B14F-4D97-AF65-F5344CB8AC3E}">
        <p14:creationId xmlns:p14="http://schemas.microsoft.com/office/powerpoint/2010/main" val="9885949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CC61A-47BB-809E-A896-BA4746ABAFFB}"/>
              </a:ext>
            </a:extLst>
          </p:cNvPr>
          <p:cNvSpPr>
            <a:spLocks noGrp="1"/>
          </p:cNvSpPr>
          <p:nvPr>
            <p:ph type="title"/>
          </p:nvPr>
        </p:nvSpPr>
        <p:spPr/>
        <p:txBody>
          <a:bodyPr/>
          <a:lstStyle/>
          <a:p>
            <a:r>
              <a:rPr lang="en-US" dirty="0"/>
              <a:t>The 10/21/26 PHP vulnerability</a:t>
            </a:r>
          </a:p>
        </p:txBody>
      </p:sp>
      <p:sp>
        <p:nvSpPr>
          <p:cNvPr id="3" name="Content Placeholder 2">
            <a:extLst>
              <a:ext uri="{FF2B5EF4-FFF2-40B4-BE49-F238E27FC236}">
                <a16:creationId xmlns:a16="http://schemas.microsoft.com/office/drawing/2014/main" id="{0A982635-02F4-0CA4-157E-05FFE131F791}"/>
              </a:ext>
            </a:extLst>
          </p:cNvPr>
          <p:cNvSpPr>
            <a:spLocks noGrp="1"/>
          </p:cNvSpPr>
          <p:nvPr>
            <p:ph idx="1"/>
          </p:nvPr>
        </p:nvSpPr>
        <p:spPr/>
        <p:txBody>
          <a:bodyPr/>
          <a:lstStyle/>
          <a:p>
            <a:r>
              <a:rPr lang="en-US" dirty="0"/>
              <a:t>From </a:t>
            </a:r>
            <a:r>
              <a:rPr lang="en-US" i="1" dirty="0"/>
              <a:t>The Atlantic…</a:t>
            </a:r>
          </a:p>
          <a:p>
            <a:r>
              <a:rPr lang="en-US" i="1">
                <a:hlinkClick r:id="rId3"/>
              </a:rPr>
              <a:t>The Man Who Saved the Internet</a:t>
            </a:r>
            <a:endParaRPr lang="en-US" i="1"/>
          </a:p>
          <a:p>
            <a:endParaRPr lang="en-US" dirty="0"/>
          </a:p>
        </p:txBody>
      </p:sp>
      <p:sp>
        <p:nvSpPr>
          <p:cNvPr id="4" name="Slide Number Placeholder 3">
            <a:extLst>
              <a:ext uri="{FF2B5EF4-FFF2-40B4-BE49-F238E27FC236}">
                <a16:creationId xmlns:a16="http://schemas.microsoft.com/office/drawing/2014/main" id="{BBC4241F-F518-AB10-7C82-59E58A664E4B}"/>
              </a:ext>
            </a:extLst>
          </p:cNvPr>
          <p:cNvSpPr>
            <a:spLocks noGrp="1"/>
          </p:cNvSpPr>
          <p:nvPr>
            <p:ph type="sldNum" sz="quarter" idx="12"/>
          </p:nvPr>
        </p:nvSpPr>
        <p:spPr/>
        <p:txBody>
          <a:bodyPr/>
          <a:lstStyle/>
          <a:p>
            <a:fld id="{20F37917-FD3A-4669-9018-DA04BCDD3D75}" type="slidenum">
              <a:rPr lang="en-US" smtClean="0"/>
              <a:t>31</a:t>
            </a:fld>
            <a:endParaRPr lang="en-US" dirty="0"/>
          </a:p>
        </p:txBody>
      </p:sp>
      <p:sp>
        <p:nvSpPr>
          <p:cNvPr id="8" name="TextBox 7">
            <a:extLst>
              <a:ext uri="{FF2B5EF4-FFF2-40B4-BE49-F238E27FC236}">
                <a16:creationId xmlns:a16="http://schemas.microsoft.com/office/drawing/2014/main" id="{EBB17C28-A5AB-070B-6971-11BD4BE4C441}"/>
              </a:ext>
            </a:extLst>
          </p:cNvPr>
          <p:cNvSpPr txBox="1"/>
          <p:nvPr/>
        </p:nvSpPr>
        <p:spPr>
          <a:xfrm>
            <a:off x="838200" y="1451497"/>
            <a:ext cx="6096000" cy="235596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indent="0" algn="l">
              <a:lnSpc>
                <a:spcPct val="94203"/>
              </a:lnSpc>
              <a:spcAft>
                <a:spcPts val="1350"/>
              </a:spcAft>
              <a:buNone/>
            </a:pPr>
            <a:r>
              <a:rPr lang="en-US" sz="3450" b="0" i="0" dirty="0">
                <a:solidFill>
                  <a:srgbClr val="000000"/>
                </a:solidFill>
                <a:effectLst/>
                <a:latin typeface="AGaramondPro"/>
              </a:rPr>
              <a:t>‘If Anything Happens to This Guy … Everyone Is Screwed’</a:t>
            </a:r>
          </a:p>
          <a:p>
            <a:pPr marL="0" marR="0" indent="0" algn="l">
              <a:lnSpc>
                <a:spcPct val="111111"/>
              </a:lnSpc>
              <a:spcAft>
                <a:spcPts val="1350"/>
              </a:spcAft>
              <a:buNone/>
            </a:pPr>
            <a:r>
              <a:rPr lang="en-US" sz="1800" b="0" i="0" dirty="0">
                <a:solidFill>
                  <a:srgbClr val="000000"/>
                </a:solidFill>
                <a:effectLst/>
                <a:latin typeface="AGaramondPro"/>
              </a:rPr>
              <a:t>Ondřej </a:t>
            </a:r>
            <a:r>
              <a:rPr lang="en-US" sz="1800" b="0" i="0" dirty="0" err="1">
                <a:solidFill>
                  <a:srgbClr val="000000"/>
                </a:solidFill>
                <a:effectLst/>
                <a:latin typeface="AGaramondPro"/>
              </a:rPr>
              <a:t>Surý</a:t>
            </a:r>
            <a:r>
              <a:rPr lang="en-US" sz="1800" b="0" i="0" dirty="0">
                <a:solidFill>
                  <a:srgbClr val="000000"/>
                </a:solidFill>
                <a:effectLst/>
                <a:latin typeface="AGaramondPro"/>
              </a:rPr>
              <a:t> was a relatively anonymous volunteer working on PHP security. Then the internet exploded.</a:t>
            </a:r>
          </a:p>
          <a:p>
            <a:pPr indent="0" algn="l">
              <a:lnSpc>
                <a:spcPct val="111111"/>
              </a:lnSpc>
              <a:spcAft>
                <a:spcPts val="4200"/>
              </a:spcAft>
              <a:buNone/>
            </a:pPr>
            <a:r>
              <a:rPr lang="en-US" sz="1800" b="0" i="0" dirty="0">
                <a:solidFill>
                  <a:srgbClr val="000000"/>
                </a:solidFill>
                <a:effectLst/>
                <a:latin typeface="AGaramondPro"/>
              </a:rPr>
              <a:t>By </a:t>
            </a:r>
            <a:r>
              <a:rPr lang="en-US" sz="1800" b="0" i="0" u="none" strike="noStrike" dirty="0">
                <a:solidFill>
                  <a:srgbClr val="000000"/>
                </a:solidFill>
                <a:effectLst/>
                <a:latin typeface="AGaramondPro"/>
                <a:hlinkClick r:id="rId4"/>
              </a:rPr>
              <a:t>Charlie Warzel</a:t>
            </a:r>
            <a:endParaRPr lang="en-US" sz="1800" b="0" i="0" dirty="0">
              <a:solidFill>
                <a:srgbClr val="000000"/>
              </a:solidFill>
              <a:effectLst/>
              <a:latin typeface="AGaramondPro"/>
            </a:endParaRPr>
          </a:p>
        </p:txBody>
      </p:sp>
      <p:sp>
        <p:nvSpPr>
          <p:cNvPr id="10" name="TextBox 9">
            <a:extLst>
              <a:ext uri="{FF2B5EF4-FFF2-40B4-BE49-F238E27FC236}">
                <a16:creationId xmlns:a16="http://schemas.microsoft.com/office/drawing/2014/main" id="{17117F81-72B1-F1A2-F1E4-6570B982BB24}"/>
              </a:ext>
            </a:extLst>
          </p:cNvPr>
          <p:cNvSpPr txBox="1"/>
          <p:nvPr/>
        </p:nvSpPr>
        <p:spPr>
          <a:xfrm>
            <a:off x="766916" y="3943282"/>
            <a:ext cx="6096000" cy="292644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indent="0" algn="l">
              <a:spcAft>
                <a:spcPts val="2250"/>
              </a:spcAft>
              <a:buNone/>
            </a:pPr>
            <a:r>
              <a:rPr lang="en-US" sz="1650" b="0" i="0" dirty="0">
                <a:solidFill>
                  <a:srgbClr val="000000"/>
                </a:solidFill>
                <a:effectLst/>
                <a:latin typeface="AGaramondPro"/>
              </a:rPr>
              <a:t>“Explaining to my wife how there’s this one guy. And he alone is responsible for most of the world’s distribution of PHP,” a software developer named Ian Landsman </a:t>
            </a:r>
            <a:r>
              <a:rPr lang="en-US" sz="1650" b="0" i="0" dirty="0">
                <a:solidFill>
                  <a:srgbClr val="000000"/>
                </a:solidFill>
                <a:effectLst/>
                <a:latin typeface="AGaramondPro"/>
                <a:hlinkClick r:id="rId5"/>
              </a:rPr>
              <a:t>wrote</a:t>
            </a:r>
            <a:r>
              <a:rPr lang="en-US" sz="1650" b="0" i="0" dirty="0">
                <a:solidFill>
                  <a:srgbClr val="000000"/>
                </a:solidFill>
                <a:effectLst/>
                <a:latin typeface="AGaramondPro"/>
              </a:rPr>
              <a:t> on X. “And if anything happens to this guy, that’s just it. Everyone is screwed.” He was referring to </a:t>
            </a:r>
            <a:r>
              <a:rPr lang="en-US" sz="1650" b="0" i="0" dirty="0" err="1">
                <a:solidFill>
                  <a:srgbClr val="000000"/>
                </a:solidFill>
                <a:effectLst/>
                <a:latin typeface="AGaramondPro"/>
              </a:rPr>
              <a:t>Surý</a:t>
            </a:r>
            <a:r>
              <a:rPr lang="en-US" sz="1650" b="0" i="0" dirty="0">
                <a:solidFill>
                  <a:srgbClr val="000000"/>
                </a:solidFill>
                <a:effectLst/>
                <a:latin typeface="AGaramondPro"/>
              </a:rPr>
              <a:t>.</a:t>
            </a:r>
          </a:p>
          <a:p>
            <a:pPr indent="0" algn="l">
              <a:spcAft>
                <a:spcPts val="2250"/>
              </a:spcAft>
              <a:buNone/>
            </a:pPr>
            <a:r>
              <a:rPr lang="en-US" sz="1650" b="0" i="0" dirty="0" err="1">
                <a:solidFill>
                  <a:srgbClr val="000000"/>
                </a:solidFill>
                <a:effectLst/>
                <a:latin typeface="AGaramondPro"/>
              </a:rPr>
              <a:t>Surý</a:t>
            </a:r>
            <a:r>
              <a:rPr lang="en-US" sz="1650" b="0" i="0" dirty="0">
                <a:solidFill>
                  <a:srgbClr val="000000"/>
                </a:solidFill>
                <a:effectLst/>
                <a:latin typeface="AGaramondPro"/>
              </a:rPr>
              <a:t>, who lives in Czechia, does not work for the PHP Foundation. But alongside his day job as director of domain-name-system engineering at the nonprofit Internet Systems Consortium, in a volunteer capacity, he maintains and helps automate patches for the coding language.</a:t>
            </a:r>
          </a:p>
        </p:txBody>
      </p:sp>
    </p:spTree>
    <p:extLst>
      <p:ext uri="{BB962C8B-B14F-4D97-AF65-F5344CB8AC3E}">
        <p14:creationId xmlns:p14="http://schemas.microsoft.com/office/powerpoint/2010/main" val="12642091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32</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25082703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35</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2572510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37</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Process-level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1364659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4B87C-26A1-1CB5-82AE-B9E3E252728F}"/>
              </a:ext>
            </a:extLst>
          </p:cNvPr>
          <p:cNvSpPr>
            <a:spLocks noGrp="1"/>
          </p:cNvSpPr>
          <p:nvPr>
            <p:ph type="title"/>
          </p:nvPr>
        </p:nvSpPr>
        <p:spPr/>
        <p:txBody>
          <a:bodyPr/>
          <a:lstStyle/>
          <a:p>
            <a:r>
              <a:rPr lang="en-US" dirty="0"/>
              <a:t>Example mechanism: secret detection</a:t>
            </a:r>
          </a:p>
        </p:txBody>
      </p:sp>
      <p:sp>
        <p:nvSpPr>
          <p:cNvPr id="3" name="Content Placeholder 2">
            <a:extLst>
              <a:ext uri="{FF2B5EF4-FFF2-40B4-BE49-F238E27FC236}">
                <a16:creationId xmlns:a16="http://schemas.microsoft.com/office/drawing/2014/main" id="{09DA1F5F-2E1A-D75F-DAB6-2AA06C2A7D50}"/>
              </a:ext>
            </a:extLst>
          </p:cNvPr>
          <p:cNvSpPr>
            <a:spLocks noGrp="1"/>
          </p:cNvSpPr>
          <p:nvPr>
            <p:ph idx="1"/>
          </p:nvPr>
        </p:nvSpPr>
        <p:spPr>
          <a:xfrm>
            <a:off x="838200" y="1500160"/>
            <a:ext cx="5416826" cy="4351338"/>
          </a:xfrm>
        </p:spPr>
        <p:txBody>
          <a:bodyPr/>
          <a:lstStyle/>
          <a:p>
            <a:r>
              <a:rPr lang="en-US" dirty="0"/>
              <a:t>Recall: SSL only talks about public/private keys.</a:t>
            </a:r>
          </a:p>
          <a:p>
            <a:r>
              <a:rPr lang="en-US" dirty="0"/>
              <a:t>Applications may have many other </a:t>
            </a:r>
            <a:r>
              <a:rPr lang="en-US" i="1" dirty="0"/>
              <a:t>secret</a:t>
            </a:r>
            <a:r>
              <a:rPr lang="en-US" dirty="0"/>
              <a:t> values (e.g. access tokens for other services)</a:t>
            </a:r>
          </a:p>
          <a:p>
            <a:r>
              <a:rPr lang="en-US" dirty="0"/>
              <a:t>Tools like </a:t>
            </a:r>
            <a:r>
              <a:rPr lang="en-US" i="1" dirty="0" err="1"/>
              <a:t>GitGuardian</a:t>
            </a:r>
            <a:r>
              <a:rPr lang="en-US" dirty="0"/>
              <a:t> automatically detect secrets in repositories</a:t>
            </a:r>
          </a:p>
          <a:p>
            <a:r>
              <a:rPr lang="en-US" dirty="0"/>
              <a:t>What happens when we put that in the toolchain?</a:t>
            </a:r>
          </a:p>
        </p:txBody>
      </p:sp>
      <p:sp>
        <p:nvSpPr>
          <p:cNvPr id="4" name="Slide Number Placeholder 3">
            <a:extLst>
              <a:ext uri="{FF2B5EF4-FFF2-40B4-BE49-F238E27FC236}">
                <a16:creationId xmlns:a16="http://schemas.microsoft.com/office/drawing/2014/main" id="{F56D9A2A-26EE-B44C-BCBE-697378D734C7}"/>
              </a:ext>
            </a:extLst>
          </p:cNvPr>
          <p:cNvSpPr>
            <a:spLocks noGrp="1"/>
          </p:cNvSpPr>
          <p:nvPr>
            <p:ph type="sldNum" sz="quarter" idx="12"/>
          </p:nvPr>
        </p:nvSpPr>
        <p:spPr/>
        <p:txBody>
          <a:bodyPr/>
          <a:lstStyle/>
          <a:p>
            <a:fld id="{20F37917-FD3A-4669-9018-DA04BCDD3D75}" type="slidenum">
              <a:rPr lang="en-US" smtClean="0"/>
              <a:t>40</a:t>
            </a:fld>
            <a:endParaRPr lang="en-US"/>
          </a:p>
        </p:txBody>
      </p:sp>
      <p:pic>
        <p:nvPicPr>
          <p:cNvPr id="5" name="Picture 4">
            <a:extLst>
              <a:ext uri="{FF2B5EF4-FFF2-40B4-BE49-F238E27FC236}">
                <a16:creationId xmlns:a16="http://schemas.microsoft.com/office/drawing/2014/main" id="{DD80FCE0-7476-157D-B2E2-16F3C5D21B29}"/>
              </a:ext>
            </a:extLst>
          </p:cNvPr>
          <p:cNvPicPr>
            <a:picLocks noChangeAspect="1"/>
          </p:cNvPicPr>
          <p:nvPr/>
        </p:nvPicPr>
        <p:blipFill>
          <a:blip r:embed="rId2"/>
          <a:stretch>
            <a:fillRect/>
          </a:stretch>
        </p:blipFill>
        <p:spPr>
          <a:xfrm>
            <a:off x="6546573" y="1760657"/>
            <a:ext cx="5416826" cy="3830344"/>
          </a:xfrm>
          <a:prstGeom prst="rect">
            <a:avLst/>
          </a:prstGeom>
        </p:spPr>
      </p:pic>
    </p:spTree>
    <p:extLst>
      <p:ext uri="{BB962C8B-B14F-4D97-AF65-F5344CB8AC3E}">
        <p14:creationId xmlns:p14="http://schemas.microsoft.com/office/powerpoint/2010/main" val="2921844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1F3B-F355-EB4F-926D-C0E1CB396309}"/>
              </a:ext>
            </a:extLst>
          </p:cNvPr>
          <p:cNvSpPr>
            <a:spLocks noGrp="1"/>
          </p:cNvSpPr>
          <p:nvPr>
            <p:ph type="title"/>
          </p:nvPr>
        </p:nvSpPr>
        <p:spPr/>
        <p:txBody>
          <a:bodyPr>
            <a:normAutofit/>
          </a:bodyPr>
          <a:lstStyle/>
          <a:p>
            <a:r>
              <a:rPr lang="en-US" sz="3600" dirty="0"/>
              <a:t>Do developers keep secret keys secret, even when they are warned?</a:t>
            </a:r>
          </a:p>
        </p:txBody>
      </p:sp>
      <p:sp>
        <p:nvSpPr>
          <p:cNvPr id="4" name="Text Placeholder 3">
            <a:extLst>
              <a:ext uri="{FF2B5EF4-FFF2-40B4-BE49-F238E27FC236}">
                <a16:creationId xmlns:a16="http://schemas.microsoft.com/office/drawing/2014/main" id="{32124C87-8E0C-814E-BF12-4F5B4055540E}"/>
              </a:ext>
            </a:extLst>
          </p:cNvPr>
          <p:cNvSpPr>
            <a:spLocks noGrp="1"/>
          </p:cNvSpPr>
          <p:nvPr>
            <p:ph idx="1"/>
          </p:nvPr>
        </p:nvSpPr>
        <p:spPr>
          <a:xfrm>
            <a:off x="838199" y="1500160"/>
            <a:ext cx="10288971" cy="4351338"/>
          </a:xfrm>
        </p:spPr>
        <p:txBody>
          <a:bodyPr>
            <a:normAutofit/>
          </a:bodyPr>
          <a:lstStyle/>
          <a:p>
            <a:r>
              <a:rPr lang="en-US" dirty="0"/>
              <a:t>Industrial study of secret detection tool in a large software services company with over 1,000 developers, operating for over 10 years</a:t>
            </a:r>
          </a:p>
          <a:p>
            <a:r>
              <a:rPr lang="en-US" dirty="0"/>
              <a:t>What do developers do when they get warnings of secrets in repository?</a:t>
            </a:r>
          </a:p>
          <a:p>
            <a:pPr lvl="1"/>
            <a:r>
              <a:rPr lang="en-US" dirty="0"/>
              <a:t>49% remove the secrets; 51% bypass the warning</a:t>
            </a:r>
          </a:p>
          <a:p>
            <a:r>
              <a:rPr lang="en-US" dirty="0"/>
              <a:t>Why do developers bypass warnings?</a:t>
            </a:r>
          </a:p>
          <a:p>
            <a:pPr lvl="1"/>
            <a:r>
              <a:rPr lang="en-US" dirty="0"/>
              <a:t>44% report false positives, 6% are already exposed secrets, remaining are “development-related” reasons, e.g. “not a production credential” or “no significant security value”</a:t>
            </a:r>
          </a:p>
          <a:p>
            <a:endParaRPr lang="en-US" dirty="0"/>
          </a:p>
        </p:txBody>
      </p:sp>
      <p:sp>
        <p:nvSpPr>
          <p:cNvPr id="6" name="TextBox 5">
            <a:extLst>
              <a:ext uri="{FF2B5EF4-FFF2-40B4-BE49-F238E27FC236}">
                <a16:creationId xmlns:a16="http://schemas.microsoft.com/office/drawing/2014/main" id="{738664A1-DA08-294D-847B-632B1C3EFD29}"/>
              </a:ext>
            </a:extLst>
          </p:cNvPr>
          <p:cNvSpPr txBox="1"/>
          <p:nvPr/>
        </p:nvSpPr>
        <p:spPr>
          <a:xfrm>
            <a:off x="2108200" y="6257836"/>
            <a:ext cx="77089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solidFill>
                  <a:srgbClr val="333333"/>
                </a:solidFill>
                <a:latin typeface="Georgia" panose="02040502050405020303" pitchFamily="18" charset="0"/>
              </a:rPr>
              <a:t>“Why secret detection tools are not enough: It’s not just about false positives - An industrial case study”</a:t>
            </a:r>
          </a:p>
          <a:p>
            <a:r>
              <a:rPr lang="en-US" sz="900" dirty="0">
                <a:solidFill>
                  <a:srgbClr val="333333"/>
                </a:solidFill>
                <a:latin typeface="Georgia" panose="02040502050405020303" pitchFamily="18" charset="0"/>
              </a:rPr>
              <a:t>Md </a:t>
            </a:r>
            <a:r>
              <a:rPr lang="en-US" sz="900" dirty="0" err="1">
                <a:solidFill>
                  <a:srgbClr val="333333"/>
                </a:solidFill>
                <a:latin typeface="Georgia" panose="02040502050405020303" pitchFamily="18" charset="0"/>
              </a:rPr>
              <a:t>Rayhanur</a:t>
            </a:r>
            <a:r>
              <a:rPr lang="en-US" sz="900" dirty="0">
                <a:solidFill>
                  <a:srgbClr val="333333"/>
                </a:solidFill>
                <a:latin typeface="Georgia" panose="02040502050405020303" pitchFamily="18" charset="0"/>
              </a:rPr>
              <a:t> Rahman, </a:t>
            </a:r>
            <a:r>
              <a:rPr lang="en-US" sz="900" dirty="0" err="1">
                <a:solidFill>
                  <a:srgbClr val="333333"/>
                </a:solidFill>
                <a:latin typeface="Georgia" panose="02040502050405020303" pitchFamily="18" charset="0"/>
              </a:rPr>
              <a:t>Nasif</a:t>
            </a:r>
            <a:r>
              <a:rPr lang="en-US" sz="900" dirty="0">
                <a:solidFill>
                  <a:srgbClr val="333333"/>
                </a:solidFill>
                <a:latin typeface="Georgia" panose="02040502050405020303" pitchFamily="18" charset="0"/>
              </a:rPr>
              <a:t> Imtiaz, Margaret-Anne </a:t>
            </a:r>
            <a:r>
              <a:rPr lang="en-US" sz="900" dirty="0" err="1">
                <a:solidFill>
                  <a:srgbClr val="333333"/>
                </a:solidFill>
                <a:latin typeface="Georgia" panose="02040502050405020303" pitchFamily="18" charset="0"/>
              </a:rPr>
              <a:t>Storey</a:t>
            </a:r>
            <a:r>
              <a:rPr lang="en-US" sz="900" dirty="0">
                <a:solidFill>
                  <a:srgbClr val="333333"/>
                </a:solidFill>
                <a:latin typeface="Georgia" panose="02040502050405020303" pitchFamily="18" charset="0"/>
              </a:rPr>
              <a:t> &amp; Laurie Williams  </a:t>
            </a:r>
            <a:r>
              <a:rPr lang="en-US" sz="900" dirty="0">
                <a:solidFill>
                  <a:srgbClr val="333333"/>
                </a:solidFill>
                <a:latin typeface="Georgia" panose="02040502050405020303" pitchFamily="18" charset="0"/>
                <a:hlinkClick r:id="rId3"/>
              </a:rPr>
              <a:t>https://link.springer.com/article/10.1007/s10664-021-10109-y</a:t>
            </a:r>
            <a:r>
              <a:rPr lang="en-US" sz="900" dirty="0">
                <a:solidFill>
                  <a:srgbClr val="333333"/>
                </a:solidFill>
                <a:latin typeface="Georgia" panose="02040502050405020303" pitchFamily="18" charset="0"/>
              </a:rPr>
              <a:t> </a:t>
            </a:r>
            <a:endParaRPr lang="en-US" sz="900" dirty="0"/>
          </a:p>
        </p:txBody>
      </p:sp>
      <p:sp>
        <p:nvSpPr>
          <p:cNvPr id="5" name="TextBox 4">
            <a:extLst>
              <a:ext uri="{FF2B5EF4-FFF2-40B4-BE49-F238E27FC236}">
                <a16:creationId xmlns:a16="http://schemas.microsoft.com/office/drawing/2014/main" id="{1E08015D-93BC-D0B6-A73A-D67F74461F2F}"/>
              </a:ext>
            </a:extLst>
          </p:cNvPr>
          <p:cNvSpPr txBox="1"/>
          <p:nvPr/>
        </p:nvSpPr>
        <p:spPr>
          <a:xfrm>
            <a:off x="7560013" y="5126845"/>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Is it a tool problem or a management problem?</a:t>
            </a:r>
          </a:p>
        </p:txBody>
      </p:sp>
    </p:spTree>
    <p:extLst>
      <p:ext uri="{BB962C8B-B14F-4D97-AF65-F5344CB8AC3E}">
        <p14:creationId xmlns:p14="http://schemas.microsoft.com/office/powerpoint/2010/main" val="1260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42</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Security Principle #3: Every data flow is an attack surface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There may be vulnerabilities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43</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Systematically review security needs on each attack surface</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 for each data flow and identify the most vulnerable of them.</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a:p>
            <a:r>
              <a:rPr lang="en-US" sz="3200" dirty="0"/>
              <a:t>Make this a regular part of the overall QA process</a:t>
            </a:r>
          </a:p>
        </p:txBody>
      </p:sp>
    </p:spTree>
    <p:extLst>
      <p:ext uri="{BB962C8B-B14F-4D97-AF65-F5344CB8AC3E}">
        <p14:creationId xmlns:p14="http://schemas.microsoft.com/office/powerpoint/2010/main" val="38705961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Identify the vulnerabilities and threats on each flow</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the possible vulnerabilities and threats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45</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6096" y="1895199"/>
            <a:ext cx="5968272" cy="31426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6732104" y="2710146"/>
            <a:ext cx="920445" cy="276999"/>
          </a:xfrm>
          <a:prstGeom prst="rect">
            <a:avLst/>
          </a:prstGeom>
          <a:noFill/>
        </p:spPr>
        <p:txBody>
          <a:bodyPr wrap="none" rtlCol="0">
            <a:spAutoFit/>
          </a:bodyPr>
          <a:lstStyle/>
          <a:p>
            <a:r>
              <a:rPr lang="en-US" sz="1200" b="1" dirty="0">
                <a:solidFill>
                  <a:srgbClr val="C00000"/>
                </a:solidFill>
                <a:latin typeface="APPLE CHANCERY" panose="03020702040506060504" pitchFamily="66" charset="-79"/>
                <a:cs typeface="APPLE CHANCERY" panose="03020702040506060504" pitchFamily="66" charset="-79"/>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818736" y="2248481"/>
            <a:ext cx="1182757" cy="461665"/>
          </a:xfrm>
          <a:prstGeom prst="rect">
            <a:avLst/>
          </a:prstGeom>
          <a:noFill/>
        </p:spPr>
        <p:txBody>
          <a:bodyPr wrap="square" rtlCol="0">
            <a:spAutoFit/>
          </a:bodyPr>
          <a:lstStyle/>
          <a:p>
            <a:r>
              <a:rPr lang="en-US" sz="1200" b="1" dirty="0">
                <a:solidFill>
                  <a:srgbClr val="0070C0"/>
                </a:solidFill>
                <a:latin typeface="APPLE CHANCERY" panose="03020702040506060504" pitchFamily="66" charset="-79"/>
                <a:cs typeface="APPLE CHANCERY" panose="03020702040506060504" pitchFamily="66" charset="-79"/>
              </a:rPr>
              <a:t>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7192327" y="4114085"/>
            <a:ext cx="1922146" cy="1754326"/>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injection attacks</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Privilege of escalation by authenticated user</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Flood of traffic from bots</a:t>
            </a:r>
          </a:p>
        </p:txBody>
      </p:sp>
      <p:sp>
        <p:nvSpPr>
          <p:cNvPr id="10" name="TextBox 9">
            <a:extLst>
              <a:ext uri="{FF2B5EF4-FFF2-40B4-BE49-F238E27FC236}">
                <a16:creationId xmlns:a16="http://schemas.microsoft.com/office/drawing/2014/main" id="{8717C172-B390-7530-4D9A-0C3BACF0B8BA}"/>
              </a:ext>
            </a:extLst>
          </p:cNvPr>
          <p:cNvSpPr txBox="1"/>
          <p:nvPr/>
        </p:nvSpPr>
        <p:spPr>
          <a:xfrm>
            <a:off x="10073315" y="3804539"/>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Absent/weak authentication (server-to-server)</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No logging of caller identity</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Privilege escalation by authenticated user</a:t>
            </a:r>
          </a:p>
        </p:txBody>
      </p:sp>
    </p:spTree>
    <p:extLst>
      <p:ext uri="{BB962C8B-B14F-4D97-AF65-F5344CB8AC3E}">
        <p14:creationId xmlns:p14="http://schemas.microsoft.com/office/powerpoint/2010/main" val="9183503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AB5F6-8402-21D1-FE7E-9E95F8EAEE7E}"/>
              </a:ext>
            </a:extLst>
          </p:cNvPr>
          <p:cNvSpPr>
            <a:spLocks noGrp="1"/>
          </p:cNvSpPr>
          <p:nvPr>
            <p:ph type="title"/>
          </p:nvPr>
        </p:nvSpPr>
        <p:spPr/>
        <p:txBody>
          <a:bodyPr/>
          <a:lstStyle/>
          <a:p>
            <a:r>
              <a:rPr lang="en-US" dirty="0"/>
              <a:t>For every data flow, ask “what could go wrong?”</a:t>
            </a:r>
          </a:p>
        </p:txBody>
      </p:sp>
      <p:sp>
        <p:nvSpPr>
          <p:cNvPr id="3" name="Content Placeholder 2">
            <a:extLst>
              <a:ext uri="{FF2B5EF4-FFF2-40B4-BE49-F238E27FC236}">
                <a16:creationId xmlns:a16="http://schemas.microsoft.com/office/drawing/2014/main" id="{6C92FEA4-7715-91F2-3909-2E533E189B16}"/>
              </a:ext>
            </a:extLst>
          </p:cNvPr>
          <p:cNvSpPr>
            <a:spLocks noGrp="1"/>
          </p:cNvSpPr>
          <p:nvPr>
            <p:ph idx="1"/>
          </p:nvPr>
        </p:nvSpPr>
        <p:spPr>
          <a:xfrm>
            <a:off x="838200" y="1500159"/>
            <a:ext cx="9623323" cy="4856191"/>
          </a:xfrm>
        </p:spPr>
        <p:txBody>
          <a:bodyPr>
            <a:normAutofit fontScale="77500" lnSpcReduction="20000"/>
          </a:bodyPr>
          <a:lstStyle/>
          <a:p>
            <a:pPr lvl="0" fontAlgn="base"/>
            <a:r>
              <a:rPr lang="en-US" b="1" dirty="0"/>
              <a:t>S</a:t>
            </a:r>
            <a:r>
              <a:rPr lang="en-US" dirty="0"/>
              <a:t>poofed identity: </a:t>
            </a:r>
            <a:r>
              <a:rPr lang="en-US" i="1" dirty="0"/>
              <a:t>Is there Authentication? Should there be?</a:t>
            </a:r>
            <a:r>
              <a:rPr lang="en-US" dirty="0"/>
              <a:t> - Attackers pretending to be legitimate users through stolen credentials, phishing, or social engineering.</a:t>
            </a:r>
          </a:p>
          <a:p>
            <a:pPr lvl="0" fontAlgn="base"/>
            <a:r>
              <a:rPr lang="en-US" b="1" dirty="0"/>
              <a:t>T</a:t>
            </a:r>
            <a:r>
              <a:rPr lang="en-US" dirty="0"/>
              <a:t>ampering with input: </a:t>
            </a:r>
            <a:r>
              <a:rPr lang="en-US" i="1" dirty="0"/>
              <a:t>What about nasty input?</a:t>
            </a:r>
            <a:r>
              <a:rPr lang="en-US" dirty="0"/>
              <a:t> - Attackers modifying data, code, or memory maliciously to break your system's trust boundaries.</a:t>
            </a:r>
          </a:p>
          <a:p>
            <a:pPr lvl="0" fontAlgn="base"/>
            <a:r>
              <a:rPr lang="en-US" b="1" dirty="0"/>
              <a:t>R</a:t>
            </a:r>
            <a:r>
              <a:rPr lang="en-US" dirty="0"/>
              <a:t>epudiation: </a:t>
            </a:r>
            <a:r>
              <a:rPr lang="en-US" i="1" dirty="0"/>
              <a:t>Does the system show who is accountable?</a:t>
            </a:r>
            <a:r>
              <a:rPr lang="en-US" dirty="0"/>
              <a:t> - When something goes wrong, can you prove which user performed an action, or could they plausibly deny responsibility due to insufficient audit trails?</a:t>
            </a:r>
          </a:p>
          <a:p>
            <a:pPr lvl="0" fontAlgn="base"/>
            <a:r>
              <a:rPr lang="en-US" b="1" dirty="0"/>
              <a:t>I</a:t>
            </a:r>
            <a:r>
              <a:rPr lang="en-US" dirty="0"/>
              <a:t>nformation disclosure: </a:t>
            </a:r>
            <a:r>
              <a:rPr lang="en-US" i="1" dirty="0"/>
              <a:t>Is sensitive data inappropriately exposed or unencrypted?</a:t>
            </a:r>
            <a:r>
              <a:rPr lang="en-US" dirty="0"/>
              <a:t> - Unauthorized access to sensitive data through poor access controls, cleartext transmission, or insufficient data protection.</a:t>
            </a:r>
          </a:p>
          <a:p>
            <a:pPr lvl="0" fontAlgn="base"/>
            <a:r>
              <a:rPr lang="en-US" b="1" dirty="0"/>
              <a:t>D</a:t>
            </a:r>
            <a:r>
              <a:rPr lang="en-US" dirty="0"/>
              <a:t>enial of service: </a:t>
            </a:r>
            <a:r>
              <a:rPr lang="en-US" i="1" dirty="0"/>
              <a:t>What if we smash it?</a:t>
            </a:r>
            <a:r>
              <a:rPr lang="en-US" dirty="0"/>
              <a:t> - Attacks aiming at making the system unavailable to legitimate users by flooding or breaking critical components.</a:t>
            </a:r>
          </a:p>
          <a:p>
            <a:pPr lvl="0" fontAlgn="base"/>
            <a:r>
              <a:rPr lang="en-US" b="1" dirty="0"/>
              <a:t>E</a:t>
            </a:r>
            <a:r>
              <a:rPr lang="en-US" dirty="0"/>
              <a:t>levation of privilege: </a:t>
            </a:r>
            <a:r>
              <a:rPr lang="en-US" i="1" dirty="0"/>
              <a:t>Can I bypass Authorization? Move deeper into the system?</a:t>
            </a:r>
            <a:r>
              <a:rPr lang="en-US" dirty="0"/>
              <a:t> - Attackers gaining unauthorized access levels, obtaining higher permissions than intended, or moving laterally through your system.</a:t>
            </a:r>
          </a:p>
        </p:txBody>
      </p:sp>
      <p:sp>
        <p:nvSpPr>
          <p:cNvPr id="4" name="Slide Number Placeholder 3">
            <a:extLst>
              <a:ext uri="{FF2B5EF4-FFF2-40B4-BE49-F238E27FC236}">
                <a16:creationId xmlns:a16="http://schemas.microsoft.com/office/drawing/2014/main" id="{87AE9534-859F-71D2-5797-D58C842B6700}"/>
              </a:ext>
            </a:extLst>
          </p:cNvPr>
          <p:cNvSpPr>
            <a:spLocks noGrp="1"/>
          </p:cNvSpPr>
          <p:nvPr>
            <p:ph type="sldNum" sz="quarter" idx="12"/>
          </p:nvPr>
        </p:nvSpPr>
        <p:spPr/>
        <p:txBody>
          <a:bodyPr/>
          <a:lstStyle/>
          <a:p>
            <a:fld id="{20F37917-FD3A-4669-9018-DA04BCDD3D75}" type="slidenum">
              <a:rPr lang="en-US" smtClean="0"/>
              <a:t>46</a:t>
            </a:fld>
            <a:endParaRPr lang="en-US"/>
          </a:p>
        </p:txBody>
      </p:sp>
    </p:spTree>
    <p:extLst>
      <p:ext uri="{BB962C8B-B14F-4D97-AF65-F5344CB8AC3E}">
        <p14:creationId xmlns:p14="http://schemas.microsoft.com/office/powerpoint/2010/main" val="21635325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740310"/>
            <a:ext cx="9197898" cy="4111188"/>
          </a:xfrm>
        </p:spPr>
        <p:txBody>
          <a:bodyPr>
            <a:normAutofit/>
          </a:bodyPr>
          <a:lstStyle/>
          <a:p>
            <a:r>
              <a:rPr lang="en-US" dirty="0"/>
              <a:t>Prioritize and Fix</a:t>
            </a:r>
          </a:p>
          <a:p>
            <a:pPr lvl="1"/>
            <a:r>
              <a:rPr lang="en-US" dirty="0"/>
              <a:t>Choose highest priority vulnerabilities</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47</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49895" y="5919258"/>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
        <p:nvSpPr>
          <p:cNvPr id="6" name="TextBox 5">
            <a:extLst>
              <a:ext uri="{FF2B5EF4-FFF2-40B4-BE49-F238E27FC236}">
                <a16:creationId xmlns:a16="http://schemas.microsoft.com/office/drawing/2014/main" id="{3B6FD6EC-3679-57B4-0277-D2955983F48A}"/>
              </a:ext>
            </a:extLst>
          </p:cNvPr>
          <p:cNvSpPr txBox="1"/>
          <p:nvPr/>
        </p:nvSpPr>
        <p:spPr>
          <a:xfrm>
            <a:off x="7975236" y="189656"/>
            <a:ext cx="4121724" cy="2308324"/>
          </a:xfrm>
          <a:prstGeom prst="rect">
            <a:avLst/>
          </a:prstGeom>
          <a:noFill/>
        </p:spPr>
        <p:txBody>
          <a:bodyPr wrap="square" rtlCol="0">
            <a:spAutoFit/>
          </a:bodyPr>
          <a:lstStyle/>
          <a:p>
            <a:r>
              <a:rPr lang="en-US" sz="1600" b="1" dirty="0">
                <a:latin typeface="Bradley Hand ITC" panose="03070402050302030203" pitchFamily="66" charset="77"/>
              </a:rPr>
              <a:t>Given the user is logged in </a:t>
            </a:r>
            <a:br>
              <a:rPr lang="en-US" sz="1600" b="1" dirty="0">
                <a:latin typeface="Bradley Hand ITC" panose="03070402050302030203" pitchFamily="66" charset="77"/>
              </a:rPr>
            </a:br>
            <a:r>
              <a:rPr lang="en-US" sz="1600" b="1" dirty="0">
                <a:latin typeface="Bradley Hand ITC" panose="03070402050302030203" pitchFamily="66" charset="77"/>
              </a:rPr>
              <a:t>When they request to view their profile page And they have a valid token</a:t>
            </a:r>
          </a:p>
          <a:p>
            <a:r>
              <a:rPr lang="en-US" sz="1600" b="1" dirty="0">
                <a:latin typeface="Bradley Hand ITC" panose="03070402050302030203" pitchFamily="66" charset="77"/>
              </a:rPr>
              <a:t>Then their profile page is displayed  </a:t>
            </a:r>
          </a:p>
          <a:p>
            <a:endParaRPr lang="en-US" sz="1600" b="1" dirty="0">
              <a:latin typeface="Bradley Hand ITC" panose="03070402050302030203" pitchFamily="66" charset="77"/>
            </a:endParaRPr>
          </a:p>
          <a:p>
            <a:r>
              <a:rPr lang="en-US" sz="1600" b="1" dirty="0">
                <a:latin typeface="Bradley Hand ITC" panose="03070402050302030203" pitchFamily="66" charset="77"/>
              </a:rPr>
              <a:t>Given the user is logged in</a:t>
            </a:r>
          </a:p>
          <a:p>
            <a:r>
              <a:rPr lang="en-US" sz="1600" b="1" dirty="0">
                <a:latin typeface="Bradley Hand ITC" panose="03070402050302030203" pitchFamily="66" charset="77"/>
              </a:rPr>
              <a:t>When they request to view their profile page</a:t>
            </a:r>
          </a:p>
          <a:p>
            <a:r>
              <a:rPr lang="en-US" sz="1600" b="1" dirty="0">
                <a:latin typeface="Bradley Hand ITC" panose="03070402050302030203" pitchFamily="66" charset="77"/>
              </a:rPr>
              <a:t>But they do not have a valid token</a:t>
            </a:r>
          </a:p>
          <a:p>
            <a:r>
              <a:rPr lang="en-US" sz="1600" b="1"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8466108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58908</TotalTime>
  <Words>5371</Words>
  <Application>Microsoft Office PowerPoint</Application>
  <PresentationFormat>Widescreen</PresentationFormat>
  <Paragraphs>511</Paragraphs>
  <Slides>48</Slides>
  <Notes>38</Notes>
  <HiddenSlides>2</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48</vt:i4>
      </vt:variant>
    </vt:vector>
  </HeadingPairs>
  <TitlesOfParts>
    <vt:vector size="64" baseType="lpstr">
      <vt:lpstr>AGaramondPro</vt:lpstr>
      <vt:lpstr>Algerian</vt:lpstr>
      <vt:lpstr>APPLE CHANCERY</vt:lpstr>
      <vt:lpstr>Arial</vt:lpstr>
      <vt:lpstr>Avenir Next Regular</vt:lpstr>
      <vt:lpstr>Bradley Hand ITC</vt:lpstr>
      <vt:lpstr>Calibri</vt:lpstr>
      <vt:lpstr>Chiller</vt:lpstr>
      <vt:lpstr>Consolas</vt:lpstr>
      <vt:lpstr>Georgia</vt:lpstr>
      <vt:lpstr>Helvetica</vt:lpstr>
      <vt:lpstr>Helvetica Neue</vt:lpstr>
      <vt:lpstr>Inter</vt:lpstr>
      <vt:lpstr>Verdana</vt:lpstr>
      <vt:lpstr>Office Theme</vt:lpstr>
      <vt:lpstr>1_Office Theme</vt:lpstr>
      <vt:lpstr>CS 4530: Fundamentals of Software Engineering  Module 13: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A Simple Threat Model</vt:lpstr>
      <vt:lpstr>Security Principle #1: Minimize Attack Surfaces</vt:lpstr>
      <vt:lpstr>More complex systems require more complex threat models</vt:lpstr>
      <vt:lpstr>STRIDE Framework can help identify Common Threats</vt:lpstr>
      <vt:lpstr>Security isn't always free</vt:lpstr>
      <vt:lpstr>Beginnings of a threat model for the new home: what are the costs?</vt:lpstr>
      <vt:lpstr>Five major classes of vulnerabilities</vt:lpstr>
      <vt:lpstr>Vulnerability 1 Example: authentication code in a web application</vt:lpstr>
      <vt:lpstr>Who would do such a silly thing?</vt:lpstr>
      <vt:lpstr>Vulnerability 2: Data controlled by a user flowing into our trusted codebase</vt:lpstr>
      <vt:lpstr>Example: code injection</vt:lpstr>
      <vt:lpstr>A code injection attack (in Apache struts) cost Equifax $1.4 Billion</vt:lpstr>
      <vt:lpstr>Bypassing airport security via SQL injection (2024!)</vt:lpstr>
      <vt:lpstr>SE-level mitigations for code injection attacks</vt:lpstr>
      <vt:lpstr>Vulnerability 3: Bad Authentication </vt:lpstr>
      <vt:lpstr>(Inadequate) Mitigation: Don't keep passwords; keep their hashes instead</vt:lpstr>
      <vt:lpstr>Is this good enough?</vt:lpstr>
      <vt:lpstr>Is it safe to store the hashes instead of the passwords themselves?</vt:lpstr>
      <vt:lpstr>Actual Mitigation: always salt your passwords</vt:lpstr>
      <vt:lpstr>Security Principle #2: Don't try this at home; use an established solution instead</vt:lpstr>
      <vt:lpstr>Vulnerability 4: Supply-Chain Attacks</vt:lpstr>
      <vt:lpstr>Third-party dependencies show up throughout the development process</vt:lpstr>
      <vt:lpstr>Third-party dependencies are everywhere</vt:lpstr>
      <vt:lpstr>The 10/21/26 PHP vulnerability</vt:lpstr>
      <vt:lpstr>Example: the eslint-scope attack (2018)</vt:lpstr>
      <vt:lpstr>This incident leveraged several small security failures </vt:lpstr>
      <vt:lpstr>A 2021 NCSU/Microsoft found that many of the top 1% of npm packages had vulnerabilities</vt:lpstr>
      <vt:lpstr>Your suppliers' risks are your risks</vt:lpstr>
      <vt:lpstr>Your suppliers' risks are your risks.</vt:lpstr>
      <vt:lpstr>Supply-chain risks include more than just software.</vt:lpstr>
      <vt:lpstr>Process-level Threat Mitigations</vt:lpstr>
      <vt:lpstr>Vulnerability #5: Failure to Apply Security Policies</vt:lpstr>
      <vt:lpstr>Example mechanism: secret detection</vt:lpstr>
      <vt:lpstr>Do developers keep secret keys secret, even when they are warned?</vt:lpstr>
      <vt:lpstr>David Blank-Edelman (former head of Systems at Khoury)</vt:lpstr>
      <vt:lpstr>Security Principle #3: Every data flow is an attack surface</vt:lpstr>
      <vt:lpstr>Systematically review security needs on each attack surface</vt:lpstr>
      <vt:lpstr>Identify the vulnerabilities and threats on each flow</vt:lpstr>
      <vt:lpstr>For every data flow, ask “what could go wrong?”</vt:lpstr>
      <vt:lpstr>What are you going to do?</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192</cp:revision>
  <dcterms:created xsi:type="dcterms:W3CDTF">2021-01-07T15:19:22Z</dcterms:created>
  <dcterms:modified xsi:type="dcterms:W3CDTF">2026-10-29T18:26:01Z</dcterms:modified>
</cp:coreProperties>
</file>